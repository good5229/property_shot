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3f783534a74c4d" /><Relationship Type="http://schemas.openxmlformats.org/officeDocument/2006/relationships/extended-properties" Target="/docProps/app.xml" Id="R0c6d93b3ec564035" /><Relationship Type="http://schemas.openxmlformats.org/officeDocument/2006/relationships/officeDocument" Target="/ppt/presentation.xml" Id="R873d8e41a14e4801" /></Relationships>
</file>

<file path=ppt/presentation.xml><?xml version="1.0" encoding="utf-8"?>
<p:presentation xmlns:p="http://schemas.openxmlformats.org/presentationml/2006/main">
  <p:sldMasterIdLst>
    <p:sldMasterId xmlns:r="http://schemas.openxmlformats.org/officeDocument/2006/relationships" id="2147483648" r:id="R40a33ed948d04f4e"/>
  </p:sldMasterIdLst>
  <p:notesMasterIdLst>
    <p:notesMasterId xmlns:r="http://schemas.openxmlformats.org/officeDocument/2006/relationships" r:id="R0703c330630a40ec"/>
  </p:notesMasterIdLst>
  <p:sldIdLst>
    <p:sldId xmlns:r="http://schemas.openxmlformats.org/officeDocument/2006/relationships" id="256" r:id="R059aea8a669d4041"/>
    <p:sldId xmlns:r="http://schemas.openxmlformats.org/officeDocument/2006/relationships" id="257" r:id="R0bc5898241c14165"/>
    <p:sldId xmlns:r="http://schemas.openxmlformats.org/officeDocument/2006/relationships" id="258" r:id="R21445965e39849e0"/>
    <p:sldId xmlns:r="http://schemas.openxmlformats.org/officeDocument/2006/relationships" id="259" r:id="R02ef398624a240ca"/>
    <p:sldId xmlns:r="http://schemas.openxmlformats.org/officeDocument/2006/relationships" id="260" r:id="R8b9e73c07daa49e6"/>
    <p:sldId xmlns:r="http://schemas.openxmlformats.org/officeDocument/2006/relationships" id="261" r:id="R5c7523ffb0ac4965"/>
    <p:sldId xmlns:r="http://schemas.openxmlformats.org/officeDocument/2006/relationships" id="262" r:id="Ra710692834464527"/>
    <p:sldId xmlns:r="http://schemas.openxmlformats.org/officeDocument/2006/relationships" id="263" r:id="R457473a335a14c72"/>
    <p:sldId xmlns:r="http://schemas.openxmlformats.org/officeDocument/2006/relationships" id="264" r:id="R78d0e935bc084368"/>
    <p:sldId xmlns:r="http://schemas.openxmlformats.org/officeDocument/2006/relationships" id="265" r:id="Rff42eb89e031417d"/>
    <p:sldId xmlns:r="http://schemas.openxmlformats.org/officeDocument/2006/relationships" id="266" r:id="R3d9b9fafb32c415f"/>
    <p:sldId xmlns:r="http://schemas.openxmlformats.org/officeDocument/2006/relationships" id="267" r:id="Rc422f096aceb43d3"/>
    <p:sldId xmlns:r="http://schemas.openxmlformats.org/officeDocument/2006/relationships" id="268" r:id="R3acd996abae1400c"/>
    <p:sldId xmlns:r="http://schemas.openxmlformats.org/officeDocument/2006/relationships" id="269" r:id="Rd6753cb5fa034c72"/>
    <p:sldId xmlns:r="http://schemas.openxmlformats.org/officeDocument/2006/relationships" id="270" r:id="R47d29a6f1eb745e4"/>
    <p:sldId xmlns:r="http://schemas.openxmlformats.org/officeDocument/2006/relationships" id="271" r:id="Raec3b8b71d9d42ca"/>
    <p:sldId xmlns:r="http://schemas.openxmlformats.org/officeDocument/2006/relationships" id="272" r:id="R88cf496393ee44ad"/>
  </p:sldIdLst>
  <p:sldSz cx="7562850" cy="10696575"/>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cd5acd001b435e" /><Relationship Type="http://schemas.openxmlformats.org/officeDocument/2006/relationships/slideMaster" Target="/ppt/slideMasters/slideMaster1.xml" Id="R40a33ed948d04f4e" /><Relationship Type="http://schemas.openxmlformats.org/officeDocument/2006/relationships/notesMaster" Target="/ppt/notesMasters/notesMaster1.xml" Id="R0703c330630a40ec" /><Relationship Type="http://schemas.openxmlformats.org/officeDocument/2006/relationships/presProps" Target="/ppt/presProps.xml" Id="R6a4d4417537d461e" /><Relationship Type="http://schemas.openxmlformats.org/officeDocument/2006/relationships/tableStyles" Target="/ppt/tableStyles.xml" Id="Rd39a6a789c3a4e06" /><Relationship Type="http://schemas.openxmlformats.org/officeDocument/2006/relationships/slide" Target="/ppt/slides/slide1.xml" Id="R059aea8a669d4041" /><Relationship Type="http://schemas.openxmlformats.org/officeDocument/2006/relationships/slide" Target="/ppt/slides/slide2.xml" Id="R0bc5898241c14165" /><Relationship Type="http://schemas.openxmlformats.org/officeDocument/2006/relationships/slide" Target="/ppt/slides/slide3.xml" Id="R21445965e39849e0" /><Relationship Type="http://schemas.openxmlformats.org/officeDocument/2006/relationships/slide" Target="/ppt/slides/slide4.xml" Id="R02ef398624a240ca" /><Relationship Type="http://schemas.openxmlformats.org/officeDocument/2006/relationships/slide" Target="/ppt/slides/slide5.xml" Id="R8b9e73c07daa49e6" /><Relationship Type="http://schemas.openxmlformats.org/officeDocument/2006/relationships/slide" Target="/ppt/slides/slide6.xml" Id="R5c7523ffb0ac4965" /><Relationship Type="http://schemas.openxmlformats.org/officeDocument/2006/relationships/slide" Target="/ppt/slides/slide7.xml" Id="Ra710692834464527" /><Relationship Type="http://schemas.openxmlformats.org/officeDocument/2006/relationships/slide" Target="/ppt/slides/slide8.xml" Id="R457473a335a14c72" /><Relationship Type="http://schemas.openxmlformats.org/officeDocument/2006/relationships/slide" Target="/ppt/slides/slide9.xml" Id="R78d0e935bc084368" /><Relationship Type="http://schemas.openxmlformats.org/officeDocument/2006/relationships/slide" Target="/ppt/slides/slide10.xml" Id="Rff42eb89e031417d" /><Relationship Type="http://schemas.openxmlformats.org/officeDocument/2006/relationships/slide" Target="/ppt/slides/slide11.xml" Id="R3d9b9fafb32c415f" /><Relationship Type="http://schemas.openxmlformats.org/officeDocument/2006/relationships/slide" Target="/ppt/slides/slide12.xml" Id="Rc422f096aceb43d3" /><Relationship Type="http://schemas.openxmlformats.org/officeDocument/2006/relationships/slide" Target="/ppt/slides/slide13.xml" Id="R3acd996abae1400c" /><Relationship Type="http://schemas.openxmlformats.org/officeDocument/2006/relationships/slide" Target="/ppt/slides/slide14.xml" Id="Rd6753cb5fa034c72" /><Relationship Type="http://schemas.openxmlformats.org/officeDocument/2006/relationships/slide" Target="/ppt/slides/slide15.xml" Id="R47d29a6f1eb745e4" /><Relationship Type="http://schemas.openxmlformats.org/officeDocument/2006/relationships/slide" Target="/ppt/slides/slide16.xml" Id="Raec3b8b71d9d42ca" /><Relationship Type="http://schemas.openxmlformats.org/officeDocument/2006/relationships/slide" Target="/ppt/slides/slide17.xml" Id="R88cf496393ee44a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d771f8735f544f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ec66a8f6e045aa" /><Relationship Type="http://schemas.openxmlformats.org/officeDocument/2006/relationships/notesMaster" Target="/ppt/notesMasters/notesMaster1.xml" Id="R32171bafbcb4408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60bed3ce6334b4a" /><Relationship Type="http://schemas.openxmlformats.org/officeDocument/2006/relationships/notesMaster" Target="/ppt/notesMasters/notesMaster1.xml" Id="R188a18887ef6422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29c0cd602e431f" /><Relationship Type="http://schemas.openxmlformats.org/officeDocument/2006/relationships/notesMaster" Target="/ppt/notesMasters/notesMaster1.xml" Id="Rc043837c873a43e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84f5dfc589b446a" /><Relationship Type="http://schemas.openxmlformats.org/officeDocument/2006/relationships/notesMaster" Target="/ppt/notesMasters/notesMaster1.xml" Id="R3a98d020c0104e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5b9a8a995624fad" /><Relationship Type="http://schemas.openxmlformats.org/officeDocument/2006/relationships/notesMaster" Target="/ppt/notesMasters/notesMaster1.xml" Id="R01ee23801ac14a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f8722d32c14f67" /><Relationship Type="http://schemas.openxmlformats.org/officeDocument/2006/relationships/notesMaster" Target="/ppt/notesMasters/notesMaster1.xml" Id="Ra80a61f45c544c2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bcd68d81b394455" /><Relationship Type="http://schemas.openxmlformats.org/officeDocument/2006/relationships/notesMaster" Target="/ppt/notesMasters/notesMaster1.xml" Id="R6e873b98998b4bbe"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4b4a2fbb034b27" /><Relationship Type="http://schemas.openxmlformats.org/officeDocument/2006/relationships/notesMaster" Target="/ppt/notesMasters/notesMaster1.xml" Id="R9a5a86cdce1446a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4795d5dba8c47bd" /><Relationship Type="http://schemas.openxmlformats.org/officeDocument/2006/relationships/notesMaster" Target="/ppt/notesMasters/notesMaster1.xml" Id="R5f2f1cac94e04c8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bba17c818984f5c" /><Relationship Type="http://schemas.openxmlformats.org/officeDocument/2006/relationships/notesMaster" Target="/ppt/notesMasters/notesMaster1.xml" Id="R3c373ee5878c4e9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047de1fdc16473b" /><Relationship Type="http://schemas.openxmlformats.org/officeDocument/2006/relationships/notesMaster" Target="/ppt/notesMasters/notesMaster1.xml" Id="Rba5dab6f9cdd4a8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fcf12c6659e45e1" /><Relationship Type="http://schemas.openxmlformats.org/officeDocument/2006/relationships/notesMaster" Target="/ppt/notesMasters/notesMaster1.xml" Id="R2848317341ff402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eef6f9a641c4e2d" /><Relationship Type="http://schemas.openxmlformats.org/officeDocument/2006/relationships/notesMaster" Target="/ppt/notesMasters/notesMaster1.xml" Id="Re7a0c57ced374b1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aba768bb3a44971" /><Relationship Type="http://schemas.openxmlformats.org/officeDocument/2006/relationships/notesMaster" Target="/ppt/notesMasters/notesMaster1.xml" Id="Rd40ad846129b467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3f8f0a4508544a2" /><Relationship Type="http://schemas.openxmlformats.org/officeDocument/2006/relationships/notesMaster" Target="/ppt/notesMasters/notesMaster1.xml" Id="R45396c8b669c44c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4e86acc68474c6f" /><Relationship Type="http://schemas.openxmlformats.org/officeDocument/2006/relationships/notesMaster" Target="/ppt/notesMasters/notesMaster1.xml" Id="R86e69e4c8e7a479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8abcd7f326241ea" /><Relationship Type="http://schemas.openxmlformats.org/officeDocument/2006/relationships/notesMaster" Target="/ppt/notesMasters/notesMaster1.xml" Id="R849af26680604a5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Project report source and local repository assets</a:t>
            </a:r>
          </a:p>
          <a:p xmlns:a="http://schemas.openxmlformats.org/drawingml/2006/main">
            <a:r>
              <a:t>- https://good5229.github.io/Property_shot/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screenshots/commercial-vertical-slice/390x844-current-play-audit.png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screenshots/commercial-vertical-slice/390x844-material-source-popup.png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test/goldens/difficulty_easy_first_arrival_390x844.png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assets/generated/stone-v2.png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assets/generated/jelly-bumper-v1.png</a:t>
            </a:r>
          </a:p>
          <a:p xmlns:a="http://schemas.openxmlformats.org/drawingml/2006/main">
            <a:r>
              <a:t>- screenshots/commercial-vertical-slice/stage4-start.png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screenshots/commercial-vertical-slice/stage4-property-ready.png</a:t>
            </a:r>
          </a:p>
          <a:p xmlns:a="http://schemas.openxmlformats.org/drawingml/2006/main">
            <a:r>
              <a:t>- screenshots/commercial-vertical-slice/stage4-impact-120ms.png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test/goldens/run_reward_390x844.png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test/goldens/stage_bouncy_01_reward_ball_390x844.png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https://good5229.github.io/Property_shot/</a:t>
            </a:r>
          </a:p>
          <a:p xmlns:a="http://schemas.openxmlformats.org/drawingml/2006/main">
            <a:r>
              <a:t>- https://github.com/good5229/Property_shot</a:t>
            </a:r>
          </a:p>
          <a:p xmlns:a="http://schemas.openxmlformats.org/drawingml/2006/main">
            <a:r>
              <a:t>- https://github.com/good5229/Property_shot/actions/runs/31315470165</a:t>
            </a:r>
          </a:p>
          <a:p xmlns:a="http://schemas.openxmlformats.org/drawingml/2006/main">
            <a:r>
              <a:t>- https://github.com/good5229/Property_shot.git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64d6d9e99584f3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8d95227dd54100" /><Relationship Type="http://schemas.openxmlformats.org/officeDocument/2006/relationships/slideLayout" Target="/ppt/slideLayouts/slideLayout1.xml" Id="Rfa656408d7c14de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656408d7c14de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77fc53ede9f4d78" /><Relationship Type="http://schemas.openxmlformats.org/officeDocument/2006/relationships/notesSlide" Target="/ppt/notesSlides/notesSlide1.xml" Id="Rf79a166621bc440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184a61cd1e4480b" /><Relationship Type="http://schemas.openxmlformats.org/officeDocument/2006/relationships/notesSlide" Target="/ppt/notesSlides/notesSlide2.xml" Id="R9ed3371bbeb146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0ce0ec61ffa4260" /><Relationship Type="http://schemas.openxmlformats.org/officeDocument/2006/relationships/image" Target="/ppt/media/image.png" Id="R22ca40c6028149d8" /><Relationship Type="http://schemas.openxmlformats.org/officeDocument/2006/relationships/notesSlide" Target="/ppt/notesSlides/notesSlide3.xml" Id="Rf5b8a956b14c444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c5850da412b41ad" /><Relationship Type="http://schemas.openxmlformats.org/officeDocument/2006/relationships/notesSlide" Target="/ppt/notesSlides/notesSlide4.xml" Id="R2a013d23a1584a3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07ccdddb764442e" /><Relationship Type="http://schemas.openxmlformats.org/officeDocument/2006/relationships/image" Target="/ppt/media/image2.png" Id="R299a52a98b184155" /><Relationship Type="http://schemas.openxmlformats.org/officeDocument/2006/relationships/notesSlide" Target="/ppt/notesSlides/notesSlide5.xml" Id="Rc6bace8fb21744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1b4ee570eba4110" /><Relationship Type="http://schemas.openxmlformats.org/officeDocument/2006/relationships/image" Target="/ppt/media/image3.png" Id="Rb910bddeda294bcc" /><Relationship Type="http://schemas.openxmlformats.org/officeDocument/2006/relationships/notesSlide" Target="/ppt/notesSlides/notesSlide6.xml" Id="Rb56588e1ae9c4c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d4ef3d0553640a6" /><Relationship Type="http://schemas.openxmlformats.org/officeDocument/2006/relationships/notesSlide" Target="/ppt/notesSlides/notesSlide7.xml" Id="R8a99ce37843e460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700f552548d4951" /><Relationship Type="http://schemas.openxmlformats.org/officeDocument/2006/relationships/image" Target="/ppt/media/image4.png" Id="R7160b8be76c24be3" /><Relationship Type="http://schemas.openxmlformats.org/officeDocument/2006/relationships/notesSlide" Target="/ppt/notesSlides/notesSlide8.xml" Id="Ra57fe439946b42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d8f2453c7e34aad" /><Relationship Type="http://schemas.openxmlformats.org/officeDocument/2006/relationships/image" Target="/ppt/media/image5.png" Id="R5625c4ea99b447ea" /><Relationship Type="http://schemas.openxmlformats.org/officeDocument/2006/relationships/image" Target="/ppt/media/image6.png" Id="R32bdae4aa87c4ca1" /><Relationship Type="http://schemas.openxmlformats.org/officeDocument/2006/relationships/notesSlide" Target="/ppt/notesSlides/notesSlide9.xml" Id="Rd1219e7797a5430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26750b9a15741db" /><Relationship Type="http://schemas.openxmlformats.org/officeDocument/2006/relationships/image" Target="/ppt/media/image7.png" Id="Rccc2b2e799c24ed2" /><Relationship Type="http://schemas.openxmlformats.org/officeDocument/2006/relationships/image" Target="/ppt/media/image8.png" Id="R00b2d2a6437a4b50" /><Relationship Type="http://schemas.openxmlformats.org/officeDocument/2006/relationships/notesSlide" Target="/ppt/notesSlides/notesSlide10.xml" Id="R15c8edb440dd4a2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3e36fa358634c6a" /><Relationship Type="http://schemas.openxmlformats.org/officeDocument/2006/relationships/image" Target="/ppt/media/image9.png" Id="R3ca316db04c84a5d" /><Relationship Type="http://schemas.openxmlformats.org/officeDocument/2006/relationships/notesSlide" Target="/ppt/notesSlides/notesSlide11.xml" Id="R53dc0e38da1a4c8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c380d6f8269408d" /><Relationship Type="http://schemas.openxmlformats.org/officeDocument/2006/relationships/image" Target="/ppt/media/image10.png" Id="R0cb567b90a844feb" /><Relationship Type="http://schemas.openxmlformats.org/officeDocument/2006/relationships/notesSlide" Target="/ppt/notesSlides/notesSlide12.xml" Id="Rcaf80a7bfe214e3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e0a8ac61e414654" /><Relationship Type="http://schemas.openxmlformats.org/officeDocument/2006/relationships/notesSlide" Target="/ppt/notesSlides/notesSlide13.xml" Id="Raea755f50acb449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061339339a14eb1" /><Relationship Type="http://schemas.openxmlformats.org/officeDocument/2006/relationships/notesSlide" Target="/ppt/notesSlides/notesSlide14.xml" Id="R86583c19d459489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501e056db3e4d85" /><Relationship Type="http://schemas.openxmlformats.org/officeDocument/2006/relationships/notesSlide" Target="/ppt/notesSlides/notesSlide15.xml" Id="R6982c87af2c54d5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3350ddeda014009" /><Relationship Type="http://schemas.openxmlformats.org/officeDocument/2006/relationships/notesSlide" Target="/ppt/notesSlides/notesSlide16.xml" Id="R226c9fc2e250442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eee1e581d1b418d" /><Relationship Type="http://schemas.openxmlformats.org/officeDocument/2006/relationships/notesSlide" Target="/ppt/notesSlides/notesSlide17.xml" Id="R1918a381345c49e2" /></Relationships>
</file>

<file path=ppt/slides/slide1.xml><?xml version="1.0" encoding="utf-8"?>
<p:sld xmlns:p="http://schemas.openxmlformats.org/presentationml/2006/main">
  <p:cSld>
    <p:bg>
      <p:bgPr>
        <a:solidFill xmlns:a="http://schemas.openxmlformats.org/drawingml/2006/main">
          <a:srgbClr val="FFF9E7"/>
        </a:solidFill>
      </p:bgPr>
    </p:bg>
    <p:spTree>
      <p:nvGrpSpPr>
        <p:cNvPr id="1" name=""/>
        <p:cNvGrpSpPr/>
        <p:nvPr/>
      </p:nvGrpSpPr>
      <p:grpSpPr>
        <a:xfrm xmlns:a="http://schemas.openxmlformats.org/drawingml/2006/main"/>
      </p:grpSpPr>
      <p:sp>
        <p:nvSpPr>
          <p:cNvPr id="9" name="cover-accent">
            <a:extLst xmlns:a="http://schemas.openxmlformats.org/drawingml/2006/main">
              <a:ext uri="{FF2B5EF4-FFF2-40B4-BE49-F238E27FC236}">
                <a16:creationId xmlns:a16="http://schemas.microsoft.com/office/drawing/2014/main" id="{C228FA38-BD6A-4232-9F88-7425AD9DF2FF}"/>
              </a:ext>
            </a:extLst>
          </p:cNvPr>
          <p:cNvSpPr>
            <a:spLocks xmlns:a="http://schemas.openxmlformats.org/drawingml/2006/main" noGrp="1"/>
          </p:cNvSpPr>
          <p:nvPr/>
        </p:nvSpPr>
        <p:spPr>
          <a:xfrm xmlns:a="http://schemas.openxmlformats.org/drawingml/2006/main">
            <a:off x="0" y="0"/>
            <a:ext cx="171450" cy="10696575"/>
          </a:xfrm>
          <a:prstGeom xmlns:a="http://schemas.openxmlformats.org/drawingml/2006/main" prst="rect">
            <a:avLst/>
          </a:prstGeom>
          <a:solidFill xmlns:a="http://schemas.openxmlformats.org/drawingml/2006/main">
            <a:srgbClr val="F47661"/>
          </a:solidFill>
          <a:ln xmlns:a="http://schemas.openxmlformats.org/drawingml/2006/main" w="0">
            <a:noFill/>
            <a:prstDash val="solid"/>
          </a:ln>
        </p:spPr>
      </p:sp>
      <p:sp>
        <p:nvSpPr>
          <p:cNvPr id="2" name="cover-kicker">
            <a:extLst xmlns:a="http://schemas.openxmlformats.org/drawingml/2006/main">
              <a:ext uri="{FF2B5EF4-FFF2-40B4-BE49-F238E27FC236}">
                <a16:creationId xmlns:a16="http://schemas.microsoft.com/office/drawing/2014/main" id="{1E8121FD-D1D4-4DAA-9F97-EDAE13043DB2}"/>
              </a:ext>
            </a:extLst>
          </p:cNvPr>
          <p:cNvSpPr>
            <a:spLocks xmlns:a="http://schemas.openxmlformats.org/drawingml/2006/main" noGrp="1"/>
          </p:cNvSpPr>
          <p:nvPr/>
        </p:nvSpPr>
        <p:spPr>
          <a:xfrm xmlns:a="http://schemas.openxmlformats.org/drawingml/2006/main">
            <a:off x="742950" y="1524000"/>
            <a:ext cx="561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350" b="1">
                <a:solidFill>
                  <a:srgbClr val="D7A23D"/>
                </a:solidFill>
                <a:latin typeface="NanumGothic"/>
                <a:ea typeface="NanumGothic"/>
                <a:cs typeface="NanumGothic"/>
              </a:defRPr>
            </a:pPr>
            <a:r>
              <a:rPr sz="1350" b="1">
                <a:solidFill>
                  <a:srgbClr val="D7A23D"/>
                </a:solidFill>
                <a:latin typeface="NanumGothic"/>
                <a:ea typeface="NanumGothic"/>
                <a:cs typeface="NanumGothic"/>
              </a:rPr>
              <a:t>GAME GUIDE</a:t>
            </a:r>
          </a:p>
        </p:txBody>
      </p:sp>
      <p:sp>
        <p:nvSpPr>
          <p:cNvPr id="3" name="cover-title">
            <a:extLst xmlns:a="http://schemas.openxmlformats.org/drawingml/2006/main">
              <a:ext uri="{FF2B5EF4-FFF2-40B4-BE49-F238E27FC236}">
                <a16:creationId xmlns:a16="http://schemas.microsoft.com/office/drawing/2014/main" id="{52FDEAC0-FDA2-47D9-B10E-09980C25BB5E}"/>
              </a:ext>
            </a:extLst>
          </p:cNvPr>
          <p:cNvSpPr>
            <a:spLocks xmlns:a="http://schemas.openxmlformats.org/drawingml/2006/main" noGrp="1"/>
          </p:cNvSpPr>
          <p:nvPr/>
        </p:nvSpPr>
        <p:spPr>
          <a:xfrm xmlns:a="http://schemas.openxmlformats.org/drawingml/2006/main">
            <a:off x="742950" y="2333625"/>
            <a:ext cx="6096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3750" b="1">
                <a:solidFill>
                  <a:srgbClr val="173A3F"/>
                </a:solidFill>
                <a:latin typeface="NanumGothic"/>
                <a:ea typeface="NanumGothic"/>
                <a:cs typeface="NanumGothic"/>
              </a:defRPr>
            </a:pPr>
            <a:r>
              <a:rPr sz="3750" b="1">
                <a:solidFill>
                  <a:srgbClr val="173A3F"/>
                </a:solidFill>
                <a:latin typeface="NanumGothic"/>
                <a:ea typeface="NanumGothic"/>
                <a:cs typeface="NanumGothic"/>
              </a:rPr>
              <a:t>속성 한방(Property Shot)</a:t>
            </a:r>
          </a:p>
        </p:txBody>
      </p:sp>
      <p:sp>
        <p:nvSpPr>
          <p:cNvPr id="4" name="cover-subtitle">
            <a:extLst xmlns:a="http://schemas.openxmlformats.org/drawingml/2006/main">
              <a:ext uri="{FF2B5EF4-FFF2-40B4-BE49-F238E27FC236}">
                <a16:creationId xmlns:a16="http://schemas.microsoft.com/office/drawing/2014/main" id="{5C8BA3DC-BF63-4D43-A436-677F669220A4}"/>
              </a:ext>
            </a:extLst>
          </p:cNvPr>
          <p:cNvSpPr>
            <a:spLocks xmlns:a="http://schemas.openxmlformats.org/drawingml/2006/main" noGrp="1"/>
          </p:cNvSpPr>
          <p:nvPr/>
        </p:nvSpPr>
        <p:spPr>
          <a:xfrm xmlns:a="http://schemas.openxmlformats.org/drawingml/2006/main">
            <a:off x="742950" y="4095750"/>
            <a:ext cx="5905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2100" b="1">
                <a:solidFill>
                  <a:srgbClr val="2C7A7B"/>
                </a:solidFill>
                <a:latin typeface="NanumGothic"/>
                <a:ea typeface="NanumGothic"/>
                <a:cs typeface="NanumGothic"/>
              </a:defRPr>
            </a:pPr>
            <a:r>
              <a:rPr sz="2100" b="1">
                <a:solidFill>
                  <a:srgbClr val="2C7A7B"/>
                </a:solidFill>
                <a:latin typeface="NanumGothic"/>
                <a:ea typeface="NanumGothic"/>
                <a:cs typeface="NanumGothic"/>
              </a:rPr>
              <a:t>게임 소개 및 설명</a:t>
            </a:r>
          </a:p>
        </p:txBody>
      </p:sp>
      <p:sp>
        <p:nvSpPr>
          <p:cNvPr id="5" name="cover-rule">
            <a:extLst xmlns:a="http://schemas.openxmlformats.org/drawingml/2006/main">
              <a:ext uri="{FF2B5EF4-FFF2-40B4-BE49-F238E27FC236}">
                <a16:creationId xmlns:a16="http://schemas.microsoft.com/office/drawing/2014/main" id="{372DF86C-ADF4-4D6B-8B84-64B3581AAE4E}"/>
              </a:ext>
            </a:extLst>
          </p:cNvPr>
          <p:cNvSpPr>
            <a:spLocks xmlns:a="http://schemas.openxmlformats.org/drawingml/2006/main" noGrp="1"/>
          </p:cNvSpPr>
          <p:nvPr/>
        </p:nvSpPr>
        <p:spPr>
          <a:xfrm xmlns:a="http://schemas.openxmlformats.org/drawingml/2006/main">
            <a:off x="742950" y="5067300"/>
            <a:ext cx="1714500" cy="4762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6" name="cover-description">
            <a:extLst xmlns:a="http://schemas.openxmlformats.org/drawingml/2006/main">
              <a:ext uri="{FF2B5EF4-FFF2-40B4-BE49-F238E27FC236}">
                <a16:creationId xmlns:a16="http://schemas.microsoft.com/office/drawing/2014/main" id="{76814FDE-4D66-45D1-AE6A-A47A60D05806}"/>
              </a:ext>
            </a:extLst>
          </p:cNvPr>
          <p:cNvSpPr>
            <a:spLocks xmlns:a="http://schemas.openxmlformats.org/drawingml/2006/main" noGrp="1"/>
          </p:cNvSpPr>
          <p:nvPr/>
        </p:nvSpPr>
        <p:spPr>
          <a:xfrm xmlns:a="http://schemas.openxmlformats.org/drawingml/2006/main">
            <a:off x="742950" y="5429250"/>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a:solidFill>
                  <a:srgbClr val="607477"/>
                </a:solidFill>
                <a:latin typeface="NanumGothic"/>
                <a:ea typeface="NanumGothic"/>
                <a:cs typeface="NanumGothic"/>
              </a:defRPr>
            </a:pPr>
            <a:r>
              <a:rPr sz="1650" b="0">
                <a:solidFill>
                  <a:srgbClr val="607477"/>
                </a:solidFill>
                <a:latin typeface="NanumGothic"/>
                <a:ea typeface="NanumGothic"/>
                <a:cs typeface="NanumGothic"/>
              </a:rPr>
              <a:t>속성을 옮기고, 장면의 상태를 설계하는 세로형 물리 퍼즐</a:t>
            </a:r>
          </a:p>
        </p:txBody>
      </p:sp>
      <p:sp>
        <p:nvSpPr>
          <p:cNvPr id="7" name="cover-meta">
            <a:extLst xmlns:a="http://schemas.openxmlformats.org/drawingml/2006/main">
              <a:ext uri="{FF2B5EF4-FFF2-40B4-BE49-F238E27FC236}">
                <a16:creationId xmlns:a16="http://schemas.microsoft.com/office/drawing/2014/main" id="{0B97F42C-1A5F-4FC9-BAE3-CA1D82E8A81C}"/>
              </a:ext>
            </a:extLst>
          </p:cNvPr>
          <p:cNvSpPr>
            <a:spLocks xmlns:a="http://schemas.openxmlformats.org/drawingml/2006/main" noGrp="1"/>
          </p:cNvSpPr>
          <p:nvPr/>
        </p:nvSpPr>
        <p:spPr>
          <a:xfrm xmlns:a="http://schemas.openxmlformats.org/drawingml/2006/main">
            <a:off x="742950" y="8763000"/>
            <a:ext cx="5810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0000"/>
              </a:lnSpc>
              <a:buNone/>
              <a:defRPr sz="1275" b="0">
                <a:solidFill>
                  <a:srgbClr val="173A3F"/>
                </a:solidFill>
                <a:latin typeface="NanumGothic"/>
                <a:ea typeface="NanumGothic"/>
                <a:cs typeface="NanumGothic"/>
              </a:defRPr>
            </a:pPr>
            <a:r>
              <a:rPr sz="1275" b="0">
                <a:solidFill>
                  <a:srgbClr val="173A3F"/>
                </a:solidFill>
                <a:latin typeface="NanumGothic"/>
                <a:ea typeface="NanumGothic"/>
                <a:cs typeface="NanumGothic"/>
              </a:rPr>
              <a:t>2026-08-10 KST</a:t>
            </a:r>
          </a:p>
          <a:p xmlns:a="http://schemas.openxmlformats.org/drawingml/2006/main">
            <a:pPr algn="l">
              <a:lnSpc>
                <a:spcPct val="130000"/>
              </a:lnSpc>
              <a:buNone/>
              <a:defRPr sz="1275" b="0">
                <a:solidFill>
                  <a:srgbClr val="173A3F"/>
                </a:solidFill>
                <a:latin typeface="NanumGothic"/>
                <a:ea typeface="NanumGothic"/>
                <a:cs typeface="NanumGothic"/>
              </a:defRPr>
            </a:pPr>
            <a:r>
              <a:rPr sz="1275" b="0">
                <a:solidFill>
                  <a:srgbClr val="173A3F"/>
                </a:solidFill>
                <a:latin typeface="NanumGothic"/>
                <a:ea typeface="NanumGothic"/>
                <a:cs typeface="NanumGothic"/>
              </a:rPr>
              <a:t>https://good5229.github.io/Property_shot/</a:t>
            </a:r>
          </a:p>
        </p:txBody>
      </p:sp>
      <p:sp>
        <p:nvSpPr>
          <p:cNvPr id="8" name="cover-page">
            <a:extLst xmlns:a="http://schemas.openxmlformats.org/drawingml/2006/main">
              <a:ext uri="{FF2B5EF4-FFF2-40B4-BE49-F238E27FC236}">
                <a16:creationId xmlns:a16="http://schemas.microsoft.com/office/drawing/2014/main" id="{ED4D2DA6-118B-47DB-B0ED-D25C4B73CCA5}"/>
              </a:ext>
            </a:extLst>
          </p:cNvPr>
          <p:cNvSpPr>
            <a:spLocks xmlns:a="http://schemas.openxmlformats.org/drawingml/2006/main" noGrp="1"/>
          </p:cNvSpPr>
          <p:nvPr/>
        </p:nvSpPr>
        <p:spPr>
          <a:xfrm xmlns:a="http://schemas.openxmlformats.org/drawingml/2006/main">
            <a:off x="6705600" y="9963150"/>
            <a:ext cx="323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a:t>
            </a:r>
          </a:p>
        </p:txBody>
      </p:sp>
    </p:spTree>
    <p:extLst>
      <p:ext uri="{BB962C8B-B14F-4D97-AF65-F5344CB8AC3E}">
        <p14:creationId xmlns:p14="http://schemas.microsoft.com/office/powerpoint/2010/main" val="635865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unning-label">
            <a:extLst xmlns:a="http://schemas.openxmlformats.org/drawingml/2006/main">
              <a:ext uri="{FF2B5EF4-FFF2-40B4-BE49-F238E27FC236}">
                <a16:creationId xmlns:a16="http://schemas.microsoft.com/office/drawing/2014/main" id="{E18A2E00-C34B-4DAA-B972-51A2CA3AC41D}"/>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165B782D-1BD2-4B01-BA1E-32A15530B388}"/>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2</a:t>
            </a:r>
          </a:p>
        </p:txBody>
      </p:sp>
      <p:sp>
        <p:nvSpPr>
          <p:cNvPr id="3" name="header-rule">
            <a:extLst xmlns:a="http://schemas.openxmlformats.org/drawingml/2006/main">
              <a:ext uri="{FF2B5EF4-FFF2-40B4-BE49-F238E27FC236}">
                <a16:creationId xmlns:a16="http://schemas.microsoft.com/office/drawing/2014/main" id="{140405DF-DDD2-49DB-BF0C-E7DD638843BD}"/>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8D3189AD-9D9A-4900-9B6B-225ED6ECA54B}"/>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문서 개요</a:t>
            </a:r>
          </a:p>
        </p:txBody>
      </p:sp>
      <p:sp>
        <p:nvSpPr>
          <p:cNvPr id="5" name="paragraph-140">
            <a:extLst xmlns:a="http://schemas.openxmlformats.org/drawingml/2006/main">
              <a:ext uri="{FF2B5EF4-FFF2-40B4-BE49-F238E27FC236}">
                <a16:creationId xmlns:a16="http://schemas.microsoft.com/office/drawing/2014/main" id="{FD0F0B77-B09E-41D9-BA2A-B9A8FF0DE8FB}"/>
              </a:ext>
            </a:extLst>
          </p:cNvPr>
          <p:cNvSpPr>
            <a:spLocks xmlns:a="http://schemas.openxmlformats.org/drawingml/2006/main" noGrp="1"/>
          </p:cNvSpPr>
          <p:nvPr/>
        </p:nvSpPr>
        <p:spPr>
          <a:xfrm xmlns:a="http://schemas.openxmlformats.org/drawingml/2006/main">
            <a:off x="533400" y="133350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작성일: 2026-08-10 KST 기능 기준: main 작업 트리 / 기반 커밋 bfb7a39734cad39b458273a6bca55a5485950d7c 제출 형식: 게임 소개 및 설명 PDF</a:t>
            </a:r>
          </a:p>
        </p:txBody>
      </p:sp>
    </p:spTree>
    <p:extLst>
      <p:ext uri="{BB962C8B-B14F-4D97-AF65-F5344CB8AC3E}">
        <p14:creationId xmlns:p14="http://schemas.microsoft.com/office/powerpoint/2010/main" val="17672088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unning-label">
            <a:extLst xmlns:a="http://schemas.openxmlformats.org/drawingml/2006/main">
              <a:ext uri="{FF2B5EF4-FFF2-40B4-BE49-F238E27FC236}">
                <a16:creationId xmlns:a16="http://schemas.microsoft.com/office/drawing/2014/main" id="{D624E7E9-E1B1-4CD0-927D-AAE9003FFA99}"/>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49C83741-91E7-478D-9880-EFE97C206FDE}"/>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3</a:t>
            </a:r>
          </a:p>
        </p:txBody>
      </p:sp>
      <p:sp>
        <p:nvSpPr>
          <p:cNvPr id="3" name="header-rule">
            <a:extLst xmlns:a="http://schemas.openxmlformats.org/drawingml/2006/main">
              <a:ext uri="{FF2B5EF4-FFF2-40B4-BE49-F238E27FC236}">
                <a16:creationId xmlns:a16="http://schemas.microsoft.com/office/drawing/2014/main" id="{7BFF28BB-852C-42DD-9F76-70C7A485CDAC}"/>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2D11F6F5-086B-4AAF-B396-2CCFD7B56E22}"/>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1. 게임 제목과 한 줄 소개</a:t>
            </a:r>
          </a:p>
        </p:txBody>
      </p:sp>
      <p:sp>
        <p:nvSpPr>
          <p:cNvPr id="5" name="bullets-140">
            <a:extLst xmlns:a="http://schemas.openxmlformats.org/drawingml/2006/main">
              <a:ext uri="{FF2B5EF4-FFF2-40B4-BE49-F238E27FC236}">
                <a16:creationId xmlns:a16="http://schemas.microsoft.com/office/drawing/2014/main" id="{37806616-E578-4389-B3BE-5A12A1EC6EC3}"/>
              </a:ext>
            </a:extLst>
          </p:cNvPr>
          <p:cNvSpPr>
            <a:spLocks xmlns:a="http://schemas.openxmlformats.org/drawingml/2006/main" noGrp="1"/>
          </p:cNvSpPr>
          <p:nvPr/>
        </p:nvSpPr>
        <p:spPr>
          <a:xfrm xmlns:a="http://schemas.openxmlformats.org/drawingml/2006/main">
            <a:off x="533400" y="1333500"/>
            <a:ext cx="6496050" cy="13456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게임 제목: 속성 한방(Property Shot)</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한 줄 소개: 주변 오브젝트의 물리 속성을 공에 옮기고, 비워진 원본과 잔류 공까지 다음 해법으로 활용하는 세로형 물리 퍼즐.</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플레이 형태: 10단계 × 단계별 4패턴, 총 40개 데이터 기반 퍼즐.</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22ca40c6028149d8"/>
          <a:stretch xmlns:a="http://schemas.openxmlformats.org/drawingml/2006/main"/>
        </p:blipFill>
        <p:spPr>
          <a:xfrm xmlns:a="http://schemas.openxmlformats.org/drawingml/2006/main">
            <a:off x="3055200" y="2774442"/>
            <a:ext cx="1452450" cy="3143250"/>
          </a:xfrm>
          <a:prstGeom xmlns:a="http://schemas.openxmlformats.org/drawingml/2006/main" prst="roundRect">
            <a:avLst>
              <a:gd name="adj" fmla="val 3636"/>
            </a:avLst>
          </a:prstGeom>
        </p:spPr>
      </p:pic>
      <p:sp>
        <p:nvSpPr>
          <p:cNvPr id="7" name="image-caption-291.28">
            <a:extLst xmlns:a="http://schemas.openxmlformats.org/drawingml/2006/main">
              <a:ext uri="{FF2B5EF4-FFF2-40B4-BE49-F238E27FC236}">
                <a16:creationId xmlns:a16="http://schemas.microsoft.com/office/drawing/2014/main" id="{85A0D5F2-B6B0-4F5D-931F-369F3355C108}"/>
              </a:ext>
            </a:extLst>
          </p:cNvPr>
          <p:cNvSpPr>
            <a:spLocks xmlns:a="http://schemas.openxmlformats.org/drawingml/2006/main" noGrp="1"/>
          </p:cNvSpPr>
          <p:nvPr/>
        </p:nvSpPr>
        <p:spPr>
          <a:xfrm xmlns:a="http://schemas.openxmlformats.org/drawingml/2006/main">
            <a:off x="666750" y="5974842"/>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세로 게임판에서 속성 공을 조준하고 상자·벽·홀의 경로를 설계하는 실제 플레이 화면</a:t>
            </a:r>
          </a:p>
        </p:txBody>
      </p:sp>
      <p:sp>
        <p:nvSpPr>
          <p:cNvPr id="8" name="paragraph-675.28">
            <a:extLst xmlns:a="http://schemas.openxmlformats.org/drawingml/2006/main">
              <a:ext uri="{FF2B5EF4-FFF2-40B4-BE49-F238E27FC236}">
                <a16:creationId xmlns:a16="http://schemas.microsoft.com/office/drawing/2014/main" id="{EB2C770C-C1E2-4B6C-972B-493E635E7146}"/>
              </a:ext>
            </a:extLst>
          </p:cNvPr>
          <p:cNvSpPr>
            <a:spLocks xmlns:a="http://schemas.openxmlformats.org/drawingml/2006/main" noGrp="1"/>
          </p:cNvSpPr>
          <p:nvPr/>
        </p:nvSpPr>
        <p:spPr>
          <a:xfrm xmlns:a="http://schemas.openxmlformats.org/drawingml/2006/main">
            <a:off x="533400" y="6432042"/>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일반적인 조준 게임이 방향과 힘에 집중한다면, 속성 한방은 무엇의 속성을 옮길지, 원본이 어떻게 바뀔지, 남은 공을 다음 샷에서 어떻게 쓸지까지 함께 판단한다.</a:t>
            </a:r>
          </a:p>
        </p:txBody>
      </p:sp>
      <p:sp>
        <p:nvSpPr>
          <p:cNvPr id="9" name="table-cell-747.92-0-0">
            <a:extLst xmlns:a="http://schemas.openxmlformats.org/drawingml/2006/main">
              <a:ext uri="{FF2B5EF4-FFF2-40B4-BE49-F238E27FC236}">
                <a16:creationId xmlns:a16="http://schemas.microsoft.com/office/drawing/2014/main" id="{882BA120-8FE2-4B19-8D3A-14CDEF261C81}"/>
              </a:ext>
            </a:extLst>
          </p:cNvPr>
          <p:cNvSpPr>
            <a:spLocks xmlns:a="http://schemas.openxmlformats.org/drawingml/2006/main" noGrp="1"/>
          </p:cNvSpPr>
          <p:nvPr/>
        </p:nvSpPr>
        <p:spPr>
          <a:xfrm xmlns:a="http://schemas.openxmlformats.org/drawingml/2006/main">
            <a:off x="533400" y="7123938"/>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0" name="table-text-747.92-0-0">
            <a:extLst xmlns:a="http://schemas.openxmlformats.org/drawingml/2006/main">
              <a:ext uri="{FF2B5EF4-FFF2-40B4-BE49-F238E27FC236}">
                <a16:creationId xmlns:a16="http://schemas.microsoft.com/office/drawing/2014/main" id="{0D4A1CEE-55AD-469A-A5A7-D9D56C492397}"/>
              </a:ext>
            </a:extLst>
          </p:cNvPr>
          <p:cNvSpPr>
            <a:spLocks xmlns:a="http://schemas.openxmlformats.org/drawingml/2006/main" noGrp="1"/>
          </p:cNvSpPr>
          <p:nvPr/>
        </p:nvSpPr>
        <p:spPr>
          <a:xfrm xmlns:a="http://schemas.openxmlformats.org/drawingml/2006/main">
            <a:off x="619125" y="7190613"/>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핵심 질문</a:t>
            </a:r>
          </a:p>
        </p:txBody>
      </p:sp>
      <p:sp>
        <p:nvSpPr>
          <p:cNvPr id="11" name="table-cell-747.92-0-1">
            <a:extLst xmlns:a="http://schemas.openxmlformats.org/drawingml/2006/main">
              <a:ext uri="{FF2B5EF4-FFF2-40B4-BE49-F238E27FC236}">
                <a16:creationId xmlns:a16="http://schemas.microsoft.com/office/drawing/2014/main" id="{F32F3CC7-C43D-4717-A9CD-964EF87C4A92}"/>
              </a:ext>
            </a:extLst>
          </p:cNvPr>
          <p:cNvSpPr>
            <a:spLocks xmlns:a="http://schemas.openxmlformats.org/drawingml/2006/main" noGrp="1"/>
          </p:cNvSpPr>
          <p:nvPr/>
        </p:nvSpPr>
        <p:spPr>
          <a:xfrm xmlns:a="http://schemas.openxmlformats.org/drawingml/2006/main">
            <a:off x="3781425" y="7123938"/>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2" name="table-text-747.92-0-1">
            <a:extLst xmlns:a="http://schemas.openxmlformats.org/drawingml/2006/main">
              <a:ext uri="{FF2B5EF4-FFF2-40B4-BE49-F238E27FC236}">
                <a16:creationId xmlns:a16="http://schemas.microsoft.com/office/drawing/2014/main" id="{F246CF60-D08B-49AA-98CA-22B35FDC0041}"/>
              </a:ext>
            </a:extLst>
          </p:cNvPr>
          <p:cNvSpPr>
            <a:spLocks xmlns:a="http://schemas.openxmlformats.org/drawingml/2006/main" noGrp="1"/>
          </p:cNvSpPr>
          <p:nvPr/>
        </p:nvSpPr>
        <p:spPr>
          <a:xfrm xmlns:a="http://schemas.openxmlformats.org/drawingml/2006/main">
            <a:off x="3867150" y="7190613"/>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플레이어의 선택</a:t>
            </a:r>
          </a:p>
        </p:txBody>
      </p:sp>
      <p:sp>
        <p:nvSpPr>
          <p:cNvPr id="13" name="table-cell-747.92-1-0">
            <a:extLst xmlns:a="http://schemas.openxmlformats.org/drawingml/2006/main">
              <a:ext uri="{FF2B5EF4-FFF2-40B4-BE49-F238E27FC236}">
                <a16:creationId xmlns:a16="http://schemas.microsoft.com/office/drawing/2014/main" id="{43F6B7BD-5D90-4FB7-9CC4-D8E162C2FFAA}"/>
              </a:ext>
            </a:extLst>
          </p:cNvPr>
          <p:cNvSpPr>
            <a:spLocks xmlns:a="http://schemas.openxmlformats.org/drawingml/2006/main" noGrp="1"/>
          </p:cNvSpPr>
          <p:nvPr/>
        </p:nvSpPr>
        <p:spPr>
          <a:xfrm xmlns:a="http://schemas.openxmlformats.org/drawingml/2006/main">
            <a:off x="533400" y="7581138"/>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4" name="table-text-747.92-1-0">
            <a:extLst xmlns:a="http://schemas.openxmlformats.org/drawingml/2006/main">
              <a:ext uri="{FF2B5EF4-FFF2-40B4-BE49-F238E27FC236}">
                <a16:creationId xmlns:a16="http://schemas.microsoft.com/office/drawing/2014/main" id="{F6B5F330-E21B-4F9E-B3B9-C2A5A794C9B0}"/>
              </a:ext>
            </a:extLst>
          </p:cNvPr>
          <p:cNvSpPr>
            <a:spLocks xmlns:a="http://schemas.openxmlformats.org/drawingml/2006/main" noGrp="1"/>
          </p:cNvSpPr>
          <p:nvPr/>
        </p:nvSpPr>
        <p:spPr>
          <a:xfrm xmlns:a="http://schemas.openxmlformats.org/drawingml/2006/main">
            <a:off x="619125" y="764781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어떤 속성이 필요한가?</a:t>
            </a:r>
          </a:p>
        </p:txBody>
      </p:sp>
      <p:sp>
        <p:nvSpPr>
          <p:cNvPr id="15" name="table-cell-747.92-1-1">
            <a:extLst xmlns:a="http://schemas.openxmlformats.org/drawingml/2006/main">
              <a:ext uri="{FF2B5EF4-FFF2-40B4-BE49-F238E27FC236}">
                <a16:creationId xmlns:a16="http://schemas.microsoft.com/office/drawing/2014/main" id="{585B73C1-4D4F-418B-8741-ED970500692C}"/>
              </a:ext>
            </a:extLst>
          </p:cNvPr>
          <p:cNvSpPr>
            <a:spLocks xmlns:a="http://schemas.openxmlformats.org/drawingml/2006/main" noGrp="1"/>
          </p:cNvSpPr>
          <p:nvPr/>
        </p:nvSpPr>
        <p:spPr>
          <a:xfrm xmlns:a="http://schemas.openxmlformats.org/drawingml/2006/main">
            <a:off x="3781425" y="7581138"/>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6" name="table-text-747.92-1-1">
            <a:extLst xmlns:a="http://schemas.openxmlformats.org/drawingml/2006/main">
              <a:ext uri="{FF2B5EF4-FFF2-40B4-BE49-F238E27FC236}">
                <a16:creationId xmlns:a16="http://schemas.microsoft.com/office/drawing/2014/main" id="{B52F5A14-99EA-4A07-A481-3F1EB82CAC10}"/>
              </a:ext>
            </a:extLst>
          </p:cNvPr>
          <p:cNvSpPr>
            <a:spLocks xmlns:a="http://schemas.openxmlformats.org/drawingml/2006/main" noGrp="1"/>
          </p:cNvSpPr>
          <p:nvPr/>
        </p:nvSpPr>
        <p:spPr>
          <a:xfrm xmlns:a="http://schemas.openxmlformats.org/drawingml/2006/main">
            <a:off x="3867150" y="764781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무거움·탄성·점착·뾰족함 중 맵에 맞는 속성을 고른다.</a:t>
            </a:r>
          </a:p>
        </p:txBody>
      </p:sp>
      <p:sp>
        <p:nvSpPr>
          <p:cNvPr id="17" name="table-cell-747.92-2-0">
            <a:extLst xmlns:a="http://schemas.openxmlformats.org/drawingml/2006/main">
              <a:ext uri="{FF2B5EF4-FFF2-40B4-BE49-F238E27FC236}">
                <a16:creationId xmlns:a16="http://schemas.microsoft.com/office/drawing/2014/main" id="{40F8C88D-7A3F-4F14-A5DD-D0C590E4177C}"/>
              </a:ext>
            </a:extLst>
          </p:cNvPr>
          <p:cNvSpPr>
            <a:spLocks xmlns:a="http://schemas.openxmlformats.org/drawingml/2006/main" noGrp="1"/>
          </p:cNvSpPr>
          <p:nvPr/>
        </p:nvSpPr>
        <p:spPr>
          <a:xfrm xmlns:a="http://schemas.openxmlformats.org/drawingml/2006/main">
            <a:off x="533400" y="7981188"/>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8" name="table-text-747.92-2-0">
            <a:extLst xmlns:a="http://schemas.openxmlformats.org/drawingml/2006/main">
              <a:ext uri="{FF2B5EF4-FFF2-40B4-BE49-F238E27FC236}">
                <a16:creationId xmlns:a16="http://schemas.microsoft.com/office/drawing/2014/main" id="{A41BBB88-2F5F-4C01-B44B-9D60C0F1C657}"/>
              </a:ext>
            </a:extLst>
          </p:cNvPr>
          <p:cNvSpPr>
            <a:spLocks xmlns:a="http://schemas.openxmlformats.org/drawingml/2006/main" noGrp="1"/>
          </p:cNvSpPr>
          <p:nvPr/>
        </p:nvSpPr>
        <p:spPr>
          <a:xfrm xmlns:a="http://schemas.openxmlformats.org/drawingml/2006/main">
            <a:off x="619125" y="804786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속성을 옮긴 뒤 원본은?</a:t>
            </a:r>
          </a:p>
        </p:txBody>
      </p:sp>
      <p:sp>
        <p:nvSpPr>
          <p:cNvPr id="19" name="table-cell-747.92-2-1">
            <a:extLst xmlns:a="http://schemas.openxmlformats.org/drawingml/2006/main">
              <a:ext uri="{FF2B5EF4-FFF2-40B4-BE49-F238E27FC236}">
                <a16:creationId xmlns:a16="http://schemas.microsoft.com/office/drawing/2014/main" id="{C732C46A-2337-43BB-8058-2DB0DAC553BC}"/>
              </a:ext>
            </a:extLst>
          </p:cNvPr>
          <p:cNvSpPr>
            <a:spLocks xmlns:a="http://schemas.openxmlformats.org/drawingml/2006/main" noGrp="1"/>
          </p:cNvSpPr>
          <p:nvPr/>
        </p:nvSpPr>
        <p:spPr>
          <a:xfrm xmlns:a="http://schemas.openxmlformats.org/drawingml/2006/main">
            <a:off x="3781425" y="7981188"/>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0" name="table-text-747.92-2-1">
            <a:extLst xmlns:a="http://schemas.openxmlformats.org/drawingml/2006/main">
              <a:ext uri="{FF2B5EF4-FFF2-40B4-BE49-F238E27FC236}">
                <a16:creationId xmlns:a16="http://schemas.microsoft.com/office/drawing/2014/main" id="{E83E1253-81FE-423A-AAF9-B3EE66E86487}"/>
              </a:ext>
            </a:extLst>
          </p:cNvPr>
          <p:cNvSpPr>
            <a:spLocks xmlns:a="http://schemas.openxmlformats.org/drawingml/2006/main" noGrp="1"/>
          </p:cNvSpPr>
          <p:nvPr/>
        </p:nvSpPr>
        <p:spPr>
          <a:xfrm xmlns:a="http://schemas.openxmlformats.org/drawingml/2006/main">
            <a:off x="3867150" y="804786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원본의 속성이 비워져 반응이 달라지는 점까지 이용한다.</a:t>
            </a:r>
          </a:p>
        </p:txBody>
      </p:sp>
      <p:sp>
        <p:nvSpPr>
          <p:cNvPr id="21" name="table-cell-747.92-3-0">
            <a:extLst xmlns:a="http://schemas.openxmlformats.org/drawingml/2006/main">
              <a:ext uri="{FF2B5EF4-FFF2-40B4-BE49-F238E27FC236}">
                <a16:creationId xmlns:a16="http://schemas.microsoft.com/office/drawing/2014/main" id="{4D8DD652-2690-4865-925F-5A59B7FB586D}"/>
              </a:ext>
            </a:extLst>
          </p:cNvPr>
          <p:cNvSpPr>
            <a:spLocks xmlns:a="http://schemas.openxmlformats.org/drawingml/2006/main" noGrp="1"/>
          </p:cNvSpPr>
          <p:nvPr/>
        </p:nvSpPr>
        <p:spPr>
          <a:xfrm xmlns:a="http://schemas.openxmlformats.org/drawingml/2006/main">
            <a:off x="533400" y="8381238"/>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2" name="table-text-747.92-3-0">
            <a:extLst xmlns:a="http://schemas.openxmlformats.org/drawingml/2006/main">
              <a:ext uri="{FF2B5EF4-FFF2-40B4-BE49-F238E27FC236}">
                <a16:creationId xmlns:a16="http://schemas.microsoft.com/office/drawing/2014/main" id="{99C18633-837D-4FB3-B2A2-F3601893AE7B}"/>
              </a:ext>
            </a:extLst>
          </p:cNvPr>
          <p:cNvSpPr>
            <a:spLocks xmlns:a="http://schemas.openxmlformats.org/drawingml/2006/main" noGrp="1"/>
          </p:cNvSpPr>
          <p:nvPr/>
        </p:nvSpPr>
        <p:spPr>
          <a:xfrm xmlns:a="http://schemas.openxmlformats.org/drawingml/2006/main">
            <a:off x="619125" y="844791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한 번에 실패하면 끝인가?</a:t>
            </a:r>
          </a:p>
        </p:txBody>
      </p:sp>
      <p:sp>
        <p:nvSpPr>
          <p:cNvPr id="23" name="table-cell-747.92-3-1">
            <a:extLst xmlns:a="http://schemas.openxmlformats.org/drawingml/2006/main">
              <a:ext uri="{FF2B5EF4-FFF2-40B4-BE49-F238E27FC236}">
                <a16:creationId xmlns:a16="http://schemas.microsoft.com/office/drawing/2014/main" id="{006E4A70-75D4-4F0C-ADF0-2C924D26E186}"/>
              </a:ext>
            </a:extLst>
          </p:cNvPr>
          <p:cNvSpPr>
            <a:spLocks xmlns:a="http://schemas.openxmlformats.org/drawingml/2006/main" noGrp="1"/>
          </p:cNvSpPr>
          <p:nvPr/>
        </p:nvSpPr>
        <p:spPr>
          <a:xfrm xmlns:a="http://schemas.openxmlformats.org/drawingml/2006/main">
            <a:off x="3781425" y="8381238"/>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4" name="table-text-747.92-3-1">
            <a:extLst xmlns:a="http://schemas.openxmlformats.org/drawingml/2006/main">
              <a:ext uri="{FF2B5EF4-FFF2-40B4-BE49-F238E27FC236}">
                <a16:creationId xmlns:a16="http://schemas.microsoft.com/office/drawing/2014/main" id="{A102F7A5-120D-4148-AD70-D93B986AF12A}"/>
              </a:ext>
            </a:extLst>
          </p:cNvPr>
          <p:cNvSpPr>
            <a:spLocks xmlns:a="http://schemas.openxmlformats.org/drawingml/2006/main" noGrp="1"/>
          </p:cNvSpPr>
          <p:nvPr/>
        </p:nvSpPr>
        <p:spPr>
          <a:xfrm xmlns:a="http://schemas.openxmlformats.org/drawingml/2006/main">
            <a:off x="3867150" y="844791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118"/>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아니다. 잔류 공과 바뀐 장면 상태가 다음 샷의 전략 자원이 된다.</a:t>
            </a:r>
          </a:p>
        </p:txBody>
      </p:sp>
    </p:spTree>
    <p:extLst>
      <p:ext uri="{BB962C8B-B14F-4D97-AF65-F5344CB8AC3E}">
        <p14:creationId xmlns:p14="http://schemas.microsoft.com/office/powerpoint/2010/main" val="61663017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unning-label">
            <a:extLst xmlns:a="http://schemas.openxmlformats.org/drawingml/2006/main">
              <a:ext uri="{FF2B5EF4-FFF2-40B4-BE49-F238E27FC236}">
                <a16:creationId xmlns:a16="http://schemas.microsoft.com/office/drawing/2014/main" id="{2BAED904-5B58-4A18-A8AE-222B9431DA3E}"/>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759C34AC-480D-48BB-A6A8-58923D54D0AC}"/>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4</a:t>
            </a:r>
          </a:p>
        </p:txBody>
      </p:sp>
      <p:sp>
        <p:nvSpPr>
          <p:cNvPr id="3" name="header-rule">
            <a:extLst xmlns:a="http://schemas.openxmlformats.org/drawingml/2006/main">
              <a:ext uri="{FF2B5EF4-FFF2-40B4-BE49-F238E27FC236}">
                <a16:creationId xmlns:a16="http://schemas.microsoft.com/office/drawing/2014/main" id="{2BF436B6-5555-4761-A845-FADBDC21EF05}"/>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A834D749-1266-4AB0-91F1-85B2E481D831}"/>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2. 게임 방법</a:t>
            </a:r>
          </a:p>
        </p:txBody>
      </p:sp>
      <p:sp>
        <p:nvSpPr>
          <p:cNvPr id="5" name="subheading-140">
            <a:extLst xmlns:a="http://schemas.openxmlformats.org/drawingml/2006/main">
              <a:ext uri="{FF2B5EF4-FFF2-40B4-BE49-F238E27FC236}">
                <a16:creationId xmlns:a16="http://schemas.microsoft.com/office/drawing/2014/main" id="{5F388E16-FE73-4B1D-93D7-E16D35D78B42}"/>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2.1 목표</a:t>
            </a:r>
          </a:p>
        </p:txBody>
      </p:sp>
      <p:sp>
        <p:nvSpPr>
          <p:cNvPr id="6" name="paragraph-194">
            <a:extLst xmlns:a="http://schemas.openxmlformats.org/drawingml/2006/main">
              <a:ext uri="{FF2B5EF4-FFF2-40B4-BE49-F238E27FC236}">
                <a16:creationId xmlns:a16="http://schemas.microsoft.com/office/drawing/2014/main" id="{FB5CD2DE-50C4-47AE-B2B8-DC4C4E758BD6}"/>
              </a:ext>
            </a:extLst>
          </p:cNvPr>
          <p:cNvSpPr>
            <a:spLocks xmlns:a="http://schemas.openxmlformats.org/drawingml/2006/main" noGrp="1"/>
          </p:cNvSpPr>
          <p:nvPr/>
        </p:nvSpPr>
        <p:spPr>
          <a:xfrm xmlns:a="http://schemas.openxmlformats.org/drawingml/2006/main">
            <a:off x="533400" y="184785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각 패턴의 홀에 현재 공 또는 이전 샷의 잔류 공을 넣으면 클리어한다. 일부 단계는 스위치·문·풍선·파워 발판·회전 반사판을 먼저 작동해야 홀 경로가 열린다.</a:t>
            </a:r>
          </a:p>
        </p:txBody>
      </p:sp>
      <p:sp>
        <p:nvSpPr>
          <p:cNvPr id="7" name="subheading-266.64">
            <a:extLst xmlns:a="http://schemas.openxmlformats.org/drawingml/2006/main">
              <a:ext uri="{FF2B5EF4-FFF2-40B4-BE49-F238E27FC236}">
                <a16:creationId xmlns:a16="http://schemas.microsoft.com/office/drawing/2014/main" id="{4513A315-4BC9-42E8-AA29-E9653A68EC4A}"/>
              </a:ext>
            </a:extLst>
          </p:cNvPr>
          <p:cNvSpPr>
            <a:spLocks xmlns:a="http://schemas.openxmlformats.org/drawingml/2006/main" noGrp="1"/>
          </p:cNvSpPr>
          <p:nvPr/>
        </p:nvSpPr>
        <p:spPr>
          <a:xfrm xmlns:a="http://schemas.openxmlformats.org/drawingml/2006/main">
            <a:off x="533400" y="253974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2.2 조작</a:t>
            </a:r>
          </a:p>
        </p:txBody>
      </p:sp>
      <p:sp>
        <p:nvSpPr>
          <p:cNvPr id="8" name="bullets-320.64">
            <a:extLst xmlns:a="http://schemas.openxmlformats.org/drawingml/2006/main">
              <a:ext uri="{FF2B5EF4-FFF2-40B4-BE49-F238E27FC236}">
                <a16:creationId xmlns:a16="http://schemas.microsoft.com/office/drawing/2014/main" id="{A79F7167-1A9D-493A-AD00-F2D4ED407C34}"/>
              </a:ext>
            </a:extLst>
          </p:cNvPr>
          <p:cNvSpPr>
            <a:spLocks xmlns:a="http://schemas.openxmlformats.org/drawingml/2006/main" noGrp="1"/>
          </p:cNvSpPr>
          <p:nvPr/>
        </p:nvSpPr>
        <p:spPr>
          <a:xfrm xmlns:a="http://schemas.openxmlformats.org/drawingml/2006/main">
            <a:off x="533400" y="3054096"/>
            <a:ext cx="6496050" cy="250088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속성이 있는 오브젝트를 눌러 속성을 선택한다.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이전을 선택하면 공이 속성을 얻고 원본은 비워진다. 복제 코어가 있으면 복사도 가능하다.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공에서 드래그해 발사 방향을 정한다.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공을 길게 누르면 공 근처에서 기믹을 피해 배치된 부유 직선 충전 게이지가 아래에서 위로 찬다.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초록(약함) → 노랑(보통) → 빨강(강함) → 점멸 빨강(과충전 직전) → 회색(취소) 순서를 보고 손을 떼어 발사한다.</a:t>
            </a:r>
          </a:p>
        </p:txBody>
      </p:sp>
      <p:sp>
        <p:nvSpPr>
          <p:cNvPr id="9" name="bullets-593.2">
            <a:extLst xmlns:a="http://schemas.openxmlformats.org/drawingml/2006/main">
              <a:ext uri="{FF2B5EF4-FFF2-40B4-BE49-F238E27FC236}">
                <a16:creationId xmlns:a16="http://schemas.microsoft.com/office/drawing/2014/main" id="{B2788156-6AF9-465C-84F9-3527B8C481A6}"/>
              </a:ext>
            </a:extLst>
          </p:cNvPr>
          <p:cNvSpPr>
            <a:spLocks xmlns:a="http://schemas.openxmlformats.org/drawingml/2006/main" noGrp="1"/>
          </p:cNvSpPr>
          <p:nvPr/>
        </p:nvSpPr>
        <p:spPr>
          <a:xfrm xmlns:a="http://schemas.openxmlformats.org/drawingml/2006/main">
            <a:off x="533400" y="5650230"/>
            <a:ext cx="6496050" cy="8854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게이지는 기본 오른손 설정에서 공의 왼쪽 후보, 왼손 설정에서 오른쪽 후보를 우선하되 홀·풍선·파워 슬라이더·열쇠 등 핵심 기물과 겹치지 않는 위치를 자동 선택한다. 저모션 또는 강한 점멸 끄기에서는 경고가 정적으로 표시된다.</a:t>
            </a:r>
          </a:p>
        </p:txBody>
      </p:sp>
    </p:spTree>
    <p:extLst>
      <p:ext uri="{BB962C8B-B14F-4D97-AF65-F5344CB8AC3E}">
        <p14:creationId xmlns:p14="http://schemas.microsoft.com/office/powerpoint/2010/main" val="1183471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unning-label">
            <a:extLst xmlns:a="http://schemas.openxmlformats.org/drawingml/2006/main">
              <a:ext uri="{FF2B5EF4-FFF2-40B4-BE49-F238E27FC236}">
                <a16:creationId xmlns:a16="http://schemas.microsoft.com/office/drawing/2014/main" id="{E4910F2B-0939-4396-AB8E-9360661E4AC0}"/>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1098EC39-3DCF-489D-9856-C8141B0E595A}"/>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5</a:t>
            </a:r>
          </a:p>
        </p:txBody>
      </p:sp>
      <p:sp>
        <p:nvSpPr>
          <p:cNvPr id="3" name="header-rule">
            <a:extLst xmlns:a="http://schemas.openxmlformats.org/drawingml/2006/main">
              <a:ext uri="{FF2B5EF4-FFF2-40B4-BE49-F238E27FC236}">
                <a16:creationId xmlns:a16="http://schemas.microsoft.com/office/drawing/2014/main" id="{2C39DD54-AD6B-4522-BAE3-C3DD07EB43A9}"/>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8981F952-9A04-4903-A1E9-8CA0363B0FB0}"/>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2. 게임 방법 · 계속</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99a52a98b184155"/>
          <a:stretch xmlns:a="http://schemas.openxmlformats.org/drawingml/2006/main"/>
        </p:blipFill>
        <p:spPr>
          <a:xfrm xmlns:a="http://schemas.openxmlformats.org/drawingml/2006/main">
            <a:off x="3055200" y="1333500"/>
            <a:ext cx="14524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5932503C-274A-4C6E-9018-E72C03843F3D}"/>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무거움 돌을 선택한 뒤 공으로 속성을 이전하거나 복사하는 선택 팝업</a:t>
            </a:r>
          </a:p>
        </p:txBody>
      </p:sp>
      <p:sp>
        <p:nvSpPr>
          <p:cNvPr id="7" name="subheading-524">
            <a:extLst xmlns:a="http://schemas.openxmlformats.org/drawingml/2006/main">
              <a:ext uri="{FF2B5EF4-FFF2-40B4-BE49-F238E27FC236}">
                <a16:creationId xmlns:a16="http://schemas.microsoft.com/office/drawing/2014/main" id="{AA2273B4-DFC9-4735-BACC-7046DDAD9D07}"/>
              </a:ext>
            </a:extLst>
          </p:cNvPr>
          <p:cNvSpPr>
            <a:spLocks xmlns:a="http://schemas.openxmlformats.org/drawingml/2006/main" noGrp="1"/>
          </p:cNvSpPr>
          <p:nvPr/>
        </p:nvSpPr>
        <p:spPr>
          <a:xfrm xmlns:a="http://schemas.openxmlformats.org/drawingml/2006/main">
            <a:off x="533400" y="49911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2.3 종료 조건</a:t>
            </a:r>
          </a:p>
        </p:txBody>
      </p:sp>
      <p:sp>
        <p:nvSpPr>
          <p:cNvPr id="8" name="bullets-578">
            <a:extLst xmlns:a="http://schemas.openxmlformats.org/drawingml/2006/main">
              <a:ext uri="{FF2B5EF4-FFF2-40B4-BE49-F238E27FC236}">
                <a16:creationId xmlns:a16="http://schemas.microsoft.com/office/drawing/2014/main" id="{32F2B037-9F4E-4898-98BC-724589E51B22}"/>
              </a:ext>
            </a:extLst>
          </p:cNvPr>
          <p:cNvSpPr>
            <a:spLocks xmlns:a="http://schemas.openxmlformats.org/drawingml/2006/main" noGrp="1"/>
          </p:cNvSpPr>
          <p:nvPr/>
        </p:nvSpPr>
        <p:spPr>
          <a:xfrm xmlns:a="http://schemas.openxmlformats.org/drawingml/2006/main">
            <a:off x="533400" y="5505450"/>
            <a:ext cx="6496050" cy="1691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성공: 공이 홀에 들어가면 점수·진행 해금·보상 선택을 처리한다.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실패 샷: 즉시 게임오버가 되지 않는다. 장치 상태와 잔류 공을 유지해 다음 샷으로 이어간다.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과충전: 게이지가 회색이 되면 해당 발사는 취소된다.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되감기/초기화: 직전 상태로 되돌리거나 현재 패턴을 처음부터 다시 시도할 수 있다.</a:t>
            </a:r>
          </a:p>
        </p:txBody>
      </p:sp>
    </p:spTree>
    <p:extLst>
      <p:ext uri="{BB962C8B-B14F-4D97-AF65-F5344CB8AC3E}">
        <p14:creationId xmlns:p14="http://schemas.microsoft.com/office/powerpoint/2010/main" val="57093427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unning-label">
            <a:extLst xmlns:a="http://schemas.openxmlformats.org/drawingml/2006/main">
              <a:ext uri="{FF2B5EF4-FFF2-40B4-BE49-F238E27FC236}">
                <a16:creationId xmlns:a16="http://schemas.microsoft.com/office/drawing/2014/main" id="{DA158C1D-3C22-44D2-8BDE-535382FE3755}"/>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60E28628-BFFA-4D1C-83CA-8F5B9D1CB936}"/>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6</a:t>
            </a:r>
          </a:p>
        </p:txBody>
      </p:sp>
      <p:sp>
        <p:nvSpPr>
          <p:cNvPr id="3" name="header-rule">
            <a:extLst xmlns:a="http://schemas.openxmlformats.org/drawingml/2006/main">
              <a:ext uri="{FF2B5EF4-FFF2-40B4-BE49-F238E27FC236}">
                <a16:creationId xmlns:a16="http://schemas.microsoft.com/office/drawing/2014/main" id="{33FFB3D8-89B6-4B94-B3DD-6D52A89D0F62}"/>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D437FB13-26A4-4E80-94CB-AC51EE9116F9}"/>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3. 난이도와 튜토리얼</a:t>
            </a:r>
          </a:p>
        </p:txBody>
      </p:sp>
      <p:sp>
        <p:nvSpPr>
          <p:cNvPr id="5" name="subheading-140">
            <a:extLst xmlns:a="http://schemas.openxmlformats.org/drawingml/2006/main">
              <a:ext uri="{FF2B5EF4-FFF2-40B4-BE49-F238E27FC236}">
                <a16:creationId xmlns:a16="http://schemas.microsoft.com/office/drawing/2014/main" id="{0C00D063-353C-4F64-9BC9-BCE5957A33BB}"/>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3.1 보통 모드</a:t>
            </a:r>
          </a:p>
        </p:txBody>
      </p:sp>
      <p:sp>
        <p:nvSpPr>
          <p:cNvPr id="6" name="paragraph-194">
            <a:extLst xmlns:a="http://schemas.openxmlformats.org/drawingml/2006/main">
              <a:ext uri="{FF2B5EF4-FFF2-40B4-BE49-F238E27FC236}">
                <a16:creationId xmlns:a16="http://schemas.microsoft.com/office/drawing/2014/main" id="{4ED8539E-271B-4042-8791-E9EF1AED34F7}"/>
              </a:ext>
            </a:extLst>
          </p:cNvPr>
          <p:cNvSpPr>
            <a:spLocks xmlns:a="http://schemas.openxmlformats.org/drawingml/2006/main" noGrp="1"/>
          </p:cNvSpPr>
          <p:nvPr/>
        </p:nvSpPr>
        <p:spPr>
          <a:xfrm xmlns:a="http://schemas.openxmlformats.org/drawingml/2006/main">
            <a:off x="533400" y="184785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기존 조준 표시만 제공한다. 예상 충돌 위치는 표시하지 않으며 최고 점수와 선택 도전 기록은 보통 모드 결과로 관리한다.</a:t>
            </a:r>
          </a:p>
        </p:txBody>
      </p:sp>
      <p:sp>
        <p:nvSpPr>
          <p:cNvPr id="7" name="subheading-266.64">
            <a:extLst xmlns:a="http://schemas.openxmlformats.org/drawingml/2006/main">
              <a:ext uri="{FF2B5EF4-FFF2-40B4-BE49-F238E27FC236}">
                <a16:creationId xmlns:a16="http://schemas.microsoft.com/office/drawing/2014/main" id="{FC9FB8E9-4A2E-4CED-96B3-A8E0307BB19F}"/>
              </a:ext>
            </a:extLst>
          </p:cNvPr>
          <p:cNvSpPr>
            <a:spLocks xmlns:a="http://schemas.openxmlformats.org/drawingml/2006/main" noGrp="1"/>
          </p:cNvSpPr>
          <p:nvPr/>
        </p:nvSpPr>
        <p:spPr>
          <a:xfrm xmlns:a="http://schemas.openxmlformats.org/drawingml/2006/main">
            <a:off x="533400" y="253974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3.2 쉬움 모드</a:t>
            </a:r>
          </a:p>
        </p:txBody>
      </p:sp>
      <p:sp>
        <p:nvSpPr>
          <p:cNvPr id="8" name="paragraph-320.64">
            <a:extLst xmlns:a="http://schemas.openxmlformats.org/drawingml/2006/main">
              <a:ext uri="{FF2B5EF4-FFF2-40B4-BE49-F238E27FC236}">
                <a16:creationId xmlns:a16="http://schemas.microsoft.com/office/drawing/2014/main" id="{8F1B8F8C-DCDE-446F-91E0-98F65B352AAC}"/>
              </a:ext>
            </a:extLst>
          </p:cNvPr>
          <p:cNvSpPr>
            <a:spLocks xmlns:a="http://schemas.openxmlformats.org/drawingml/2006/main" noGrp="1"/>
          </p:cNvSpPr>
          <p:nvPr/>
        </p:nvSpPr>
        <p:spPr>
          <a:xfrm xmlns:a="http://schemas.openxmlformats.org/drawingml/2006/main">
            <a:off x="533400" y="3054096"/>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조준 중 실제 판정기와 같은 계산을 읽기 전용으로 실행해 예상 첫 도착 위치를 마름모와 예상 라벨로 표시한다. 첫 벽·기물 충돌, 홀 진입, 파워 슬라이더 진입, 충돌이 없을 때의 사거리 끝을 구분한다.</a:t>
            </a:r>
          </a:p>
        </p:txBody>
      </p:sp>
      <p:sp>
        <p:nvSpPr>
          <p:cNvPr id="9" name="paragraph-417.6">
            <a:extLst xmlns:a="http://schemas.openxmlformats.org/drawingml/2006/main">
              <a:ext uri="{FF2B5EF4-FFF2-40B4-BE49-F238E27FC236}">
                <a16:creationId xmlns:a16="http://schemas.microsoft.com/office/drawing/2014/main" id="{F57B340F-F6B5-4A92-8ACF-BAE1C6770094}"/>
              </a:ext>
            </a:extLst>
          </p:cNvPr>
          <p:cNvSpPr>
            <a:spLocks xmlns:a="http://schemas.openxmlformats.org/drawingml/2006/main" noGrp="1"/>
          </p:cNvSpPr>
          <p:nvPr/>
        </p:nvSpPr>
        <p:spPr>
          <a:xfrm xmlns:a="http://schemas.openxmlformats.org/drawingml/2006/main">
            <a:off x="533400" y="397764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쉬움 클리어도 다음 단계 해금에는 반영되지만 보통 최고 기록과 선택 도전 기록을 덮지 않는다. 공식 오늘의 도전은 보통 모드로 고정된다.</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910bddeda294bcc"/>
          <a:stretch xmlns:a="http://schemas.openxmlformats.org/drawingml/2006/main"/>
        </p:blipFill>
        <p:spPr>
          <a:xfrm xmlns:a="http://schemas.openxmlformats.org/drawingml/2006/main">
            <a:off x="3055200" y="4669536"/>
            <a:ext cx="1452450" cy="3143250"/>
          </a:xfrm>
          <a:prstGeom xmlns:a="http://schemas.openxmlformats.org/drawingml/2006/main" prst="roundRect">
            <a:avLst>
              <a:gd name="adj" fmla="val 3636"/>
            </a:avLst>
          </a:prstGeom>
        </p:spPr>
      </p:pic>
      <p:sp>
        <p:nvSpPr>
          <p:cNvPr id="11" name="image-caption-490.24">
            <a:extLst xmlns:a="http://schemas.openxmlformats.org/drawingml/2006/main">
              <a:ext uri="{FF2B5EF4-FFF2-40B4-BE49-F238E27FC236}">
                <a16:creationId xmlns:a16="http://schemas.microsoft.com/office/drawing/2014/main" id="{EC2766EF-0E9C-41BA-8A63-706A6AF30057}"/>
              </a:ext>
            </a:extLst>
          </p:cNvPr>
          <p:cNvSpPr>
            <a:spLocks xmlns:a="http://schemas.openxmlformats.org/drawingml/2006/main" noGrp="1"/>
          </p:cNvSpPr>
          <p:nvPr/>
        </p:nvSpPr>
        <p:spPr>
          <a:xfrm xmlns:a="http://schemas.openxmlformats.org/drawingml/2006/main">
            <a:off x="666750" y="7869936"/>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쉬움 모드에서 조준선 앞의 마름모와 예상 라벨로 첫 도착 지점을 알리는 화면</a:t>
            </a:r>
          </a:p>
        </p:txBody>
      </p:sp>
      <p:sp>
        <p:nvSpPr>
          <p:cNvPr id="12" name="subheading-874.24">
            <a:extLst xmlns:a="http://schemas.openxmlformats.org/drawingml/2006/main">
              <a:ext uri="{FF2B5EF4-FFF2-40B4-BE49-F238E27FC236}">
                <a16:creationId xmlns:a16="http://schemas.microsoft.com/office/drawing/2014/main" id="{E91F7635-CEA0-46F8-A818-1BB1E45A85A5}"/>
              </a:ext>
            </a:extLst>
          </p:cNvPr>
          <p:cNvSpPr>
            <a:spLocks xmlns:a="http://schemas.openxmlformats.org/drawingml/2006/main" noGrp="1"/>
          </p:cNvSpPr>
          <p:nvPr/>
        </p:nvSpPr>
        <p:spPr>
          <a:xfrm xmlns:a="http://schemas.openxmlformats.org/drawingml/2006/main">
            <a:off x="533400" y="832713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3.3 첫 학습 경로 완화</a:t>
            </a:r>
          </a:p>
        </p:txBody>
      </p:sp>
    </p:spTree>
    <p:extLst>
      <p:ext uri="{BB962C8B-B14F-4D97-AF65-F5344CB8AC3E}">
        <p14:creationId xmlns:p14="http://schemas.microsoft.com/office/powerpoint/2010/main" val="10907795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unning-label">
            <a:extLst xmlns:a="http://schemas.openxmlformats.org/drawingml/2006/main">
              <a:ext uri="{FF2B5EF4-FFF2-40B4-BE49-F238E27FC236}">
                <a16:creationId xmlns:a16="http://schemas.microsoft.com/office/drawing/2014/main" id="{DA2296B9-BE7C-41F5-8AC7-7AAFFD1CACDC}"/>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5B93E86E-C41C-4EA0-918F-4A25D4F771D7}"/>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7</a:t>
            </a:r>
          </a:p>
        </p:txBody>
      </p:sp>
      <p:sp>
        <p:nvSpPr>
          <p:cNvPr id="3" name="header-rule">
            <a:extLst xmlns:a="http://schemas.openxmlformats.org/drawingml/2006/main">
              <a:ext uri="{FF2B5EF4-FFF2-40B4-BE49-F238E27FC236}">
                <a16:creationId xmlns:a16="http://schemas.microsoft.com/office/drawing/2014/main" id="{479CA04F-AF36-47A4-B37E-BB8051E67C6E}"/>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31F5667A-5F71-4C2F-ADDB-A250C1422BC1}"/>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3. 난이도와 튜토리얼 · 계속</a:t>
            </a:r>
          </a:p>
        </p:txBody>
      </p:sp>
      <p:sp>
        <p:nvSpPr>
          <p:cNvPr id="5" name="paragraph-140">
            <a:extLst xmlns:a="http://schemas.openxmlformats.org/drawingml/2006/main">
              <a:ext uri="{FF2B5EF4-FFF2-40B4-BE49-F238E27FC236}">
                <a16:creationId xmlns:a16="http://schemas.microsoft.com/office/drawing/2014/main" id="{D1D670FC-AC10-4929-BAEE-FE1AE6F10969}"/>
              </a:ext>
            </a:extLst>
          </p:cNvPr>
          <p:cNvSpPr>
            <a:spLocks xmlns:a="http://schemas.openxmlformats.org/drawingml/2006/main" noGrp="1"/>
          </p:cNvSpPr>
          <p:nvPr/>
        </p:nvSpPr>
        <p:spPr>
          <a:xfrm xmlns:a="http://schemas.openxmlformats.org/drawingml/2006/main">
            <a:off x="533400" y="133350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캠페인 1–4단계를 처음 배우는 동안에는 각 단계의 기준 패턴을 먼저 제시한다. 실패하면 정답 각도나 힘을 공개하지 않고 무거움→상자, 탄성→벽, 무거움→스위치→문, 뾰족함→풍선→스위치처럼 기믹의 인과관계만 설명한다. 재시도·저장 재개·오늘의 도전·리플레이의 기존 결정론은 그대로 유지된다.</a:t>
            </a:r>
          </a:p>
        </p:txBody>
      </p:sp>
      <p:sp>
        <p:nvSpPr>
          <p:cNvPr id="6" name="subheading-261.28">
            <a:extLst xmlns:a="http://schemas.openxmlformats.org/drawingml/2006/main">
              <a:ext uri="{FF2B5EF4-FFF2-40B4-BE49-F238E27FC236}">
                <a16:creationId xmlns:a16="http://schemas.microsoft.com/office/drawing/2014/main" id="{623A1E99-FA65-4D0D-8846-7CFE05FB1C40}"/>
              </a:ext>
            </a:extLst>
          </p:cNvPr>
          <p:cNvSpPr>
            <a:spLocks xmlns:a="http://schemas.openxmlformats.org/drawingml/2006/main" noGrp="1"/>
          </p:cNvSpPr>
          <p:nvPr/>
        </p:nvSpPr>
        <p:spPr>
          <a:xfrm xmlns:a="http://schemas.openxmlformats.org/drawingml/2006/main">
            <a:off x="533400" y="2488692"/>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3.4 패턴별 클리어 팁과 열쇠</a:t>
            </a:r>
          </a:p>
        </p:txBody>
      </p:sp>
      <p:sp>
        <p:nvSpPr>
          <p:cNvPr id="7" name="paragraph-315.28">
            <a:extLst xmlns:a="http://schemas.openxmlformats.org/drawingml/2006/main">
              <a:ext uri="{FF2B5EF4-FFF2-40B4-BE49-F238E27FC236}">
                <a16:creationId xmlns:a16="http://schemas.microsoft.com/office/drawing/2014/main" id="{6F290D60-FFF7-4F56-A57F-BAA0C8EEC582}"/>
              </a:ext>
            </a:extLst>
          </p:cNvPr>
          <p:cNvSpPr>
            <a:spLocks xmlns:a="http://schemas.openxmlformats.org/drawingml/2006/main" noGrp="1"/>
          </p:cNvSpPr>
          <p:nvPr/>
        </p:nvSpPr>
        <p:spPr>
          <a:xfrm xmlns:a="http://schemas.openxmlformats.org/drawingml/2006/main">
            <a:off x="533400" y="3003042"/>
            <a:ext cx="6496050" cy="1272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40개 패턴마다 L1·L2 두 단계의 팁을 제공한다. L1은 목표 기믹과 첫 행동, L2는 조준 위치·세기·행동 순서·예상 결과를 구체적으로 설명한다. 다음 단계 팁 보상을 선택하거나, 스테이지의 비물리 열쇠에 공을 직접 닿게 하면 해당 stageId + patternId + hintVersion의 팁 버튼이 열린다. 열쇠는 물리·점수·클리어 경로를 바꾸지 않으며 저장이 성공한 뒤에만 획득 효과가 나타난다.</a:t>
            </a:r>
          </a:p>
        </p:txBody>
      </p:sp>
      <p:sp>
        <p:nvSpPr>
          <p:cNvPr id="8" name="paragraph-460.88">
            <a:extLst xmlns:a="http://schemas.openxmlformats.org/drawingml/2006/main">
              <a:ext uri="{FF2B5EF4-FFF2-40B4-BE49-F238E27FC236}">
                <a16:creationId xmlns:a16="http://schemas.microsoft.com/office/drawing/2014/main" id="{C2713F24-9966-4C5F-A12F-C29744F141EC}"/>
              </a:ext>
            </a:extLst>
          </p:cNvPr>
          <p:cNvSpPr>
            <a:spLocks xmlns:a="http://schemas.openxmlformats.org/drawingml/2006/main" noGrp="1"/>
          </p:cNvSpPr>
          <p:nvPr/>
        </p:nvSpPr>
        <p:spPr>
          <a:xfrm xmlns:a="http://schemas.openxmlformats.org/drawingml/2006/main">
            <a:off x="533400" y="4389882"/>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작은 모바일 클리어 화면에서는 다음 스테이지 팁을 포함한 보상 선택이 점수 상세보다 먼저 보이고, 다음 버튼은 SafeArea 안의 고정 footer에 남는다. 일일 도전은 힌트 UI를 제공하지 않으므로 사용할 수 없는 팁 보상도 후보에서 제외한다.</a:t>
            </a:r>
          </a:p>
        </p:txBody>
      </p:sp>
    </p:spTree>
    <p:extLst>
      <p:ext uri="{BB962C8B-B14F-4D97-AF65-F5344CB8AC3E}">
        <p14:creationId xmlns:p14="http://schemas.microsoft.com/office/powerpoint/2010/main" val="19508244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unning-label">
            <a:extLst xmlns:a="http://schemas.openxmlformats.org/drawingml/2006/main">
              <a:ext uri="{FF2B5EF4-FFF2-40B4-BE49-F238E27FC236}">
                <a16:creationId xmlns:a16="http://schemas.microsoft.com/office/drawing/2014/main" id="{EFDEF6D3-4FE3-4F87-B1D5-1CC233F49999}"/>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FE9B5AD1-9B96-4B80-869E-D169962B0781}"/>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8</a:t>
            </a:r>
          </a:p>
        </p:txBody>
      </p:sp>
      <p:sp>
        <p:nvSpPr>
          <p:cNvPr id="3" name="header-rule">
            <a:extLst xmlns:a="http://schemas.openxmlformats.org/drawingml/2006/main">
              <a:ext uri="{FF2B5EF4-FFF2-40B4-BE49-F238E27FC236}">
                <a16:creationId xmlns:a16="http://schemas.microsoft.com/office/drawing/2014/main" id="{40F605B5-FACF-4654-A8B5-67AF9538DFC9}"/>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02CF22FD-B1D1-4F56-8C95-03BE3E0ABC33}"/>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학습 곡선의 핵심 기믹</a:t>
            </a:r>
          </a:p>
        </p:txBody>
      </p:sp>
      <p:sp>
        <p:nvSpPr>
          <p:cNvPr id="5" name="subheading-140">
            <a:extLst xmlns:a="http://schemas.openxmlformats.org/drawingml/2006/main">
              <a:ext uri="{FF2B5EF4-FFF2-40B4-BE49-F238E27FC236}">
                <a16:creationId xmlns:a16="http://schemas.microsoft.com/office/drawing/2014/main" id="{BEA2D734-8F61-458D-9EC6-FAF2395EDC21}"/>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4.1 무거움</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160b8be76c24be3"/>
          <a:stretch xmlns:a="http://schemas.openxmlformats.org/drawingml/2006/main"/>
        </p:blipFill>
        <p:spPr>
          <a:xfrm xmlns:a="http://schemas.openxmlformats.org/drawingml/2006/main">
            <a:off x="2209800" y="1847850"/>
            <a:ext cx="3143250" cy="3143250"/>
          </a:xfrm>
          <a:prstGeom xmlns:a="http://schemas.openxmlformats.org/drawingml/2006/main" prst="roundRect">
            <a:avLst>
              <a:gd name="adj" fmla="val 3636"/>
            </a:avLst>
          </a:prstGeom>
        </p:spPr>
      </p:pic>
      <p:sp>
        <p:nvSpPr>
          <p:cNvPr id="7" name="image-caption-194">
            <a:extLst xmlns:a="http://schemas.openxmlformats.org/drawingml/2006/main">
              <a:ext uri="{FF2B5EF4-FFF2-40B4-BE49-F238E27FC236}">
                <a16:creationId xmlns:a16="http://schemas.microsoft.com/office/drawing/2014/main" id="{F1421A08-9712-444D-A45A-F80BD41B77FA}"/>
              </a:ext>
            </a:extLst>
          </p:cNvPr>
          <p:cNvSpPr>
            <a:spLocks xmlns:a="http://schemas.openxmlformats.org/drawingml/2006/main" noGrp="1"/>
          </p:cNvSpPr>
          <p:nvPr/>
        </p:nvSpPr>
        <p:spPr>
          <a:xfrm xmlns:a="http://schemas.openxmlformats.org/drawingml/2006/main">
            <a:off x="666750" y="504825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운동량 전달 기믹을 나타내는 짙은 회색 무거움 돌 애셋</a:t>
            </a:r>
          </a:p>
        </p:txBody>
      </p:sp>
      <p:sp>
        <p:nvSpPr>
          <p:cNvPr id="8" name="paragraph-578">
            <a:extLst xmlns:a="http://schemas.openxmlformats.org/drawingml/2006/main">
              <a:ext uri="{FF2B5EF4-FFF2-40B4-BE49-F238E27FC236}">
                <a16:creationId xmlns:a16="http://schemas.microsoft.com/office/drawing/2014/main" id="{81DA675B-05C4-4DEE-BF2A-F607CB81803C}"/>
              </a:ext>
            </a:extLst>
          </p:cNvPr>
          <p:cNvSpPr>
            <a:spLocks xmlns:a="http://schemas.openxmlformats.org/drawingml/2006/main" noGrp="1"/>
          </p:cNvSpPr>
          <p:nvPr/>
        </p:nvSpPr>
        <p:spPr>
          <a:xfrm xmlns:a="http://schemas.openxmlformats.org/drawingml/2006/main">
            <a:off x="533400" y="550545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무거운 공은 상자와 장치에 더 큰 운동량을 전달한다. 속성을 이전한 돌은 비워진 원본으로 남아 이후 경로 설계에 다시 사용될 수 있다.</a:t>
            </a:r>
          </a:p>
        </p:txBody>
      </p:sp>
      <p:sp>
        <p:nvSpPr>
          <p:cNvPr id="9" name="subheading-650.64">
            <a:extLst xmlns:a="http://schemas.openxmlformats.org/drawingml/2006/main">
              <a:ext uri="{FF2B5EF4-FFF2-40B4-BE49-F238E27FC236}">
                <a16:creationId xmlns:a16="http://schemas.microsoft.com/office/drawing/2014/main" id="{9676DA9C-07F4-4769-9C55-9D92A5315242}"/>
              </a:ext>
            </a:extLst>
          </p:cNvPr>
          <p:cNvSpPr>
            <a:spLocks xmlns:a="http://schemas.openxmlformats.org/drawingml/2006/main" noGrp="1"/>
          </p:cNvSpPr>
          <p:nvPr/>
        </p:nvSpPr>
        <p:spPr>
          <a:xfrm xmlns:a="http://schemas.openxmlformats.org/drawingml/2006/main">
            <a:off x="533400" y="619734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4.2 탄성</a:t>
            </a:r>
          </a:p>
        </p:txBody>
      </p:sp>
    </p:spTree>
    <p:extLst>
      <p:ext uri="{BB962C8B-B14F-4D97-AF65-F5344CB8AC3E}">
        <p14:creationId xmlns:p14="http://schemas.microsoft.com/office/powerpoint/2010/main" val="195233497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running-label">
            <a:extLst xmlns:a="http://schemas.openxmlformats.org/drawingml/2006/main">
              <a:ext uri="{FF2B5EF4-FFF2-40B4-BE49-F238E27FC236}">
                <a16:creationId xmlns:a16="http://schemas.microsoft.com/office/drawing/2014/main" id="{70B31041-75F3-4F11-817F-F156BC2C1409}"/>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094FDCB2-D8E6-4D56-BC3D-16A97B9AF060}"/>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9</a:t>
            </a:r>
          </a:p>
        </p:txBody>
      </p:sp>
      <p:sp>
        <p:nvSpPr>
          <p:cNvPr id="3" name="header-rule">
            <a:extLst xmlns:a="http://schemas.openxmlformats.org/drawingml/2006/main">
              <a:ext uri="{FF2B5EF4-FFF2-40B4-BE49-F238E27FC236}">
                <a16:creationId xmlns:a16="http://schemas.microsoft.com/office/drawing/2014/main" id="{546F249B-637E-440B-AAA8-891497CB235F}"/>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C8FFD8FF-6218-4400-A8B7-CD734C447514}"/>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학습 곡선의 핵심 기믹 · 계속</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5625c4ea99b447ea"/>
          <a:stretch xmlns:a="http://schemas.openxmlformats.org/drawingml/2006/main"/>
        </p:blipFill>
        <p:spPr>
          <a:xfrm xmlns:a="http://schemas.openxmlformats.org/drawingml/2006/main">
            <a:off x="2209800" y="1333500"/>
            <a:ext cx="31432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1B9782E0-1E2E-4CFA-BF7E-A4EF3843FE85}"/>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벽 반사와 탄성 기믹을 나타내는 분홍색 젤리 범퍼 애셋</a:t>
            </a:r>
          </a:p>
        </p:txBody>
      </p:sp>
      <p:sp>
        <p:nvSpPr>
          <p:cNvPr id="7" name="paragraph-524">
            <a:extLst xmlns:a="http://schemas.openxmlformats.org/drawingml/2006/main">
              <a:ext uri="{FF2B5EF4-FFF2-40B4-BE49-F238E27FC236}">
                <a16:creationId xmlns:a16="http://schemas.microsoft.com/office/drawing/2014/main" id="{32022754-AC8B-439F-9B7E-84AD5D0905B0}"/>
              </a:ext>
            </a:extLst>
          </p:cNvPr>
          <p:cNvSpPr>
            <a:spLocks xmlns:a="http://schemas.openxmlformats.org/drawingml/2006/main" noGrp="1"/>
          </p:cNvSpPr>
          <p:nvPr/>
        </p:nvSpPr>
        <p:spPr>
          <a:xfrm xmlns:a="http://schemas.openxmlformats.org/drawingml/2006/main">
            <a:off x="533400" y="499110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탄성 공은 충돌 후 반사 에너지를 더 오래 유지한다. 2단계에서는 벽 반사를 통해 직선으로 닿지 않는 홀 경로를 배운다.</a:t>
            </a:r>
          </a:p>
        </p:txBody>
      </p:sp>
      <p:sp>
        <p:nvSpPr>
          <p:cNvPr id="8" name="subheading-596.64">
            <a:extLst xmlns:a="http://schemas.openxmlformats.org/drawingml/2006/main">
              <a:ext uri="{FF2B5EF4-FFF2-40B4-BE49-F238E27FC236}">
                <a16:creationId xmlns:a16="http://schemas.microsoft.com/office/drawing/2014/main" id="{855D283D-578A-44CE-8EF3-2C749EDAE922}"/>
              </a:ext>
            </a:extLst>
          </p:cNvPr>
          <p:cNvSpPr>
            <a:spLocks xmlns:a="http://schemas.openxmlformats.org/drawingml/2006/main" noGrp="1"/>
          </p:cNvSpPr>
          <p:nvPr/>
        </p:nvSpPr>
        <p:spPr>
          <a:xfrm xmlns:a="http://schemas.openxmlformats.org/drawingml/2006/main">
            <a:off x="533400" y="568299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4.3 뾰족함과 풍선</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2bdae4aa87c4ca1"/>
          <a:stretch xmlns:a="http://schemas.openxmlformats.org/drawingml/2006/main"/>
        </p:blipFill>
        <p:spPr>
          <a:xfrm xmlns:a="http://schemas.openxmlformats.org/drawingml/2006/main">
            <a:off x="3055200" y="6197346"/>
            <a:ext cx="1452450" cy="3143250"/>
          </a:xfrm>
          <a:prstGeom xmlns:a="http://schemas.openxmlformats.org/drawingml/2006/main" prst="roundRect">
            <a:avLst>
              <a:gd name="adj" fmla="val 3636"/>
            </a:avLst>
          </a:prstGeom>
        </p:spPr>
      </p:pic>
      <p:sp>
        <p:nvSpPr>
          <p:cNvPr id="10" name="image-caption-650.64">
            <a:extLst xmlns:a="http://schemas.openxmlformats.org/drawingml/2006/main">
              <a:ext uri="{FF2B5EF4-FFF2-40B4-BE49-F238E27FC236}">
                <a16:creationId xmlns:a16="http://schemas.microsoft.com/office/drawing/2014/main" id="{22AB29F1-7DA6-4E58-A7CB-95A0B1F58254}"/>
              </a:ext>
            </a:extLst>
          </p:cNvPr>
          <p:cNvSpPr>
            <a:spLocks xmlns:a="http://schemas.openxmlformats.org/drawingml/2006/main" noGrp="1"/>
          </p:cNvSpPr>
          <p:nvPr/>
        </p:nvSpPr>
        <p:spPr>
          <a:xfrm xmlns:a="http://schemas.openxmlformats.org/drawingml/2006/main">
            <a:off x="666750" y="9397746"/>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4단계 시작 상태에서 가시 원본과 풍선, 닫힌 문이 한 화면에 배치된 모습</a:t>
            </a:r>
          </a:p>
        </p:txBody>
      </p:sp>
    </p:spTree>
    <p:extLst>
      <p:ext uri="{BB962C8B-B14F-4D97-AF65-F5344CB8AC3E}">
        <p14:creationId xmlns:p14="http://schemas.microsoft.com/office/powerpoint/2010/main" val="16719996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running-label">
            <a:extLst xmlns:a="http://schemas.openxmlformats.org/drawingml/2006/main">
              <a:ext uri="{FF2B5EF4-FFF2-40B4-BE49-F238E27FC236}">
                <a16:creationId xmlns:a16="http://schemas.microsoft.com/office/drawing/2014/main" id="{E5742E40-A744-4040-8CF4-16AD7046C686}"/>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C70B8A5C-2512-438E-BEF0-FB05F1D5FB62}"/>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10</a:t>
            </a:r>
          </a:p>
        </p:txBody>
      </p:sp>
      <p:sp>
        <p:nvSpPr>
          <p:cNvPr id="3" name="header-rule">
            <a:extLst xmlns:a="http://schemas.openxmlformats.org/drawingml/2006/main">
              <a:ext uri="{FF2B5EF4-FFF2-40B4-BE49-F238E27FC236}">
                <a16:creationId xmlns:a16="http://schemas.microsoft.com/office/drawing/2014/main" id="{D1495F81-836C-4B61-9031-D0A31D2F8E65}"/>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F4D786F6-BC1C-40C3-98C7-BB48F549F92A}"/>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학습 곡선의 핵심 기믹 · 계속</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cc2b2e799c24ed2"/>
          <a:stretch xmlns:a="http://schemas.openxmlformats.org/drawingml/2006/main"/>
        </p:blipFill>
        <p:spPr>
          <a:xfrm xmlns:a="http://schemas.openxmlformats.org/drawingml/2006/main">
            <a:off x="3055200" y="1333500"/>
            <a:ext cx="14524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DDCAC011-7336-4B44-8FF7-178629DF40B0}"/>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가시 속성을 이전한 뾰족함 공이 풍선을 향해 준비된 4단계 화면</a:t>
            </a:r>
          </a:p>
        </p:txBody>
      </p:sp>
      <p:sp>
        <p:nvSpPr>
          <p:cNvPr id="7" name="paragraph-524">
            <a:extLst xmlns:a="http://schemas.openxmlformats.org/drawingml/2006/main">
              <a:ext uri="{FF2B5EF4-FFF2-40B4-BE49-F238E27FC236}">
                <a16:creationId xmlns:a16="http://schemas.microsoft.com/office/drawing/2014/main" id="{EC57FB66-DDEE-454D-9FB2-EEC511EFD2A7}"/>
              </a:ext>
            </a:extLst>
          </p:cNvPr>
          <p:cNvSpPr>
            <a:spLocks xmlns:a="http://schemas.openxmlformats.org/drawingml/2006/main" noGrp="1"/>
          </p:cNvSpPr>
          <p:nvPr/>
        </p:nvSpPr>
        <p:spPr>
          <a:xfrm xmlns:a="http://schemas.openxmlformats.org/drawingml/2006/main">
            <a:off x="533400" y="499110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뾰족함 공이 풍선에 닿으면 풍선이 터지고 숨겨진 스위치가 드러난다. 풍선·가시·속성 공 표시는 별도 외부 이미지가 아니라 게임 Canvas에서 직접 그린다.</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0b2d2a6437a4b50"/>
          <a:stretch xmlns:a="http://schemas.openxmlformats.org/drawingml/2006/main"/>
        </p:blipFill>
        <p:spPr>
          <a:xfrm xmlns:a="http://schemas.openxmlformats.org/drawingml/2006/main">
            <a:off x="3055200" y="5682996"/>
            <a:ext cx="1452450" cy="3143250"/>
          </a:xfrm>
          <a:prstGeom xmlns:a="http://schemas.openxmlformats.org/drawingml/2006/main" prst="roundRect">
            <a:avLst>
              <a:gd name="adj" fmla="val 3636"/>
            </a:avLst>
          </a:prstGeom>
        </p:spPr>
      </p:pic>
      <p:sp>
        <p:nvSpPr>
          <p:cNvPr id="9" name="image-caption-596.64">
            <a:extLst xmlns:a="http://schemas.openxmlformats.org/drawingml/2006/main">
              <a:ext uri="{FF2B5EF4-FFF2-40B4-BE49-F238E27FC236}">
                <a16:creationId xmlns:a16="http://schemas.microsoft.com/office/drawing/2014/main" id="{1AB66982-A88C-4F0C-9D9E-F9D68730BD56}"/>
              </a:ext>
            </a:extLst>
          </p:cNvPr>
          <p:cNvSpPr>
            <a:spLocks xmlns:a="http://schemas.openxmlformats.org/drawingml/2006/main" noGrp="1"/>
          </p:cNvSpPr>
          <p:nvPr/>
        </p:nvSpPr>
        <p:spPr>
          <a:xfrm xmlns:a="http://schemas.openxmlformats.org/drawingml/2006/main">
            <a:off x="666750" y="8883396"/>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뾰족함 공이 풍선을 터뜨려 숨겨진 스위치와 문 연쇄를 시작하는 충돌 순간</a:t>
            </a:r>
          </a:p>
        </p:txBody>
      </p:sp>
      <p:sp>
        <p:nvSpPr>
          <p:cNvPr id="10" name="subheading-980.64">
            <a:extLst xmlns:a="http://schemas.openxmlformats.org/drawingml/2006/main">
              <a:ext uri="{FF2B5EF4-FFF2-40B4-BE49-F238E27FC236}">
                <a16:creationId xmlns:a16="http://schemas.microsoft.com/office/drawing/2014/main" id="{9A92B9B3-700C-443C-A403-32F14851B712}"/>
              </a:ext>
            </a:extLst>
          </p:cNvPr>
          <p:cNvSpPr>
            <a:spLocks xmlns:a="http://schemas.openxmlformats.org/drawingml/2006/main" noGrp="1"/>
          </p:cNvSpPr>
          <p:nvPr/>
        </p:nvSpPr>
        <p:spPr>
          <a:xfrm xmlns:a="http://schemas.openxmlformats.org/drawingml/2006/main">
            <a:off x="533400" y="934059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4.4 런 보상과 공 꾸미기</a:t>
            </a:r>
          </a:p>
        </p:txBody>
      </p:sp>
    </p:spTree>
    <p:extLst>
      <p:ext uri="{BB962C8B-B14F-4D97-AF65-F5344CB8AC3E}">
        <p14:creationId xmlns:p14="http://schemas.microsoft.com/office/powerpoint/2010/main" val="107954679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unning-label">
            <a:extLst xmlns:a="http://schemas.openxmlformats.org/drawingml/2006/main">
              <a:ext uri="{FF2B5EF4-FFF2-40B4-BE49-F238E27FC236}">
                <a16:creationId xmlns:a16="http://schemas.microsoft.com/office/drawing/2014/main" id="{9197CC15-7D44-41B7-8725-AE0C51243193}"/>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2BE1280A-6194-41FD-B5CE-6E9467D1F8D9}"/>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11</a:t>
            </a:r>
          </a:p>
        </p:txBody>
      </p:sp>
      <p:sp>
        <p:nvSpPr>
          <p:cNvPr id="3" name="header-rule">
            <a:extLst xmlns:a="http://schemas.openxmlformats.org/drawingml/2006/main">
              <a:ext uri="{FF2B5EF4-FFF2-40B4-BE49-F238E27FC236}">
                <a16:creationId xmlns:a16="http://schemas.microsoft.com/office/drawing/2014/main" id="{7C952DEE-E049-40B5-9C79-54429AA6692D}"/>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0DC6F6E7-8078-4B78-A054-5AFCAB308562}"/>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학습 곡선의 핵심 기믹 · 계속</a:t>
            </a:r>
          </a:p>
        </p:txBody>
      </p:sp>
      <p:sp>
        <p:nvSpPr>
          <p:cNvPr id="5" name="paragraph-140">
            <a:extLst xmlns:a="http://schemas.openxmlformats.org/drawingml/2006/main">
              <a:ext uri="{FF2B5EF4-FFF2-40B4-BE49-F238E27FC236}">
                <a16:creationId xmlns:a16="http://schemas.microsoft.com/office/drawing/2014/main" id="{A961EF34-8461-4695-9FC7-CFFA57A528E6}"/>
              </a:ext>
            </a:extLst>
          </p:cNvPr>
          <p:cNvSpPr>
            <a:spLocks xmlns:a="http://schemas.openxmlformats.org/drawingml/2006/main" noGrp="1"/>
          </p:cNvSpPr>
          <p:nvPr/>
        </p:nvSpPr>
        <p:spPr>
          <a:xfrm xmlns:a="http://schemas.openxmlformats.org/drawingml/2006/main">
            <a:off x="533400" y="133350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런 보상은 복사·되감기·회수·안내·도전·인과·꾸미기·기록 보호와 다음 스테이지 팁 기능을 서로 다른 Material 아이콘과 색으로 구분한다. 아이콘은 Flutter가 제공하는 무료 Material Icons를 사용하며, 텍스트 라벨을 함께 표시해 색상이나 아이콘에만 의미를 의존하지 않는다.</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ca316db04c84a5d"/>
          <a:stretch xmlns:a="http://schemas.openxmlformats.org/drawingml/2006/main"/>
        </p:blipFill>
        <p:spPr>
          <a:xfrm xmlns:a="http://schemas.openxmlformats.org/drawingml/2006/main">
            <a:off x="3055200" y="2488692"/>
            <a:ext cx="1452450" cy="3143250"/>
          </a:xfrm>
          <a:prstGeom xmlns:a="http://schemas.openxmlformats.org/drawingml/2006/main" prst="roundRect">
            <a:avLst>
              <a:gd name="adj" fmla="val 3636"/>
            </a:avLst>
          </a:prstGeom>
        </p:spPr>
      </p:pic>
      <p:sp>
        <p:nvSpPr>
          <p:cNvPr id="7" name="image-caption-261.28">
            <a:extLst xmlns:a="http://schemas.openxmlformats.org/drawingml/2006/main">
              <a:ext uri="{FF2B5EF4-FFF2-40B4-BE49-F238E27FC236}">
                <a16:creationId xmlns:a16="http://schemas.microsoft.com/office/drawing/2014/main" id="{DF0AD0E6-6B78-49E3-87F3-5548621F918B}"/>
              </a:ext>
            </a:extLst>
          </p:cNvPr>
          <p:cNvSpPr>
            <a:spLocks xmlns:a="http://schemas.openxmlformats.org/drawingml/2006/main" noGrp="1"/>
          </p:cNvSpPr>
          <p:nvPr/>
        </p:nvSpPr>
        <p:spPr>
          <a:xfrm xmlns:a="http://schemas.openxmlformats.org/drawingml/2006/main">
            <a:off x="666750" y="5689092"/>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서로 다른 아이콘과 색으로 구분된 런 보상 선택 화면</a:t>
            </a:r>
          </a:p>
        </p:txBody>
      </p:sp>
      <p:sp>
        <p:nvSpPr>
          <p:cNvPr id="8" name="paragraph-645.28">
            <a:extLst xmlns:a="http://schemas.openxmlformats.org/drawingml/2006/main">
              <a:ext uri="{FF2B5EF4-FFF2-40B4-BE49-F238E27FC236}">
                <a16:creationId xmlns:a16="http://schemas.microsoft.com/office/drawing/2014/main" id="{356173A1-0B4A-4DA6-BEB6-3BF0966DCE3E}"/>
              </a:ext>
            </a:extLst>
          </p:cNvPr>
          <p:cNvSpPr>
            <a:spLocks xmlns:a="http://schemas.openxmlformats.org/drawingml/2006/main" noGrp="1"/>
          </p:cNvSpPr>
          <p:nvPr/>
        </p:nvSpPr>
        <p:spPr>
          <a:xfrm xmlns:a="http://schemas.openxmlformats.org/drawingml/2006/main">
            <a:off x="533400" y="6146292"/>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청록/금색 꾸미기 보상을 선택하면 장식 링뿐 아니라 공 본체가 청록 그라데이션·금색 외곽선·하이라이트로 바뀐다. 다음 스테이지와 기록 재도전에서도 같은 외형을 유지한다.</a:t>
            </a:r>
          </a:p>
        </p:txBody>
      </p:sp>
    </p:spTree>
    <p:extLst>
      <p:ext uri="{BB962C8B-B14F-4D97-AF65-F5344CB8AC3E}">
        <p14:creationId xmlns:p14="http://schemas.microsoft.com/office/powerpoint/2010/main" val="172661978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unning-label">
            <a:extLst xmlns:a="http://schemas.openxmlformats.org/drawingml/2006/main">
              <a:ext uri="{FF2B5EF4-FFF2-40B4-BE49-F238E27FC236}">
                <a16:creationId xmlns:a16="http://schemas.microsoft.com/office/drawing/2014/main" id="{05418087-2A1E-41C2-B4D6-77A78761A6DC}"/>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AE2B3DC7-7D36-4A31-A033-27D196932E04}"/>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12</a:t>
            </a:r>
          </a:p>
        </p:txBody>
      </p:sp>
      <p:sp>
        <p:nvSpPr>
          <p:cNvPr id="3" name="header-rule">
            <a:extLst xmlns:a="http://schemas.openxmlformats.org/drawingml/2006/main">
              <a:ext uri="{FF2B5EF4-FFF2-40B4-BE49-F238E27FC236}">
                <a16:creationId xmlns:a16="http://schemas.microsoft.com/office/drawing/2014/main" id="{F5EF0B19-31C4-41A4-85E5-D08758198C9E}"/>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97349161-9B7F-457C-89A4-12010169C9D6}"/>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학습 곡선의 핵심 기믹 · 계속</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0cb567b90a844feb"/>
          <a:stretch xmlns:a="http://schemas.openxmlformats.org/drawingml/2006/main"/>
        </p:blipFill>
        <p:spPr>
          <a:xfrm xmlns:a="http://schemas.openxmlformats.org/drawingml/2006/main">
            <a:off x="3055200" y="1333500"/>
            <a:ext cx="14524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D1FFA4DD-5240-402E-A10D-E6D3E9374E1E}"/>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탄성 단계에서 꾸미기 보상이 적용되어 공 본체가 청록색과 금색으로 바뀐 화면</a:t>
            </a:r>
          </a:p>
        </p:txBody>
      </p:sp>
    </p:spTree>
    <p:extLst>
      <p:ext uri="{BB962C8B-B14F-4D97-AF65-F5344CB8AC3E}">
        <p14:creationId xmlns:p14="http://schemas.microsoft.com/office/powerpoint/2010/main" val="76059522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 name="running-label">
            <a:extLst xmlns:a="http://schemas.openxmlformats.org/drawingml/2006/main">
              <a:ext uri="{FF2B5EF4-FFF2-40B4-BE49-F238E27FC236}">
                <a16:creationId xmlns:a16="http://schemas.microsoft.com/office/drawing/2014/main" id="{9D90F4AB-35DE-41CC-B9C8-1FFB02CA6C0B}"/>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FC63114A-23A1-4CE3-8C09-FEB25F09AE67}"/>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13</a:t>
            </a:r>
          </a:p>
        </p:txBody>
      </p:sp>
      <p:sp>
        <p:nvSpPr>
          <p:cNvPr id="3" name="header-rule">
            <a:extLst xmlns:a="http://schemas.openxmlformats.org/drawingml/2006/main">
              <a:ext uri="{FF2B5EF4-FFF2-40B4-BE49-F238E27FC236}">
                <a16:creationId xmlns:a16="http://schemas.microsoft.com/office/drawing/2014/main" id="{3B2F0E8C-6098-4809-84A5-18F1F0B22049}"/>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32DE040D-032B-40F6-92A7-72AFF78CFA28}"/>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5. 10단계 구성</a:t>
            </a:r>
          </a:p>
        </p:txBody>
      </p:sp>
      <p:sp>
        <p:nvSpPr>
          <p:cNvPr id="5" name="table-cell-140-0-0">
            <a:extLst xmlns:a="http://schemas.openxmlformats.org/drawingml/2006/main">
              <a:ext uri="{FF2B5EF4-FFF2-40B4-BE49-F238E27FC236}">
                <a16:creationId xmlns:a16="http://schemas.microsoft.com/office/drawing/2014/main" id="{C2C098C6-E29C-4124-8E49-C4400EDAA917}"/>
              </a:ext>
            </a:extLst>
          </p:cNvPr>
          <p:cNvSpPr>
            <a:spLocks xmlns:a="http://schemas.openxmlformats.org/drawingml/2006/main" noGrp="1"/>
          </p:cNvSpPr>
          <p:nvPr/>
        </p:nvSpPr>
        <p:spPr>
          <a:xfrm xmlns:a="http://schemas.openxmlformats.org/drawingml/2006/main">
            <a:off x="53340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6" name="table-text-140-0-0">
            <a:extLst xmlns:a="http://schemas.openxmlformats.org/drawingml/2006/main">
              <a:ext uri="{FF2B5EF4-FFF2-40B4-BE49-F238E27FC236}">
                <a16:creationId xmlns:a16="http://schemas.microsoft.com/office/drawing/2014/main" id="{1320C917-CC82-49A3-8813-842609811269}"/>
              </a:ext>
            </a:extLst>
          </p:cNvPr>
          <p:cNvSpPr>
            <a:spLocks xmlns:a="http://schemas.openxmlformats.org/drawingml/2006/main" noGrp="1"/>
          </p:cNvSpPr>
          <p:nvPr/>
        </p:nvSpPr>
        <p:spPr>
          <a:xfrm xmlns:a="http://schemas.openxmlformats.org/drawingml/2006/main">
            <a:off x="61912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단계</a:t>
            </a:r>
          </a:p>
        </p:txBody>
      </p:sp>
      <p:sp>
        <p:nvSpPr>
          <p:cNvPr id="7" name="table-cell-140-0-1">
            <a:extLst xmlns:a="http://schemas.openxmlformats.org/drawingml/2006/main">
              <a:ext uri="{FF2B5EF4-FFF2-40B4-BE49-F238E27FC236}">
                <a16:creationId xmlns:a16="http://schemas.microsoft.com/office/drawing/2014/main" id="{290BDF7D-21EC-44AA-9950-54249115CEB9}"/>
              </a:ext>
            </a:extLst>
          </p:cNvPr>
          <p:cNvSpPr>
            <a:spLocks xmlns:a="http://schemas.openxmlformats.org/drawingml/2006/main" noGrp="1"/>
          </p:cNvSpPr>
          <p:nvPr/>
        </p:nvSpPr>
        <p:spPr>
          <a:xfrm xmlns:a="http://schemas.openxmlformats.org/drawingml/2006/main">
            <a:off x="269875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8" name="table-text-140-0-1">
            <a:extLst xmlns:a="http://schemas.openxmlformats.org/drawingml/2006/main">
              <a:ext uri="{FF2B5EF4-FFF2-40B4-BE49-F238E27FC236}">
                <a16:creationId xmlns:a16="http://schemas.microsoft.com/office/drawing/2014/main" id="{4FDEC227-1AD4-48D0-9B9A-19572E79DEAB}"/>
              </a:ext>
            </a:extLst>
          </p:cNvPr>
          <p:cNvSpPr>
            <a:spLocks xmlns:a="http://schemas.openxmlformats.org/drawingml/2006/main" noGrp="1"/>
          </p:cNvSpPr>
          <p:nvPr/>
        </p:nvSpPr>
        <p:spPr>
          <a:xfrm xmlns:a="http://schemas.openxmlformats.org/drawingml/2006/main">
            <a:off x="278447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핵심 개념</a:t>
            </a:r>
          </a:p>
        </p:txBody>
      </p:sp>
      <p:sp>
        <p:nvSpPr>
          <p:cNvPr id="9" name="table-cell-140-0-2">
            <a:extLst xmlns:a="http://schemas.openxmlformats.org/drawingml/2006/main">
              <a:ext uri="{FF2B5EF4-FFF2-40B4-BE49-F238E27FC236}">
                <a16:creationId xmlns:a16="http://schemas.microsoft.com/office/drawing/2014/main" id="{9AF09D58-72DE-45B5-B343-953FB7DC28C8}"/>
              </a:ext>
            </a:extLst>
          </p:cNvPr>
          <p:cNvSpPr>
            <a:spLocks xmlns:a="http://schemas.openxmlformats.org/drawingml/2006/main" noGrp="1"/>
          </p:cNvSpPr>
          <p:nvPr/>
        </p:nvSpPr>
        <p:spPr>
          <a:xfrm xmlns:a="http://schemas.openxmlformats.org/drawingml/2006/main">
            <a:off x="486410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0" name="table-text-140-0-2">
            <a:extLst xmlns:a="http://schemas.openxmlformats.org/drawingml/2006/main">
              <a:ext uri="{FF2B5EF4-FFF2-40B4-BE49-F238E27FC236}">
                <a16:creationId xmlns:a16="http://schemas.microsoft.com/office/drawing/2014/main" id="{5033A7D0-AB84-4AB9-A7AF-FDF5CF4E9D07}"/>
              </a:ext>
            </a:extLst>
          </p:cNvPr>
          <p:cNvSpPr>
            <a:spLocks xmlns:a="http://schemas.openxmlformats.org/drawingml/2006/main" noGrp="1"/>
          </p:cNvSpPr>
          <p:nvPr/>
        </p:nvSpPr>
        <p:spPr>
          <a:xfrm xmlns:a="http://schemas.openxmlformats.org/drawingml/2006/main">
            <a:off x="494982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배우는 것</a:t>
            </a:r>
          </a:p>
        </p:txBody>
      </p:sp>
      <p:sp>
        <p:nvSpPr>
          <p:cNvPr id="11" name="table-cell-140-1-0">
            <a:extLst xmlns:a="http://schemas.openxmlformats.org/drawingml/2006/main">
              <a:ext uri="{FF2B5EF4-FFF2-40B4-BE49-F238E27FC236}">
                <a16:creationId xmlns:a16="http://schemas.microsoft.com/office/drawing/2014/main" id="{662394C4-50F4-46A1-B033-D6C2EB9EBF69}"/>
              </a:ext>
            </a:extLst>
          </p:cNvPr>
          <p:cNvSpPr>
            <a:spLocks xmlns:a="http://schemas.openxmlformats.org/drawingml/2006/main" noGrp="1"/>
          </p:cNvSpPr>
          <p:nvPr/>
        </p:nvSpPr>
        <p:spPr>
          <a:xfrm xmlns:a="http://schemas.openxmlformats.org/drawingml/2006/main">
            <a:off x="533400" y="17907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2" name="table-text-140-1-0">
            <a:extLst xmlns:a="http://schemas.openxmlformats.org/drawingml/2006/main">
              <a:ext uri="{FF2B5EF4-FFF2-40B4-BE49-F238E27FC236}">
                <a16:creationId xmlns:a16="http://schemas.microsoft.com/office/drawing/2014/main" id="{C0797CA0-9B19-4C5C-B1B4-6790FAF1FF55}"/>
              </a:ext>
            </a:extLst>
          </p:cNvPr>
          <p:cNvSpPr>
            <a:spLocks xmlns:a="http://schemas.openxmlformats.org/drawingml/2006/main" noGrp="1"/>
          </p:cNvSpPr>
          <p:nvPr/>
        </p:nvSpPr>
        <p:spPr>
          <a:xfrm xmlns:a="http://schemas.openxmlformats.org/drawingml/2006/main">
            <a:off x="619125" y="18573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1. 무거움 익히기</a:t>
            </a:r>
          </a:p>
        </p:txBody>
      </p:sp>
      <p:sp>
        <p:nvSpPr>
          <p:cNvPr id="13" name="table-cell-140-1-1">
            <a:extLst xmlns:a="http://schemas.openxmlformats.org/drawingml/2006/main">
              <a:ext uri="{FF2B5EF4-FFF2-40B4-BE49-F238E27FC236}">
                <a16:creationId xmlns:a16="http://schemas.microsoft.com/office/drawing/2014/main" id="{C36805CB-71B4-43C2-AC0F-EBDFA9DD01FF}"/>
              </a:ext>
            </a:extLst>
          </p:cNvPr>
          <p:cNvSpPr>
            <a:spLocks xmlns:a="http://schemas.openxmlformats.org/drawingml/2006/main" noGrp="1"/>
          </p:cNvSpPr>
          <p:nvPr/>
        </p:nvSpPr>
        <p:spPr>
          <a:xfrm xmlns:a="http://schemas.openxmlformats.org/drawingml/2006/main">
            <a:off x="2698750" y="17907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4" name="table-text-140-1-1">
            <a:extLst xmlns:a="http://schemas.openxmlformats.org/drawingml/2006/main">
              <a:ext uri="{FF2B5EF4-FFF2-40B4-BE49-F238E27FC236}">
                <a16:creationId xmlns:a16="http://schemas.microsoft.com/office/drawing/2014/main" id="{113D55D2-FBB1-4B95-AD11-93CCF78BCF2F}"/>
              </a:ext>
            </a:extLst>
          </p:cNvPr>
          <p:cNvSpPr>
            <a:spLocks xmlns:a="http://schemas.openxmlformats.org/drawingml/2006/main" noGrp="1"/>
          </p:cNvSpPr>
          <p:nvPr/>
        </p:nvSpPr>
        <p:spPr>
          <a:xfrm xmlns:a="http://schemas.openxmlformats.org/drawingml/2006/main">
            <a:off x="2784475" y="18573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무거움·상자</a:t>
            </a:r>
          </a:p>
        </p:txBody>
      </p:sp>
      <p:sp>
        <p:nvSpPr>
          <p:cNvPr id="15" name="table-cell-140-1-2">
            <a:extLst xmlns:a="http://schemas.openxmlformats.org/drawingml/2006/main">
              <a:ext uri="{FF2B5EF4-FFF2-40B4-BE49-F238E27FC236}">
                <a16:creationId xmlns:a16="http://schemas.microsoft.com/office/drawing/2014/main" id="{7C436983-32F0-460E-879A-36EE093ACBDC}"/>
              </a:ext>
            </a:extLst>
          </p:cNvPr>
          <p:cNvSpPr>
            <a:spLocks xmlns:a="http://schemas.openxmlformats.org/drawingml/2006/main" noGrp="1"/>
          </p:cNvSpPr>
          <p:nvPr/>
        </p:nvSpPr>
        <p:spPr>
          <a:xfrm xmlns:a="http://schemas.openxmlformats.org/drawingml/2006/main">
            <a:off x="4864100" y="17907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6" name="table-text-140-1-2">
            <a:extLst xmlns:a="http://schemas.openxmlformats.org/drawingml/2006/main">
              <a:ext uri="{FF2B5EF4-FFF2-40B4-BE49-F238E27FC236}">
                <a16:creationId xmlns:a16="http://schemas.microsoft.com/office/drawing/2014/main" id="{63B65014-2A74-4B48-BB1A-283158278FA2}"/>
              </a:ext>
            </a:extLst>
          </p:cNvPr>
          <p:cNvSpPr>
            <a:spLocks xmlns:a="http://schemas.openxmlformats.org/drawingml/2006/main" noGrp="1"/>
          </p:cNvSpPr>
          <p:nvPr/>
        </p:nvSpPr>
        <p:spPr>
          <a:xfrm xmlns:a="http://schemas.openxmlformats.org/drawingml/2006/main">
            <a:off x="4949825" y="18573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운동량으로 장면 상태 바꾸기</a:t>
            </a:r>
          </a:p>
        </p:txBody>
      </p:sp>
      <p:sp>
        <p:nvSpPr>
          <p:cNvPr id="17" name="table-cell-140-2-0">
            <a:extLst xmlns:a="http://schemas.openxmlformats.org/drawingml/2006/main">
              <a:ext uri="{FF2B5EF4-FFF2-40B4-BE49-F238E27FC236}">
                <a16:creationId xmlns:a16="http://schemas.microsoft.com/office/drawing/2014/main" id="{1473EB63-EA75-4746-8F2E-E1E1ACB99971}"/>
              </a:ext>
            </a:extLst>
          </p:cNvPr>
          <p:cNvSpPr>
            <a:spLocks xmlns:a="http://schemas.openxmlformats.org/drawingml/2006/main" noGrp="1"/>
          </p:cNvSpPr>
          <p:nvPr/>
        </p:nvSpPr>
        <p:spPr>
          <a:xfrm xmlns:a="http://schemas.openxmlformats.org/drawingml/2006/main">
            <a:off x="533400" y="21907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8" name="table-text-140-2-0">
            <a:extLst xmlns:a="http://schemas.openxmlformats.org/drawingml/2006/main">
              <a:ext uri="{FF2B5EF4-FFF2-40B4-BE49-F238E27FC236}">
                <a16:creationId xmlns:a16="http://schemas.microsoft.com/office/drawing/2014/main" id="{2BD40245-D34F-47D5-9841-D256579C3F95}"/>
              </a:ext>
            </a:extLst>
          </p:cNvPr>
          <p:cNvSpPr>
            <a:spLocks xmlns:a="http://schemas.openxmlformats.org/drawingml/2006/main" noGrp="1"/>
          </p:cNvSpPr>
          <p:nvPr/>
        </p:nvSpPr>
        <p:spPr>
          <a:xfrm xmlns:a="http://schemas.openxmlformats.org/drawingml/2006/main">
            <a:off x="619125" y="22574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2. 탄성 익히기</a:t>
            </a:r>
          </a:p>
        </p:txBody>
      </p:sp>
      <p:sp>
        <p:nvSpPr>
          <p:cNvPr id="19" name="table-cell-140-2-1">
            <a:extLst xmlns:a="http://schemas.openxmlformats.org/drawingml/2006/main">
              <a:ext uri="{FF2B5EF4-FFF2-40B4-BE49-F238E27FC236}">
                <a16:creationId xmlns:a16="http://schemas.microsoft.com/office/drawing/2014/main" id="{76B0E799-F97C-4043-AFAA-7FCE5493AC5E}"/>
              </a:ext>
            </a:extLst>
          </p:cNvPr>
          <p:cNvSpPr>
            <a:spLocks xmlns:a="http://schemas.openxmlformats.org/drawingml/2006/main" noGrp="1"/>
          </p:cNvSpPr>
          <p:nvPr/>
        </p:nvSpPr>
        <p:spPr>
          <a:xfrm xmlns:a="http://schemas.openxmlformats.org/drawingml/2006/main">
            <a:off x="2698750" y="21907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0" name="table-text-140-2-1">
            <a:extLst xmlns:a="http://schemas.openxmlformats.org/drawingml/2006/main">
              <a:ext uri="{FF2B5EF4-FFF2-40B4-BE49-F238E27FC236}">
                <a16:creationId xmlns:a16="http://schemas.microsoft.com/office/drawing/2014/main" id="{368CC9E9-2CA1-499E-9CCF-468B182EB8D5}"/>
              </a:ext>
            </a:extLst>
          </p:cNvPr>
          <p:cNvSpPr>
            <a:spLocks xmlns:a="http://schemas.openxmlformats.org/drawingml/2006/main" noGrp="1"/>
          </p:cNvSpPr>
          <p:nvPr/>
        </p:nvSpPr>
        <p:spPr>
          <a:xfrm xmlns:a="http://schemas.openxmlformats.org/drawingml/2006/main">
            <a:off x="2784475" y="22574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벽 반사</a:t>
            </a:r>
          </a:p>
        </p:txBody>
      </p:sp>
      <p:sp>
        <p:nvSpPr>
          <p:cNvPr id="21" name="table-cell-140-2-2">
            <a:extLst xmlns:a="http://schemas.openxmlformats.org/drawingml/2006/main">
              <a:ext uri="{FF2B5EF4-FFF2-40B4-BE49-F238E27FC236}">
                <a16:creationId xmlns:a16="http://schemas.microsoft.com/office/drawing/2014/main" id="{D5737BDE-E3F6-43D7-8425-DD6E7C43C6B2}"/>
              </a:ext>
            </a:extLst>
          </p:cNvPr>
          <p:cNvSpPr>
            <a:spLocks xmlns:a="http://schemas.openxmlformats.org/drawingml/2006/main" noGrp="1"/>
          </p:cNvSpPr>
          <p:nvPr/>
        </p:nvSpPr>
        <p:spPr>
          <a:xfrm xmlns:a="http://schemas.openxmlformats.org/drawingml/2006/main">
            <a:off x="4864100" y="21907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2" name="table-text-140-2-2">
            <a:extLst xmlns:a="http://schemas.openxmlformats.org/drawingml/2006/main">
              <a:ext uri="{FF2B5EF4-FFF2-40B4-BE49-F238E27FC236}">
                <a16:creationId xmlns:a16="http://schemas.microsoft.com/office/drawing/2014/main" id="{282AFE70-3507-4267-B247-7A45FF1B8A04}"/>
              </a:ext>
            </a:extLst>
          </p:cNvPr>
          <p:cNvSpPr>
            <a:spLocks xmlns:a="http://schemas.openxmlformats.org/drawingml/2006/main" noGrp="1"/>
          </p:cNvSpPr>
          <p:nvPr/>
        </p:nvSpPr>
        <p:spPr>
          <a:xfrm xmlns:a="http://schemas.openxmlformats.org/drawingml/2006/main">
            <a:off x="4949825" y="22574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반사 진입점과 다음 경로 계산</a:t>
            </a:r>
          </a:p>
        </p:txBody>
      </p:sp>
      <p:sp>
        <p:nvSpPr>
          <p:cNvPr id="23" name="table-cell-140-3-0">
            <a:extLst xmlns:a="http://schemas.openxmlformats.org/drawingml/2006/main">
              <a:ext uri="{FF2B5EF4-FFF2-40B4-BE49-F238E27FC236}">
                <a16:creationId xmlns:a16="http://schemas.microsoft.com/office/drawing/2014/main" id="{D6F67263-4552-463E-A49F-4DDC6A560916}"/>
              </a:ext>
            </a:extLst>
          </p:cNvPr>
          <p:cNvSpPr>
            <a:spLocks xmlns:a="http://schemas.openxmlformats.org/drawingml/2006/main" noGrp="1"/>
          </p:cNvSpPr>
          <p:nvPr/>
        </p:nvSpPr>
        <p:spPr>
          <a:xfrm xmlns:a="http://schemas.openxmlformats.org/drawingml/2006/main">
            <a:off x="533400" y="25908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4" name="table-text-140-3-0">
            <a:extLst xmlns:a="http://schemas.openxmlformats.org/drawingml/2006/main">
              <a:ext uri="{FF2B5EF4-FFF2-40B4-BE49-F238E27FC236}">
                <a16:creationId xmlns:a16="http://schemas.microsoft.com/office/drawing/2014/main" id="{11A772B6-90B0-47A9-AF75-01B1E477ADBC}"/>
              </a:ext>
            </a:extLst>
          </p:cNvPr>
          <p:cNvSpPr>
            <a:spLocks xmlns:a="http://schemas.openxmlformats.org/drawingml/2006/main" noGrp="1"/>
          </p:cNvSpPr>
          <p:nvPr/>
        </p:nvSpPr>
        <p:spPr>
          <a:xfrm xmlns:a="http://schemas.openxmlformats.org/drawingml/2006/main">
            <a:off x="619125" y="26574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3. 연쇄 문 열기</a:t>
            </a:r>
          </a:p>
        </p:txBody>
      </p:sp>
      <p:sp>
        <p:nvSpPr>
          <p:cNvPr id="25" name="table-cell-140-3-1">
            <a:extLst xmlns:a="http://schemas.openxmlformats.org/drawingml/2006/main">
              <a:ext uri="{FF2B5EF4-FFF2-40B4-BE49-F238E27FC236}">
                <a16:creationId xmlns:a16="http://schemas.microsoft.com/office/drawing/2014/main" id="{1257433D-C9A3-47E3-A141-4862A501C8DB}"/>
              </a:ext>
            </a:extLst>
          </p:cNvPr>
          <p:cNvSpPr>
            <a:spLocks xmlns:a="http://schemas.openxmlformats.org/drawingml/2006/main" noGrp="1"/>
          </p:cNvSpPr>
          <p:nvPr/>
        </p:nvSpPr>
        <p:spPr>
          <a:xfrm xmlns:a="http://schemas.openxmlformats.org/drawingml/2006/main">
            <a:off x="2698750" y="25908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6" name="table-text-140-3-1">
            <a:extLst xmlns:a="http://schemas.openxmlformats.org/drawingml/2006/main">
              <a:ext uri="{FF2B5EF4-FFF2-40B4-BE49-F238E27FC236}">
                <a16:creationId xmlns:a16="http://schemas.microsoft.com/office/drawing/2014/main" id="{6D09FFFD-F325-43FD-9A23-F2657EAD679A}"/>
              </a:ext>
            </a:extLst>
          </p:cNvPr>
          <p:cNvSpPr>
            <a:spLocks xmlns:a="http://schemas.openxmlformats.org/drawingml/2006/main" noGrp="1"/>
          </p:cNvSpPr>
          <p:nvPr/>
        </p:nvSpPr>
        <p:spPr>
          <a:xfrm xmlns:a="http://schemas.openxmlformats.org/drawingml/2006/main">
            <a:off x="2784475" y="26574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스위치·문</a:t>
            </a:r>
          </a:p>
        </p:txBody>
      </p:sp>
      <p:sp>
        <p:nvSpPr>
          <p:cNvPr id="27" name="table-cell-140-3-2">
            <a:extLst xmlns:a="http://schemas.openxmlformats.org/drawingml/2006/main">
              <a:ext uri="{FF2B5EF4-FFF2-40B4-BE49-F238E27FC236}">
                <a16:creationId xmlns:a16="http://schemas.microsoft.com/office/drawing/2014/main" id="{3F99A173-667F-4563-A0BB-D1EA57F04F73}"/>
              </a:ext>
            </a:extLst>
          </p:cNvPr>
          <p:cNvSpPr>
            <a:spLocks xmlns:a="http://schemas.openxmlformats.org/drawingml/2006/main" noGrp="1"/>
          </p:cNvSpPr>
          <p:nvPr/>
        </p:nvSpPr>
        <p:spPr>
          <a:xfrm xmlns:a="http://schemas.openxmlformats.org/drawingml/2006/main">
            <a:off x="4864100" y="25908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8" name="table-text-140-3-2">
            <a:extLst xmlns:a="http://schemas.openxmlformats.org/drawingml/2006/main">
              <a:ext uri="{FF2B5EF4-FFF2-40B4-BE49-F238E27FC236}">
                <a16:creationId xmlns:a16="http://schemas.microsoft.com/office/drawing/2014/main" id="{3807AEC3-C47F-4457-9706-741C8F0F9446}"/>
              </a:ext>
            </a:extLst>
          </p:cNvPr>
          <p:cNvSpPr>
            <a:spLocks xmlns:a="http://schemas.openxmlformats.org/drawingml/2006/main" noGrp="1"/>
          </p:cNvSpPr>
          <p:nvPr/>
        </p:nvSpPr>
        <p:spPr>
          <a:xfrm xmlns:a="http://schemas.openxmlformats.org/drawingml/2006/main">
            <a:off x="4949825" y="26574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원인과 결과의 작동 순서 추적</a:t>
            </a:r>
          </a:p>
        </p:txBody>
      </p:sp>
      <p:sp>
        <p:nvSpPr>
          <p:cNvPr id="29" name="table-cell-140-4-0">
            <a:extLst xmlns:a="http://schemas.openxmlformats.org/drawingml/2006/main">
              <a:ext uri="{FF2B5EF4-FFF2-40B4-BE49-F238E27FC236}">
                <a16:creationId xmlns:a16="http://schemas.microsoft.com/office/drawing/2014/main" id="{990F361D-C1DF-4AF7-B10B-632CCC9AEAA7}"/>
              </a:ext>
            </a:extLst>
          </p:cNvPr>
          <p:cNvSpPr>
            <a:spLocks xmlns:a="http://schemas.openxmlformats.org/drawingml/2006/main" noGrp="1"/>
          </p:cNvSpPr>
          <p:nvPr/>
        </p:nvSpPr>
        <p:spPr>
          <a:xfrm xmlns:a="http://schemas.openxmlformats.org/drawingml/2006/main">
            <a:off x="533400" y="29908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0" name="table-text-140-4-0">
            <a:extLst xmlns:a="http://schemas.openxmlformats.org/drawingml/2006/main">
              <a:ext uri="{FF2B5EF4-FFF2-40B4-BE49-F238E27FC236}">
                <a16:creationId xmlns:a16="http://schemas.microsoft.com/office/drawing/2014/main" id="{2E631620-5E49-468E-BD51-AD995D3E0C5A}"/>
              </a:ext>
            </a:extLst>
          </p:cNvPr>
          <p:cNvSpPr>
            <a:spLocks xmlns:a="http://schemas.openxmlformats.org/drawingml/2006/main" noGrp="1"/>
          </p:cNvSpPr>
          <p:nvPr/>
        </p:nvSpPr>
        <p:spPr>
          <a:xfrm xmlns:a="http://schemas.openxmlformats.org/drawingml/2006/main">
            <a:off x="619125" y="30575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4. 풍선 터뜨리기</a:t>
            </a:r>
          </a:p>
        </p:txBody>
      </p:sp>
      <p:sp>
        <p:nvSpPr>
          <p:cNvPr id="31" name="table-cell-140-4-1">
            <a:extLst xmlns:a="http://schemas.openxmlformats.org/drawingml/2006/main">
              <a:ext uri="{FF2B5EF4-FFF2-40B4-BE49-F238E27FC236}">
                <a16:creationId xmlns:a16="http://schemas.microsoft.com/office/drawing/2014/main" id="{122553A0-7177-4C13-99E0-C3575B9B2E50}"/>
              </a:ext>
            </a:extLst>
          </p:cNvPr>
          <p:cNvSpPr>
            <a:spLocks xmlns:a="http://schemas.openxmlformats.org/drawingml/2006/main" noGrp="1"/>
          </p:cNvSpPr>
          <p:nvPr/>
        </p:nvSpPr>
        <p:spPr>
          <a:xfrm xmlns:a="http://schemas.openxmlformats.org/drawingml/2006/main">
            <a:off x="2698750" y="29908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2" name="table-text-140-4-1">
            <a:extLst xmlns:a="http://schemas.openxmlformats.org/drawingml/2006/main">
              <a:ext uri="{FF2B5EF4-FFF2-40B4-BE49-F238E27FC236}">
                <a16:creationId xmlns:a16="http://schemas.microsoft.com/office/drawing/2014/main" id="{C9CA75F6-BDB4-473E-9847-301698AACC98}"/>
              </a:ext>
            </a:extLst>
          </p:cNvPr>
          <p:cNvSpPr>
            <a:spLocks xmlns:a="http://schemas.openxmlformats.org/drawingml/2006/main" noGrp="1"/>
          </p:cNvSpPr>
          <p:nvPr/>
        </p:nvSpPr>
        <p:spPr>
          <a:xfrm xmlns:a="http://schemas.openxmlformats.org/drawingml/2006/main">
            <a:off x="2784475" y="30575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뾰족함·풍선</a:t>
            </a:r>
          </a:p>
        </p:txBody>
      </p:sp>
      <p:sp>
        <p:nvSpPr>
          <p:cNvPr id="33" name="table-cell-140-4-2">
            <a:extLst xmlns:a="http://schemas.openxmlformats.org/drawingml/2006/main">
              <a:ext uri="{FF2B5EF4-FFF2-40B4-BE49-F238E27FC236}">
                <a16:creationId xmlns:a16="http://schemas.microsoft.com/office/drawing/2014/main" id="{B065C735-607E-41AA-9B23-004DEAEE6A99}"/>
              </a:ext>
            </a:extLst>
          </p:cNvPr>
          <p:cNvSpPr>
            <a:spLocks xmlns:a="http://schemas.openxmlformats.org/drawingml/2006/main" noGrp="1"/>
          </p:cNvSpPr>
          <p:nvPr/>
        </p:nvSpPr>
        <p:spPr>
          <a:xfrm xmlns:a="http://schemas.openxmlformats.org/drawingml/2006/main">
            <a:off x="4864100" y="29908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4" name="table-text-140-4-2">
            <a:extLst xmlns:a="http://schemas.openxmlformats.org/drawingml/2006/main">
              <a:ext uri="{FF2B5EF4-FFF2-40B4-BE49-F238E27FC236}">
                <a16:creationId xmlns:a16="http://schemas.microsoft.com/office/drawing/2014/main" id="{D01304B3-377A-4114-AB45-8898A5F9E776}"/>
              </a:ext>
            </a:extLst>
          </p:cNvPr>
          <p:cNvSpPr>
            <a:spLocks xmlns:a="http://schemas.openxmlformats.org/drawingml/2006/main" noGrp="1"/>
          </p:cNvSpPr>
          <p:nvPr/>
        </p:nvSpPr>
        <p:spPr>
          <a:xfrm xmlns:a="http://schemas.openxmlformats.org/drawingml/2006/main">
            <a:off x="4949825" y="30575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터뜨리기와 우회 경로 선택</a:t>
            </a:r>
          </a:p>
        </p:txBody>
      </p:sp>
      <p:sp>
        <p:nvSpPr>
          <p:cNvPr id="35" name="table-cell-140-5-0">
            <a:extLst xmlns:a="http://schemas.openxmlformats.org/drawingml/2006/main">
              <a:ext uri="{FF2B5EF4-FFF2-40B4-BE49-F238E27FC236}">
                <a16:creationId xmlns:a16="http://schemas.microsoft.com/office/drawing/2014/main" id="{EFE7C04C-46B8-4FCC-9CE4-6E02EF9748E8}"/>
              </a:ext>
            </a:extLst>
          </p:cNvPr>
          <p:cNvSpPr>
            <a:spLocks xmlns:a="http://schemas.openxmlformats.org/drawingml/2006/main" noGrp="1"/>
          </p:cNvSpPr>
          <p:nvPr/>
        </p:nvSpPr>
        <p:spPr>
          <a:xfrm xmlns:a="http://schemas.openxmlformats.org/drawingml/2006/main">
            <a:off x="533400" y="33909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6" name="table-text-140-5-0">
            <a:extLst xmlns:a="http://schemas.openxmlformats.org/drawingml/2006/main">
              <a:ext uri="{FF2B5EF4-FFF2-40B4-BE49-F238E27FC236}">
                <a16:creationId xmlns:a16="http://schemas.microsoft.com/office/drawing/2014/main" id="{81B98561-B00B-4BDF-B529-F4A34D695C1F}"/>
              </a:ext>
            </a:extLst>
          </p:cNvPr>
          <p:cNvSpPr>
            <a:spLocks xmlns:a="http://schemas.openxmlformats.org/drawingml/2006/main" noGrp="1"/>
          </p:cNvSpPr>
          <p:nvPr/>
        </p:nvSpPr>
        <p:spPr>
          <a:xfrm xmlns:a="http://schemas.openxmlformats.org/drawingml/2006/main">
            <a:off x="619125" y="34575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5. 비워진 속성</a:t>
            </a:r>
          </a:p>
        </p:txBody>
      </p:sp>
      <p:sp>
        <p:nvSpPr>
          <p:cNvPr id="37" name="table-cell-140-5-1">
            <a:extLst xmlns:a="http://schemas.openxmlformats.org/drawingml/2006/main">
              <a:ext uri="{FF2B5EF4-FFF2-40B4-BE49-F238E27FC236}">
                <a16:creationId xmlns:a16="http://schemas.microsoft.com/office/drawing/2014/main" id="{99D4E157-E4CB-4FD2-9518-2CF639F3553C}"/>
              </a:ext>
            </a:extLst>
          </p:cNvPr>
          <p:cNvSpPr>
            <a:spLocks xmlns:a="http://schemas.openxmlformats.org/drawingml/2006/main" noGrp="1"/>
          </p:cNvSpPr>
          <p:nvPr/>
        </p:nvSpPr>
        <p:spPr>
          <a:xfrm xmlns:a="http://schemas.openxmlformats.org/drawingml/2006/main">
            <a:off x="2698750" y="33909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8" name="table-text-140-5-1">
            <a:extLst xmlns:a="http://schemas.openxmlformats.org/drawingml/2006/main">
              <a:ext uri="{FF2B5EF4-FFF2-40B4-BE49-F238E27FC236}">
                <a16:creationId xmlns:a16="http://schemas.microsoft.com/office/drawing/2014/main" id="{DDDC81CE-0FDF-416E-9737-0BB1DFF44E9C}"/>
              </a:ext>
            </a:extLst>
          </p:cNvPr>
          <p:cNvSpPr>
            <a:spLocks xmlns:a="http://schemas.openxmlformats.org/drawingml/2006/main" noGrp="1"/>
          </p:cNvSpPr>
          <p:nvPr/>
        </p:nvSpPr>
        <p:spPr>
          <a:xfrm xmlns:a="http://schemas.openxmlformats.org/drawingml/2006/main">
            <a:off x="2784475" y="34575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원본 상태 변화</a:t>
            </a:r>
          </a:p>
        </p:txBody>
      </p:sp>
      <p:sp>
        <p:nvSpPr>
          <p:cNvPr id="39" name="table-cell-140-5-2">
            <a:extLst xmlns:a="http://schemas.openxmlformats.org/drawingml/2006/main">
              <a:ext uri="{FF2B5EF4-FFF2-40B4-BE49-F238E27FC236}">
                <a16:creationId xmlns:a16="http://schemas.microsoft.com/office/drawing/2014/main" id="{AE3AE724-1128-4244-ABC6-9937FEFA76D6}"/>
              </a:ext>
            </a:extLst>
          </p:cNvPr>
          <p:cNvSpPr>
            <a:spLocks xmlns:a="http://schemas.openxmlformats.org/drawingml/2006/main" noGrp="1"/>
          </p:cNvSpPr>
          <p:nvPr/>
        </p:nvSpPr>
        <p:spPr>
          <a:xfrm xmlns:a="http://schemas.openxmlformats.org/drawingml/2006/main">
            <a:off x="4864100" y="33909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0" name="table-text-140-5-2">
            <a:extLst xmlns:a="http://schemas.openxmlformats.org/drawingml/2006/main">
              <a:ext uri="{FF2B5EF4-FFF2-40B4-BE49-F238E27FC236}">
                <a16:creationId xmlns:a16="http://schemas.microsoft.com/office/drawing/2014/main" id="{8081BF55-C1BF-46C9-99F8-802BEF18DC1B}"/>
              </a:ext>
            </a:extLst>
          </p:cNvPr>
          <p:cNvSpPr>
            <a:spLocks xmlns:a="http://schemas.openxmlformats.org/drawingml/2006/main" noGrp="1"/>
          </p:cNvSpPr>
          <p:nvPr/>
        </p:nvSpPr>
        <p:spPr>
          <a:xfrm xmlns:a="http://schemas.openxmlformats.org/drawingml/2006/main">
            <a:off x="4949825" y="34575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속성 이전 뒤 원본 재활용</a:t>
            </a:r>
          </a:p>
        </p:txBody>
      </p:sp>
      <p:sp>
        <p:nvSpPr>
          <p:cNvPr id="41" name="table-cell-140-6-0">
            <a:extLst xmlns:a="http://schemas.openxmlformats.org/drawingml/2006/main">
              <a:ext uri="{FF2B5EF4-FFF2-40B4-BE49-F238E27FC236}">
                <a16:creationId xmlns:a16="http://schemas.microsoft.com/office/drawing/2014/main" id="{8879161B-81FF-4A02-BD64-C7F5BDCE2C2A}"/>
              </a:ext>
            </a:extLst>
          </p:cNvPr>
          <p:cNvSpPr>
            <a:spLocks xmlns:a="http://schemas.openxmlformats.org/drawingml/2006/main" noGrp="1"/>
          </p:cNvSpPr>
          <p:nvPr/>
        </p:nvSpPr>
        <p:spPr>
          <a:xfrm xmlns:a="http://schemas.openxmlformats.org/drawingml/2006/main">
            <a:off x="533400" y="37909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2" name="table-text-140-6-0">
            <a:extLst xmlns:a="http://schemas.openxmlformats.org/drawingml/2006/main">
              <a:ext uri="{FF2B5EF4-FFF2-40B4-BE49-F238E27FC236}">
                <a16:creationId xmlns:a16="http://schemas.microsoft.com/office/drawing/2014/main" id="{722AA425-F80B-42B1-A526-816C05A448C7}"/>
              </a:ext>
            </a:extLst>
          </p:cNvPr>
          <p:cNvSpPr>
            <a:spLocks xmlns:a="http://schemas.openxmlformats.org/drawingml/2006/main" noGrp="1"/>
          </p:cNvSpPr>
          <p:nvPr/>
        </p:nvSpPr>
        <p:spPr>
          <a:xfrm xmlns:a="http://schemas.openxmlformats.org/drawingml/2006/main">
            <a:off x="619125" y="38576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6. 속도를 되살리는 길</a:t>
            </a:r>
          </a:p>
        </p:txBody>
      </p:sp>
      <p:sp>
        <p:nvSpPr>
          <p:cNvPr id="43" name="table-cell-140-6-1">
            <a:extLst xmlns:a="http://schemas.openxmlformats.org/drawingml/2006/main">
              <a:ext uri="{FF2B5EF4-FFF2-40B4-BE49-F238E27FC236}">
                <a16:creationId xmlns:a16="http://schemas.microsoft.com/office/drawing/2014/main" id="{E5C2DFE6-8D0B-41B9-B384-3C73A0461AD6}"/>
              </a:ext>
            </a:extLst>
          </p:cNvPr>
          <p:cNvSpPr>
            <a:spLocks xmlns:a="http://schemas.openxmlformats.org/drawingml/2006/main" noGrp="1"/>
          </p:cNvSpPr>
          <p:nvPr/>
        </p:nvSpPr>
        <p:spPr>
          <a:xfrm xmlns:a="http://schemas.openxmlformats.org/drawingml/2006/main">
            <a:off x="2698750" y="37909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4" name="table-text-140-6-1">
            <a:extLst xmlns:a="http://schemas.openxmlformats.org/drawingml/2006/main">
              <a:ext uri="{FF2B5EF4-FFF2-40B4-BE49-F238E27FC236}">
                <a16:creationId xmlns:a16="http://schemas.microsoft.com/office/drawing/2014/main" id="{2540B70F-D336-46C3-8FF6-6765C115E5E3}"/>
              </a:ext>
            </a:extLst>
          </p:cNvPr>
          <p:cNvSpPr>
            <a:spLocks xmlns:a="http://schemas.openxmlformats.org/drawingml/2006/main" noGrp="1"/>
          </p:cNvSpPr>
          <p:nvPr/>
        </p:nvSpPr>
        <p:spPr>
          <a:xfrm xmlns:a="http://schemas.openxmlformats.org/drawingml/2006/main">
            <a:off x="2784475" y="38576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파워 발판</a:t>
            </a:r>
          </a:p>
        </p:txBody>
      </p:sp>
      <p:sp>
        <p:nvSpPr>
          <p:cNvPr id="45" name="table-cell-140-6-2">
            <a:extLst xmlns:a="http://schemas.openxmlformats.org/drawingml/2006/main">
              <a:ext uri="{FF2B5EF4-FFF2-40B4-BE49-F238E27FC236}">
                <a16:creationId xmlns:a16="http://schemas.microsoft.com/office/drawing/2014/main" id="{DB2D717C-FB84-4316-806D-DA589F2D03BE}"/>
              </a:ext>
            </a:extLst>
          </p:cNvPr>
          <p:cNvSpPr>
            <a:spLocks xmlns:a="http://schemas.openxmlformats.org/drawingml/2006/main" noGrp="1"/>
          </p:cNvSpPr>
          <p:nvPr/>
        </p:nvSpPr>
        <p:spPr>
          <a:xfrm xmlns:a="http://schemas.openxmlformats.org/drawingml/2006/main">
            <a:off x="4864100" y="37909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6" name="table-text-140-6-2">
            <a:extLst xmlns:a="http://schemas.openxmlformats.org/drawingml/2006/main">
              <a:ext uri="{FF2B5EF4-FFF2-40B4-BE49-F238E27FC236}">
                <a16:creationId xmlns:a16="http://schemas.microsoft.com/office/drawing/2014/main" id="{EA8E5F77-25DD-4730-9673-A075AD3C5EDC}"/>
              </a:ext>
            </a:extLst>
          </p:cNvPr>
          <p:cNvSpPr>
            <a:spLocks xmlns:a="http://schemas.openxmlformats.org/drawingml/2006/main" noGrp="1"/>
          </p:cNvSpPr>
          <p:nvPr/>
        </p:nvSpPr>
        <p:spPr>
          <a:xfrm xmlns:a="http://schemas.openxmlformats.org/drawingml/2006/main">
            <a:off x="4949825" y="38576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속도 임계와 재가속 지점 판단</a:t>
            </a:r>
          </a:p>
        </p:txBody>
      </p:sp>
      <p:sp>
        <p:nvSpPr>
          <p:cNvPr id="47" name="table-cell-140-7-0">
            <a:extLst xmlns:a="http://schemas.openxmlformats.org/drawingml/2006/main">
              <a:ext uri="{FF2B5EF4-FFF2-40B4-BE49-F238E27FC236}">
                <a16:creationId xmlns:a16="http://schemas.microsoft.com/office/drawing/2014/main" id="{08D863E8-8ABF-4621-B87B-ED94E24B18D7}"/>
              </a:ext>
            </a:extLst>
          </p:cNvPr>
          <p:cNvSpPr>
            <a:spLocks xmlns:a="http://schemas.openxmlformats.org/drawingml/2006/main" noGrp="1"/>
          </p:cNvSpPr>
          <p:nvPr/>
        </p:nvSpPr>
        <p:spPr>
          <a:xfrm xmlns:a="http://schemas.openxmlformats.org/drawingml/2006/main">
            <a:off x="533400" y="41910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8" name="table-text-140-7-0">
            <a:extLst xmlns:a="http://schemas.openxmlformats.org/drawingml/2006/main">
              <a:ext uri="{FF2B5EF4-FFF2-40B4-BE49-F238E27FC236}">
                <a16:creationId xmlns:a16="http://schemas.microsoft.com/office/drawing/2014/main" id="{8DF78666-CAA5-4816-B629-74BA30993E43}"/>
              </a:ext>
            </a:extLst>
          </p:cNvPr>
          <p:cNvSpPr>
            <a:spLocks xmlns:a="http://schemas.openxmlformats.org/drawingml/2006/main" noGrp="1"/>
          </p:cNvSpPr>
          <p:nvPr/>
        </p:nvSpPr>
        <p:spPr>
          <a:xfrm xmlns:a="http://schemas.openxmlformats.org/drawingml/2006/main">
            <a:off x="619125" y="42576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7. 공은 사라지지 않는다</a:t>
            </a:r>
          </a:p>
        </p:txBody>
      </p:sp>
      <p:sp>
        <p:nvSpPr>
          <p:cNvPr id="49" name="table-cell-140-7-1">
            <a:extLst xmlns:a="http://schemas.openxmlformats.org/drawingml/2006/main">
              <a:ext uri="{FF2B5EF4-FFF2-40B4-BE49-F238E27FC236}">
                <a16:creationId xmlns:a16="http://schemas.microsoft.com/office/drawing/2014/main" id="{3DDA3767-5039-41C1-9C87-3BB67B4D8A9E}"/>
              </a:ext>
            </a:extLst>
          </p:cNvPr>
          <p:cNvSpPr>
            <a:spLocks xmlns:a="http://schemas.openxmlformats.org/drawingml/2006/main" noGrp="1"/>
          </p:cNvSpPr>
          <p:nvPr/>
        </p:nvSpPr>
        <p:spPr>
          <a:xfrm xmlns:a="http://schemas.openxmlformats.org/drawingml/2006/main">
            <a:off x="2698750" y="41910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0" name="table-text-140-7-1">
            <a:extLst xmlns:a="http://schemas.openxmlformats.org/drawingml/2006/main">
              <a:ext uri="{FF2B5EF4-FFF2-40B4-BE49-F238E27FC236}">
                <a16:creationId xmlns:a16="http://schemas.microsoft.com/office/drawing/2014/main" id="{693DEA50-0882-4336-A8E8-AEAC6E89D098}"/>
              </a:ext>
            </a:extLst>
          </p:cNvPr>
          <p:cNvSpPr>
            <a:spLocks xmlns:a="http://schemas.openxmlformats.org/drawingml/2006/main" noGrp="1"/>
          </p:cNvSpPr>
          <p:nvPr/>
        </p:nvSpPr>
        <p:spPr>
          <a:xfrm xmlns:a="http://schemas.openxmlformats.org/drawingml/2006/main">
            <a:off x="2784475" y="42576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잔류 공</a:t>
            </a:r>
          </a:p>
        </p:txBody>
      </p:sp>
      <p:sp>
        <p:nvSpPr>
          <p:cNvPr id="51" name="table-cell-140-7-2">
            <a:extLst xmlns:a="http://schemas.openxmlformats.org/drawingml/2006/main">
              <a:ext uri="{FF2B5EF4-FFF2-40B4-BE49-F238E27FC236}">
                <a16:creationId xmlns:a16="http://schemas.microsoft.com/office/drawing/2014/main" id="{6C2C7F0E-AA8E-41CC-972A-CB6A073EF122}"/>
              </a:ext>
            </a:extLst>
          </p:cNvPr>
          <p:cNvSpPr>
            <a:spLocks xmlns:a="http://schemas.openxmlformats.org/drawingml/2006/main" noGrp="1"/>
          </p:cNvSpPr>
          <p:nvPr/>
        </p:nvSpPr>
        <p:spPr>
          <a:xfrm xmlns:a="http://schemas.openxmlformats.org/drawingml/2006/main">
            <a:off x="4864100" y="41910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2" name="table-text-140-7-2">
            <a:extLst xmlns:a="http://schemas.openxmlformats.org/drawingml/2006/main">
              <a:ext uri="{FF2B5EF4-FFF2-40B4-BE49-F238E27FC236}">
                <a16:creationId xmlns:a16="http://schemas.microsoft.com/office/drawing/2014/main" id="{F86F8AC4-3C8D-4C1D-9921-27A694B7C758}"/>
              </a:ext>
            </a:extLst>
          </p:cNvPr>
          <p:cNvSpPr>
            <a:spLocks xmlns:a="http://schemas.openxmlformats.org/drawingml/2006/main" noGrp="1"/>
          </p:cNvSpPr>
          <p:nvPr/>
        </p:nvSpPr>
        <p:spPr>
          <a:xfrm xmlns:a="http://schemas.openxmlformats.org/drawingml/2006/main">
            <a:off x="4949825" y="42576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첫 실패를 다음 성공의 조건으로 사용</a:t>
            </a:r>
          </a:p>
        </p:txBody>
      </p:sp>
      <p:sp>
        <p:nvSpPr>
          <p:cNvPr id="53" name="table-cell-140-8-0">
            <a:extLst xmlns:a="http://schemas.openxmlformats.org/drawingml/2006/main">
              <a:ext uri="{FF2B5EF4-FFF2-40B4-BE49-F238E27FC236}">
                <a16:creationId xmlns:a16="http://schemas.microsoft.com/office/drawing/2014/main" id="{4DC516FF-723A-4717-938F-7A10E078FA24}"/>
              </a:ext>
            </a:extLst>
          </p:cNvPr>
          <p:cNvSpPr>
            <a:spLocks xmlns:a="http://schemas.openxmlformats.org/drawingml/2006/main" noGrp="1"/>
          </p:cNvSpPr>
          <p:nvPr/>
        </p:nvSpPr>
        <p:spPr>
          <a:xfrm xmlns:a="http://schemas.openxmlformats.org/drawingml/2006/main">
            <a:off x="533400" y="45910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4" name="table-text-140-8-0">
            <a:extLst xmlns:a="http://schemas.openxmlformats.org/drawingml/2006/main">
              <a:ext uri="{FF2B5EF4-FFF2-40B4-BE49-F238E27FC236}">
                <a16:creationId xmlns:a16="http://schemas.microsoft.com/office/drawing/2014/main" id="{1B71733C-308B-4F94-9716-EA4F7488AEC2}"/>
              </a:ext>
            </a:extLst>
          </p:cNvPr>
          <p:cNvSpPr>
            <a:spLocks xmlns:a="http://schemas.openxmlformats.org/drawingml/2006/main" noGrp="1"/>
          </p:cNvSpPr>
          <p:nvPr/>
        </p:nvSpPr>
        <p:spPr>
          <a:xfrm xmlns:a="http://schemas.openxmlformats.org/drawingml/2006/main">
            <a:off x="619125" y="46577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8. 세 번 이어라</a:t>
            </a:r>
          </a:p>
        </p:txBody>
      </p:sp>
      <p:sp>
        <p:nvSpPr>
          <p:cNvPr id="55" name="table-cell-140-8-1">
            <a:extLst xmlns:a="http://schemas.openxmlformats.org/drawingml/2006/main">
              <a:ext uri="{FF2B5EF4-FFF2-40B4-BE49-F238E27FC236}">
                <a16:creationId xmlns:a16="http://schemas.microsoft.com/office/drawing/2014/main" id="{F9F9ED1D-E94F-4260-B175-7BAA2378735F}"/>
              </a:ext>
            </a:extLst>
          </p:cNvPr>
          <p:cNvSpPr>
            <a:spLocks xmlns:a="http://schemas.openxmlformats.org/drawingml/2006/main" noGrp="1"/>
          </p:cNvSpPr>
          <p:nvPr/>
        </p:nvSpPr>
        <p:spPr>
          <a:xfrm xmlns:a="http://schemas.openxmlformats.org/drawingml/2006/main">
            <a:off x="2698750" y="45910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6" name="table-text-140-8-1">
            <a:extLst xmlns:a="http://schemas.openxmlformats.org/drawingml/2006/main">
              <a:ext uri="{FF2B5EF4-FFF2-40B4-BE49-F238E27FC236}">
                <a16:creationId xmlns:a16="http://schemas.microsoft.com/office/drawing/2014/main" id="{445B068D-531C-42FD-9586-1A0CAA30AF7D}"/>
              </a:ext>
            </a:extLst>
          </p:cNvPr>
          <p:cNvSpPr>
            <a:spLocks xmlns:a="http://schemas.openxmlformats.org/drawingml/2006/main" noGrp="1"/>
          </p:cNvSpPr>
          <p:nvPr/>
        </p:nvSpPr>
        <p:spPr>
          <a:xfrm xmlns:a="http://schemas.openxmlformats.org/drawingml/2006/main">
            <a:off x="2784475" y="46577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다중 연쇄</a:t>
            </a:r>
          </a:p>
        </p:txBody>
      </p:sp>
      <p:sp>
        <p:nvSpPr>
          <p:cNvPr id="57" name="table-cell-140-8-2">
            <a:extLst xmlns:a="http://schemas.openxmlformats.org/drawingml/2006/main">
              <a:ext uri="{FF2B5EF4-FFF2-40B4-BE49-F238E27FC236}">
                <a16:creationId xmlns:a16="http://schemas.microsoft.com/office/drawing/2014/main" id="{BBC70359-DC1E-4F10-A93D-94BB2B977BBF}"/>
              </a:ext>
            </a:extLst>
          </p:cNvPr>
          <p:cNvSpPr>
            <a:spLocks xmlns:a="http://schemas.openxmlformats.org/drawingml/2006/main" noGrp="1"/>
          </p:cNvSpPr>
          <p:nvPr/>
        </p:nvSpPr>
        <p:spPr>
          <a:xfrm xmlns:a="http://schemas.openxmlformats.org/drawingml/2006/main">
            <a:off x="4864100" y="45910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8" name="table-text-140-8-2">
            <a:extLst xmlns:a="http://schemas.openxmlformats.org/drawingml/2006/main">
              <a:ext uri="{FF2B5EF4-FFF2-40B4-BE49-F238E27FC236}">
                <a16:creationId xmlns:a16="http://schemas.microsoft.com/office/drawing/2014/main" id="{0AC30A94-2621-4C57-B56F-87A381AF7846}"/>
              </a:ext>
            </a:extLst>
          </p:cNvPr>
          <p:cNvSpPr>
            <a:spLocks xmlns:a="http://schemas.openxmlformats.org/drawingml/2006/main" noGrp="1"/>
          </p:cNvSpPr>
          <p:nvPr/>
        </p:nvSpPr>
        <p:spPr>
          <a:xfrm xmlns:a="http://schemas.openxmlformats.org/drawingml/2006/main">
            <a:off x="4949825" y="46577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연속 충돌과 깊은 인과 구성</a:t>
            </a:r>
          </a:p>
        </p:txBody>
      </p:sp>
      <p:sp>
        <p:nvSpPr>
          <p:cNvPr id="59" name="table-cell-140-9-0">
            <a:extLst xmlns:a="http://schemas.openxmlformats.org/drawingml/2006/main">
              <a:ext uri="{FF2B5EF4-FFF2-40B4-BE49-F238E27FC236}">
                <a16:creationId xmlns:a16="http://schemas.microsoft.com/office/drawing/2014/main" id="{A19F07AB-A4D1-4099-AF91-40F6EDEDA436}"/>
              </a:ext>
            </a:extLst>
          </p:cNvPr>
          <p:cNvSpPr>
            <a:spLocks xmlns:a="http://schemas.openxmlformats.org/drawingml/2006/main" noGrp="1"/>
          </p:cNvSpPr>
          <p:nvPr/>
        </p:nvSpPr>
        <p:spPr>
          <a:xfrm xmlns:a="http://schemas.openxmlformats.org/drawingml/2006/main">
            <a:off x="533400" y="49911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60" name="table-text-140-9-0">
            <a:extLst xmlns:a="http://schemas.openxmlformats.org/drawingml/2006/main">
              <a:ext uri="{FF2B5EF4-FFF2-40B4-BE49-F238E27FC236}">
                <a16:creationId xmlns:a16="http://schemas.microsoft.com/office/drawing/2014/main" id="{E6F1B429-38DB-4562-AA04-7372B4C7238F}"/>
              </a:ext>
            </a:extLst>
          </p:cNvPr>
          <p:cNvSpPr>
            <a:spLocks xmlns:a="http://schemas.openxmlformats.org/drawingml/2006/main" noGrp="1"/>
          </p:cNvSpPr>
          <p:nvPr/>
        </p:nvSpPr>
        <p:spPr>
          <a:xfrm xmlns:a="http://schemas.openxmlformats.org/drawingml/2006/main">
            <a:off x="619125" y="50577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9. 판을 돌려 놓아라</a:t>
            </a:r>
          </a:p>
        </p:txBody>
      </p:sp>
      <p:sp>
        <p:nvSpPr>
          <p:cNvPr id="61" name="table-cell-140-9-1">
            <a:extLst xmlns:a="http://schemas.openxmlformats.org/drawingml/2006/main">
              <a:ext uri="{FF2B5EF4-FFF2-40B4-BE49-F238E27FC236}">
                <a16:creationId xmlns:a16="http://schemas.microsoft.com/office/drawing/2014/main" id="{9496BF8C-5810-435A-A933-D7BF79A0C6A5}"/>
              </a:ext>
            </a:extLst>
          </p:cNvPr>
          <p:cNvSpPr>
            <a:spLocks xmlns:a="http://schemas.openxmlformats.org/drawingml/2006/main" noGrp="1"/>
          </p:cNvSpPr>
          <p:nvPr/>
        </p:nvSpPr>
        <p:spPr>
          <a:xfrm xmlns:a="http://schemas.openxmlformats.org/drawingml/2006/main">
            <a:off x="2698750" y="49911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62" name="table-text-140-9-1">
            <a:extLst xmlns:a="http://schemas.openxmlformats.org/drawingml/2006/main">
              <a:ext uri="{FF2B5EF4-FFF2-40B4-BE49-F238E27FC236}">
                <a16:creationId xmlns:a16="http://schemas.microsoft.com/office/drawing/2014/main" id="{FD4484BE-E2F2-4B39-B8A0-62C5AB1CC379}"/>
              </a:ext>
            </a:extLst>
          </p:cNvPr>
          <p:cNvSpPr>
            <a:spLocks xmlns:a="http://schemas.openxmlformats.org/drawingml/2006/main" noGrp="1"/>
          </p:cNvSpPr>
          <p:nvPr/>
        </p:nvSpPr>
        <p:spPr>
          <a:xfrm xmlns:a="http://schemas.openxmlformats.org/drawingml/2006/main">
            <a:off x="2784475" y="50577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회전 반사판</a:t>
            </a:r>
          </a:p>
        </p:txBody>
      </p:sp>
      <p:sp>
        <p:nvSpPr>
          <p:cNvPr id="63" name="table-cell-140-9-2">
            <a:extLst xmlns:a="http://schemas.openxmlformats.org/drawingml/2006/main">
              <a:ext uri="{FF2B5EF4-FFF2-40B4-BE49-F238E27FC236}">
                <a16:creationId xmlns:a16="http://schemas.microsoft.com/office/drawing/2014/main" id="{839BC35D-7C94-42A9-BF08-CE48FD6DD248}"/>
              </a:ext>
            </a:extLst>
          </p:cNvPr>
          <p:cNvSpPr>
            <a:spLocks xmlns:a="http://schemas.openxmlformats.org/drawingml/2006/main" noGrp="1"/>
          </p:cNvSpPr>
          <p:nvPr/>
        </p:nvSpPr>
        <p:spPr>
          <a:xfrm xmlns:a="http://schemas.openxmlformats.org/drawingml/2006/main">
            <a:off x="4864100" y="49911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64" name="table-text-140-9-2">
            <a:extLst xmlns:a="http://schemas.openxmlformats.org/drawingml/2006/main">
              <a:ext uri="{FF2B5EF4-FFF2-40B4-BE49-F238E27FC236}">
                <a16:creationId xmlns:a16="http://schemas.microsoft.com/office/drawing/2014/main" id="{CCAD945E-6B97-4AE3-AD29-B5AD254E6750}"/>
              </a:ext>
            </a:extLst>
          </p:cNvPr>
          <p:cNvSpPr>
            <a:spLocks xmlns:a="http://schemas.openxmlformats.org/drawingml/2006/main" noGrp="1"/>
          </p:cNvSpPr>
          <p:nvPr/>
        </p:nvSpPr>
        <p:spPr>
          <a:xfrm xmlns:a="http://schemas.openxmlformats.org/drawingml/2006/main">
            <a:off x="4949825" y="50577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장치 상태를 다음 샷까지 누적</a:t>
            </a:r>
          </a:p>
        </p:txBody>
      </p:sp>
      <p:sp>
        <p:nvSpPr>
          <p:cNvPr id="65" name="table-cell-140-10-0">
            <a:extLst xmlns:a="http://schemas.openxmlformats.org/drawingml/2006/main">
              <a:ext uri="{FF2B5EF4-FFF2-40B4-BE49-F238E27FC236}">
                <a16:creationId xmlns:a16="http://schemas.microsoft.com/office/drawing/2014/main" id="{D099D4A7-0B18-49B7-9FDD-E25CAF4EFD90}"/>
              </a:ext>
            </a:extLst>
          </p:cNvPr>
          <p:cNvSpPr>
            <a:spLocks xmlns:a="http://schemas.openxmlformats.org/drawingml/2006/main" noGrp="1"/>
          </p:cNvSpPr>
          <p:nvPr/>
        </p:nvSpPr>
        <p:spPr>
          <a:xfrm xmlns:a="http://schemas.openxmlformats.org/drawingml/2006/main">
            <a:off x="533400" y="53911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66" name="table-text-140-10-0">
            <a:extLst xmlns:a="http://schemas.openxmlformats.org/drawingml/2006/main">
              <a:ext uri="{FF2B5EF4-FFF2-40B4-BE49-F238E27FC236}">
                <a16:creationId xmlns:a16="http://schemas.microsoft.com/office/drawing/2014/main" id="{CB04FC53-5A26-409A-87D9-484F5C7B0D26}"/>
              </a:ext>
            </a:extLst>
          </p:cNvPr>
          <p:cNvSpPr>
            <a:spLocks xmlns:a="http://schemas.openxmlformats.org/drawingml/2006/main" noGrp="1"/>
          </p:cNvSpPr>
          <p:nvPr/>
        </p:nvSpPr>
        <p:spPr>
          <a:xfrm xmlns:a="http://schemas.openxmlformats.org/drawingml/2006/main">
            <a:off x="619125" y="54578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10. 속성 한방</a:t>
            </a:r>
          </a:p>
        </p:txBody>
      </p:sp>
      <p:sp>
        <p:nvSpPr>
          <p:cNvPr id="67" name="table-cell-140-10-1">
            <a:extLst xmlns:a="http://schemas.openxmlformats.org/drawingml/2006/main">
              <a:ext uri="{FF2B5EF4-FFF2-40B4-BE49-F238E27FC236}">
                <a16:creationId xmlns:a16="http://schemas.microsoft.com/office/drawing/2014/main" id="{D0E86FD7-852F-48A9-962C-5678C7B9D033}"/>
              </a:ext>
            </a:extLst>
          </p:cNvPr>
          <p:cNvSpPr>
            <a:spLocks xmlns:a="http://schemas.openxmlformats.org/drawingml/2006/main" noGrp="1"/>
          </p:cNvSpPr>
          <p:nvPr/>
        </p:nvSpPr>
        <p:spPr>
          <a:xfrm xmlns:a="http://schemas.openxmlformats.org/drawingml/2006/main">
            <a:off x="2698750" y="53911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68" name="table-text-140-10-1">
            <a:extLst xmlns:a="http://schemas.openxmlformats.org/drawingml/2006/main">
              <a:ext uri="{FF2B5EF4-FFF2-40B4-BE49-F238E27FC236}">
                <a16:creationId xmlns:a16="http://schemas.microsoft.com/office/drawing/2014/main" id="{7625C26A-2F62-4FB8-9D2F-A69D841981C3}"/>
              </a:ext>
            </a:extLst>
          </p:cNvPr>
          <p:cNvSpPr>
            <a:spLocks xmlns:a="http://schemas.openxmlformats.org/drawingml/2006/main" noGrp="1"/>
          </p:cNvSpPr>
          <p:nvPr/>
        </p:nvSpPr>
        <p:spPr>
          <a:xfrm xmlns:a="http://schemas.openxmlformats.org/drawingml/2006/main">
            <a:off x="2784475" y="54578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전체 규칙 통합</a:t>
            </a:r>
          </a:p>
        </p:txBody>
      </p:sp>
      <p:sp>
        <p:nvSpPr>
          <p:cNvPr id="69" name="table-cell-140-10-2">
            <a:extLst xmlns:a="http://schemas.openxmlformats.org/drawingml/2006/main">
              <a:ext uri="{FF2B5EF4-FFF2-40B4-BE49-F238E27FC236}">
                <a16:creationId xmlns:a16="http://schemas.microsoft.com/office/drawing/2014/main" id="{C9B21A18-5F47-4B01-B444-65A3C1568207}"/>
              </a:ext>
            </a:extLst>
          </p:cNvPr>
          <p:cNvSpPr>
            <a:spLocks xmlns:a="http://schemas.openxmlformats.org/drawingml/2006/main" noGrp="1"/>
          </p:cNvSpPr>
          <p:nvPr/>
        </p:nvSpPr>
        <p:spPr>
          <a:xfrm xmlns:a="http://schemas.openxmlformats.org/drawingml/2006/main">
            <a:off x="4864100" y="53911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70" name="table-text-140-10-2">
            <a:extLst xmlns:a="http://schemas.openxmlformats.org/drawingml/2006/main">
              <a:ext uri="{FF2B5EF4-FFF2-40B4-BE49-F238E27FC236}">
                <a16:creationId xmlns:a16="http://schemas.microsoft.com/office/drawing/2014/main" id="{0F9965B0-F287-4B7A-91F0-455408BBE734}"/>
              </a:ext>
            </a:extLst>
          </p:cNvPr>
          <p:cNvSpPr>
            <a:spLocks xmlns:a="http://schemas.openxmlformats.org/drawingml/2006/main" noGrp="1"/>
          </p:cNvSpPr>
          <p:nvPr/>
        </p:nvSpPr>
        <p:spPr>
          <a:xfrm xmlns:a="http://schemas.openxmlformats.org/drawingml/2006/main">
            <a:off x="4949825" y="54578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복수 해법과 단계별 최적화</a:t>
            </a:r>
          </a:p>
        </p:txBody>
      </p:sp>
      <p:sp>
        <p:nvSpPr>
          <p:cNvPr id="71" name="paragraph-624">
            <a:extLst xmlns:a="http://schemas.openxmlformats.org/drawingml/2006/main">
              <a:ext uri="{FF2B5EF4-FFF2-40B4-BE49-F238E27FC236}">
                <a16:creationId xmlns:a16="http://schemas.microsoft.com/office/drawing/2014/main" id="{0BA3AE7B-FACA-48FD-91E3-1332C6050AF7}"/>
              </a:ext>
            </a:extLst>
          </p:cNvPr>
          <p:cNvSpPr>
            <a:spLocks xmlns:a="http://schemas.openxmlformats.org/drawingml/2006/main" noGrp="1"/>
          </p:cNvSpPr>
          <p:nvPr/>
        </p:nvSpPr>
        <p:spPr>
          <a:xfrm xmlns:a="http://schemas.openxmlformats.org/drawingml/2006/main">
            <a:off x="533400" y="594360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모든 단계는 기믹을 쓰지 않는 창의적 우회를 완전히 금지하지 않되, 40개 각 패턴에서 기믹 사용이 대응 우회보다 엄격히 유리하고, 균등 셔플되는 단계별 4패턴 합계는 최소 1.4배여야 한다. 단발형은 결정론 격자, 영속형·속성 복합형은 준비 상태와 초기 상태의 동일 900입력 조건부 성공 영역, 연쇄 점수형은 같은 홀 진입 대비 점수로 검증한다.</a:t>
            </a:r>
          </a:p>
        </p:txBody>
      </p:sp>
    </p:spTree>
    <p:extLst>
      <p:ext uri="{BB962C8B-B14F-4D97-AF65-F5344CB8AC3E}">
        <p14:creationId xmlns:p14="http://schemas.microsoft.com/office/powerpoint/2010/main" val="12724462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running-label">
            <a:extLst xmlns:a="http://schemas.openxmlformats.org/drawingml/2006/main">
              <a:ext uri="{FF2B5EF4-FFF2-40B4-BE49-F238E27FC236}">
                <a16:creationId xmlns:a16="http://schemas.microsoft.com/office/drawing/2014/main" id="{CE25469C-B594-4E59-8541-B28037F9956D}"/>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DAF2874F-F820-4A56-AA82-8ABAABF3A5DB}"/>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14</a:t>
            </a:r>
          </a:p>
        </p:txBody>
      </p:sp>
      <p:sp>
        <p:nvSpPr>
          <p:cNvPr id="3" name="header-rule">
            <a:extLst xmlns:a="http://schemas.openxmlformats.org/drawingml/2006/main">
              <a:ext uri="{FF2B5EF4-FFF2-40B4-BE49-F238E27FC236}">
                <a16:creationId xmlns:a16="http://schemas.microsoft.com/office/drawing/2014/main" id="{2711B39C-7532-416E-B7B2-8B0C65EA8D83}"/>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08ACAD0E-1F33-4136-96E0-F2C1D481588F}"/>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6. 실행 및 설치 방법</a:t>
            </a:r>
          </a:p>
        </p:txBody>
      </p:sp>
      <p:sp>
        <p:nvSpPr>
          <p:cNvPr id="5" name="subheading-140">
            <a:extLst xmlns:a="http://schemas.openxmlformats.org/drawingml/2006/main">
              <a:ext uri="{FF2B5EF4-FFF2-40B4-BE49-F238E27FC236}">
                <a16:creationId xmlns:a16="http://schemas.microsoft.com/office/drawing/2014/main" id="{44A43F68-4472-4951-8A71-CBC78C6E22C8}"/>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6.1 바로 플레이</a:t>
            </a:r>
          </a:p>
        </p:txBody>
      </p:sp>
      <p:sp>
        <p:nvSpPr>
          <p:cNvPr id="6" name="bullets-194">
            <a:extLst xmlns:a="http://schemas.openxmlformats.org/drawingml/2006/main">
              <a:ext uri="{FF2B5EF4-FFF2-40B4-BE49-F238E27FC236}">
                <a16:creationId xmlns:a16="http://schemas.microsoft.com/office/drawing/2014/main" id="{32CE49DC-1371-4738-B1A0-BF0F1BEF2E09}"/>
              </a:ext>
            </a:extLst>
          </p:cNvPr>
          <p:cNvSpPr>
            <a:spLocks xmlns:a="http://schemas.openxmlformats.org/drawingml/2006/main" noGrp="1"/>
          </p:cNvSpPr>
          <p:nvPr/>
        </p:nvSpPr>
        <p:spPr>
          <a:xfrm xmlns:a="http://schemas.openxmlformats.org/drawingml/2006/main">
            <a:off x="533400" y="1847850"/>
            <a:ext cx="6496050" cy="13456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GitHub Pages에서 바로 플레이 (https://good5229.github.io/Property_shot/)</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소스 저장소 (https://github.com/good5229/Property_shot)</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기능 기준 배포 워크플로 (https://github.com/good5229/Property_shot/actions/runs/31315470165)</a:t>
            </a:r>
          </a:p>
        </p:txBody>
      </p:sp>
      <p:sp>
        <p:nvSpPr>
          <p:cNvPr id="7" name="subheading-345.28">
            <a:extLst xmlns:a="http://schemas.openxmlformats.org/drawingml/2006/main">
              <a:ext uri="{FF2B5EF4-FFF2-40B4-BE49-F238E27FC236}">
                <a16:creationId xmlns:a16="http://schemas.microsoft.com/office/drawing/2014/main" id="{C99EB2B5-F500-40C1-BA69-2B93D8C9B90A}"/>
              </a:ext>
            </a:extLst>
          </p:cNvPr>
          <p:cNvSpPr>
            <a:spLocks xmlns:a="http://schemas.openxmlformats.org/drawingml/2006/main" noGrp="1"/>
          </p:cNvSpPr>
          <p:nvPr/>
        </p:nvSpPr>
        <p:spPr>
          <a:xfrm xmlns:a="http://schemas.openxmlformats.org/drawingml/2006/main">
            <a:off x="533400" y="3288792"/>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6.2 소스에서 Web 실행</a:t>
            </a:r>
          </a:p>
        </p:txBody>
      </p:sp>
      <p:sp>
        <p:nvSpPr>
          <p:cNvPr id="8" name="code-bg-399.28">
            <a:extLst xmlns:a="http://schemas.openxmlformats.org/drawingml/2006/main">
              <a:ext uri="{FF2B5EF4-FFF2-40B4-BE49-F238E27FC236}">
                <a16:creationId xmlns:a16="http://schemas.microsoft.com/office/drawing/2014/main" id="{5F1C36B8-5C88-47B4-8448-C7D5961B92EE}"/>
              </a:ext>
            </a:extLst>
          </p:cNvPr>
          <p:cNvSpPr>
            <a:spLocks xmlns:a="http://schemas.openxmlformats.org/drawingml/2006/main" noGrp="1"/>
          </p:cNvSpPr>
          <p:nvPr/>
        </p:nvSpPr>
        <p:spPr>
          <a:xfrm xmlns:a="http://schemas.openxmlformats.org/drawingml/2006/main">
            <a:off x="533400" y="3803142"/>
            <a:ext cx="6496050" cy="739140"/>
          </a:xfrm>
          <a:prstGeom xmlns:a="http://schemas.openxmlformats.org/drawingml/2006/main" prst="roundRect">
            <a:avLst>
              <a:gd name="adj" fmla="val 10309"/>
            </a:avLst>
          </a:prstGeom>
          <a:solidFill xmlns:a="http://schemas.openxmlformats.org/drawingml/2006/main">
            <a:srgbClr val="F3F6F5"/>
          </a:solidFill>
          <a:ln xmlns:a="http://schemas.openxmlformats.org/drawingml/2006/main" w="9525">
            <a:solidFill>
              <a:srgbClr val="D7E1DE"/>
            </a:solidFill>
            <a:prstDash val="solid"/>
          </a:ln>
        </p:spPr>
      </p:sp>
      <p:sp>
        <p:nvSpPr>
          <p:cNvPr id="9" name="code-399.28">
            <a:extLst xmlns:a="http://schemas.openxmlformats.org/drawingml/2006/main">
              <a:ext uri="{FF2B5EF4-FFF2-40B4-BE49-F238E27FC236}">
                <a16:creationId xmlns:a16="http://schemas.microsoft.com/office/drawing/2014/main" id="{F09D274B-82FE-4F1B-B9A2-9608D72DA48C}"/>
              </a:ext>
            </a:extLst>
          </p:cNvPr>
          <p:cNvSpPr>
            <a:spLocks xmlns:a="http://schemas.openxmlformats.org/drawingml/2006/main" noGrp="1"/>
          </p:cNvSpPr>
          <p:nvPr/>
        </p:nvSpPr>
        <p:spPr>
          <a:xfrm xmlns:a="http://schemas.openxmlformats.org/drawingml/2006/main">
            <a:off x="685800" y="3898392"/>
            <a:ext cx="619125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652"/>
          </a:bodyPr>
          <a:lstStyle xmlns:a="http://schemas.openxmlformats.org/drawingml/2006/main"/>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git clone https://github.com/good5229/Property_shot.git</a:t>
            </a:r>
          </a:p>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cd Property_shot</a:t>
            </a:r>
          </a:p>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git switch main</a:t>
            </a:r>
          </a:p>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flutter pub get</a:t>
            </a:r>
          </a:p>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flutter run -d chrome</a:t>
            </a:r>
          </a:p>
        </p:txBody>
      </p:sp>
      <p:sp>
        <p:nvSpPr>
          <p:cNvPr id="10" name="paragraph-484.88">
            <a:extLst xmlns:a="http://schemas.openxmlformats.org/drawingml/2006/main">
              <a:ext uri="{FF2B5EF4-FFF2-40B4-BE49-F238E27FC236}">
                <a16:creationId xmlns:a16="http://schemas.microsoft.com/office/drawing/2014/main" id="{F3B2FA7B-8AA9-4A81-964D-C9F57DCE4685}"/>
              </a:ext>
            </a:extLst>
          </p:cNvPr>
          <p:cNvSpPr>
            <a:spLocks xmlns:a="http://schemas.openxmlformats.org/drawingml/2006/main" noGrp="1"/>
          </p:cNvSpPr>
          <p:nvPr/>
        </p:nvSpPr>
        <p:spPr>
          <a:xfrm xmlns:a="http://schemas.openxmlformats.org/drawingml/2006/main">
            <a:off x="533400" y="4618482"/>
            <a:ext cx="6496050" cy="3459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배포용 빌드는 다음과 같다.</a:t>
            </a:r>
          </a:p>
        </p:txBody>
      </p:sp>
      <p:sp>
        <p:nvSpPr>
          <p:cNvPr id="11" name="code-bg-533.2">
            <a:extLst xmlns:a="http://schemas.openxmlformats.org/drawingml/2006/main">
              <a:ext uri="{FF2B5EF4-FFF2-40B4-BE49-F238E27FC236}">
                <a16:creationId xmlns:a16="http://schemas.microsoft.com/office/drawing/2014/main" id="{B07D3867-41ED-4632-8A5F-7902033DC642}"/>
              </a:ext>
            </a:extLst>
          </p:cNvPr>
          <p:cNvSpPr>
            <a:spLocks xmlns:a="http://schemas.openxmlformats.org/drawingml/2006/main" noGrp="1"/>
          </p:cNvSpPr>
          <p:nvPr/>
        </p:nvSpPr>
        <p:spPr>
          <a:xfrm xmlns:a="http://schemas.openxmlformats.org/drawingml/2006/main">
            <a:off x="533400" y="5078730"/>
            <a:ext cx="6496050" cy="521970"/>
          </a:xfrm>
          <a:prstGeom xmlns:a="http://schemas.openxmlformats.org/drawingml/2006/main" prst="roundRect">
            <a:avLst>
              <a:gd name="adj" fmla="val 14599"/>
            </a:avLst>
          </a:prstGeom>
          <a:solidFill xmlns:a="http://schemas.openxmlformats.org/drawingml/2006/main">
            <a:srgbClr val="F3F6F5"/>
          </a:solidFill>
          <a:ln xmlns:a="http://schemas.openxmlformats.org/drawingml/2006/main" w="9525">
            <a:solidFill>
              <a:srgbClr val="D7E1DE"/>
            </a:solidFill>
            <a:prstDash val="solid"/>
          </a:ln>
        </p:spPr>
      </p:sp>
      <p:sp>
        <p:nvSpPr>
          <p:cNvPr id="12" name="code-533.2">
            <a:extLst xmlns:a="http://schemas.openxmlformats.org/drawingml/2006/main">
              <a:ext uri="{FF2B5EF4-FFF2-40B4-BE49-F238E27FC236}">
                <a16:creationId xmlns:a16="http://schemas.microsoft.com/office/drawing/2014/main" id="{31109BF2-07AF-48A1-9576-1D066DFAD4A1}"/>
              </a:ext>
            </a:extLst>
          </p:cNvPr>
          <p:cNvSpPr>
            <a:spLocks xmlns:a="http://schemas.openxmlformats.org/drawingml/2006/main" noGrp="1"/>
          </p:cNvSpPr>
          <p:nvPr/>
        </p:nvSpPr>
        <p:spPr>
          <a:xfrm xmlns:a="http://schemas.openxmlformats.org/drawingml/2006/main">
            <a:off x="685800" y="5173980"/>
            <a:ext cx="6191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flutter build web --release --base-href "/Property_shot/"</a:t>
            </a:r>
          </a:p>
        </p:txBody>
      </p:sp>
      <p:sp>
        <p:nvSpPr>
          <p:cNvPr id="13" name="subheading-596">
            <a:extLst xmlns:a="http://schemas.openxmlformats.org/drawingml/2006/main">
              <a:ext uri="{FF2B5EF4-FFF2-40B4-BE49-F238E27FC236}">
                <a16:creationId xmlns:a16="http://schemas.microsoft.com/office/drawing/2014/main" id="{F45754F0-05C2-4832-9406-D7A0471B6DE0}"/>
              </a:ext>
            </a:extLst>
          </p:cNvPr>
          <p:cNvSpPr>
            <a:spLocks xmlns:a="http://schemas.openxmlformats.org/drawingml/2006/main" noGrp="1"/>
          </p:cNvSpPr>
          <p:nvPr/>
        </p:nvSpPr>
        <p:spPr>
          <a:xfrm xmlns:a="http://schemas.openxmlformats.org/drawingml/2006/main">
            <a:off x="533400" y="56769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6.3 Android APK 설치</a:t>
            </a:r>
          </a:p>
        </p:txBody>
      </p:sp>
      <p:sp>
        <p:nvSpPr>
          <p:cNvPr id="14" name="code-bg-650">
            <a:extLst xmlns:a="http://schemas.openxmlformats.org/drawingml/2006/main">
              <a:ext uri="{FF2B5EF4-FFF2-40B4-BE49-F238E27FC236}">
                <a16:creationId xmlns:a16="http://schemas.microsoft.com/office/drawing/2014/main" id="{6C6A4ED4-EB98-4A60-B82A-2BD79B09E77F}"/>
              </a:ext>
            </a:extLst>
          </p:cNvPr>
          <p:cNvSpPr>
            <a:spLocks xmlns:a="http://schemas.openxmlformats.org/drawingml/2006/main" noGrp="1"/>
          </p:cNvSpPr>
          <p:nvPr/>
        </p:nvSpPr>
        <p:spPr>
          <a:xfrm xmlns:a="http://schemas.openxmlformats.org/drawingml/2006/main">
            <a:off x="533400" y="6191250"/>
            <a:ext cx="6496050" cy="521970"/>
          </a:xfrm>
          <a:prstGeom xmlns:a="http://schemas.openxmlformats.org/drawingml/2006/main" prst="roundRect">
            <a:avLst>
              <a:gd name="adj" fmla="val 14599"/>
            </a:avLst>
          </a:prstGeom>
          <a:solidFill xmlns:a="http://schemas.openxmlformats.org/drawingml/2006/main">
            <a:srgbClr val="F3F6F5"/>
          </a:solidFill>
          <a:ln xmlns:a="http://schemas.openxmlformats.org/drawingml/2006/main" w="9525">
            <a:solidFill>
              <a:srgbClr val="D7E1DE"/>
            </a:solidFill>
            <a:prstDash val="solid"/>
          </a:ln>
        </p:spPr>
      </p:sp>
      <p:sp>
        <p:nvSpPr>
          <p:cNvPr id="15" name="code-650">
            <a:extLst xmlns:a="http://schemas.openxmlformats.org/drawingml/2006/main">
              <a:ext uri="{FF2B5EF4-FFF2-40B4-BE49-F238E27FC236}">
                <a16:creationId xmlns:a16="http://schemas.microsoft.com/office/drawing/2014/main" id="{D71FC794-3B25-4E42-B9D0-0B0FA698A1D1}"/>
              </a:ext>
            </a:extLst>
          </p:cNvPr>
          <p:cNvSpPr>
            <a:spLocks xmlns:a="http://schemas.openxmlformats.org/drawingml/2006/main" noGrp="1"/>
          </p:cNvSpPr>
          <p:nvPr/>
        </p:nvSpPr>
        <p:spPr>
          <a:xfrm xmlns:a="http://schemas.openxmlformats.org/drawingml/2006/main">
            <a:off x="685800" y="6286500"/>
            <a:ext cx="6191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flutter build apk --release</a:t>
            </a:r>
          </a:p>
        </p:txBody>
      </p:sp>
      <p:sp>
        <p:nvSpPr>
          <p:cNvPr id="16" name="paragraph-712.8">
            <a:extLst xmlns:a="http://schemas.openxmlformats.org/drawingml/2006/main">
              <a:ext uri="{FF2B5EF4-FFF2-40B4-BE49-F238E27FC236}">
                <a16:creationId xmlns:a16="http://schemas.microsoft.com/office/drawing/2014/main" id="{9FBDC60C-2EEB-4C04-929D-88D0D80D2B50}"/>
              </a:ext>
            </a:extLst>
          </p:cNvPr>
          <p:cNvSpPr>
            <a:spLocks xmlns:a="http://schemas.openxmlformats.org/drawingml/2006/main" noGrp="1"/>
          </p:cNvSpPr>
          <p:nvPr/>
        </p:nvSpPr>
        <p:spPr>
          <a:xfrm xmlns:a="http://schemas.openxmlformats.org/drawingml/2006/main">
            <a:off x="533400" y="6789420"/>
            <a:ext cx="6496050" cy="1272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생성 파일은 build/app/outputs/flutter-apk/app-release.apk이며, 이번 검증 빌드는 63,261,407바이트(약 60.33MiB), SHA-256 f2a127039375d9a0d76d82e054c7d00a11955237d99566bb28a86bc49f146674다. Android 기기로 옮긴 뒤 알 수 없는 앱 설치 권한을 허용해 수동 설치할 수 있다. 공개 APK 다운로드 링크와 iOS TestFlight 링크는 제공하지 않는다.</a:t>
            </a:r>
          </a:p>
        </p:txBody>
      </p:sp>
    </p:spTree>
    <p:extLst>
      <p:ext uri="{BB962C8B-B14F-4D97-AF65-F5344CB8AC3E}">
        <p14:creationId xmlns:p14="http://schemas.microsoft.com/office/powerpoint/2010/main" val="34684822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unning-label">
            <a:extLst xmlns:a="http://schemas.openxmlformats.org/drawingml/2006/main">
              <a:ext uri="{FF2B5EF4-FFF2-40B4-BE49-F238E27FC236}">
                <a16:creationId xmlns:a16="http://schemas.microsoft.com/office/drawing/2014/main" id="{34B55564-AC7E-41DD-B805-B3B1096CC217}"/>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CE1CF093-83C0-4BE6-A616-65A18D76E9EC}"/>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15</a:t>
            </a:r>
          </a:p>
        </p:txBody>
      </p:sp>
      <p:sp>
        <p:nvSpPr>
          <p:cNvPr id="3" name="header-rule">
            <a:extLst xmlns:a="http://schemas.openxmlformats.org/drawingml/2006/main">
              <a:ext uri="{FF2B5EF4-FFF2-40B4-BE49-F238E27FC236}">
                <a16:creationId xmlns:a16="http://schemas.microsoft.com/office/drawing/2014/main" id="{99BF977F-7079-4674-80A7-E76E37182E0D}"/>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C803F967-DE8A-44B1-8167-F051A8E49DFD}"/>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7. 플레이 영상</a:t>
            </a:r>
          </a:p>
        </p:txBody>
      </p:sp>
      <p:sp>
        <p:nvSpPr>
          <p:cNvPr id="5" name="bullets-140">
            <a:extLst xmlns:a="http://schemas.openxmlformats.org/drawingml/2006/main">
              <a:ext uri="{FF2B5EF4-FFF2-40B4-BE49-F238E27FC236}">
                <a16:creationId xmlns:a16="http://schemas.microsoft.com/office/drawing/2014/main" id="{35311395-4788-4456-986C-AEDD6E0C37F9}"/>
              </a:ext>
            </a:extLst>
          </p:cNvPr>
          <p:cNvSpPr>
            <a:spLocks xmlns:a="http://schemas.openxmlformats.org/drawingml/2006/main" noGrp="1"/>
          </p:cNvSpPr>
          <p:nvPr/>
        </p:nvSpPr>
        <p:spPr>
          <a:xfrm xmlns:a="http://schemas.openxmlformats.org/drawingml/2006/main">
            <a:off x="533400" y="1333500"/>
            <a:ext cx="6496050" cy="36591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최종 파일: recordings/property-shot-gameplay-60s.mov</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재생 방법: QuickTime Player, VLC 또는 H.264 MOV를 지원하는 동영상 플레이어에서 연다.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목표 규격: H.264 MOV · 390×844 · 8fps · 480프레임 · 정확히 60.000초.</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구성 계약: 실제 stage_bouncy_01 브라우저 플레이 22초와 서로 다른 기능 장면 19개를 각 2초씩 이어 붙인다. 실제 텔레메트리로 열쇠·L1/L2·탄성 이전·다중 반사·비직행 클리어를 확인하고, 회전·반전 없는 identity transform과 마지막 여백 1.5–2.0초를 검사한다.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현재 상태: 19개 소스 Golden 68건과 SHA-256 freshness 검사를 통과한 뒤 최종 브라우저 재촬영과 합성을 완료했다. 실제 telemetry는 stage_bouncy_01, 48°·0.90, 벽 사용 4회, directClear=false, 콘솔 오류 0건과 ending slack 1.855초를 증명한다. 최종 MOV는 3,793,192바이트, SHA-256 6e9300750b23554a03fbf4e1029d67054d6f4ef3c521d596a5874fe67f761e7e다.</a:t>
            </a:r>
          </a:p>
        </p:txBody>
      </p:sp>
      <p:sp>
        <p:nvSpPr>
          <p:cNvPr id="6" name="bullets-534.16">
            <a:extLst xmlns:a="http://schemas.openxmlformats.org/drawingml/2006/main">
              <a:ext uri="{FF2B5EF4-FFF2-40B4-BE49-F238E27FC236}">
                <a16:creationId xmlns:a16="http://schemas.microsoft.com/office/drawing/2014/main" id="{A080E124-71BC-4010-9F34-9BEEFFC229F9}"/>
              </a:ext>
            </a:extLst>
          </p:cNvPr>
          <p:cNvSpPr>
            <a:spLocks xmlns:a="http://schemas.openxmlformats.org/drawingml/2006/main" noGrp="1"/>
          </p:cNvSpPr>
          <p:nvPr/>
        </p:nvSpPr>
        <p:spPr>
          <a:xfrm xmlns:a="http://schemas.openxmlformats.org/drawingml/2006/main">
            <a:off x="533400" y="5087874"/>
            <a:ext cx="6496050" cy="6537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공개 링크: 별도 영상 호스팅 링크는 제공하지 않는다. 저장소 비대화를 막기 위해 영상 파일은 프로젝트 폴더에만 두고 Git 추적에서 제외한다.</a:t>
            </a:r>
          </a:p>
        </p:txBody>
      </p:sp>
    </p:spTree>
    <p:extLst>
      <p:ext uri="{BB962C8B-B14F-4D97-AF65-F5344CB8AC3E}">
        <p14:creationId xmlns:p14="http://schemas.microsoft.com/office/powerpoint/2010/main" val="90521518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running-label">
            <a:extLst xmlns:a="http://schemas.openxmlformats.org/drawingml/2006/main">
              <a:ext uri="{FF2B5EF4-FFF2-40B4-BE49-F238E27FC236}">
                <a16:creationId xmlns:a16="http://schemas.microsoft.com/office/drawing/2014/main" id="{9262C96A-4459-4658-94EB-031C950C8E2F}"/>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BD58BF99-731E-4D7E-852D-573E3728AD4E}"/>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16</a:t>
            </a:r>
          </a:p>
        </p:txBody>
      </p:sp>
      <p:sp>
        <p:nvSpPr>
          <p:cNvPr id="3" name="header-rule">
            <a:extLst xmlns:a="http://schemas.openxmlformats.org/drawingml/2006/main">
              <a:ext uri="{FF2B5EF4-FFF2-40B4-BE49-F238E27FC236}">
                <a16:creationId xmlns:a16="http://schemas.microsoft.com/office/drawing/2014/main" id="{D8F059E9-81EF-413F-818B-0FE3059FBCB4}"/>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573497AF-3B1B-4771-A324-8270ED6DD3C7}"/>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8. 검증 결과</a:t>
            </a:r>
          </a:p>
        </p:txBody>
      </p:sp>
      <p:sp>
        <p:nvSpPr>
          <p:cNvPr id="5" name="table-cell-140-0-0">
            <a:extLst xmlns:a="http://schemas.openxmlformats.org/drawingml/2006/main">
              <a:ext uri="{FF2B5EF4-FFF2-40B4-BE49-F238E27FC236}">
                <a16:creationId xmlns:a16="http://schemas.microsoft.com/office/drawing/2014/main" id="{59C1554B-8649-4C89-929C-06E38C644F3F}"/>
              </a:ext>
            </a:extLst>
          </p:cNvPr>
          <p:cNvSpPr>
            <a:spLocks xmlns:a="http://schemas.openxmlformats.org/drawingml/2006/main" noGrp="1"/>
          </p:cNvSpPr>
          <p:nvPr/>
        </p:nvSpPr>
        <p:spPr>
          <a:xfrm xmlns:a="http://schemas.openxmlformats.org/drawingml/2006/main">
            <a:off x="533400" y="1333500"/>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6" name="table-text-140-0-0">
            <a:extLst xmlns:a="http://schemas.openxmlformats.org/drawingml/2006/main">
              <a:ext uri="{FF2B5EF4-FFF2-40B4-BE49-F238E27FC236}">
                <a16:creationId xmlns:a16="http://schemas.microsoft.com/office/drawing/2014/main" id="{D7CC76B7-0FC0-4C72-B8D3-75DE2FEA7413}"/>
              </a:ext>
            </a:extLst>
          </p:cNvPr>
          <p:cNvSpPr>
            <a:spLocks xmlns:a="http://schemas.openxmlformats.org/drawingml/2006/main" noGrp="1"/>
          </p:cNvSpPr>
          <p:nvPr/>
        </p:nvSpPr>
        <p:spPr>
          <a:xfrm xmlns:a="http://schemas.openxmlformats.org/drawingml/2006/main">
            <a:off x="619125" y="1400175"/>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항목</a:t>
            </a:r>
          </a:p>
        </p:txBody>
      </p:sp>
      <p:sp>
        <p:nvSpPr>
          <p:cNvPr id="7" name="table-cell-140-0-1">
            <a:extLst xmlns:a="http://schemas.openxmlformats.org/drawingml/2006/main">
              <a:ext uri="{FF2B5EF4-FFF2-40B4-BE49-F238E27FC236}">
                <a16:creationId xmlns:a16="http://schemas.microsoft.com/office/drawing/2014/main" id="{229AC98A-B3EE-41F8-9B8B-D86EEA2ADE29}"/>
              </a:ext>
            </a:extLst>
          </p:cNvPr>
          <p:cNvSpPr>
            <a:spLocks xmlns:a="http://schemas.openxmlformats.org/drawingml/2006/main" noGrp="1"/>
          </p:cNvSpPr>
          <p:nvPr/>
        </p:nvSpPr>
        <p:spPr>
          <a:xfrm xmlns:a="http://schemas.openxmlformats.org/drawingml/2006/main">
            <a:off x="3781425" y="1333500"/>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8" name="table-text-140-0-1">
            <a:extLst xmlns:a="http://schemas.openxmlformats.org/drawingml/2006/main">
              <a:ext uri="{FF2B5EF4-FFF2-40B4-BE49-F238E27FC236}">
                <a16:creationId xmlns:a16="http://schemas.microsoft.com/office/drawing/2014/main" id="{D7A1AE9F-8095-48CD-B724-7630EB173CBC}"/>
              </a:ext>
            </a:extLst>
          </p:cNvPr>
          <p:cNvSpPr>
            <a:spLocks xmlns:a="http://schemas.openxmlformats.org/drawingml/2006/main" noGrp="1"/>
          </p:cNvSpPr>
          <p:nvPr/>
        </p:nvSpPr>
        <p:spPr>
          <a:xfrm xmlns:a="http://schemas.openxmlformats.org/drawingml/2006/main">
            <a:off x="3867150" y="1400175"/>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결과</a:t>
            </a:r>
          </a:p>
        </p:txBody>
      </p:sp>
      <p:sp>
        <p:nvSpPr>
          <p:cNvPr id="9" name="table-cell-140-1-0">
            <a:extLst xmlns:a="http://schemas.openxmlformats.org/drawingml/2006/main">
              <a:ext uri="{FF2B5EF4-FFF2-40B4-BE49-F238E27FC236}">
                <a16:creationId xmlns:a16="http://schemas.microsoft.com/office/drawing/2014/main" id="{9807B533-B4C3-4483-AAD0-BA42FD3DFFD6}"/>
              </a:ext>
            </a:extLst>
          </p:cNvPr>
          <p:cNvSpPr>
            <a:spLocks xmlns:a="http://schemas.openxmlformats.org/drawingml/2006/main" noGrp="1"/>
          </p:cNvSpPr>
          <p:nvPr/>
        </p:nvSpPr>
        <p:spPr>
          <a:xfrm xmlns:a="http://schemas.openxmlformats.org/drawingml/2006/main">
            <a:off x="533400" y="1790700"/>
            <a:ext cx="3248025" cy="89154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0" name="table-text-140-1-0">
            <a:extLst xmlns:a="http://schemas.openxmlformats.org/drawingml/2006/main">
              <a:ext uri="{FF2B5EF4-FFF2-40B4-BE49-F238E27FC236}">
                <a16:creationId xmlns:a16="http://schemas.microsoft.com/office/drawing/2014/main" id="{0221E70B-2517-4D24-B592-9F35BB1C411B}"/>
              </a:ext>
            </a:extLst>
          </p:cNvPr>
          <p:cNvSpPr>
            <a:spLocks xmlns:a="http://schemas.openxmlformats.org/drawingml/2006/main" noGrp="1"/>
          </p:cNvSpPr>
          <p:nvPr/>
        </p:nvSpPr>
        <p:spPr>
          <a:xfrm xmlns:a="http://schemas.openxmlformats.org/drawingml/2006/main">
            <a:off x="619125" y="1857375"/>
            <a:ext cx="3076575" cy="7581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전체 테스트</a:t>
            </a:r>
          </a:p>
        </p:txBody>
      </p:sp>
      <p:sp>
        <p:nvSpPr>
          <p:cNvPr id="11" name="table-cell-140-1-1">
            <a:extLst xmlns:a="http://schemas.openxmlformats.org/drawingml/2006/main">
              <a:ext uri="{FF2B5EF4-FFF2-40B4-BE49-F238E27FC236}">
                <a16:creationId xmlns:a16="http://schemas.microsoft.com/office/drawing/2014/main" id="{2348FBC3-8111-4098-AD6E-F3474A6CBE37}"/>
              </a:ext>
            </a:extLst>
          </p:cNvPr>
          <p:cNvSpPr>
            <a:spLocks xmlns:a="http://schemas.openxmlformats.org/drawingml/2006/main" noGrp="1"/>
          </p:cNvSpPr>
          <p:nvPr/>
        </p:nvSpPr>
        <p:spPr>
          <a:xfrm xmlns:a="http://schemas.openxmlformats.org/drawingml/2006/main">
            <a:off x="3781425" y="1790700"/>
            <a:ext cx="3248025" cy="89154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2" name="table-text-140-1-1">
            <a:extLst xmlns:a="http://schemas.openxmlformats.org/drawingml/2006/main">
              <a:ext uri="{FF2B5EF4-FFF2-40B4-BE49-F238E27FC236}">
                <a16:creationId xmlns:a16="http://schemas.microsoft.com/office/drawing/2014/main" id="{76B50000-36B3-4A69-A13F-343027CEA7DE}"/>
              </a:ext>
            </a:extLst>
          </p:cNvPr>
          <p:cNvSpPr>
            <a:spLocks xmlns:a="http://schemas.openxmlformats.org/drawingml/2006/main" noGrp="1"/>
          </p:cNvSpPr>
          <p:nvPr/>
        </p:nvSpPr>
        <p:spPr>
          <a:xfrm xmlns:a="http://schemas.openxmlformats.org/drawingml/2006/main">
            <a:off x="3867150" y="1857375"/>
            <a:ext cx="3076575" cy="7581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742"/>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단 한 번의 직렬 실행 1,062건 중 997건 통과·65건 실패. 실패는 최종 하단 문구가 반영되지 않은 Golden 61건과 레벨 7·10 리플레이 fixture 계열이었다. 정상 화면 대조 후 Golden 영향권 67/67, 리플레이·결정론 9/9, 변경 기능 핵심 묶음 239/239를 표적 재검증했다.</a:t>
            </a:r>
          </a:p>
        </p:txBody>
      </p:sp>
      <p:sp>
        <p:nvSpPr>
          <p:cNvPr id="13" name="table-cell-140-2-0">
            <a:extLst xmlns:a="http://schemas.openxmlformats.org/drawingml/2006/main">
              <a:ext uri="{FF2B5EF4-FFF2-40B4-BE49-F238E27FC236}">
                <a16:creationId xmlns:a16="http://schemas.microsoft.com/office/drawing/2014/main" id="{2FDD3487-9A73-49E2-8407-D6ED06991AB3}"/>
              </a:ext>
            </a:extLst>
          </p:cNvPr>
          <p:cNvSpPr>
            <a:spLocks xmlns:a="http://schemas.openxmlformats.org/drawingml/2006/main" noGrp="1"/>
          </p:cNvSpPr>
          <p:nvPr/>
        </p:nvSpPr>
        <p:spPr>
          <a:xfrm xmlns:a="http://schemas.openxmlformats.org/drawingml/2006/main">
            <a:off x="533400" y="2682240"/>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4" name="table-text-140-2-0">
            <a:extLst xmlns:a="http://schemas.openxmlformats.org/drawingml/2006/main">
              <a:ext uri="{FF2B5EF4-FFF2-40B4-BE49-F238E27FC236}">
                <a16:creationId xmlns:a16="http://schemas.microsoft.com/office/drawing/2014/main" id="{CE2AA52C-25AD-469F-A637-376F7CA5CEC1}"/>
              </a:ext>
            </a:extLst>
          </p:cNvPr>
          <p:cNvSpPr>
            <a:spLocks xmlns:a="http://schemas.openxmlformats.org/drawingml/2006/main" noGrp="1"/>
          </p:cNvSpPr>
          <p:nvPr/>
        </p:nvSpPr>
        <p:spPr>
          <a:xfrm xmlns:a="http://schemas.openxmlformats.org/drawingml/2006/main">
            <a:off x="619125" y="274891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정적 분석</a:t>
            </a:r>
          </a:p>
        </p:txBody>
      </p:sp>
      <p:sp>
        <p:nvSpPr>
          <p:cNvPr id="15" name="table-cell-140-2-1">
            <a:extLst xmlns:a="http://schemas.openxmlformats.org/drawingml/2006/main">
              <a:ext uri="{FF2B5EF4-FFF2-40B4-BE49-F238E27FC236}">
                <a16:creationId xmlns:a16="http://schemas.microsoft.com/office/drawing/2014/main" id="{B0E54BF2-EF61-4B05-AA98-4658D6E0F47D}"/>
              </a:ext>
            </a:extLst>
          </p:cNvPr>
          <p:cNvSpPr>
            <a:spLocks xmlns:a="http://schemas.openxmlformats.org/drawingml/2006/main" noGrp="1"/>
          </p:cNvSpPr>
          <p:nvPr/>
        </p:nvSpPr>
        <p:spPr>
          <a:xfrm xmlns:a="http://schemas.openxmlformats.org/drawingml/2006/main">
            <a:off x="3781425" y="2682240"/>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6" name="table-text-140-2-1">
            <a:extLst xmlns:a="http://schemas.openxmlformats.org/drawingml/2006/main">
              <a:ext uri="{FF2B5EF4-FFF2-40B4-BE49-F238E27FC236}">
                <a16:creationId xmlns:a16="http://schemas.microsoft.com/office/drawing/2014/main" id="{EC09A95B-D61A-4F14-A258-CEFC21D8DDD1}"/>
              </a:ext>
            </a:extLst>
          </p:cNvPr>
          <p:cNvSpPr>
            <a:spLocks xmlns:a="http://schemas.openxmlformats.org/drawingml/2006/main" noGrp="1"/>
          </p:cNvSpPr>
          <p:nvPr/>
        </p:nvSpPr>
        <p:spPr>
          <a:xfrm xmlns:a="http://schemas.openxmlformats.org/drawingml/2006/main">
            <a:off x="3867150" y="274891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flutter analyze — 문제 0건</a:t>
            </a:r>
          </a:p>
        </p:txBody>
      </p:sp>
      <p:sp>
        <p:nvSpPr>
          <p:cNvPr id="17" name="table-cell-140-3-0">
            <a:extLst xmlns:a="http://schemas.openxmlformats.org/drawingml/2006/main">
              <a:ext uri="{FF2B5EF4-FFF2-40B4-BE49-F238E27FC236}">
                <a16:creationId xmlns:a16="http://schemas.microsoft.com/office/drawing/2014/main" id="{DE6DB360-C64D-44C8-96DB-4E8665207234}"/>
              </a:ext>
            </a:extLst>
          </p:cNvPr>
          <p:cNvSpPr>
            <a:spLocks xmlns:a="http://schemas.openxmlformats.org/drawingml/2006/main" noGrp="1"/>
          </p:cNvSpPr>
          <p:nvPr/>
        </p:nvSpPr>
        <p:spPr>
          <a:xfrm xmlns:a="http://schemas.openxmlformats.org/drawingml/2006/main">
            <a:off x="533400" y="3082290"/>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8" name="table-text-140-3-0">
            <a:extLst xmlns:a="http://schemas.openxmlformats.org/drawingml/2006/main">
              <a:ext uri="{FF2B5EF4-FFF2-40B4-BE49-F238E27FC236}">
                <a16:creationId xmlns:a16="http://schemas.microsoft.com/office/drawing/2014/main" id="{B4827B50-4CC0-4C22-B1D0-AEBABC95C543}"/>
              </a:ext>
            </a:extLst>
          </p:cNvPr>
          <p:cNvSpPr>
            <a:spLocks xmlns:a="http://schemas.openxmlformats.org/drawingml/2006/main" noGrp="1"/>
          </p:cNvSpPr>
          <p:nvPr/>
        </p:nvSpPr>
        <p:spPr>
          <a:xfrm xmlns:a="http://schemas.openxmlformats.org/drawingml/2006/main">
            <a:off x="619125" y="314896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Web 출시 빌드</a:t>
            </a:r>
          </a:p>
        </p:txBody>
      </p:sp>
      <p:sp>
        <p:nvSpPr>
          <p:cNvPr id="19" name="table-cell-140-3-1">
            <a:extLst xmlns:a="http://schemas.openxmlformats.org/drawingml/2006/main">
              <a:ext uri="{FF2B5EF4-FFF2-40B4-BE49-F238E27FC236}">
                <a16:creationId xmlns:a16="http://schemas.microsoft.com/office/drawing/2014/main" id="{874ADF0A-9701-4777-A061-47441D24A825}"/>
              </a:ext>
            </a:extLst>
          </p:cNvPr>
          <p:cNvSpPr>
            <a:spLocks xmlns:a="http://schemas.openxmlformats.org/drawingml/2006/main" noGrp="1"/>
          </p:cNvSpPr>
          <p:nvPr/>
        </p:nvSpPr>
        <p:spPr>
          <a:xfrm xmlns:a="http://schemas.openxmlformats.org/drawingml/2006/main">
            <a:off x="3781425" y="3082290"/>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0" name="table-text-140-3-1">
            <a:extLst xmlns:a="http://schemas.openxmlformats.org/drawingml/2006/main">
              <a:ext uri="{FF2B5EF4-FFF2-40B4-BE49-F238E27FC236}">
                <a16:creationId xmlns:a16="http://schemas.microsoft.com/office/drawing/2014/main" id="{7B5E01D0-57E8-47F7-9DF1-D756A12FCA21}"/>
              </a:ext>
            </a:extLst>
          </p:cNvPr>
          <p:cNvSpPr>
            <a:spLocks xmlns:a="http://schemas.openxmlformats.org/drawingml/2006/main" noGrp="1"/>
          </p:cNvSpPr>
          <p:nvPr/>
        </p:nvSpPr>
        <p:spPr>
          <a:xfrm xmlns:a="http://schemas.openxmlformats.org/drawingml/2006/main">
            <a:off x="3867150" y="314896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596"/>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flutter build web --release --base-href /Property_shot/ — 통과</a:t>
            </a:r>
          </a:p>
        </p:txBody>
      </p:sp>
      <p:sp>
        <p:nvSpPr>
          <p:cNvPr id="21" name="table-cell-140-4-0">
            <a:extLst xmlns:a="http://schemas.openxmlformats.org/drawingml/2006/main">
              <a:ext uri="{FF2B5EF4-FFF2-40B4-BE49-F238E27FC236}">
                <a16:creationId xmlns:a16="http://schemas.microsoft.com/office/drawing/2014/main" id="{E5CF849A-136D-4F6B-9D37-3CF86710030E}"/>
              </a:ext>
            </a:extLst>
          </p:cNvPr>
          <p:cNvSpPr>
            <a:spLocks xmlns:a="http://schemas.openxmlformats.org/drawingml/2006/main" noGrp="1"/>
          </p:cNvSpPr>
          <p:nvPr/>
        </p:nvSpPr>
        <p:spPr>
          <a:xfrm xmlns:a="http://schemas.openxmlformats.org/drawingml/2006/main">
            <a:off x="533400" y="3482340"/>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2" name="table-text-140-4-0">
            <a:extLst xmlns:a="http://schemas.openxmlformats.org/drawingml/2006/main">
              <a:ext uri="{FF2B5EF4-FFF2-40B4-BE49-F238E27FC236}">
                <a16:creationId xmlns:a16="http://schemas.microsoft.com/office/drawing/2014/main" id="{A3E52583-AB81-4599-9DCD-CBDC8FFA2E1A}"/>
              </a:ext>
            </a:extLst>
          </p:cNvPr>
          <p:cNvSpPr>
            <a:spLocks xmlns:a="http://schemas.openxmlformats.org/drawingml/2006/main" noGrp="1"/>
          </p:cNvSpPr>
          <p:nvPr/>
        </p:nvSpPr>
        <p:spPr>
          <a:xfrm xmlns:a="http://schemas.openxmlformats.org/drawingml/2006/main">
            <a:off x="619125" y="354901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Android 출시 빌드</a:t>
            </a:r>
          </a:p>
        </p:txBody>
      </p:sp>
      <p:sp>
        <p:nvSpPr>
          <p:cNvPr id="23" name="table-cell-140-4-1">
            <a:extLst xmlns:a="http://schemas.openxmlformats.org/drawingml/2006/main">
              <a:ext uri="{FF2B5EF4-FFF2-40B4-BE49-F238E27FC236}">
                <a16:creationId xmlns:a16="http://schemas.microsoft.com/office/drawing/2014/main" id="{50ED9448-371A-455C-9147-020ED7B9F736}"/>
              </a:ext>
            </a:extLst>
          </p:cNvPr>
          <p:cNvSpPr>
            <a:spLocks xmlns:a="http://schemas.openxmlformats.org/drawingml/2006/main" noGrp="1"/>
          </p:cNvSpPr>
          <p:nvPr/>
        </p:nvSpPr>
        <p:spPr>
          <a:xfrm xmlns:a="http://schemas.openxmlformats.org/drawingml/2006/main">
            <a:off x="3781425" y="3482340"/>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4" name="table-text-140-4-1">
            <a:extLst xmlns:a="http://schemas.openxmlformats.org/drawingml/2006/main">
              <a:ext uri="{FF2B5EF4-FFF2-40B4-BE49-F238E27FC236}">
                <a16:creationId xmlns:a16="http://schemas.microsoft.com/office/drawing/2014/main" id="{B78F814E-49CA-490F-9458-CDFA0F795855}"/>
              </a:ext>
            </a:extLst>
          </p:cNvPr>
          <p:cNvSpPr>
            <a:spLocks xmlns:a="http://schemas.openxmlformats.org/drawingml/2006/main" noGrp="1"/>
          </p:cNvSpPr>
          <p:nvPr/>
        </p:nvSpPr>
        <p:spPr>
          <a:xfrm xmlns:a="http://schemas.openxmlformats.org/drawingml/2006/main">
            <a:off x="3867150" y="3549015"/>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454"/>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flutter build apk --release — 통과, 63,261,407바이트(약 60.33MiB)</a:t>
            </a:r>
          </a:p>
        </p:txBody>
      </p:sp>
      <p:sp>
        <p:nvSpPr>
          <p:cNvPr id="25" name="table-cell-140-5-0">
            <a:extLst xmlns:a="http://schemas.openxmlformats.org/drawingml/2006/main">
              <a:ext uri="{FF2B5EF4-FFF2-40B4-BE49-F238E27FC236}">
                <a16:creationId xmlns:a16="http://schemas.microsoft.com/office/drawing/2014/main" id="{A2490603-F023-4995-A204-326BA022030B}"/>
              </a:ext>
            </a:extLst>
          </p:cNvPr>
          <p:cNvSpPr>
            <a:spLocks xmlns:a="http://schemas.openxmlformats.org/drawingml/2006/main" noGrp="1"/>
          </p:cNvSpPr>
          <p:nvPr/>
        </p:nvSpPr>
        <p:spPr>
          <a:xfrm xmlns:a="http://schemas.openxmlformats.org/drawingml/2006/main">
            <a:off x="533400" y="3882390"/>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6" name="table-text-140-5-0">
            <a:extLst xmlns:a="http://schemas.openxmlformats.org/drawingml/2006/main">
              <a:ext uri="{FF2B5EF4-FFF2-40B4-BE49-F238E27FC236}">
                <a16:creationId xmlns:a16="http://schemas.microsoft.com/office/drawing/2014/main" id="{CACD7CB9-FC36-404D-87CA-F71168E3D7C6}"/>
              </a:ext>
            </a:extLst>
          </p:cNvPr>
          <p:cNvSpPr>
            <a:spLocks xmlns:a="http://schemas.openxmlformats.org/drawingml/2006/main" noGrp="1"/>
          </p:cNvSpPr>
          <p:nvPr/>
        </p:nvSpPr>
        <p:spPr>
          <a:xfrm xmlns:a="http://schemas.openxmlformats.org/drawingml/2006/main">
            <a:off x="619125" y="3949065"/>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플레이 영상</a:t>
            </a:r>
          </a:p>
        </p:txBody>
      </p:sp>
      <p:sp>
        <p:nvSpPr>
          <p:cNvPr id="27" name="table-cell-140-5-1">
            <a:extLst xmlns:a="http://schemas.openxmlformats.org/drawingml/2006/main">
              <a:ext uri="{FF2B5EF4-FFF2-40B4-BE49-F238E27FC236}">
                <a16:creationId xmlns:a16="http://schemas.microsoft.com/office/drawing/2014/main" id="{51BE2C0E-7443-4240-B26F-CAAABBCC6E61}"/>
              </a:ext>
            </a:extLst>
          </p:cNvPr>
          <p:cNvSpPr>
            <a:spLocks xmlns:a="http://schemas.openxmlformats.org/drawingml/2006/main" noGrp="1"/>
          </p:cNvSpPr>
          <p:nvPr/>
        </p:nvSpPr>
        <p:spPr>
          <a:xfrm xmlns:a="http://schemas.openxmlformats.org/drawingml/2006/main">
            <a:off x="3781425" y="3882390"/>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8" name="table-text-140-5-1">
            <a:extLst xmlns:a="http://schemas.openxmlformats.org/drawingml/2006/main">
              <a:ext uri="{FF2B5EF4-FFF2-40B4-BE49-F238E27FC236}">
                <a16:creationId xmlns:a16="http://schemas.microsoft.com/office/drawing/2014/main" id="{240B8C97-6D83-43B5-BDDD-0601243E73EE}"/>
              </a:ext>
            </a:extLst>
          </p:cNvPr>
          <p:cNvSpPr>
            <a:spLocks xmlns:a="http://schemas.openxmlformats.org/drawingml/2006/main" noGrp="1"/>
          </p:cNvSpPr>
          <p:nvPr/>
        </p:nvSpPr>
        <p:spPr>
          <a:xfrm xmlns:a="http://schemas.openxmlformats.org/drawingml/2006/main">
            <a:off x="3867150" y="3949065"/>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793"/>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실제 telemetry attestation·소스 freshness·60.000초 H.264/avc1·390×844·480프레임·identity transform·대표 27프레임 시각 검사 통과</a:t>
            </a:r>
          </a:p>
        </p:txBody>
      </p:sp>
      <p:sp>
        <p:nvSpPr>
          <p:cNvPr id="29" name="table-cell-140-6-0">
            <a:extLst xmlns:a="http://schemas.openxmlformats.org/drawingml/2006/main">
              <a:ext uri="{FF2B5EF4-FFF2-40B4-BE49-F238E27FC236}">
                <a16:creationId xmlns:a16="http://schemas.microsoft.com/office/drawing/2014/main" id="{E4E971BA-E4FE-4040-82CF-702A2635F8FF}"/>
              </a:ext>
            </a:extLst>
          </p:cNvPr>
          <p:cNvSpPr>
            <a:spLocks xmlns:a="http://schemas.openxmlformats.org/drawingml/2006/main" noGrp="1"/>
          </p:cNvSpPr>
          <p:nvPr/>
        </p:nvSpPr>
        <p:spPr>
          <a:xfrm xmlns:a="http://schemas.openxmlformats.org/drawingml/2006/main">
            <a:off x="533400" y="4413885"/>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0" name="table-text-140-6-0">
            <a:extLst xmlns:a="http://schemas.openxmlformats.org/drawingml/2006/main">
              <a:ext uri="{FF2B5EF4-FFF2-40B4-BE49-F238E27FC236}">
                <a16:creationId xmlns:a16="http://schemas.microsoft.com/office/drawing/2014/main" id="{CB5BEC06-6F4D-40B8-B21C-B44883C68924}"/>
              </a:ext>
            </a:extLst>
          </p:cNvPr>
          <p:cNvSpPr>
            <a:spLocks xmlns:a="http://schemas.openxmlformats.org/drawingml/2006/main" noGrp="1"/>
          </p:cNvSpPr>
          <p:nvPr/>
        </p:nvSpPr>
        <p:spPr>
          <a:xfrm xmlns:a="http://schemas.openxmlformats.org/drawingml/2006/main">
            <a:off x="619125" y="4480560"/>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화면 회귀</a:t>
            </a:r>
          </a:p>
        </p:txBody>
      </p:sp>
      <p:sp>
        <p:nvSpPr>
          <p:cNvPr id="31" name="table-cell-140-6-1">
            <a:extLst xmlns:a="http://schemas.openxmlformats.org/drawingml/2006/main">
              <a:ext uri="{FF2B5EF4-FFF2-40B4-BE49-F238E27FC236}">
                <a16:creationId xmlns:a16="http://schemas.microsoft.com/office/drawing/2014/main" id="{1E23EC2F-030E-4F99-971B-282E2DD37F60}"/>
              </a:ext>
            </a:extLst>
          </p:cNvPr>
          <p:cNvSpPr>
            <a:spLocks xmlns:a="http://schemas.openxmlformats.org/drawingml/2006/main" noGrp="1"/>
          </p:cNvSpPr>
          <p:nvPr/>
        </p:nvSpPr>
        <p:spPr>
          <a:xfrm xmlns:a="http://schemas.openxmlformats.org/drawingml/2006/main">
            <a:off x="3781425" y="4413885"/>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2" name="table-text-140-6-1">
            <a:extLst xmlns:a="http://schemas.openxmlformats.org/drawingml/2006/main">
              <a:ext uri="{FF2B5EF4-FFF2-40B4-BE49-F238E27FC236}">
                <a16:creationId xmlns:a16="http://schemas.microsoft.com/office/drawing/2014/main" id="{B0E3174C-009F-49D6-A907-1C2802C7FD78}"/>
              </a:ext>
            </a:extLst>
          </p:cNvPr>
          <p:cNvSpPr>
            <a:spLocks xmlns:a="http://schemas.openxmlformats.org/drawingml/2006/main" noGrp="1"/>
          </p:cNvSpPr>
          <p:nvPr/>
        </p:nvSpPr>
        <p:spPr>
          <a:xfrm xmlns:a="http://schemas.openxmlformats.org/drawingml/2006/main">
            <a:off x="3867150" y="4480560"/>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실패 Golden 61장을 실제 렌더와 대조해 하단 단일행 문구 변경만 확인하고 67/67 표적 재통과</a:t>
            </a:r>
          </a:p>
        </p:txBody>
      </p:sp>
      <p:sp>
        <p:nvSpPr>
          <p:cNvPr id="33" name="table-cell-140-7-0">
            <a:extLst xmlns:a="http://schemas.openxmlformats.org/drawingml/2006/main">
              <a:ext uri="{FF2B5EF4-FFF2-40B4-BE49-F238E27FC236}">
                <a16:creationId xmlns:a16="http://schemas.microsoft.com/office/drawing/2014/main" id="{E2C6CBF0-1A82-448E-9D39-A3570497C578}"/>
              </a:ext>
            </a:extLst>
          </p:cNvPr>
          <p:cNvSpPr>
            <a:spLocks xmlns:a="http://schemas.openxmlformats.org/drawingml/2006/main" noGrp="1"/>
          </p:cNvSpPr>
          <p:nvPr/>
        </p:nvSpPr>
        <p:spPr>
          <a:xfrm xmlns:a="http://schemas.openxmlformats.org/drawingml/2006/main">
            <a:off x="533400" y="4945380"/>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4" name="table-text-140-7-0">
            <a:extLst xmlns:a="http://schemas.openxmlformats.org/drawingml/2006/main">
              <a:ext uri="{FF2B5EF4-FFF2-40B4-BE49-F238E27FC236}">
                <a16:creationId xmlns:a16="http://schemas.microsoft.com/office/drawing/2014/main" id="{04E7A151-ABC7-46DB-8E7B-3A009CE1A732}"/>
              </a:ext>
            </a:extLst>
          </p:cNvPr>
          <p:cNvSpPr>
            <a:spLocks xmlns:a="http://schemas.openxmlformats.org/drawingml/2006/main" noGrp="1"/>
          </p:cNvSpPr>
          <p:nvPr/>
        </p:nvSpPr>
        <p:spPr>
          <a:xfrm xmlns:a="http://schemas.openxmlformats.org/drawingml/2006/main">
            <a:off x="619125" y="5012055"/>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기믹 우위</a:t>
            </a:r>
          </a:p>
        </p:txBody>
      </p:sp>
      <p:sp>
        <p:nvSpPr>
          <p:cNvPr id="35" name="table-cell-140-7-1">
            <a:extLst xmlns:a="http://schemas.openxmlformats.org/drawingml/2006/main">
              <a:ext uri="{FF2B5EF4-FFF2-40B4-BE49-F238E27FC236}">
                <a16:creationId xmlns:a16="http://schemas.microsoft.com/office/drawing/2014/main" id="{3DF406EE-D4E4-43CF-B24D-A368017DD90A}"/>
              </a:ext>
            </a:extLst>
          </p:cNvPr>
          <p:cNvSpPr>
            <a:spLocks xmlns:a="http://schemas.openxmlformats.org/drawingml/2006/main" noGrp="1"/>
          </p:cNvSpPr>
          <p:nvPr/>
        </p:nvSpPr>
        <p:spPr>
          <a:xfrm xmlns:a="http://schemas.openxmlformats.org/drawingml/2006/main">
            <a:off x="3781425" y="4945380"/>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6" name="table-text-140-7-1">
            <a:extLst xmlns:a="http://schemas.openxmlformats.org/drawingml/2006/main">
              <a:ext uri="{FF2B5EF4-FFF2-40B4-BE49-F238E27FC236}">
                <a16:creationId xmlns:a16="http://schemas.microsoft.com/office/drawing/2014/main" id="{3DB37353-F4FE-4BF5-84DF-B5E1BCE9AC98}"/>
              </a:ext>
            </a:extLst>
          </p:cNvPr>
          <p:cNvSpPr>
            <a:spLocks xmlns:a="http://schemas.openxmlformats.org/drawingml/2006/main" noGrp="1"/>
          </p:cNvSpPr>
          <p:nvPr/>
        </p:nvSpPr>
        <p:spPr>
          <a:xfrm xmlns:a="http://schemas.openxmlformats.org/drawingml/2006/main">
            <a:off x="3867150" y="5012055"/>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단발 32패턴 각각 ≥1.40배, 7단계 합계 1.92배, 8단계 연쇄 점수 1.48–1.74배, 10단계 합계 36.67배</a:t>
            </a:r>
          </a:p>
        </p:txBody>
      </p:sp>
      <p:sp>
        <p:nvSpPr>
          <p:cNvPr id="37" name="table-cell-140-8-0">
            <a:extLst xmlns:a="http://schemas.openxmlformats.org/drawingml/2006/main">
              <a:ext uri="{FF2B5EF4-FFF2-40B4-BE49-F238E27FC236}">
                <a16:creationId xmlns:a16="http://schemas.microsoft.com/office/drawing/2014/main" id="{624E0D8A-EE04-4D90-ADBC-4B6F140DA366}"/>
              </a:ext>
            </a:extLst>
          </p:cNvPr>
          <p:cNvSpPr>
            <a:spLocks xmlns:a="http://schemas.openxmlformats.org/drawingml/2006/main" noGrp="1"/>
          </p:cNvSpPr>
          <p:nvPr/>
        </p:nvSpPr>
        <p:spPr>
          <a:xfrm xmlns:a="http://schemas.openxmlformats.org/drawingml/2006/main">
            <a:off x="533400" y="5476875"/>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8" name="table-text-140-8-0">
            <a:extLst xmlns:a="http://schemas.openxmlformats.org/drawingml/2006/main">
              <a:ext uri="{FF2B5EF4-FFF2-40B4-BE49-F238E27FC236}">
                <a16:creationId xmlns:a16="http://schemas.microsoft.com/office/drawing/2014/main" id="{5E0943EF-4C99-4612-B320-CEB7AF538B82}"/>
              </a:ext>
            </a:extLst>
          </p:cNvPr>
          <p:cNvSpPr>
            <a:spLocks xmlns:a="http://schemas.openxmlformats.org/drawingml/2006/main" noGrp="1"/>
          </p:cNvSpPr>
          <p:nvPr/>
        </p:nvSpPr>
        <p:spPr>
          <a:xfrm xmlns:a="http://schemas.openxmlformats.org/drawingml/2006/main">
            <a:off x="619125" y="5543550"/>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독립 감사</a:t>
            </a:r>
          </a:p>
        </p:txBody>
      </p:sp>
      <p:sp>
        <p:nvSpPr>
          <p:cNvPr id="39" name="table-cell-140-8-1">
            <a:extLst xmlns:a="http://schemas.openxmlformats.org/drawingml/2006/main">
              <a:ext uri="{FF2B5EF4-FFF2-40B4-BE49-F238E27FC236}">
                <a16:creationId xmlns:a16="http://schemas.microsoft.com/office/drawing/2014/main" id="{529FEAB9-2A03-4664-B2BC-023D2BAC4631}"/>
              </a:ext>
            </a:extLst>
          </p:cNvPr>
          <p:cNvSpPr>
            <a:spLocks xmlns:a="http://schemas.openxmlformats.org/drawingml/2006/main" noGrp="1"/>
          </p:cNvSpPr>
          <p:nvPr/>
        </p:nvSpPr>
        <p:spPr>
          <a:xfrm xmlns:a="http://schemas.openxmlformats.org/drawingml/2006/main">
            <a:off x="3781425" y="5476875"/>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0" name="table-text-140-8-1">
            <a:extLst xmlns:a="http://schemas.openxmlformats.org/drawingml/2006/main">
              <a:ext uri="{FF2B5EF4-FFF2-40B4-BE49-F238E27FC236}">
                <a16:creationId xmlns:a16="http://schemas.microsoft.com/office/drawing/2014/main" id="{19661BCD-417E-40FE-A7FF-F7F603AE7386}"/>
              </a:ext>
            </a:extLst>
          </p:cNvPr>
          <p:cNvSpPr>
            <a:spLocks xmlns:a="http://schemas.openxmlformats.org/drawingml/2006/main" noGrp="1"/>
          </p:cNvSpPr>
          <p:nvPr/>
        </p:nvSpPr>
        <p:spPr>
          <a:xfrm xmlns:a="http://schemas.openxmlformats.org/drawingml/2006/main">
            <a:off x="3867150" y="5543550"/>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코드·레벨·영상 핵심 감사 통과. 최종 문서·배포 감사는 최신 산출물 재생성 및 Pages 배포 뒤 확정</a:t>
            </a:r>
          </a:p>
        </p:txBody>
      </p:sp>
    </p:spTree>
    <p:extLst>
      <p:ext uri="{BB962C8B-B14F-4D97-AF65-F5344CB8AC3E}">
        <p14:creationId xmlns:p14="http://schemas.microsoft.com/office/powerpoint/2010/main" val="182394397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unning-label">
            <a:extLst xmlns:a="http://schemas.openxmlformats.org/drawingml/2006/main">
              <a:ext uri="{FF2B5EF4-FFF2-40B4-BE49-F238E27FC236}">
                <a16:creationId xmlns:a16="http://schemas.microsoft.com/office/drawing/2014/main" id="{9AE041BA-ECE2-42AA-9FFC-11C1CBC6BE04}"/>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4BE39FE6-E0CE-416F-978C-4C85009F4828}"/>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17</a:t>
            </a:r>
          </a:p>
        </p:txBody>
      </p:sp>
      <p:sp>
        <p:nvSpPr>
          <p:cNvPr id="3" name="header-rule">
            <a:extLst xmlns:a="http://schemas.openxmlformats.org/drawingml/2006/main">
              <a:ext uri="{FF2B5EF4-FFF2-40B4-BE49-F238E27FC236}">
                <a16:creationId xmlns:a16="http://schemas.microsoft.com/office/drawing/2014/main" id="{E68AF2C2-756F-4B22-A8F2-9DCF05BFBD78}"/>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3980073E-2EB5-486D-A3D7-CF33498E684E}"/>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9. 알려진 제한</a:t>
            </a:r>
          </a:p>
        </p:txBody>
      </p:sp>
      <p:sp>
        <p:nvSpPr>
          <p:cNvPr id="5" name="bullets-140">
            <a:extLst xmlns:a="http://schemas.openxmlformats.org/drawingml/2006/main">
              <a:ext uri="{FF2B5EF4-FFF2-40B4-BE49-F238E27FC236}">
                <a16:creationId xmlns:a16="http://schemas.microsoft.com/office/drawing/2014/main" id="{DFF7D150-F2BD-4653-9568-352E9299F766}"/>
              </a:ext>
            </a:extLst>
          </p:cNvPr>
          <p:cNvSpPr>
            <a:spLocks xmlns:a="http://schemas.openxmlformats.org/drawingml/2006/main" noGrp="1"/>
          </p:cNvSpPr>
          <p:nvPr/>
        </p:nvSpPr>
        <p:spPr>
          <a:xfrm xmlns:a="http://schemas.openxmlformats.org/drawingml/2006/main">
            <a:off x="533400" y="1333500"/>
            <a:ext cx="6496050" cy="21549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iPhone/iPad 실기기 성능·터치 체감과 App Store 제출은 이번 범위에서 검증하지 않았다.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외부 사용자 대상 정식 30초/5분 플레이테스트는 별도 모집이 필요하다.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생성형 이미지 애셋은 출처·해시를 기록했으나 상업 공개 전 최종 권리 검토가 필요하다.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최신 변경판의 GitHub Pages 배포와 최종 커밋·푸시는 이 문서 재생성·감사 뒤 수행한다. 이 문서 생성 시점의 공개 링크는 이전 배포본이다.</a:t>
            </a:r>
          </a:p>
        </p:txBody>
      </p:sp>
    </p:spTree>
    <p:extLst>
      <p:ext uri="{BB962C8B-B14F-4D97-AF65-F5344CB8AC3E}">
        <p14:creationId xmlns:p14="http://schemas.microsoft.com/office/powerpoint/2010/main" val="6012367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2026-08-10T08:57:50.7290000Z</dcterms:created>
  <dcterms:modified xsi:type="dcterms:W3CDTF">2026-08-10T08:57:50.7290000Z</dcterms:modified>
</coreProperties>
</file>