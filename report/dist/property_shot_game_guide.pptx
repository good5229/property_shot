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c52687abb744d38" /><Relationship Type="http://schemas.openxmlformats.org/officeDocument/2006/relationships/extended-properties" Target="/docProps/app.xml" Id="R5f9e0b21d3974162" /><Relationship Type="http://schemas.openxmlformats.org/officeDocument/2006/relationships/officeDocument" Target="/ppt/presentation.xml" Id="R06f26aaef8b44220" /></Relationships>
</file>

<file path=ppt/presentation.xml><?xml version="1.0" encoding="utf-8"?>
<p:presentation xmlns:p="http://schemas.openxmlformats.org/presentationml/2006/main">
  <p:sldMasterIdLst>
    <p:sldMasterId xmlns:r="http://schemas.openxmlformats.org/officeDocument/2006/relationships" id="2147483648" r:id="Rfdacde8612e443c7"/>
  </p:sldMasterIdLst>
  <p:notesMasterIdLst>
    <p:notesMasterId xmlns:r="http://schemas.openxmlformats.org/officeDocument/2006/relationships" r:id="Rdf4467e972ec44a8"/>
  </p:notesMasterIdLst>
  <p:sldIdLst>
    <p:sldId xmlns:r="http://schemas.openxmlformats.org/officeDocument/2006/relationships" id="256" r:id="Rbf6e44e90e714d16"/>
    <p:sldId xmlns:r="http://schemas.openxmlformats.org/officeDocument/2006/relationships" id="257" r:id="R00609143ebc143d4"/>
    <p:sldId xmlns:r="http://schemas.openxmlformats.org/officeDocument/2006/relationships" id="258" r:id="R252bbe06f9a54c26"/>
    <p:sldId xmlns:r="http://schemas.openxmlformats.org/officeDocument/2006/relationships" id="259" r:id="R755bc1dd3086473e"/>
    <p:sldId xmlns:r="http://schemas.openxmlformats.org/officeDocument/2006/relationships" id="260" r:id="R88a68a42bd4b421a"/>
    <p:sldId xmlns:r="http://schemas.openxmlformats.org/officeDocument/2006/relationships" id="261" r:id="R2081dc0d16874b76"/>
    <p:sldId xmlns:r="http://schemas.openxmlformats.org/officeDocument/2006/relationships" id="262" r:id="R66871013f4544b1a"/>
    <p:sldId xmlns:r="http://schemas.openxmlformats.org/officeDocument/2006/relationships" id="263" r:id="R155bb32438ea490f"/>
    <p:sldId xmlns:r="http://schemas.openxmlformats.org/officeDocument/2006/relationships" id="264" r:id="R3094e9b3d9c341e4"/>
    <p:sldId xmlns:r="http://schemas.openxmlformats.org/officeDocument/2006/relationships" id="265" r:id="Rdfb0d7dae9d04872"/>
    <p:sldId xmlns:r="http://schemas.openxmlformats.org/officeDocument/2006/relationships" id="266" r:id="Ra4b6af57bf10463d"/>
    <p:sldId xmlns:r="http://schemas.openxmlformats.org/officeDocument/2006/relationships" id="267" r:id="Rb7a4a444c74b4e3d"/>
    <p:sldId xmlns:r="http://schemas.openxmlformats.org/officeDocument/2006/relationships" id="268" r:id="Rdfa0a6d1ec0e47da"/>
    <p:sldId xmlns:r="http://schemas.openxmlformats.org/officeDocument/2006/relationships" id="269" r:id="R696a953c37094de9"/>
    <p:sldId xmlns:r="http://schemas.openxmlformats.org/officeDocument/2006/relationships" id="270" r:id="R6accdc3b59d54100"/>
    <p:sldId xmlns:r="http://schemas.openxmlformats.org/officeDocument/2006/relationships" id="271" r:id="R523871870a694067"/>
    <p:sldId xmlns:r="http://schemas.openxmlformats.org/officeDocument/2006/relationships" id="272" r:id="Ra53504fa32ab4396"/>
  </p:sldIdLst>
  <p:sldSz cx="7562850" cy="10696575"/>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db44c49a1bf4235" /><Relationship Type="http://schemas.openxmlformats.org/officeDocument/2006/relationships/slideMaster" Target="/ppt/slideMasters/slideMaster1.xml" Id="Rfdacde8612e443c7" /><Relationship Type="http://schemas.openxmlformats.org/officeDocument/2006/relationships/notesMaster" Target="/ppt/notesMasters/notesMaster1.xml" Id="Rdf4467e972ec44a8" /><Relationship Type="http://schemas.openxmlformats.org/officeDocument/2006/relationships/presProps" Target="/ppt/presProps.xml" Id="R5e455c6683994332" /><Relationship Type="http://schemas.openxmlformats.org/officeDocument/2006/relationships/tableStyles" Target="/ppt/tableStyles.xml" Id="R0e57cde88c574bcb" /><Relationship Type="http://schemas.openxmlformats.org/officeDocument/2006/relationships/slide" Target="/ppt/slides/slide1.xml" Id="Rbf6e44e90e714d16" /><Relationship Type="http://schemas.openxmlformats.org/officeDocument/2006/relationships/slide" Target="/ppt/slides/slide2.xml" Id="R00609143ebc143d4" /><Relationship Type="http://schemas.openxmlformats.org/officeDocument/2006/relationships/slide" Target="/ppt/slides/slide3.xml" Id="R252bbe06f9a54c26" /><Relationship Type="http://schemas.openxmlformats.org/officeDocument/2006/relationships/slide" Target="/ppt/slides/slide4.xml" Id="R755bc1dd3086473e" /><Relationship Type="http://schemas.openxmlformats.org/officeDocument/2006/relationships/slide" Target="/ppt/slides/slide5.xml" Id="R88a68a42bd4b421a" /><Relationship Type="http://schemas.openxmlformats.org/officeDocument/2006/relationships/slide" Target="/ppt/slides/slide6.xml" Id="R2081dc0d16874b76" /><Relationship Type="http://schemas.openxmlformats.org/officeDocument/2006/relationships/slide" Target="/ppt/slides/slide7.xml" Id="R66871013f4544b1a" /><Relationship Type="http://schemas.openxmlformats.org/officeDocument/2006/relationships/slide" Target="/ppt/slides/slide8.xml" Id="R155bb32438ea490f" /><Relationship Type="http://schemas.openxmlformats.org/officeDocument/2006/relationships/slide" Target="/ppt/slides/slide9.xml" Id="R3094e9b3d9c341e4" /><Relationship Type="http://schemas.openxmlformats.org/officeDocument/2006/relationships/slide" Target="/ppt/slides/slide10.xml" Id="Rdfb0d7dae9d04872" /><Relationship Type="http://schemas.openxmlformats.org/officeDocument/2006/relationships/slide" Target="/ppt/slides/slide11.xml" Id="Ra4b6af57bf10463d" /><Relationship Type="http://schemas.openxmlformats.org/officeDocument/2006/relationships/slide" Target="/ppt/slides/slide12.xml" Id="Rb7a4a444c74b4e3d" /><Relationship Type="http://schemas.openxmlformats.org/officeDocument/2006/relationships/slide" Target="/ppt/slides/slide13.xml" Id="Rdfa0a6d1ec0e47da" /><Relationship Type="http://schemas.openxmlformats.org/officeDocument/2006/relationships/slide" Target="/ppt/slides/slide14.xml" Id="R696a953c37094de9" /><Relationship Type="http://schemas.openxmlformats.org/officeDocument/2006/relationships/slide" Target="/ppt/slides/slide15.xml" Id="R6accdc3b59d54100" /><Relationship Type="http://schemas.openxmlformats.org/officeDocument/2006/relationships/slide" Target="/ppt/slides/slide16.xml" Id="R523871870a694067" /><Relationship Type="http://schemas.openxmlformats.org/officeDocument/2006/relationships/slide" Target="/ppt/slides/slide17.xml" Id="Ra53504fa32ab439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bb2b47102e047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6eb19ae56a42f7" /><Relationship Type="http://schemas.openxmlformats.org/officeDocument/2006/relationships/notesMaster" Target="/ppt/notesMasters/notesMaster1.xml" Id="R3b0ab79317d94ca2" /></Relationships>
</file>

<file path=ppt/notesSlides/_rels/notesSlide2.xml.rels>&#65279;<?xml version="1.0" encoding="utf-8"?><Relationships xmlns="http://schemas.openxmlformats.org/package/2006/relationships"><Relationship Type="http://schemas.openxmlformats.org/officeDocument/2006/relationships/slide" Target="/ppt/slides/slide2.xml" Id="R800f88aa63634e7c" /><Relationship Type="http://schemas.openxmlformats.org/officeDocument/2006/relationships/notesMaster" Target="/ppt/notesMasters/notesMaster1.xml" Id="R285efcb0343048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b003d1035444f1" /><Relationship Type="http://schemas.openxmlformats.org/officeDocument/2006/relationships/notesMaster" Target="/ppt/notesMasters/notesMaster1.xml" Id="Rddb0821b01a442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7ffbc6a2340d4ad7" /><Relationship Type="http://schemas.openxmlformats.org/officeDocument/2006/relationships/notesMaster" Target="/ppt/notesMasters/notesMaster1.xml" Id="Rc12b4f71c66d492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23b06dc15cb4eef" /><Relationship Type="http://schemas.openxmlformats.org/officeDocument/2006/relationships/notesMaster" Target="/ppt/notesMasters/notesMaster1.xml" Id="R29705287081748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5b63c281247a4b57" /><Relationship Type="http://schemas.openxmlformats.org/officeDocument/2006/relationships/notesMaster" Target="/ppt/notesMasters/notesMaster1.xml" Id="Raace93d6a7a6462c" /></Relationships>
</file>

<file path=ppt/notesSlides/_rels/notesSlide7.xml.rels>&#65279;<?xml version="1.0" encoding="utf-8"?><Relationships xmlns="http://schemas.openxmlformats.org/package/2006/relationships"><Relationship Type="http://schemas.openxmlformats.org/officeDocument/2006/relationships/slide" Target="/ppt/slides/slide7.xml" Id="Re850b58280534f09" /><Relationship Type="http://schemas.openxmlformats.org/officeDocument/2006/relationships/notesMaster" Target="/ppt/notesMasters/notesMaster1.xml" Id="R96231bd14e3842d7" /></Relationships>
</file>

<file path=ppt/notesSlides/_rels/notesSlide8.xml.rels>&#65279;<?xml version="1.0" encoding="utf-8"?><Relationships xmlns="http://schemas.openxmlformats.org/package/2006/relationships"><Relationship Type="http://schemas.openxmlformats.org/officeDocument/2006/relationships/slide" Target="/ppt/slides/slide8.xml" Id="Ra31e3635e1174c27" /><Relationship Type="http://schemas.openxmlformats.org/officeDocument/2006/relationships/notesMaster" Target="/ppt/notesMasters/notesMaster1.xml" Id="R795d618ca9484351" /></Relationships>
</file>

<file path=ppt/notesSlides/_rels/notesSlide9.xml.rels>&#65279;<?xml version="1.0" encoding="utf-8"?><Relationships xmlns="http://schemas.openxmlformats.org/package/2006/relationships"><Relationship Type="http://schemas.openxmlformats.org/officeDocument/2006/relationships/slide" Target="/ppt/slides/slide9.xml" Id="R6b44c1797e9749ce" /><Relationship Type="http://schemas.openxmlformats.org/officeDocument/2006/relationships/notesMaster" Target="/ppt/notesMasters/notesMaster1.xml" Id="Rf68589b1b86646e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b883c117d2b417e" /><Relationship Type="http://schemas.openxmlformats.org/officeDocument/2006/relationships/notesMaster" Target="/ppt/notesMasters/notesMaster1.xml" Id="R59640136c44247f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b217e08ee19495e" /><Relationship Type="http://schemas.openxmlformats.org/officeDocument/2006/relationships/notesMaster" Target="/ppt/notesMasters/notesMaster1.xml" Id="R888d5c7f03a8481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bde51a8eb704bb5" /><Relationship Type="http://schemas.openxmlformats.org/officeDocument/2006/relationships/notesMaster" Target="/ppt/notesMasters/notesMaster1.xml" Id="R78c8934338764e0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ad6a044c2c1472c" /><Relationship Type="http://schemas.openxmlformats.org/officeDocument/2006/relationships/notesMaster" Target="/ppt/notesMasters/notesMaster1.xml" Id="R4d44b3eb24cb4b8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e45405540a44512" /><Relationship Type="http://schemas.openxmlformats.org/officeDocument/2006/relationships/notesMaster" Target="/ppt/notesMasters/notesMaster1.xml" Id="R8237bb49fefd49b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c349b5df3ae489d" /><Relationship Type="http://schemas.openxmlformats.org/officeDocument/2006/relationships/notesMaster" Target="/ppt/notesMasters/notesMaster1.xml" Id="Rdc7d95d362624ac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fd1690d260f4442" /><Relationship Type="http://schemas.openxmlformats.org/officeDocument/2006/relationships/notesMaster" Target="/ppt/notesMasters/notesMaster1.xml" Id="Raa3f392b41f04db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8ab843b3eea44df" /><Relationship Type="http://schemas.openxmlformats.org/officeDocument/2006/relationships/notesMaster" Target="/ppt/notesMasters/notesMaster1.xml" Id="R76cd145a79b14d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Project report source and local repository assets</a:t>
            </a:r>
          </a:p>
          <a:p xmlns:a="http://schemas.openxmlformats.org/drawingml/2006/main">
            <a:r>
              <a:t>- https://good5229.github.io/Property_shot/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screenshots/commercial-vertical-slice/390x844-current-play-audit.png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screenshots/commercial-vertical-slice/390x844-material-source-popup.png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test/goldens/difficulty_easy_first_arrival_390x844.png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assets/generated/stone-v2.png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assets/generated/jelly-bumper-v1.png</a:t>
            </a:r>
          </a:p>
          <a:p xmlns:a="http://schemas.openxmlformats.org/drawingml/2006/main">
            <a:r>
              <a:t>- screenshots/commercial-vertical-slice/stage4-start.png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screenshots/commercial-vertical-slice/stage4-property-ready.png</a:t>
            </a:r>
          </a:p>
          <a:p xmlns:a="http://schemas.openxmlformats.org/drawingml/2006/main">
            <a:r>
              <a:t>- screenshots/commercial-vertical-slice/stage4-impact-120ms.png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test/goldens/run_reward_390x844.png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test/goldens/stage_bouncy_01_reward_ball_390x844.png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a:p xmlns:a="http://schemas.openxmlformats.org/drawingml/2006/main">
            <a:r>
              <a:t>- https://good5229.github.io/Property_shot/</a:t>
            </a:r>
          </a:p>
          <a:p xmlns:a="http://schemas.openxmlformats.org/drawingml/2006/main">
            <a:r>
              <a:t>- https://github.com/good5229/Property_shot</a:t>
            </a:r>
          </a:p>
          <a:p xmlns:a="http://schemas.openxmlformats.org/drawingml/2006/main">
            <a:r>
              <a:t>- https://github.com/good5229/Property_shot/actions/runs/31373105599</a:t>
            </a:r>
          </a:p>
          <a:p xmlns:a="http://schemas.openxmlformats.org/drawingml/2006/main">
            <a:r>
              <a:t>- https://github.com/good5229/Property_shot.git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report/game_introduction.md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0c161ec4d7b436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f8a08678d1f4c48" /><Relationship Type="http://schemas.openxmlformats.org/officeDocument/2006/relationships/slideLayout" Target="/ppt/slideLayouts/slideLayout1.xml" Id="R6083f7f59f8d47e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083f7f59f8d47e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928cca1cf2146ff" /><Relationship Type="http://schemas.openxmlformats.org/officeDocument/2006/relationships/notesSlide" Target="/ppt/notesSlides/notesSlide1.xml" Id="Rd0555df8313a448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f2f852fd8864251" /><Relationship Type="http://schemas.openxmlformats.org/officeDocument/2006/relationships/notesSlide" Target="/ppt/notesSlides/notesSlide2.xml" Id="R02adce350389493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fcc1c6309324302" /><Relationship Type="http://schemas.openxmlformats.org/officeDocument/2006/relationships/image" Target="/ppt/media/image.png" Id="R93cabfef0067452e" /><Relationship Type="http://schemas.openxmlformats.org/officeDocument/2006/relationships/notesSlide" Target="/ppt/notesSlides/notesSlide3.xml" Id="Rd585c45b76f54cd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fae0f7c6f254b63" /><Relationship Type="http://schemas.openxmlformats.org/officeDocument/2006/relationships/notesSlide" Target="/ppt/notesSlides/notesSlide4.xml" Id="R509e01158c944d8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e01e74d990f4c94" /><Relationship Type="http://schemas.openxmlformats.org/officeDocument/2006/relationships/image" Target="/ppt/media/image2.png" Id="R85490ee31194474f" /><Relationship Type="http://schemas.openxmlformats.org/officeDocument/2006/relationships/notesSlide" Target="/ppt/notesSlides/notesSlide5.xml" Id="R09ec405685a540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3e70f6dd6d84948" /><Relationship Type="http://schemas.openxmlformats.org/officeDocument/2006/relationships/image" Target="/ppt/media/image3.png" Id="R6dcce27c54c848fc" /><Relationship Type="http://schemas.openxmlformats.org/officeDocument/2006/relationships/notesSlide" Target="/ppt/notesSlides/notesSlide6.xml" Id="R063005d4d84c400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1939d2a4fca4104" /><Relationship Type="http://schemas.openxmlformats.org/officeDocument/2006/relationships/notesSlide" Target="/ppt/notesSlides/notesSlide7.xml" Id="R92eff498883a41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ebdda7389ae4c9b" /><Relationship Type="http://schemas.openxmlformats.org/officeDocument/2006/relationships/image" Target="/ppt/media/image4.png" Id="R6a3602c017434480" /><Relationship Type="http://schemas.openxmlformats.org/officeDocument/2006/relationships/notesSlide" Target="/ppt/notesSlides/notesSlide8.xml" Id="R3db4eda6139e440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ca9718eb7fb4275" /><Relationship Type="http://schemas.openxmlformats.org/officeDocument/2006/relationships/image" Target="/ppt/media/image5.png" Id="R4e2b41070d044a81" /><Relationship Type="http://schemas.openxmlformats.org/officeDocument/2006/relationships/image" Target="/ppt/media/image6.png" Id="R46e5aa603efa4251" /><Relationship Type="http://schemas.openxmlformats.org/officeDocument/2006/relationships/notesSlide" Target="/ppt/notesSlides/notesSlide9.xml" Id="Re46e5c6add184c8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79b7fc7e8ae4a41" /><Relationship Type="http://schemas.openxmlformats.org/officeDocument/2006/relationships/image" Target="/ppt/media/image7.png" Id="R5da10a555ec342ee" /><Relationship Type="http://schemas.openxmlformats.org/officeDocument/2006/relationships/image" Target="/ppt/media/image8.png" Id="Rc3c3fbfb2b8d46f9" /><Relationship Type="http://schemas.openxmlformats.org/officeDocument/2006/relationships/notesSlide" Target="/ppt/notesSlides/notesSlide10.xml" Id="R43ed208a195443e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bcdad0c4c9049b5" /><Relationship Type="http://schemas.openxmlformats.org/officeDocument/2006/relationships/image" Target="/ppt/media/image9.png" Id="Rebf1c19822d44b33" /><Relationship Type="http://schemas.openxmlformats.org/officeDocument/2006/relationships/notesSlide" Target="/ppt/notesSlides/notesSlide11.xml" Id="R070e1b82925f4f5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24c10561c0b4327" /><Relationship Type="http://schemas.openxmlformats.org/officeDocument/2006/relationships/image" Target="/ppt/media/image10.png" Id="R63ece1760ce14572" /><Relationship Type="http://schemas.openxmlformats.org/officeDocument/2006/relationships/notesSlide" Target="/ppt/notesSlides/notesSlide12.xml" Id="Rf967d8e22ac6402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2757114570d417b" /><Relationship Type="http://schemas.openxmlformats.org/officeDocument/2006/relationships/notesSlide" Target="/ppt/notesSlides/notesSlide13.xml" Id="R78bb037d16e2452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b7d74bac54f43b0" /><Relationship Type="http://schemas.openxmlformats.org/officeDocument/2006/relationships/notesSlide" Target="/ppt/notesSlides/notesSlide14.xml" Id="R499e9ea5f208452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6ef3ffd730548d9" /><Relationship Type="http://schemas.openxmlformats.org/officeDocument/2006/relationships/notesSlide" Target="/ppt/notesSlides/notesSlide15.xml" Id="R7486e66f2637420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2514717134b4033" /><Relationship Type="http://schemas.openxmlformats.org/officeDocument/2006/relationships/notesSlide" Target="/ppt/notesSlides/notesSlide16.xml" Id="R39984ace3d7c44e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a7aa67e580c43c9" /><Relationship Type="http://schemas.openxmlformats.org/officeDocument/2006/relationships/notesSlide" Target="/ppt/notesSlides/notesSlide17.xml" Id="R0bb5312fc6834c97" /></Relationships>
</file>

<file path=ppt/slides/slide1.xml><?xml version="1.0" encoding="utf-8"?>
<p:sld xmlns:p="http://schemas.openxmlformats.org/presentationml/2006/main">
  <p:cSld>
    <p:bg>
      <p:bgPr>
        <a:solidFill xmlns:a="http://schemas.openxmlformats.org/drawingml/2006/main">
          <a:srgbClr val="FFF9E7"/>
        </a:solidFill>
      </p:bgPr>
    </p:bg>
    <p:spTree>
      <p:nvGrpSpPr>
        <p:cNvPr id="1" name=""/>
        <p:cNvGrpSpPr/>
        <p:nvPr/>
      </p:nvGrpSpPr>
      <p:grpSpPr>
        <a:xfrm xmlns:a="http://schemas.openxmlformats.org/drawingml/2006/main"/>
      </p:grpSpPr>
      <p:sp>
        <p:nvSpPr>
          <p:cNvPr id="9" name="cover-accent">
            <a:extLst xmlns:a="http://schemas.openxmlformats.org/drawingml/2006/main">
              <a:ext uri="{FF2B5EF4-FFF2-40B4-BE49-F238E27FC236}">
                <a16:creationId xmlns:a16="http://schemas.microsoft.com/office/drawing/2014/main" id="{24CF3D97-AFF6-41F3-9AFE-40E22A5CF0F8}"/>
              </a:ext>
            </a:extLst>
          </p:cNvPr>
          <p:cNvSpPr>
            <a:spLocks xmlns:a="http://schemas.openxmlformats.org/drawingml/2006/main" noGrp="1"/>
          </p:cNvSpPr>
          <p:nvPr/>
        </p:nvSpPr>
        <p:spPr>
          <a:xfrm xmlns:a="http://schemas.openxmlformats.org/drawingml/2006/main">
            <a:off x="0" y="0"/>
            <a:ext cx="171450" cy="10696575"/>
          </a:xfrm>
          <a:prstGeom xmlns:a="http://schemas.openxmlformats.org/drawingml/2006/main" prst="rect">
            <a:avLst/>
          </a:prstGeom>
          <a:solidFill xmlns:a="http://schemas.openxmlformats.org/drawingml/2006/main">
            <a:srgbClr val="F47661"/>
          </a:solidFill>
          <a:ln xmlns:a="http://schemas.openxmlformats.org/drawingml/2006/main" w="0">
            <a:noFill/>
            <a:prstDash val="solid"/>
          </a:ln>
        </p:spPr>
      </p:sp>
      <p:sp>
        <p:nvSpPr>
          <p:cNvPr id="2" name="cover-kicker">
            <a:extLst xmlns:a="http://schemas.openxmlformats.org/drawingml/2006/main">
              <a:ext uri="{FF2B5EF4-FFF2-40B4-BE49-F238E27FC236}">
                <a16:creationId xmlns:a16="http://schemas.microsoft.com/office/drawing/2014/main" id="{FC98CCD3-A995-4F48-BE60-93E4A878663C}"/>
              </a:ext>
            </a:extLst>
          </p:cNvPr>
          <p:cNvSpPr>
            <a:spLocks xmlns:a="http://schemas.openxmlformats.org/drawingml/2006/main" noGrp="1"/>
          </p:cNvSpPr>
          <p:nvPr/>
        </p:nvSpPr>
        <p:spPr>
          <a:xfrm xmlns:a="http://schemas.openxmlformats.org/drawingml/2006/main">
            <a:off x="742950" y="1524000"/>
            <a:ext cx="561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350" b="1">
                <a:solidFill>
                  <a:srgbClr val="D7A23D"/>
                </a:solidFill>
                <a:latin typeface="NanumGothic"/>
                <a:ea typeface="NanumGothic"/>
                <a:cs typeface="NanumGothic"/>
              </a:defRPr>
            </a:pPr>
            <a:r>
              <a:rPr sz="1350" b="1">
                <a:solidFill>
                  <a:srgbClr val="D7A23D"/>
                </a:solidFill>
                <a:latin typeface="NanumGothic"/>
                <a:ea typeface="NanumGothic"/>
                <a:cs typeface="NanumGothic"/>
              </a:rPr>
              <a:t>GAME GUIDE</a:t>
            </a:r>
          </a:p>
        </p:txBody>
      </p:sp>
      <p:sp>
        <p:nvSpPr>
          <p:cNvPr id="3" name="cover-title">
            <a:extLst xmlns:a="http://schemas.openxmlformats.org/drawingml/2006/main">
              <a:ext uri="{FF2B5EF4-FFF2-40B4-BE49-F238E27FC236}">
                <a16:creationId xmlns:a16="http://schemas.microsoft.com/office/drawing/2014/main" id="{57987E3D-D2AA-46FA-88F8-A83A539FF12B}"/>
              </a:ext>
            </a:extLst>
          </p:cNvPr>
          <p:cNvSpPr>
            <a:spLocks xmlns:a="http://schemas.openxmlformats.org/drawingml/2006/main" noGrp="1"/>
          </p:cNvSpPr>
          <p:nvPr/>
        </p:nvSpPr>
        <p:spPr>
          <a:xfrm xmlns:a="http://schemas.openxmlformats.org/drawingml/2006/main">
            <a:off x="742950" y="2333625"/>
            <a:ext cx="6096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3750" b="1">
                <a:solidFill>
                  <a:srgbClr val="173A3F"/>
                </a:solidFill>
                <a:latin typeface="NanumGothic"/>
                <a:ea typeface="NanumGothic"/>
                <a:cs typeface="NanumGothic"/>
              </a:defRPr>
            </a:pPr>
            <a:r>
              <a:rPr sz="3750" b="1">
                <a:solidFill>
                  <a:srgbClr val="173A3F"/>
                </a:solidFill>
                <a:latin typeface="NanumGothic"/>
                <a:ea typeface="NanumGothic"/>
                <a:cs typeface="NanumGothic"/>
              </a:rPr>
              <a:t>속성 한방(Property Shot)</a:t>
            </a:r>
          </a:p>
        </p:txBody>
      </p:sp>
      <p:sp>
        <p:nvSpPr>
          <p:cNvPr id="4" name="cover-subtitle">
            <a:extLst xmlns:a="http://schemas.openxmlformats.org/drawingml/2006/main">
              <a:ext uri="{FF2B5EF4-FFF2-40B4-BE49-F238E27FC236}">
                <a16:creationId xmlns:a16="http://schemas.microsoft.com/office/drawing/2014/main" id="{0E8F7548-357A-4A31-84BE-494A99DF7713}"/>
              </a:ext>
            </a:extLst>
          </p:cNvPr>
          <p:cNvSpPr>
            <a:spLocks xmlns:a="http://schemas.openxmlformats.org/drawingml/2006/main" noGrp="1"/>
          </p:cNvSpPr>
          <p:nvPr/>
        </p:nvSpPr>
        <p:spPr>
          <a:xfrm xmlns:a="http://schemas.openxmlformats.org/drawingml/2006/main">
            <a:off x="742950" y="4095750"/>
            <a:ext cx="5905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2100" b="1">
                <a:solidFill>
                  <a:srgbClr val="2C7A7B"/>
                </a:solidFill>
                <a:latin typeface="NanumGothic"/>
                <a:ea typeface="NanumGothic"/>
                <a:cs typeface="NanumGothic"/>
              </a:defRPr>
            </a:pPr>
            <a:r>
              <a:rPr sz="2100" b="1">
                <a:solidFill>
                  <a:srgbClr val="2C7A7B"/>
                </a:solidFill>
                <a:latin typeface="NanumGothic"/>
                <a:ea typeface="NanumGothic"/>
                <a:cs typeface="NanumGothic"/>
              </a:rPr>
              <a:t>게임 소개 및 설명</a:t>
            </a:r>
          </a:p>
        </p:txBody>
      </p:sp>
      <p:sp>
        <p:nvSpPr>
          <p:cNvPr id="5" name="cover-rule">
            <a:extLst xmlns:a="http://schemas.openxmlformats.org/drawingml/2006/main">
              <a:ext uri="{FF2B5EF4-FFF2-40B4-BE49-F238E27FC236}">
                <a16:creationId xmlns:a16="http://schemas.microsoft.com/office/drawing/2014/main" id="{1ED67FE4-DB24-4534-BE8B-FEA2EDA0476C}"/>
              </a:ext>
            </a:extLst>
          </p:cNvPr>
          <p:cNvSpPr>
            <a:spLocks xmlns:a="http://schemas.openxmlformats.org/drawingml/2006/main" noGrp="1"/>
          </p:cNvSpPr>
          <p:nvPr/>
        </p:nvSpPr>
        <p:spPr>
          <a:xfrm xmlns:a="http://schemas.openxmlformats.org/drawingml/2006/main">
            <a:off x="742950" y="5067300"/>
            <a:ext cx="1714500" cy="4762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6" name="cover-description">
            <a:extLst xmlns:a="http://schemas.openxmlformats.org/drawingml/2006/main">
              <a:ext uri="{FF2B5EF4-FFF2-40B4-BE49-F238E27FC236}">
                <a16:creationId xmlns:a16="http://schemas.microsoft.com/office/drawing/2014/main" id="{2EDC39E9-0BD2-4668-B44B-EFEF4ADCAC02}"/>
              </a:ext>
            </a:extLst>
          </p:cNvPr>
          <p:cNvSpPr>
            <a:spLocks xmlns:a="http://schemas.openxmlformats.org/drawingml/2006/main" noGrp="1"/>
          </p:cNvSpPr>
          <p:nvPr/>
        </p:nvSpPr>
        <p:spPr>
          <a:xfrm xmlns:a="http://schemas.openxmlformats.org/drawingml/2006/main">
            <a:off x="742950" y="5429250"/>
            <a:ext cx="5810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a:solidFill>
                  <a:srgbClr val="607477"/>
                </a:solidFill>
                <a:latin typeface="NanumGothic"/>
                <a:ea typeface="NanumGothic"/>
                <a:cs typeface="NanumGothic"/>
              </a:defRPr>
            </a:pPr>
            <a:r>
              <a:rPr sz="1650" b="0">
                <a:solidFill>
                  <a:srgbClr val="607477"/>
                </a:solidFill>
                <a:latin typeface="NanumGothic"/>
                <a:ea typeface="NanumGothic"/>
                <a:cs typeface="NanumGothic"/>
              </a:rPr>
              <a:t>속성을 옮기고, 장면의 상태를 설계하는 세로형 물리 퍼즐</a:t>
            </a:r>
          </a:p>
        </p:txBody>
      </p:sp>
      <p:sp>
        <p:nvSpPr>
          <p:cNvPr id="7" name="cover-meta">
            <a:extLst xmlns:a="http://schemas.openxmlformats.org/drawingml/2006/main">
              <a:ext uri="{FF2B5EF4-FFF2-40B4-BE49-F238E27FC236}">
                <a16:creationId xmlns:a16="http://schemas.microsoft.com/office/drawing/2014/main" id="{EA6AECF7-7020-4C71-A4AC-F9E32034C18A}"/>
              </a:ext>
            </a:extLst>
          </p:cNvPr>
          <p:cNvSpPr>
            <a:spLocks xmlns:a="http://schemas.openxmlformats.org/drawingml/2006/main" noGrp="1"/>
          </p:cNvSpPr>
          <p:nvPr/>
        </p:nvSpPr>
        <p:spPr>
          <a:xfrm xmlns:a="http://schemas.openxmlformats.org/drawingml/2006/main">
            <a:off x="742950" y="8763000"/>
            <a:ext cx="5810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0000"/>
              </a:lnSpc>
              <a:buNone/>
              <a:defRPr sz="1275" b="0">
                <a:solidFill>
                  <a:srgbClr val="173A3F"/>
                </a:solidFill>
                <a:latin typeface="NanumGothic"/>
                <a:ea typeface="NanumGothic"/>
                <a:cs typeface="NanumGothic"/>
              </a:defRPr>
            </a:pPr>
            <a:r>
              <a:rPr sz="1275" b="0">
                <a:solidFill>
                  <a:srgbClr val="173A3F"/>
                </a:solidFill>
                <a:latin typeface="NanumGothic"/>
                <a:ea typeface="NanumGothic"/>
                <a:cs typeface="NanumGothic"/>
              </a:rPr>
              <a:t>2026-08-10 KST</a:t>
            </a:r>
          </a:p>
          <a:p xmlns:a="http://schemas.openxmlformats.org/drawingml/2006/main">
            <a:pPr algn="l">
              <a:lnSpc>
                <a:spcPct val="130000"/>
              </a:lnSpc>
              <a:buNone/>
              <a:defRPr sz="1275" b="0">
                <a:solidFill>
                  <a:srgbClr val="173A3F"/>
                </a:solidFill>
                <a:latin typeface="NanumGothic"/>
                <a:ea typeface="NanumGothic"/>
                <a:cs typeface="NanumGothic"/>
              </a:defRPr>
            </a:pPr>
            <a:r>
              <a:rPr sz="1275" b="0">
                <a:solidFill>
                  <a:srgbClr val="173A3F"/>
                </a:solidFill>
                <a:latin typeface="NanumGothic"/>
                <a:ea typeface="NanumGothic"/>
                <a:cs typeface="NanumGothic"/>
              </a:rPr>
              <a:t>https://good5229.github.io/Property_shot/</a:t>
            </a:r>
          </a:p>
        </p:txBody>
      </p:sp>
      <p:sp>
        <p:nvSpPr>
          <p:cNvPr id="8" name="cover-page">
            <a:extLst xmlns:a="http://schemas.openxmlformats.org/drawingml/2006/main">
              <a:ext uri="{FF2B5EF4-FFF2-40B4-BE49-F238E27FC236}">
                <a16:creationId xmlns:a16="http://schemas.microsoft.com/office/drawing/2014/main" id="{92566DE6-AC54-4891-8F7E-3E9505A7BC3E}"/>
              </a:ext>
            </a:extLst>
          </p:cNvPr>
          <p:cNvSpPr>
            <a:spLocks xmlns:a="http://schemas.openxmlformats.org/drawingml/2006/main" noGrp="1"/>
          </p:cNvSpPr>
          <p:nvPr/>
        </p:nvSpPr>
        <p:spPr>
          <a:xfrm xmlns:a="http://schemas.openxmlformats.org/drawingml/2006/main">
            <a:off x="6705600" y="9963150"/>
            <a:ext cx="323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a:t>
            </a:r>
          </a:p>
        </p:txBody>
      </p:sp>
    </p:spTree>
    <p:extLst>
      <p:ext uri="{BB962C8B-B14F-4D97-AF65-F5344CB8AC3E}">
        <p14:creationId xmlns:p14="http://schemas.microsoft.com/office/powerpoint/2010/main" val="65604526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unning-label">
            <a:extLst xmlns:a="http://schemas.openxmlformats.org/drawingml/2006/main">
              <a:ext uri="{FF2B5EF4-FFF2-40B4-BE49-F238E27FC236}">
                <a16:creationId xmlns:a16="http://schemas.microsoft.com/office/drawing/2014/main" id="{08CA3F5F-203D-4216-8B21-F7EAFD922A86}"/>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B745E23B-7E7A-4E5D-893C-80789D58564A}"/>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2</a:t>
            </a:r>
          </a:p>
        </p:txBody>
      </p:sp>
      <p:sp>
        <p:nvSpPr>
          <p:cNvPr id="3" name="header-rule">
            <a:extLst xmlns:a="http://schemas.openxmlformats.org/drawingml/2006/main">
              <a:ext uri="{FF2B5EF4-FFF2-40B4-BE49-F238E27FC236}">
                <a16:creationId xmlns:a16="http://schemas.microsoft.com/office/drawing/2014/main" id="{364EE2D9-4846-478B-927F-13A0F284C1A4}"/>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71277E39-674D-4441-82D6-D0B0548776FD}"/>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문서 개요</a:t>
            </a:r>
          </a:p>
        </p:txBody>
      </p:sp>
      <p:sp>
        <p:nvSpPr>
          <p:cNvPr id="5" name="paragraph-140">
            <a:extLst xmlns:a="http://schemas.openxmlformats.org/drawingml/2006/main">
              <a:ext uri="{FF2B5EF4-FFF2-40B4-BE49-F238E27FC236}">
                <a16:creationId xmlns:a16="http://schemas.microsoft.com/office/drawing/2014/main" id="{7485CD2B-9B7D-4C26-A7C2-0DBEC1A2F4F2}"/>
              </a:ext>
            </a:extLst>
          </p:cNvPr>
          <p:cNvSpPr>
            <a:spLocks xmlns:a="http://schemas.openxmlformats.org/drawingml/2006/main" noGrp="1"/>
          </p:cNvSpPr>
          <p:nvPr/>
        </p:nvSpPr>
        <p:spPr>
          <a:xfrm xmlns:a="http://schemas.openxmlformats.org/drawingml/2006/main">
            <a:off x="533400" y="133350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작성일: 2026-08-10 KST 기능 기준: main / 배포 커밋 69744c6d3183b4933817066f80221c2f8fd69630 제출 형식: 게임 소개 및 설명 PDF</a:t>
            </a:r>
          </a:p>
        </p:txBody>
      </p:sp>
    </p:spTree>
    <p:extLst>
      <p:ext uri="{BB962C8B-B14F-4D97-AF65-F5344CB8AC3E}">
        <p14:creationId xmlns:p14="http://schemas.microsoft.com/office/powerpoint/2010/main" val="2657455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running-label">
            <a:extLst xmlns:a="http://schemas.openxmlformats.org/drawingml/2006/main">
              <a:ext uri="{FF2B5EF4-FFF2-40B4-BE49-F238E27FC236}">
                <a16:creationId xmlns:a16="http://schemas.microsoft.com/office/drawing/2014/main" id="{2AEB5BB2-CC43-4BBD-8369-EEB75A23B1CD}"/>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A1FC4977-17A3-4BFC-B875-738AAAB71C91}"/>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3</a:t>
            </a:r>
          </a:p>
        </p:txBody>
      </p:sp>
      <p:sp>
        <p:nvSpPr>
          <p:cNvPr id="3" name="header-rule">
            <a:extLst xmlns:a="http://schemas.openxmlformats.org/drawingml/2006/main">
              <a:ext uri="{FF2B5EF4-FFF2-40B4-BE49-F238E27FC236}">
                <a16:creationId xmlns:a16="http://schemas.microsoft.com/office/drawing/2014/main" id="{BDDC7507-7C30-46F3-9F86-9812BBE09534}"/>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CB95A36E-32C3-4D07-BFE3-D340AA66346B}"/>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1. 게임 제목과 한 줄 소개</a:t>
            </a:r>
          </a:p>
        </p:txBody>
      </p:sp>
      <p:sp>
        <p:nvSpPr>
          <p:cNvPr id="5" name="bullets-140">
            <a:extLst xmlns:a="http://schemas.openxmlformats.org/drawingml/2006/main">
              <a:ext uri="{FF2B5EF4-FFF2-40B4-BE49-F238E27FC236}">
                <a16:creationId xmlns:a16="http://schemas.microsoft.com/office/drawing/2014/main" id="{9610DC75-BA2B-4FE4-840F-BE67DB87D0C5}"/>
              </a:ext>
            </a:extLst>
          </p:cNvPr>
          <p:cNvSpPr>
            <a:spLocks xmlns:a="http://schemas.openxmlformats.org/drawingml/2006/main" noGrp="1"/>
          </p:cNvSpPr>
          <p:nvPr/>
        </p:nvSpPr>
        <p:spPr>
          <a:xfrm xmlns:a="http://schemas.openxmlformats.org/drawingml/2006/main">
            <a:off x="533400" y="1333500"/>
            <a:ext cx="6496050" cy="13456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게임 제목: 속성 한방(Property Shot)</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한 줄 소개: 주변 오브젝트의 물리 속성을 공에 옮기고, 비워진 원본과 잔류 공까지 다음 해법으로 활용하는 세로형 물리 퍼즐.</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플레이 형태: 10단계 × 단계별 4패턴, 총 40개 데이터 기반 퍼즐.</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93cabfef0067452e"/>
          <a:stretch xmlns:a="http://schemas.openxmlformats.org/drawingml/2006/main"/>
        </p:blipFill>
        <p:spPr>
          <a:xfrm xmlns:a="http://schemas.openxmlformats.org/drawingml/2006/main">
            <a:off x="3055200" y="2774442"/>
            <a:ext cx="1452450" cy="3143250"/>
          </a:xfrm>
          <a:prstGeom xmlns:a="http://schemas.openxmlformats.org/drawingml/2006/main" prst="roundRect">
            <a:avLst>
              <a:gd name="adj" fmla="val 3636"/>
            </a:avLst>
          </a:prstGeom>
        </p:spPr>
      </p:pic>
      <p:sp>
        <p:nvSpPr>
          <p:cNvPr id="7" name="image-caption-291.28">
            <a:extLst xmlns:a="http://schemas.openxmlformats.org/drawingml/2006/main">
              <a:ext uri="{FF2B5EF4-FFF2-40B4-BE49-F238E27FC236}">
                <a16:creationId xmlns:a16="http://schemas.microsoft.com/office/drawing/2014/main" id="{C0FA5F5D-A3F7-4AA3-8ED6-CE630EBED8E4}"/>
              </a:ext>
            </a:extLst>
          </p:cNvPr>
          <p:cNvSpPr>
            <a:spLocks xmlns:a="http://schemas.openxmlformats.org/drawingml/2006/main" noGrp="1"/>
          </p:cNvSpPr>
          <p:nvPr/>
        </p:nvSpPr>
        <p:spPr>
          <a:xfrm xmlns:a="http://schemas.openxmlformats.org/drawingml/2006/main">
            <a:off x="666750" y="5974842"/>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세로 게임판에서 속성 공을 조준하고 상자·벽·홀의 경로를 설계하는 실제 플레이 화면</a:t>
            </a:r>
          </a:p>
        </p:txBody>
      </p:sp>
      <p:sp>
        <p:nvSpPr>
          <p:cNvPr id="8" name="paragraph-675.28">
            <a:extLst xmlns:a="http://schemas.openxmlformats.org/drawingml/2006/main">
              <a:ext uri="{FF2B5EF4-FFF2-40B4-BE49-F238E27FC236}">
                <a16:creationId xmlns:a16="http://schemas.microsoft.com/office/drawing/2014/main" id="{6189EE06-24B3-41DF-8ED4-A21F7EB85E28}"/>
              </a:ext>
            </a:extLst>
          </p:cNvPr>
          <p:cNvSpPr>
            <a:spLocks xmlns:a="http://schemas.openxmlformats.org/drawingml/2006/main" noGrp="1"/>
          </p:cNvSpPr>
          <p:nvPr/>
        </p:nvSpPr>
        <p:spPr>
          <a:xfrm xmlns:a="http://schemas.openxmlformats.org/drawingml/2006/main">
            <a:off x="533400" y="6432042"/>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일반적인 조준 게임이 방향과 힘에 집중한다면, 속성 한방은 무엇의 속성을 옮길지, 원본이 어떻게 바뀔지, 남은 공을 다음 샷에서 어떻게 쓸지까지 함께 판단한다.</a:t>
            </a:r>
          </a:p>
        </p:txBody>
      </p:sp>
      <p:sp>
        <p:nvSpPr>
          <p:cNvPr id="9" name="table-cell-747.92-0-0">
            <a:extLst xmlns:a="http://schemas.openxmlformats.org/drawingml/2006/main">
              <a:ext uri="{FF2B5EF4-FFF2-40B4-BE49-F238E27FC236}">
                <a16:creationId xmlns:a16="http://schemas.microsoft.com/office/drawing/2014/main" id="{81EAB6BD-CC46-4943-83D8-50E75F59B31E}"/>
              </a:ext>
            </a:extLst>
          </p:cNvPr>
          <p:cNvSpPr>
            <a:spLocks xmlns:a="http://schemas.openxmlformats.org/drawingml/2006/main" noGrp="1"/>
          </p:cNvSpPr>
          <p:nvPr/>
        </p:nvSpPr>
        <p:spPr>
          <a:xfrm xmlns:a="http://schemas.openxmlformats.org/drawingml/2006/main">
            <a:off x="533400" y="7123938"/>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10" name="table-text-747.92-0-0">
            <a:extLst xmlns:a="http://schemas.openxmlformats.org/drawingml/2006/main">
              <a:ext uri="{FF2B5EF4-FFF2-40B4-BE49-F238E27FC236}">
                <a16:creationId xmlns:a16="http://schemas.microsoft.com/office/drawing/2014/main" id="{68232F8E-2741-44B4-A8E7-524B97CD8E03}"/>
              </a:ext>
            </a:extLst>
          </p:cNvPr>
          <p:cNvSpPr>
            <a:spLocks xmlns:a="http://schemas.openxmlformats.org/drawingml/2006/main" noGrp="1"/>
          </p:cNvSpPr>
          <p:nvPr/>
        </p:nvSpPr>
        <p:spPr>
          <a:xfrm xmlns:a="http://schemas.openxmlformats.org/drawingml/2006/main">
            <a:off x="619125" y="7190613"/>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핵심 질문</a:t>
            </a:r>
          </a:p>
        </p:txBody>
      </p:sp>
      <p:sp>
        <p:nvSpPr>
          <p:cNvPr id="11" name="table-cell-747.92-0-1">
            <a:extLst xmlns:a="http://schemas.openxmlformats.org/drawingml/2006/main">
              <a:ext uri="{FF2B5EF4-FFF2-40B4-BE49-F238E27FC236}">
                <a16:creationId xmlns:a16="http://schemas.microsoft.com/office/drawing/2014/main" id="{034DAC04-AD68-4E75-9F81-35A40CF15CFC}"/>
              </a:ext>
            </a:extLst>
          </p:cNvPr>
          <p:cNvSpPr>
            <a:spLocks xmlns:a="http://schemas.openxmlformats.org/drawingml/2006/main" noGrp="1"/>
          </p:cNvSpPr>
          <p:nvPr/>
        </p:nvSpPr>
        <p:spPr>
          <a:xfrm xmlns:a="http://schemas.openxmlformats.org/drawingml/2006/main">
            <a:off x="3781425" y="7123938"/>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12" name="table-text-747.92-0-1">
            <a:extLst xmlns:a="http://schemas.openxmlformats.org/drawingml/2006/main">
              <a:ext uri="{FF2B5EF4-FFF2-40B4-BE49-F238E27FC236}">
                <a16:creationId xmlns:a16="http://schemas.microsoft.com/office/drawing/2014/main" id="{783D86D1-F57D-4649-80B9-7D5E14085D9E}"/>
              </a:ext>
            </a:extLst>
          </p:cNvPr>
          <p:cNvSpPr>
            <a:spLocks xmlns:a="http://schemas.openxmlformats.org/drawingml/2006/main" noGrp="1"/>
          </p:cNvSpPr>
          <p:nvPr/>
        </p:nvSpPr>
        <p:spPr>
          <a:xfrm xmlns:a="http://schemas.openxmlformats.org/drawingml/2006/main">
            <a:off x="3867150" y="7190613"/>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플레이어의 선택</a:t>
            </a:r>
          </a:p>
        </p:txBody>
      </p:sp>
      <p:sp>
        <p:nvSpPr>
          <p:cNvPr id="13" name="table-cell-747.92-1-0">
            <a:extLst xmlns:a="http://schemas.openxmlformats.org/drawingml/2006/main">
              <a:ext uri="{FF2B5EF4-FFF2-40B4-BE49-F238E27FC236}">
                <a16:creationId xmlns:a16="http://schemas.microsoft.com/office/drawing/2014/main" id="{53F6278F-6304-44AB-8CD3-F27EED2F7CE1}"/>
              </a:ext>
            </a:extLst>
          </p:cNvPr>
          <p:cNvSpPr>
            <a:spLocks xmlns:a="http://schemas.openxmlformats.org/drawingml/2006/main" noGrp="1"/>
          </p:cNvSpPr>
          <p:nvPr/>
        </p:nvSpPr>
        <p:spPr>
          <a:xfrm xmlns:a="http://schemas.openxmlformats.org/drawingml/2006/main">
            <a:off x="533400" y="7581138"/>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4" name="table-text-747.92-1-0">
            <a:extLst xmlns:a="http://schemas.openxmlformats.org/drawingml/2006/main">
              <a:ext uri="{FF2B5EF4-FFF2-40B4-BE49-F238E27FC236}">
                <a16:creationId xmlns:a16="http://schemas.microsoft.com/office/drawing/2014/main" id="{E4DB2482-7B5A-48AB-8A53-DCD2EBB7E3F7}"/>
              </a:ext>
            </a:extLst>
          </p:cNvPr>
          <p:cNvSpPr>
            <a:spLocks xmlns:a="http://schemas.openxmlformats.org/drawingml/2006/main" noGrp="1"/>
          </p:cNvSpPr>
          <p:nvPr/>
        </p:nvSpPr>
        <p:spPr>
          <a:xfrm xmlns:a="http://schemas.openxmlformats.org/drawingml/2006/main">
            <a:off x="619125" y="764781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어떤 속성이 필요한가?</a:t>
            </a:r>
          </a:p>
        </p:txBody>
      </p:sp>
      <p:sp>
        <p:nvSpPr>
          <p:cNvPr id="15" name="table-cell-747.92-1-1">
            <a:extLst xmlns:a="http://schemas.openxmlformats.org/drawingml/2006/main">
              <a:ext uri="{FF2B5EF4-FFF2-40B4-BE49-F238E27FC236}">
                <a16:creationId xmlns:a16="http://schemas.microsoft.com/office/drawing/2014/main" id="{A0580437-BA78-4854-A2ED-B75A796BFB37}"/>
              </a:ext>
            </a:extLst>
          </p:cNvPr>
          <p:cNvSpPr>
            <a:spLocks xmlns:a="http://schemas.openxmlformats.org/drawingml/2006/main" noGrp="1"/>
          </p:cNvSpPr>
          <p:nvPr/>
        </p:nvSpPr>
        <p:spPr>
          <a:xfrm xmlns:a="http://schemas.openxmlformats.org/drawingml/2006/main">
            <a:off x="3781425" y="7581138"/>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6" name="table-text-747.92-1-1">
            <a:extLst xmlns:a="http://schemas.openxmlformats.org/drawingml/2006/main">
              <a:ext uri="{FF2B5EF4-FFF2-40B4-BE49-F238E27FC236}">
                <a16:creationId xmlns:a16="http://schemas.microsoft.com/office/drawing/2014/main" id="{D5B51FF2-FBC8-4518-ACD6-FFF65E666A8C}"/>
              </a:ext>
            </a:extLst>
          </p:cNvPr>
          <p:cNvSpPr>
            <a:spLocks xmlns:a="http://schemas.openxmlformats.org/drawingml/2006/main" noGrp="1"/>
          </p:cNvSpPr>
          <p:nvPr/>
        </p:nvSpPr>
        <p:spPr>
          <a:xfrm xmlns:a="http://schemas.openxmlformats.org/drawingml/2006/main">
            <a:off x="3867150" y="764781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무거움·탄성·점착·뾰족함 중 맵에 맞는 속성을 고른다.</a:t>
            </a:r>
          </a:p>
        </p:txBody>
      </p:sp>
      <p:sp>
        <p:nvSpPr>
          <p:cNvPr id="17" name="table-cell-747.92-2-0">
            <a:extLst xmlns:a="http://schemas.openxmlformats.org/drawingml/2006/main">
              <a:ext uri="{FF2B5EF4-FFF2-40B4-BE49-F238E27FC236}">
                <a16:creationId xmlns:a16="http://schemas.microsoft.com/office/drawing/2014/main" id="{BEA96841-CAFA-4CC0-AD67-A0B04AE858E5}"/>
              </a:ext>
            </a:extLst>
          </p:cNvPr>
          <p:cNvSpPr>
            <a:spLocks xmlns:a="http://schemas.openxmlformats.org/drawingml/2006/main" noGrp="1"/>
          </p:cNvSpPr>
          <p:nvPr/>
        </p:nvSpPr>
        <p:spPr>
          <a:xfrm xmlns:a="http://schemas.openxmlformats.org/drawingml/2006/main">
            <a:off x="533400" y="7981188"/>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8" name="table-text-747.92-2-0">
            <a:extLst xmlns:a="http://schemas.openxmlformats.org/drawingml/2006/main">
              <a:ext uri="{FF2B5EF4-FFF2-40B4-BE49-F238E27FC236}">
                <a16:creationId xmlns:a16="http://schemas.microsoft.com/office/drawing/2014/main" id="{F55101B5-87C2-4327-B048-00E675EE32CB}"/>
              </a:ext>
            </a:extLst>
          </p:cNvPr>
          <p:cNvSpPr>
            <a:spLocks xmlns:a="http://schemas.openxmlformats.org/drawingml/2006/main" noGrp="1"/>
          </p:cNvSpPr>
          <p:nvPr/>
        </p:nvSpPr>
        <p:spPr>
          <a:xfrm xmlns:a="http://schemas.openxmlformats.org/drawingml/2006/main">
            <a:off x="619125" y="804786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속성을 옮긴 뒤 원본은?</a:t>
            </a:r>
          </a:p>
        </p:txBody>
      </p:sp>
      <p:sp>
        <p:nvSpPr>
          <p:cNvPr id="19" name="table-cell-747.92-2-1">
            <a:extLst xmlns:a="http://schemas.openxmlformats.org/drawingml/2006/main">
              <a:ext uri="{FF2B5EF4-FFF2-40B4-BE49-F238E27FC236}">
                <a16:creationId xmlns:a16="http://schemas.microsoft.com/office/drawing/2014/main" id="{8B65D675-B8E0-43C5-9200-17BDCB0B4062}"/>
              </a:ext>
            </a:extLst>
          </p:cNvPr>
          <p:cNvSpPr>
            <a:spLocks xmlns:a="http://schemas.openxmlformats.org/drawingml/2006/main" noGrp="1"/>
          </p:cNvSpPr>
          <p:nvPr/>
        </p:nvSpPr>
        <p:spPr>
          <a:xfrm xmlns:a="http://schemas.openxmlformats.org/drawingml/2006/main">
            <a:off x="3781425" y="7981188"/>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0" name="table-text-747.92-2-1">
            <a:extLst xmlns:a="http://schemas.openxmlformats.org/drawingml/2006/main">
              <a:ext uri="{FF2B5EF4-FFF2-40B4-BE49-F238E27FC236}">
                <a16:creationId xmlns:a16="http://schemas.microsoft.com/office/drawing/2014/main" id="{BC786238-3C40-412A-AA25-A308111AD477}"/>
              </a:ext>
            </a:extLst>
          </p:cNvPr>
          <p:cNvSpPr>
            <a:spLocks xmlns:a="http://schemas.openxmlformats.org/drawingml/2006/main" noGrp="1"/>
          </p:cNvSpPr>
          <p:nvPr/>
        </p:nvSpPr>
        <p:spPr>
          <a:xfrm xmlns:a="http://schemas.openxmlformats.org/drawingml/2006/main">
            <a:off x="3867150" y="804786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18"/>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원본의 속성이 비워져 반응이 달라지는 점까지 이용한다.</a:t>
            </a:r>
          </a:p>
        </p:txBody>
      </p:sp>
      <p:sp>
        <p:nvSpPr>
          <p:cNvPr id="21" name="table-cell-747.92-3-0">
            <a:extLst xmlns:a="http://schemas.openxmlformats.org/drawingml/2006/main">
              <a:ext uri="{FF2B5EF4-FFF2-40B4-BE49-F238E27FC236}">
                <a16:creationId xmlns:a16="http://schemas.microsoft.com/office/drawing/2014/main" id="{64FFC3F7-2BC7-461B-8611-E0B38255D65C}"/>
              </a:ext>
            </a:extLst>
          </p:cNvPr>
          <p:cNvSpPr>
            <a:spLocks xmlns:a="http://schemas.openxmlformats.org/drawingml/2006/main" noGrp="1"/>
          </p:cNvSpPr>
          <p:nvPr/>
        </p:nvSpPr>
        <p:spPr>
          <a:xfrm xmlns:a="http://schemas.openxmlformats.org/drawingml/2006/main">
            <a:off x="533400" y="8381238"/>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2" name="table-text-747.92-3-0">
            <a:extLst xmlns:a="http://schemas.openxmlformats.org/drawingml/2006/main">
              <a:ext uri="{FF2B5EF4-FFF2-40B4-BE49-F238E27FC236}">
                <a16:creationId xmlns:a16="http://schemas.microsoft.com/office/drawing/2014/main" id="{5FBCA70C-3FA7-4FFF-8504-C78E741B3D37}"/>
              </a:ext>
            </a:extLst>
          </p:cNvPr>
          <p:cNvSpPr>
            <a:spLocks xmlns:a="http://schemas.openxmlformats.org/drawingml/2006/main" noGrp="1"/>
          </p:cNvSpPr>
          <p:nvPr/>
        </p:nvSpPr>
        <p:spPr>
          <a:xfrm xmlns:a="http://schemas.openxmlformats.org/drawingml/2006/main">
            <a:off x="619125" y="844791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한 번에 실패하면 끝인가?</a:t>
            </a:r>
          </a:p>
        </p:txBody>
      </p:sp>
      <p:sp>
        <p:nvSpPr>
          <p:cNvPr id="23" name="table-cell-747.92-3-1">
            <a:extLst xmlns:a="http://schemas.openxmlformats.org/drawingml/2006/main">
              <a:ext uri="{FF2B5EF4-FFF2-40B4-BE49-F238E27FC236}">
                <a16:creationId xmlns:a16="http://schemas.microsoft.com/office/drawing/2014/main" id="{CCD7118E-8F04-492B-BAC3-D2C005AA0102}"/>
              </a:ext>
            </a:extLst>
          </p:cNvPr>
          <p:cNvSpPr>
            <a:spLocks xmlns:a="http://schemas.openxmlformats.org/drawingml/2006/main" noGrp="1"/>
          </p:cNvSpPr>
          <p:nvPr/>
        </p:nvSpPr>
        <p:spPr>
          <a:xfrm xmlns:a="http://schemas.openxmlformats.org/drawingml/2006/main">
            <a:off x="3781425" y="8381238"/>
            <a:ext cx="3248025"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4" name="table-text-747.92-3-1">
            <a:extLst xmlns:a="http://schemas.openxmlformats.org/drawingml/2006/main">
              <a:ext uri="{FF2B5EF4-FFF2-40B4-BE49-F238E27FC236}">
                <a16:creationId xmlns:a16="http://schemas.microsoft.com/office/drawing/2014/main" id="{FF53964E-3FBA-471D-8E08-68CA13782C55}"/>
              </a:ext>
            </a:extLst>
          </p:cNvPr>
          <p:cNvSpPr>
            <a:spLocks xmlns:a="http://schemas.openxmlformats.org/drawingml/2006/main" noGrp="1"/>
          </p:cNvSpPr>
          <p:nvPr/>
        </p:nvSpPr>
        <p:spPr>
          <a:xfrm xmlns:a="http://schemas.openxmlformats.org/drawingml/2006/main">
            <a:off x="3867150" y="844791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468"/>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아니다. 잔류 공과 바뀐 장면 상태가 다음 샷의 전략 자원이 된다.</a:t>
            </a:r>
          </a:p>
        </p:txBody>
      </p:sp>
    </p:spTree>
    <p:extLst>
      <p:ext uri="{BB962C8B-B14F-4D97-AF65-F5344CB8AC3E}">
        <p14:creationId xmlns:p14="http://schemas.microsoft.com/office/powerpoint/2010/main" val="55871413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unning-label">
            <a:extLst xmlns:a="http://schemas.openxmlformats.org/drawingml/2006/main">
              <a:ext uri="{FF2B5EF4-FFF2-40B4-BE49-F238E27FC236}">
                <a16:creationId xmlns:a16="http://schemas.microsoft.com/office/drawing/2014/main" id="{D284A4E1-98A6-488F-B660-0B30722B60CD}"/>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15288CF7-08ED-4C08-B033-39A6C9F487BA}"/>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4</a:t>
            </a:r>
          </a:p>
        </p:txBody>
      </p:sp>
      <p:sp>
        <p:nvSpPr>
          <p:cNvPr id="3" name="header-rule">
            <a:extLst xmlns:a="http://schemas.openxmlformats.org/drawingml/2006/main">
              <a:ext uri="{FF2B5EF4-FFF2-40B4-BE49-F238E27FC236}">
                <a16:creationId xmlns:a16="http://schemas.microsoft.com/office/drawing/2014/main" id="{54F11E26-E393-4C58-9648-B792D2649722}"/>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A046ED91-7A9B-4AF6-9555-581CDC773D01}"/>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2. 게임 방법</a:t>
            </a:r>
          </a:p>
        </p:txBody>
      </p:sp>
      <p:sp>
        <p:nvSpPr>
          <p:cNvPr id="5" name="subheading-140">
            <a:extLst xmlns:a="http://schemas.openxmlformats.org/drawingml/2006/main">
              <a:ext uri="{FF2B5EF4-FFF2-40B4-BE49-F238E27FC236}">
                <a16:creationId xmlns:a16="http://schemas.microsoft.com/office/drawing/2014/main" id="{1B568433-05C1-478F-A118-4DB847678E40}"/>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2.1 목표</a:t>
            </a:r>
          </a:p>
        </p:txBody>
      </p:sp>
      <p:sp>
        <p:nvSpPr>
          <p:cNvPr id="6" name="paragraph-194">
            <a:extLst xmlns:a="http://schemas.openxmlformats.org/drawingml/2006/main">
              <a:ext uri="{FF2B5EF4-FFF2-40B4-BE49-F238E27FC236}">
                <a16:creationId xmlns:a16="http://schemas.microsoft.com/office/drawing/2014/main" id="{410E7B5D-B776-4996-AD4A-538E494EFD39}"/>
              </a:ext>
            </a:extLst>
          </p:cNvPr>
          <p:cNvSpPr>
            <a:spLocks xmlns:a="http://schemas.openxmlformats.org/drawingml/2006/main" noGrp="1"/>
          </p:cNvSpPr>
          <p:nvPr/>
        </p:nvSpPr>
        <p:spPr>
          <a:xfrm xmlns:a="http://schemas.openxmlformats.org/drawingml/2006/main">
            <a:off x="533400" y="184785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각 패턴의 홀에 현재 공 또는 이전 샷의 잔류 공을 넣으면 클리어한다. 일부 단계는 스위치·문·풍선·파워 발판·회전 반사판을 먼저 작동해야 홀 경로가 열린다.</a:t>
            </a:r>
          </a:p>
        </p:txBody>
      </p:sp>
      <p:sp>
        <p:nvSpPr>
          <p:cNvPr id="7" name="subheading-266.64">
            <a:extLst xmlns:a="http://schemas.openxmlformats.org/drawingml/2006/main">
              <a:ext uri="{FF2B5EF4-FFF2-40B4-BE49-F238E27FC236}">
                <a16:creationId xmlns:a16="http://schemas.microsoft.com/office/drawing/2014/main" id="{A0F02758-A53B-4112-B559-B0ABF6F77052}"/>
              </a:ext>
            </a:extLst>
          </p:cNvPr>
          <p:cNvSpPr>
            <a:spLocks xmlns:a="http://schemas.openxmlformats.org/drawingml/2006/main" noGrp="1"/>
          </p:cNvSpPr>
          <p:nvPr/>
        </p:nvSpPr>
        <p:spPr>
          <a:xfrm xmlns:a="http://schemas.openxmlformats.org/drawingml/2006/main">
            <a:off x="533400" y="253974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2.2 조작</a:t>
            </a:r>
          </a:p>
        </p:txBody>
      </p:sp>
      <p:sp>
        <p:nvSpPr>
          <p:cNvPr id="8" name="bullets-320.64">
            <a:extLst xmlns:a="http://schemas.openxmlformats.org/drawingml/2006/main">
              <a:ext uri="{FF2B5EF4-FFF2-40B4-BE49-F238E27FC236}">
                <a16:creationId xmlns:a16="http://schemas.microsoft.com/office/drawing/2014/main" id="{65DE4B9E-5F84-48AF-9B2B-E5D30AD4EB0A}"/>
              </a:ext>
            </a:extLst>
          </p:cNvPr>
          <p:cNvSpPr>
            <a:spLocks xmlns:a="http://schemas.openxmlformats.org/drawingml/2006/main" noGrp="1"/>
          </p:cNvSpPr>
          <p:nvPr/>
        </p:nvSpPr>
        <p:spPr>
          <a:xfrm xmlns:a="http://schemas.openxmlformats.org/drawingml/2006/main">
            <a:off x="533400" y="3054096"/>
            <a:ext cx="6496050" cy="250088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속성이 있는 오브젝트를 눌러 속성을 선택한다.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이전을 선택하면 공이 속성을 얻고 원본은 비워진다. 복제 코어가 있으면 복사도 가능하다.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공에서 드래그해 발사 방향을 정한다.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공을 길게 누르면 공 근처에서 기믹을 피해 배치된 부유 직선 충전 게이지가 아래에서 위로 찬다.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초록(약함) → 노랑(보통) → 빨강(강함) → 점멸 빨강(과충전 직전) → 회색(취소) 순서를 보고 손을 떼어 발사한다.</a:t>
            </a:r>
          </a:p>
        </p:txBody>
      </p:sp>
      <p:sp>
        <p:nvSpPr>
          <p:cNvPr id="9" name="bullets-593.2">
            <a:extLst xmlns:a="http://schemas.openxmlformats.org/drawingml/2006/main">
              <a:ext uri="{FF2B5EF4-FFF2-40B4-BE49-F238E27FC236}">
                <a16:creationId xmlns:a16="http://schemas.microsoft.com/office/drawing/2014/main" id="{EEA91198-A9FD-40F0-9C75-7B1D8E5EF329}"/>
              </a:ext>
            </a:extLst>
          </p:cNvPr>
          <p:cNvSpPr>
            <a:spLocks xmlns:a="http://schemas.openxmlformats.org/drawingml/2006/main" noGrp="1"/>
          </p:cNvSpPr>
          <p:nvPr/>
        </p:nvSpPr>
        <p:spPr>
          <a:xfrm xmlns:a="http://schemas.openxmlformats.org/drawingml/2006/main">
            <a:off x="533400" y="5650230"/>
            <a:ext cx="6496050" cy="8854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게이지는 기본 오른손 설정에서 공의 왼쪽 후보, 왼손 설정에서 오른쪽 후보를 우선하되 홀·풍선·파워 슬라이더·열쇠 등 핵심 기물과 겹치지 않는 위치를 자동 선택한다. 저모션 또는 강한 점멸 끄기에서는 경고가 정적으로 표시된다.</a:t>
            </a:r>
          </a:p>
        </p:txBody>
      </p:sp>
    </p:spTree>
    <p:extLst>
      <p:ext uri="{BB962C8B-B14F-4D97-AF65-F5344CB8AC3E}">
        <p14:creationId xmlns:p14="http://schemas.microsoft.com/office/powerpoint/2010/main" val="19104468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unning-label">
            <a:extLst xmlns:a="http://schemas.openxmlformats.org/drawingml/2006/main">
              <a:ext uri="{FF2B5EF4-FFF2-40B4-BE49-F238E27FC236}">
                <a16:creationId xmlns:a16="http://schemas.microsoft.com/office/drawing/2014/main" id="{05C9F711-A9E4-4C08-BEB7-DF9813E3DC54}"/>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1EAA765D-FB4A-4592-B04E-3491E90BE6A5}"/>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5</a:t>
            </a:r>
          </a:p>
        </p:txBody>
      </p:sp>
      <p:sp>
        <p:nvSpPr>
          <p:cNvPr id="3" name="header-rule">
            <a:extLst xmlns:a="http://schemas.openxmlformats.org/drawingml/2006/main">
              <a:ext uri="{FF2B5EF4-FFF2-40B4-BE49-F238E27FC236}">
                <a16:creationId xmlns:a16="http://schemas.microsoft.com/office/drawing/2014/main" id="{7F2BBD17-B7A2-409E-B8D4-5992A2C5953B}"/>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F92EEE56-275C-473B-80CB-A8EC8B6ED19F}"/>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2. 게임 방법 · 계속</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85490ee31194474f"/>
          <a:stretch xmlns:a="http://schemas.openxmlformats.org/drawingml/2006/main"/>
        </p:blipFill>
        <p:spPr>
          <a:xfrm xmlns:a="http://schemas.openxmlformats.org/drawingml/2006/main">
            <a:off x="3055200" y="1333500"/>
            <a:ext cx="14524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E648A651-9B4A-4347-9B4D-A842A35E247B}"/>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무거움 돌을 선택한 뒤 공으로 속성을 이전하거나 복사하는 선택 팝업</a:t>
            </a:r>
          </a:p>
        </p:txBody>
      </p:sp>
      <p:sp>
        <p:nvSpPr>
          <p:cNvPr id="7" name="subheading-524">
            <a:extLst xmlns:a="http://schemas.openxmlformats.org/drawingml/2006/main">
              <a:ext uri="{FF2B5EF4-FFF2-40B4-BE49-F238E27FC236}">
                <a16:creationId xmlns:a16="http://schemas.microsoft.com/office/drawing/2014/main" id="{5A689B61-DC7B-4C2C-9570-FD5A74DBD9DE}"/>
              </a:ext>
            </a:extLst>
          </p:cNvPr>
          <p:cNvSpPr>
            <a:spLocks xmlns:a="http://schemas.openxmlformats.org/drawingml/2006/main" noGrp="1"/>
          </p:cNvSpPr>
          <p:nvPr/>
        </p:nvSpPr>
        <p:spPr>
          <a:xfrm xmlns:a="http://schemas.openxmlformats.org/drawingml/2006/main">
            <a:off x="533400" y="49911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2.3 종료 조건</a:t>
            </a:r>
          </a:p>
        </p:txBody>
      </p:sp>
      <p:sp>
        <p:nvSpPr>
          <p:cNvPr id="8" name="bullets-578">
            <a:extLst xmlns:a="http://schemas.openxmlformats.org/drawingml/2006/main">
              <a:ext uri="{FF2B5EF4-FFF2-40B4-BE49-F238E27FC236}">
                <a16:creationId xmlns:a16="http://schemas.microsoft.com/office/drawing/2014/main" id="{D5B8FF61-71DF-4E26-8E11-B997619BBCE2}"/>
              </a:ext>
            </a:extLst>
          </p:cNvPr>
          <p:cNvSpPr>
            <a:spLocks xmlns:a="http://schemas.openxmlformats.org/drawingml/2006/main" noGrp="1"/>
          </p:cNvSpPr>
          <p:nvPr/>
        </p:nvSpPr>
        <p:spPr>
          <a:xfrm xmlns:a="http://schemas.openxmlformats.org/drawingml/2006/main">
            <a:off x="533400" y="5505450"/>
            <a:ext cx="6496050" cy="1691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성공: 공이 홀에 들어가면 점수·진행 해금·보상 선택을 처리한다.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실패 샷: 즉시 게임오버가 되지 않는다. 장치 상태와 잔류 공을 유지해 다음 샷으로 이어간다.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과충전: 게이지가 회색이 되면 해당 발사는 취소된다.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되감기/초기화: 직전 상태로 되돌리거나 현재 패턴을 처음부터 다시 시도할 수 있다.</a:t>
            </a:r>
          </a:p>
        </p:txBody>
      </p:sp>
    </p:spTree>
    <p:extLst>
      <p:ext uri="{BB962C8B-B14F-4D97-AF65-F5344CB8AC3E}">
        <p14:creationId xmlns:p14="http://schemas.microsoft.com/office/powerpoint/2010/main" val="97316022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running-label">
            <a:extLst xmlns:a="http://schemas.openxmlformats.org/drawingml/2006/main">
              <a:ext uri="{FF2B5EF4-FFF2-40B4-BE49-F238E27FC236}">
                <a16:creationId xmlns:a16="http://schemas.microsoft.com/office/drawing/2014/main" id="{B54518D8-E3F9-4100-A456-1BDC8D41AE42}"/>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1EC4CE4A-6B31-49AF-A1E5-071BE12AEBB5}"/>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6</a:t>
            </a:r>
          </a:p>
        </p:txBody>
      </p:sp>
      <p:sp>
        <p:nvSpPr>
          <p:cNvPr id="3" name="header-rule">
            <a:extLst xmlns:a="http://schemas.openxmlformats.org/drawingml/2006/main">
              <a:ext uri="{FF2B5EF4-FFF2-40B4-BE49-F238E27FC236}">
                <a16:creationId xmlns:a16="http://schemas.microsoft.com/office/drawing/2014/main" id="{5658A824-B1EB-4557-A886-C3F1FEB9702A}"/>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FEF4ED0C-8409-44F0-B76F-0C0196DE9B9D}"/>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3. 난이도와 튜토리얼</a:t>
            </a:r>
          </a:p>
        </p:txBody>
      </p:sp>
      <p:sp>
        <p:nvSpPr>
          <p:cNvPr id="5" name="subheading-140">
            <a:extLst xmlns:a="http://schemas.openxmlformats.org/drawingml/2006/main">
              <a:ext uri="{FF2B5EF4-FFF2-40B4-BE49-F238E27FC236}">
                <a16:creationId xmlns:a16="http://schemas.microsoft.com/office/drawing/2014/main" id="{CF2E9D31-3FD4-423D-B843-42053752F2F9}"/>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3.1 보통 모드</a:t>
            </a:r>
          </a:p>
        </p:txBody>
      </p:sp>
      <p:sp>
        <p:nvSpPr>
          <p:cNvPr id="6" name="paragraph-194">
            <a:extLst xmlns:a="http://schemas.openxmlformats.org/drawingml/2006/main">
              <a:ext uri="{FF2B5EF4-FFF2-40B4-BE49-F238E27FC236}">
                <a16:creationId xmlns:a16="http://schemas.microsoft.com/office/drawing/2014/main" id="{38202652-B804-43B1-B0AF-B74BBA73A425}"/>
              </a:ext>
            </a:extLst>
          </p:cNvPr>
          <p:cNvSpPr>
            <a:spLocks xmlns:a="http://schemas.openxmlformats.org/drawingml/2006/main" noGrp="1"/>
          </p:cNvSpPr>
          <p:nvPr/>
        </p:nvSpPr>
        <p:spPr>
          <a:xfrm xmlns:a="http://schemas.openxmlformats.org/drawingml/2006/main">
            <a:off x="533400" y="184785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기존 조준 표시만 제공한다. 예상 충돌 위치는 표시하지 않으며 최고 점수와 선택 도전 기록은 보통 모드 결과로 관리한다.</a:t>
            </a:r>
          </a:p>
        </p:txBody>
      </p:sp>
      <p:sp>
        <p:nvSpPr>
          <p:cNvPr id="7" name="subheading-266.64">
            <a:extLst xmlns:a="http://schemas.openxmlformats.org/drawingml/2006/main">
              <a:ext uri="{FF2B5EF4-FFF2-40B4-BE49-F238E27FC236}">
                <a16:creationId xmlns:a16="http://schemas.microsoft.com/office/drawing/2014/main" id="{818D0FB4-5CAD-4661-8FFA-E150D9D36CF7}"/>
              </a:ext>
            </a:extLst>
          </p:cNvPr>
          <p:cNvSpPr>
            <a:spLocks xmlns:a="http://schemas.openxmlformats.org/drawingml/2006/main" noGrp="1"/>
          </p:cNvSpPr>
          <p:nvPr/>
        </p:nvSpPr>
        <p:spPr>
          <a:xfrm xmlns:a="http://schemas.openxmlformats.org/drawingml/2006/main">
            <a:off x="533400" y="253974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3.2 쉬움 모드</a:t>
            </a:r>
          </a:p>
        </p:txBody>
      </p:sp>
      <p:sp>
        <p:nvSpPr>
          <p:cNvPr id="8" name="paragraph-320.64">
            <a:extLst xmlns:a="http://schemas.openxmlformats.org/drawingml/2006/main">
              <a:ext uri="{FF2B5EF4-FFF2-40B4-BE49-F238E27FC236}">
                <a16:creationId xmlns:a16="http://schemas.microsoft.com/office/drawing/2014/main" id="{CD3EAEC6-50BD-446D-B3BB-7656C80DE194}"/>
              </a:ext>
            </a:extLst>
          </p:cNvPr>
          <p:cNvSpPr>
            <a:spLocks xmlns:a="http://schemas.openxmlformats.org/drawingml/2006/main" noGrp="1"/>
          </p:cNvSpPr>
          <p:nvPr/>
        </p:nvSpPr>
        <p:spPr>
          <a:xfrm xmlns:a="http://schemas.openxmlformats.org/drawingml/2006/main">
            <a:off x="533400" y="3054096"/>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조준 중 실제 판정기와 같은 계산을 읽기 전용으로 실행해 예상 첫 도착 위치를 마름모와 예상 라벨로 표시한다. 첫 벽·기물 충돌, 홀 진입, 파워 슬라이더 진입, 충돌이 없을 때의 사거리 끝을 구분한다.</a:t>
            </a:r>
          </a:p>
        </p:txBody>
      </p:sp>
      <p:sp>
        <p:nvSpPr>
          <p:cNvPr id="9" name="paragraph-417.6">
            <a:extLst xmlns:a="http://schemas.openxmlformats.org/drawingml/2006/main">
              <a:ext uri="{FF2B5EF4-FFF2-40B4-BE49-F238E27FC236}">
                <a16:creationId xmlns:a16="http://schemas.microsoft.com/office/drawing/2014/main" id="{FBDE95F8-643D-41BA-8403-E01386CFB3E5}"/>
              </a:ext>
            </a:extLst>
          </p:cNvPr>
          <p:cNvSpPr>
            <a:spLocks xmlns:a="http://schemas.openxmlformats.org/drawingml/2006/main" noGrp="1"/>
          </p:cNvSpPr>
          <p:nvPr/>
        </p:nvSpPr>
        <p:spPr>
          <a:xfrm xmlns:a="http://schemas.openxmlformats.org/drawingml/2006/main">
            <a:off x="533400" y="397764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쉬움 클리어도 다음 단계 해금에는 반영되지만 보통 최고 기록과 선택 도전 기록을 덮지 않는다. 공식 오늘의 도전은 보통 모드로 고정된다.</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dcce27c54c848fc"/>
          <a:stretch xmlns:a="http://schemas.openxmlformats.org/drawingml/2006/main"/>
        </p:blipFill>
        <p:spPr>
          <a:xfrm xmlns:a="http://schemas.openxmlformats.org/drawingml/2006/main">
            <a:off x="3055200" y="4669536"/>
            <a:ext cx="1452450" cy="3143250"/>
          </a:xfrm>
          <a:prstGeom xmlns:a="http://schemas.openxmlformats.org/drawingml/2006/main" prst="roundRect">
            <a:avLst>
              <a:gd name="adj" fmla="val 3636"/>
            </a:avLst>
          </a:prstGeom>
        </p:spPr>
      </p:pic>
      <p:sp>
        <p:nvSpPr>
          <p:cNvPr id="11" name="image-caption-490.24">
            <a:extLst xmlns:a="http://schemas.openxmlformats.org/drawingml/2006/main">
              <a:ext uri="{FF2B5EF4-FFF2-40B4-BE49-F238E27FC236}">
                <a16:creationId xmlns:a16="http://schemas.microsoft.com/office/drawing/2014/main" id="{9922B2BE-6DB4-4546-AC8A-A7928936C4F2}"/>
              </a:ext>
            </a:extLst>
          </p:cNvPr>
          <p:cNvSpPr>
            <a:spLocks xmlns:a="http://schemas.openxmlformats.org/drawingml/2006/main" noGrp="1"/>
          </p:cNvSpPr>
          <p:nvPr/>
        </p:nvSpPr>
        <p:spPr>
          <a:xfrm xmlns:a="http://schemas.openxmlformats.org/drawingml/2006/main">
            <a:off x="666750" y="7869936"/>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쉬움 모드에서 조준선 앞의 마름모와 예상 라벨로 첫 도착 지점을 알리는 화면</a:t>
            </a:r>
          </a:p>
        </p:txBody>
      </p:sp>
      <p:sp>
        <p:nvSpPr>
          <p:cNvPr id="12" name="subheading-874.24">
            <a:extLst xmlns:a="http://schemas.openxmlformats.org/drawingml/2006/main">
              <a:ext uri="{FF2B5EF4-FFF2-40B4-BE49-F238E27FC236}">
                <a16:creationId xmlns:a16="http://schemas.microsoft.com/office/drawing/2014/main" id="{7DA9310B-1567-4A8C-A4E8-D9F4E593A934}"/>
              </a:ext>
            </a:extLst>
          </p:cNvPr>
          <p:cNvSpPr>
            <a:spLocks xmlns:a="http://schemas.openxmlformats.org/drawingml/2006/main" noGrp="1"/>
          </p:cNvSpPr>
          <p:nvPr/>
        </p:nvSpPr>
        <p:spPr>
          <a:xfrm xmlns:a="http://schemas.openxmlformats.org/drawingml/2006/main">
            <a:off x="533400" y="832713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3.3 첫 학습 경로 완화</a:t>
            </a:r>
          </a:p>
        </p:txBody>
      </p:sp>
    </p:spTree>
    <p:extLst>
      <p:ext uri="{BB962C8B-B14F-4D97-AF65-F5344CB8AC3E}">
        <p14:creationId xmlns:p14="http://schemas.microsoft.com/office/powerpoint/2010/main" val="132094387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unning-label">
            <a:extLst xmlns:a="http://schemas.openxmlformats.org/drawingml/2006/main">
              <a:ext uri="{FF2B5EF4-FFF2-40B4-BE49-F238E27FC236}">
                <a16:creationId xmlns:a16="http://schemas.microsoft.com/office/drawing/2014/main" id="{0BB81F0D-BEAE-40E8-BCE5-080627823F47}"/>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36093510-B225-44C9-9DFA-A552789EFA17}"/>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7</a:t>
            </a:r>
          </a:p>
        </p:txBody>
      </p:sp>
      <p:sp>
        <p:nvSpPr>
          <p:cNvPr id="3" name="header-rule">
            <a:extLst xmlns:a="http://schemas.openxmlformats.org/drawingml/2006/main">
              <a:ext uri="{FF2B5EF4-FFF2-40B4-BE49-F238E27FC236}">
                <a16:creationId xmlns:a16="http://schemas.microsoft.com/office/drawing/2014/main" id="{41D0B4E4-B2C1-4441-900E-BB22F8F58924}"/>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6577A991-AB54-4320-AC22-E5E99CB80B6E}"/>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3. 난이도와 튜토리얼 · 계속</a:t>
            </a:r>
          </a:p>
        </p:txBody>
      </p:sp>
      <p:sp>
        <p:nvSpPr>
          <p:cNvPr id="5" name="paragraph-140">
            <a:extLst xmlns:a="http://schemas.openxmlformats.org/drawingml/2006/main">
              <a:ext uri="{FF2B5EF4-FFF2-40B4-BE49-F238E27FC236}">
                <a16:creationId xmlns:a16="http://schemas.microsoft.com/office/drawing/2014/main" id="{0C4D0FCA-FB98-44AD-BA13-19476C8EA02C}"/>
              </a:ext>
            </a:extLst>
          </p:cNvPr>
          <p:cNvSpPr>
            <a:spLocks xmlns:a="http://schemas.openxmlformats.org/drawingml/2006/main" noGrp="1"/>
          </p:cNvSpPr>
          <p:nvPr/>
        </p:nvSpPr>
        <p:spPr>
          <a:xfrm xmlns:a="http://schemas.openxmlformats.org/drawingml/2006/main">
            <a:off x="533400" y="133350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캠페인 1–4단계를 처음 배우는 동안에는 각 단계의 기준 패턴을 먼저 제시한다. 실패하면 정답 각도나 힘을 공개하지 않고 무거움→상자, 탄성→벽, 무거움→스위치→문, 뾰족함→풍선→스위치처럼 기믹의 인과관계만 설명한다. 재시도·저장 재개·오늘의 도전·리플레이의 기존 결정론은 그대로 유지된다.</a:t>
            </a:r>
          </a:p>
        </p:txBody>
      </p:sp>
      <p:sp>
        <p:nvSpPr>
          <p:cNvPr id="6" name="subheading-261.28">
            <a:extLst xmlns:a="http://schemas.openxmlformats.org/drawingml/2006/main">
              <a:ext uri="{FF2B5EF4-FFF2-40B4-BE49-F238E27FC236}">
                <a16:creationId xmlns:a16="http://schemas.microsoft.com/office/drawing/2014/main" id="{DCDC14FB-46B2-4B04-BE93-9CF5900C99DD}"/>
              </a:ext>
            </a:extLst>
          </p:cNvPr>
          <p:cNvSpPr>
            <a:spLocks xmlns:a="http://schemas.openxmlformats.org/drawingml/2006/main" noGrp="1"/>
          </p:cNvSpPr>
          <p:nvPr/>
        </p:nvSpPr>
        <p:spPr>
          <a:xfrm xmlns:a="http://schemas.openxmlformats.org/drawingml/2006/main">
            <a:off x="533400" y="2488692"/>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3.4 패턴별 클리어 팁과 열쇠</a:t>
            </a:r>
          </a:p>
        </p:txBody>
      </p:sp>
      <p:sp>
        <p:nvSpPr>
          <p:cNvPr id="7" name="paragraph-315.28">
            <a:extLst xmlns:a="http://schemas.openxmlformats.org/drawingml/2006/main">
              <a:ext uri="{FF2B5EF4-FFF2-40B4-BE49-F238E27FC236}">
                <a16:creationId xmlns:a16="http://schemas.microsoft.com/office/drawing/2014/main" id="{08632920-2558-4DA4-B7B1-7E0CB3874CAC}"/>
              </a:ext>
            </a:extLst>
          </p:cNvPr>
          <p:cNvSpPr>
            <a:spLocks xmlns:a="http://schemas.openxmlformats.org/drawingml/2006/main" noGrp="1"/>
          </p:cNvSpPr>
          <p:nvPr/>
        </p:nvSpPr>
        <p:spPr>
          <a:xfrm xmlns:a="http://schemas.openxmlformats.org/drawingml/2006/main">
            <a:off x="533400" y="3003042"/>
            <a:ext cx="6496050" cy="12725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40개 패턴마다 L1·L2 두 단계의 팁을 제공한다. L1은 목표 기믹과 첫 행동, L2는 조준 위치·세기·행동 순서·예상 결과를 구체적으로 설명한다. 다음 단계 팁 보상을 선택하거나, 스테이지의 비물리 열쇠에 공을 직접 닿게 하면 해당 stageId + patternId + hintVersion의 팁 버튼이 열린다. 열쇠는 물리·점수·클리어 경로를 바꾸지 않으며 저장이 성공한 뒤에만 획득 효과가 나타난다.</a:t>
            </a:r>
          </a:p>
        </p:txBody>
      </p:sp>
      <p:sp>
        <p:nvSpPr>
          <p:cNvPr id="8" name="paragraph-460.88">
            <a:extLst xmlns:a="http://schemas.openxmlformats.org/drawingml/2006/main">
              <a:ext uri="{FF2B5EF4-FFF2-40B4-BE49-F238E27FC236}">
                <a16:creationId xmlns:a16="http://schemas.microsoft.com/office/drawing/2014/main" id="{B46709E0-D07D-43E8-AEE3-41F00EF31664}"/>
              </a:ext>
            </a:extLst>
          </p:cNvPr>
          <p:cNvSpPr>
            <a:spLocks xmlns:a="http://schemas.openxmlformats.org/drawingml/2006/main" noGrp="1"/>
          </p:cNvSpPr>
          <p:nvPr/>
        </p:nvSpPr>
        <p:spPr>
          <a:xfrm xmlns:a="http://schemas.openxmlformats.org/drawingml/2006/main">
            <a:off x="533400" y="4389882"/>
            <a:ext cx="6496050" cy="8092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작은 모바일 클리어 화면에서는 다음 스테이지 팁을 포함한 보상 선택이 점수 상세보다 먼저 보이고, 다음 버튼은 SafeArea 안의 고정 footer에 남는다. 일일 도전은 힌트 UI를 제공하지 않으므로 사용할 수 없는 팁 보상도 후보에서 제외한다.</a:t>
            </a:r>
          </a:p>
        </p:txBody>
      </p:sp>
    </p:spTree>
    <p:extLst>
      <p:ext uri="{BB962C8B-B14F-4D97-AF65-F5344CB8AC3E}">
        <p14:creationId xmlns:p14="http://schemas.microsoft.com/office/powerpoint/2010/main" val="12187078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unning-label">
            <a:extLst xmlns:a="http://schemas.openxmlformats.org/drawingml/2006/main">
              <a:ext uri="{FF2B5EF4-FFF2-40B4-BE49-F238E27FC236}">
                <a16:creationId xmlns:a16="http://schemas.microsoft.com/office/drawing/2014/main" id="{8C49351E-D9AA-482A-9C43-284646DEF5BC}"/>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B9915BAA-42C6-430C-B722-48328EE06A6C}"/>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8</a:t>
            </a:r>
          </a:p>
        </p:txBody>
      </p:sp>
      <p:sp>
        <p:nvSpPr>
          <p:cNvPr id="3" name="header-rule">
            <a:extLst xmlns:a="http://schemas.openxmlformats.org/drawingml/2006/main">
              <a:ext uri="{FF2B5EF4-FFF2-40B4-BE49-F238E27FC236}">
                <a16:creationId xmlns:a16="http://schemas.microsoft.com/office/drawing/2014/main" id="{DB0DB796-9D66-4D35-9180-F9B242F22B5C}"/>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CE67DAA8-E8FF-4026-B70E-134F6697FFBE}"/>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학습 곡선의 핵심 기믹</a:t>
            </a:r>
          </a:p>
        </p:txBody>
      </p:sp>
      <p:sp>
        <p:nvSpPr>
          <p:cNvPr id="5" name="subheading-140">
            <a:extLst xmlns:a="http://schemas.openxmlformats.org/drawingml/2006/main">
              <a:ext uri="{FF2B5EF4-FFF2-40B4-BE49-F238E27FC236}">
                <a16:creationId xmlns:a16="http://schemas.microsoft.com/office/drawing/2014/main" id="{4FFA1B60-12DC-4FA1-BE66-97740C9FEE92}"/>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4.1 무거움</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a3602c017434480"/>
          <a:stretch xmlns:a="http://schemas.openxmlformats.org/drawingml/2006/main"/>
        </p:blipFill>
        <p:spPr>
          <a:xfrm xmlns:a="http://schemas.openxmlformats.org/drawingml/2006/main">
            <a:off x="2209800" y="1847850"/>
            <a:ext cx="3143250" cy="3143250"/>
          </a:xfrm>
          <a:prstGeom xmlns:a="http://schemas.openxmlformats.org/drawingml/2006/main" prst="roundRect">
            <a:avLst>
              <a:gd name="adj" fmla="val 3636"/>
            </a:avLst>
          </a:prstGeom>
        </p:spPr>
      </p:pic>
      <p:sp>
        <p:nvSpPr>
          <p:cNvPr id="7" name="image-caption-194">
            <a:extLst xmlns:a="http://schemas.openxmlformats.org/drawingml/2006/main">
              <a:ext uri="{FF2B5EF4-FFF2-40B4-BE49-F238E27FC236}">
                <a16:creationId xmlns:a16="http://schemas.microsoft.com/office/drawing/2014/main" id="{CDCB7E49-D130-4358-A0A7-CA10EA5569C3}"/>
              </a:ext>
            </a:extLst>
          </p:cNvPr>
          <p:cNvSpPr>
            <a:spLocks xmlns:a="http://schemas.openxmlformats.org/drawingml/2006/main" noGrp="1"/>
          </p:cNvSpPr>
          <p:nvPr/>
        </p:nvSpPr>
        <p:spPr>
          <a:xfrm xmlns:a="http://schemas.openxmlformats.org/drawingml/2006/main">
            <a:off x="666750" y="504825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운동량 전달 기믹을 나타내는 짙은 회색 무거움 돌 애셋</a:t>
            </a:r>
          </a:p>
        </p:txBody>
      </p:sp>
      <p:sp>
        <p:nvSpPr>
          <p:cNvPr id="8" name="paragraph-578">
            <a:extLst xmlns:a="http://schemas.openxmlformats.org/drawingml/2006/main">
              <a:ext uri="{FF2B5EF4-FFF2-40B4-BE49-F238E27FC236}">
                <a16:creationId xmlns:a16="http://schemas.microsoft.com/office/drawing/2014/main" id="{481E3566-6020-4BA0-9219-83B90F360720}"/>
              </a:ext>
            </a:extLst>
          </p:cNvPr>
          <p:cNvSpPr>
            <a:spLocks xmlns:a="http://schemas.openxmlformats.org/drawingml/2006/main" noGrp="1"/>
          </p:cNvSpPr>
          <p:nvPr/>
        </p:nvSpPr>
        <p:spPr>
          <a:xfrm xmlns:a="http://schemas.openxmlformats.org/drawingml/2006/main">
            <a:off x="533400" y="550545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무거운 공은 상자와 장치에 더 큰 운동량을 전달한다. 속성을 이전한 돌은 비워진 원본으로 남아 이후 경로 설계에 다시 사용될 수 있다.</a:t>
            </a:r>
          </a:p>
        </p:txBody>
      </p:sp>
      <p:sp>
        <p:nvSpPr>
          <p:cNvPr id="9" name="subheading-650.64">
            <a:extLst xmlns:a="http://schemas.openxmlformats.org/drawingml/2006/main">
              <a:ext uri="{FF2B5EF4-FFF2-40B4-BE49-F238E27FC236}">
                <a16:creationId xmlns:a16="http://schemas.microsoft.com/office/drawing/2014/main" id="{D71967B6-E122-4947-A94C-D56448F27D19}"/>
              </a:ext>
            </a:extLst>
          </p:cNvPr>
          <p:cNvSpPr>
            <a:spLocks xmlns:a="http://schemas.openxmlformats.org/drawingml/2006/main" noGrp="1"/>
          </p:cNvSpPr>
          <p:nvPr/>
        </p:nvSpPr>
        <p:spPr>
          <a:xfrm xmlns:a="http://schemas.openxmlformats.org/drawingml/2006/main">
            <a:off x="533400" y="619734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4.2 탄성</a:t>
            </a:r>
          </a:p>
        </p:txBody>
      </p:sp>
    </p:spTree>
    <p:extLst>
      <p:ext uri="{BB962C8B-B14F-4D97-AF65-F5344CB8AC3E}">
        <p14:creationId xmlns:p14="http://schemas.microsoft.com/office/powerpoint/2010/main" val="15465551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running-label">
            <a:extLst xmlns:a="http://schemas.openxmlformats.org/drawingml/2006/main">
              <a:ext uri="{FF2B5EF4-FFF2-40B4-BE49-F238E27FC236}">
                <a16:creationId xmlns:a16="http://schemas.microsoft.com/office/drawing/2014/main" id="{4827C370-9A19-4DEE-81DB-6A343DD904D1}"/>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214D080A-609C-4639-B121-8A25E6DC30E9}"/>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9</a:t>
            </a:r>
          </a:p>
        </p:txBody>
      </p:sp>
      <p:sp>
        <p:nvSpPr>
          <p:cNvPr id="3" name="header-rule">
            <a:extLst xmlns:a="http://schemas.openxmlformats.org/drawingml/2006/main">
              <a:ext uri="{FF2B5EF4-FFF2-40B4-BE49-F238E27FC236}">
                <a16:creationId xmlns:a16="http://schemas.microsoft.com/office/drawing/2014/main" id="{14F80F2E-1B63-4815-B9F3-9C9C80AFD6FC}"/>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FA0FA76C-F2CE-4042-A117-FD1C92E1BF88}"/>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학습 곡선의 핵심 기믹 · 계속</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4e2b41070d044a81"/>
          <a:stretch xmlns:a="http://schemas.openxmlformats.org/drawingml/2006/main"/>
        </p:blipFill>
        <p:spPr>
          <a:xfrm xmlns:a="http://schemas.openxmlformats.org/drawingml/2006/main">
            <a:off x="2209800" y="1333500"/>
            <a:ext cx="31432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67E46B9A-5888-43ED-A0A3-A9D93E7D38E9}"/>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벽 반사와 탄성 기믹을 나타내는 분홍색 젤리 범퍼 애셋</a:t>
            </a:r>
          </a:p>
        </p:txBody>
      </p:sp>
      <p:sp>
        <p:nvSpPr>
          <p:cNvPr id="7" name="paragraph-524">
            <a:extLst xmlns:a="http://schemas.openxmlformats.org/drawingml/2006/main">
              <a:ext uri="{FF2B5EF4-FFF2-40B4-BE49-F238E27FC236}">
                <a16:creationId xmlns:a16="http://schemas.microsoft.com/office/drawing/2014/main" id="{C7D9D9A7-4EF9-4756-92D4-23CCBC552F31}"/>
              </a:ext>
            </a:extLst>
          </p:cNvPr>
          <p:cNvSpPr>
            <a:spLocks xmlns:a="http://schemas.openxmlformats.org/drawingml/2006/main" noGrp="1"/>
          </p:cNvSpPr>
          <p:nvPr/>
        </p:nvSpPr>
        <p:spPr>
          <a:xfrm xmlns:a="http://schemas.openxmlformats.org/drawingml/2006/main">
            <a:off x="533400" y="499110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탄성 공은 충돌 후 반사 에너지를 더 오래 유지한다. 2단계에서는 벽 반사를 통해 직선으로 닿지 않는 홀 경로를 배운다.</a:t>
            </a:r>
          </a:p>
        </p:txBody>
      </p:sp>
      <p:sp>
        <p:nvSpPr>
          <p:cNvPr id="8" name="subheading-596.64">
            <a:extLst xmlns:a="http://schemas.openxmlformats.org/drawingml/2006/main">
              <a:ext uri="{FF2B5EF4-FFF2-40B4-BE49-F238E27FC236}">
                <a16:creationId xmlns:a16="http://schemas.microsoft.com/office/drawing/2014/main" id="{FCA07929-B499-498A-B6DD-3785F39522E3}"/>
              </a:ext>
            </a:extLst>
          </p:cNvPr>
          <p:cNvSpPr>
            <a:spLocks xmlns:a="http://schemas.openxmlformats.org/drawingml/2006/main" noGrp="1"/>
          </p:cNvSpPr>
          <p:nvPr/>
        </p:nvSpPr>
        <p:spPr>
          <a:xfrm xmlns:a="http://schemas.openxmlformats.org/drawingml/2006/main">
            <a:off x="533400" y="568299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4.3 뾰족함과 풍선</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6e5aa603efa4251"/>
          <a:stretch xmlns:a="http://schemas.openxmlformats.org/drawingml/2006/main"/>
        </p:blipFill>
        <p:spPr>
          <a:xfrm xmlns:a="http://schemas.openxmlformats.org/drawingml/2006/main">
            <a:off x="3055200" y="6197346"/>
            <a:ext cx="1452450" cy="3143250"/>
          </a:xfrm>
          <a:prstGeom xmlns:a="http://schemas.openxmlformats.org/drawingml/2006/main" prst="roundRect">
            <a:avLst>
              <a:gd name="adj" fmla="val 3636"/>
            </a:avLst>
          </a:prstGeom>
        </p:spPr>
      </p:pic>
      <p:sp>
        <p:nvSpPr>
          <p:cNvPr id="10" name="image-caption-650.64">
            <a:extLst xmlns:a="http://schemas.openxmlformats.org/drawingml/2006/main">
              <a:ext uri="{FF2B5EF4-FFF2-40B4-BE49-F238E27FC236}">
                <a16:creationId xmlns:a16="http://schemas.microsoft.com/office/drawing/2014/main" id="{68D98F07-5BB0-43B4-B854-1A40D38156CC}"/>
              </a:ext>
            </a:extLst>
          </p:cNvPr>
          <p:cNvSpPr>
            <a:spLocks xmlns:a="http://schemas.openxmlformats.org/drawingml/2006/main" noGrp="1"/>
          </p:cNvSpPr>
          <p:nvPr/>
        </p:nvSpPr>
        <p:spPr>
          <a:xfrm xmlns:a="http://schemas.openxmlformats.org/drawingml/2006/main">
            <a:off x="666750" y="9397746"/>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4단계 시작 상태에서 가시 원본과 풍선, 닫힌 문이 한 화면에 배치된 모습</a:t>
            </a:r>
          </a:p>
        </p:txBody>
      </p:sp>
    </p:spTree>
    <p:extLst>
      <p:ext uri="{BB962C8B-B14F-4D97-AF65-F5344CB8AC3E}">
        <p14:creationId xmlns:p14="http://schemas.microsoft.com/office/powerpoint/2010/main" val="73359150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running-label">
            <a:extLst xmlns:a="http://schemas.openxmlformats.org/drawingml/2006/main">
              <a:ext uri="{FF2B5EF4-FFF2-40B4-BE49-F238E27FC236}">
                <a16:creationId xmlns:a16="http://schemas.microsoft.com/office/drawing/2014/main" id="{C427259E-DCFD-41B2-BADB-13C407B4545D}"/>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D43B5C75-98E2-4E3E-9EE7-D19947234DB2}"/>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10</a:t>
            </a:r>
          </a:p>
        </p:txBody>
      </p:sp>
      <p:sp>
        <p:nvSpPr>
          <p:cNvPr id="3" name="header-rule">
            <a:extLst xmlns:a="http://schemas.openxmlformats.org/drawingml/2006/main">
              <a:ext uri="{FF2B5EF4-FFF2-40B4-BE49-F238E27FC236}">
                <a16:creationId xmlns:a16="http://schemas.microsoft.com/office/drawing/2014/main" id="{FF4B9CCA-20CD-42D5-9C83-3B5DD9E172EF}"/>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D4E3C2FF-E690-4529-895E-E99785749C30}"/>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학습 곡선의 핵심 기믹 · 계속</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5da10a555ec342ee"/>
          <a:stretch xmlns:a="http://schemas.openxmlformats.org/drawingml/2006/main"/>
        </p:blipFill>
        <p:spPr>
          <a:xfrm xmlns:a="http://schemas.openxmlformats.org/drawingml/2006/main">
            <a:off x="3055200" y="1333500"/>
            <a:ext cx="14524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C96EE8AC-56E4-4372-826E-25F71BB6627D}"/>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가시 속성을 이전한 뾰족함 공이 풍선을 향해 준비된 4단계 화면</a:t>
            </a:r>
          </a:p>
        </p:txBody>
      </p:sp>
      <p:sp>
        <p:nvSpPr>
          <p:cNvPr id="7" name="paragraph-524">
            <a:extLst xmlns:a="http://schemas.openxmlformats.org/drawingml/2006/main">
              <a:ext uri="{FF2B5EF4-FFF2-40B4-BE49-F238E27FC236}">
                <a16:creationId xmlns:a16="http://schemas.microsoft.com/office/drawing/2014/main" id="{9EB389B9-870B-4510-AABC-4C2A15B961A6}"/>
              </a:ext>
            </a:extLst>
          </p:cNvPr>
          <p:cNvSpPr>
            <a:spLocks xmlns:a="http://schemas.openxmlformats.org/drawingml/2006/main" noGrp="1"/>
          </p:cNvSpPr>
          <p:nvPr/>
        </p:nvSpPr>
        <p:spPr>
          <a:xfrm xmlns:a="http://schemas.openxmlformats.org/drawingml/2006/main">
            <a:off x="533400" y="4991100"/>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뾰족함 공이 풍선에 닿으면 풍선이 터지고 숨겨진 스위치가 드러난다. 풍선·가시·속성 공 표시는 별도 외부 이미지가 아니라 게임 Canvas에서 직접 그린다.</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3c3fbfb2b8d46f9"/>
          <a:stretch xmlns:a="http://schemas.openxmlformats.org/drawingml/2006/main"/>
        </p:blipFill>
        <p:spPr>
          <a:xfrm xmlns:a="http://schemas.openxmlformats.org/drawingml/2006/main">
            <a:off x="3055200" y="5682996"/>
            <a:ext cx="1452450" cy="3143250"/>
          </a:xfrm>
          <a:prstGeom xmlns:a="http://schemas.openxmlformats.org/drawingml/2006/main" prst="roundRect">
            <a:avLst>
              <a:gd name="adj" fmla="val 3636"/>
            </a:avLst>
          </a:prstGeom>
        </p:spPr>
      </p:pic>
      <p:sp>
        <p:nvSpPr>
          <p:cNvPr id="9" name="image-caption-596.64">
            <a:extLst xmlns:a="http://schemas.openxmlformats.org/drawingml/2006/main">
              <a:ext uri="{FF2B5EF4-FFF2-40B4-BE49-F238E27FC236}">
                <a16:creationId xmlns:a16="http://schemas.microsoft.com/office/drawing/2014/main" id="{01684BAA-68EB-437F-913E-45A0D8C69B06}"/>
              </a:ext>
            </a:extLst>
          </p:cNvPr>
          <p:cNvSpPr>
            <a:spLocks xmlns:a="http://schemas.openxmlformats.org/drawingml/2006/main" noGrp="1"/>
          </p:cNvSpPr>
          <p:nvPr/>
        </p:nvSpPr>
        <p:spPr>
          <a:xfrm xmlns:a="http://schemas.openxmlformats.org/drawingml/2006/main">
            <a:off x="666750" y="8883396"/>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뾰족함 공이 풍선을 터뜨려 숨겨진 스위치와 문 연쇄를 시작하는 충돌 순간</a:t>
            </a:r>
          </a:p>
        </p:txBody>
      </p:sp>
      <p:sp>
        <p:nvSpPr>
          <p:cNvPr id="10" name="subheading-980.64">
            <a:extLst xmlns:a="http://schemas.openxmlformats.org/drawingml/2006/main">
              <a:ext uri="{FF2B5EF4-FFF2-40B4-BE49-F238E27FC236}">
                <a16:creationId xmlns:a16="http://schemas.microsoft.com/office/drawing/2014/main" id="{4C9E9B77-6DBE-4829-97BE-02D96F3BFCC7}"/>
              </a:ext>
            </a:extLst>
          </p:cNvPr>
          <p:cNvSpPr>
            <a:spLocks xmlns:a="http://schemas.openxmlformats.org/drawingml/2006/main" noGrp="1"/>
          </p:cNvSpPr>
          <p:nvPr/>
        </p:nvSpPr>
        <p:spPr>
          <a:xfrm xmlns:a="http://schemas.openxmlformats.org/drawingml/2006/main">
            <a:off x="533400" y="9340596"/>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4.4 런 보상과 공 꾸미기</a:t>
            </a:r>
          </a:p>
        </p:txBody>
      </p:sp>
    </p:spTree>
    <p:extLst>
      <p:ext uri="{BB962C8B-B14F-4D97-AF65-F5344CB8AC3E}">
        <p14:creationId xmlns:p14="http://schemas.microsoft.com/office/powerpoint/2010/main" val="40986994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unning-label">
            <a:extLst xmlns:a="http://schemas.openxmlformats.org/drawingml/2006/main">
              <a:ext uri="{FF2B5EF4-FFF2-40B4-BE49-F238E27FC236}">
                <a16:creationId xmlns:a16="http://schemas.microsoft.com/office/drawing/2014/main" id="{2C7EE2BE-202E-47B7-AD4E-1848AD1D324C}"/>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09BBCE9F-6AED-46DC-BCC0-F6D34AA73B64}"/>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11</a:t>
            </a:r>
          </a:p>
        </p:txBody>
      </p:sp>
      <p:sp>
        <p:nvSpPr>
          <p:cNvPr id="3" name="header-rule">
            <a:extLst xmlns:a="http://schemas.openxmlformats.org/drawingml/2006/main">
              <a:ext uri="{FF2B5EF4-FFF2-40B4-BE49-F238E27FC236}">
                <a16:creationId xmlns:a16="http://schemas.microsoft.com/office/drawing/2014/main" id="{9A330750-CE70-4A74-A279-57D22BB7BA8C}"/>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7A076FC8-3D52-4B4D-B73D-59E9FCC4A8F6}"/>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학습 곡선의 핵심 기믹 · 계속</a:t>
            </a:r>
          </a:p>
        </p:txBody>
      </p:sp>
      <p:sp>
        <p:nvSpPr>
          <p:cNvPr id="5" name="paragraph-140">
            <a:extLst xmlns:a="http://schemas.openxmlformats.org/drawingml/2006/main">
              <a:ext uri="{FF2B5EF4-FFF2-40B4-BE49-F238E27FC236}">
                <a16:creationId xmlns:a16="http://schemas.microsoft.com/office/drawing/2014/main" id="{428069A6-1FA6-4EB0-B6CC-CC6AE0B5A98B}"/>
              </a:ext>
            </a:extLst>
          </p:cNvPr>
          <p:cNvSpPr>
            <a:spLocks xmlns:a="http://schemas.openxmlformats.org/drawingml/2006/main" noGrp="1"/>
          </p:cNvSpPr>
          <p:nvPr/>
        </p:nvSpPr>
        <p:spPr>
          <a:xfrm xmlns:a="http://schemas.openxmlformats.org/drawingml/2006/main">
            <a:off x="533400" y="133350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런 보상은 복사·되감기·회수·안내·도전·인과·꾸미기·기록 보호와 다음 스테이지 팁 기능을 서로 다른 Material 아이콘과 색으로 구분한다. 아이콘은 Flutter가 제공하는 무료 Material Icons를 사용하며, 텍스트 라벨을 함께 표시해 색상이나 아이콘에만 의미를 의존하지 않는다.</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bf1c19822d44b33"/>
          <a:stretch xmlns:a="http://schemas.openxmlformats.org/drawingml/2006/main"/>
        </p:blipFill>
        <p:spPr>
          <a:xfrm xmlns:a="http://schemas.openxmlformats.org/drawingml/2006/main">
            <a:off x="3055200" y="2488692"/>
            <a:ext cx="1452450" cy="3143250"/>
          </a:xfrm>
          <a:prstGeom xmlns:a="http://schemas.openxmlformats.org/drawingml/2006/main" prst="roundRect">
            <a:avLst>
              <a:gd name="adj" fmla="val 3636"/>
            </a:avLst>
          </a:prstGeom>
        </p:spPr>
      </p:pic>
      <p:sp>
        <p:nvSpPr>
          <p:cNvPr id="7" name="image-caption-261.28">
            <a:extLst xmlns:a="http://schemas.openxmlformats.org/drawingml/2006/main">
              <a:ext uri="{FF2B5EF4-FFF2-40B4-BE49-F238E27FC236}">
                <a16:creationId xmlns:a16="http://schemas.microsoft.com/office/drawing/2014/main" id="{3C695003-963A-40C4-83A8-75477E3C6DD4}"/>
              </a:ext>
            </a:extLst>
          </p:cNvPr>
          <p:cNvSpPr>
            <a:spLocks xmlns:a="http://schemas.openxmlformats.org/drawingml/2006/main" noGrp="1"/>
          </p:cNvSpPr>
          <p:nvPr/>
        </p:nvSpPr>
        <p:spPr>
          <a:xfrm xmlns:a="http://schemas.openxmlformats.org/drawingml/2006/main">
            <a:off x="666750" y="5689092"/>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서로 다른 아이콘과 색으로 구분된 런 보상 선택 화면</a:t>
            </a:r>
          </a:p>
        </p:txBody>
      </p:sp>
      <p:sp>
        <p:nvSpPr>
          <p:cNvPr id="8" name="paragraph-645.28">
            <a:extLst xmlns:a="http://schemas.openxmlformats.org/drawingml/2006/main">
              <a:ext uri="{FF2B5EF4-FFF2-40B4-BE49-F238E27FC236}">
                <a16:creationId xmlns:a16="http://schemas.microsoft.com/office/drawing/2014/main" id="{3762D2E5-3E49-4861-914F-551DB8A61DEC}"/>
              </a:ext>
            </a:extLst>
          </p:cNvPr>
          <p:cNvSpPr>
            <a:spLocks xmlns:a="http://schemas.openxmlformats.org/drawingml/2006/main" noGrp="1"/>
          </p:cNvSpPr>
          <p:nvPr/>
        </p:nvSpPr>
        <p:spPr>
          <a:xfrm xmlns:a="http://schemas.openxmlformats.org/drawingml/2006/main">
            <a:off x="533400" y="6146292"/>
            <a:ext cx="6496050" cy="5775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청록/금색 꾸미기 보상을 선택하면 장식 링뿐 아니라 공 본체가 청록 그라데이션·금색 외곽선·하이라이트로 바뀐다. 다음 스테이지와 기록 재도전에서도 같은 외형을 유지한다.</a:t>
            </a:r>
          </a:p>
        </p:txBody>
      </p:sp>
    </p:spTree>
    <p:extLst>
      <p:ext uri="{BB962C8B-B14F-4D97-AF65-F5344CB8AC3E}">
        <p14:creationId xmlns:p14="http://schemas.microsoft.com/office/powerpoint/2010/main" val="10332851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unning-label">
            <a:extLst xmlns:a="http://schemas.openxmlformats.org/drawingml/2006/main">
              <a:ext uri="{FF2B5EF4-FFF2-40B4-BE49-F238E27FC236}">
                <a16:creationId xmlns:a16="http://schemas.microsoft.com/office/drawing/2014/main" id="{F8AADD33-A568-4414-B07A-8424C257858E}"/>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76B6977A-282E-4013-A617-6B4A8FE15894}"/>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12</a:t>
            </a:r>
          </a:p>
        </p:txBody>
      </p:sp>
      <p:sp>
        <p:nvSpPr>
          <p:cNvPr id="3" name="header-rule">
            <a:extLst xmlns:a="http://schemas.openxmlformats.org/drawingml/2006/main">
              <a:ext uri="{FF2B5EF4-FFF2-40B4-BE49-F238E27FC236}">
                <a16:creationId xmlns:a16="http://schemas.microsoft.com/office/drawing/2014/main" id="{68C871BB-8DAF-4098-A08F-F7619F0EBBFF}"/>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87A6EF2A-5D68-4307-99A7-66EC40B48B44}"/>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4. 학습 곡선의 핵심 기믹 · 계속</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63ece1760ce14572"/>
          <a:stretch xmlns:a="http://schemas.openxmlformats.org/drawingml/2006/main"/>
        </p:blipFill>
        <p:spPr>
          <a:xfrm xmlns:a="http://schemas.openxmlformats.org/drawingml/2006/main">
            <a:off x="3055200" y="1333500"/>
            <a:ext cx="1452450" cy="3143250"/>
          </a:xfrm>
          <a:prstGeom xmlns:a="http://schemas.openxmlformats.org/drawingml/2006/main" prst="roundRect">
            <a:avLst>
              <a:gd name="adj" fmla="val 3636"/>
            </a:avLst>
          </a:prstGeom>
        </p:spPr>
      </p:pic>
      <p:sp>
        <p:nvSpPr>
          <p:cNvPr id="6" name="image-caption-140">
            <a:extLst xmlns:a="http://schemas.openxmlformats.org/drawingml/2006/main">
              <a:ext uri="{FF2B5EF4-FFF2-40B4-BE49-F238E27FC236}">
                <a16:creationId xmlns:a16="http://schemas.microsoft.com/office/drawing/2014/main" id="{2661E66E-345B-4095-8572-F4A1F1D32258}"/>
              </a:ext>
            </a:extLst>
          </p:cNvPr>
          <p:cNvSpPr>
            <a:spLocks xmlns:a="http://schemas.openxmlformats.org/drawingml/2006/main" noGrp="1"/>
          </p:cNvSpPr>
          <p:nvPr/>
        </p:nvSpPr>
        <p:spPr>
          <a:xfrm xmlns:a="http://schemas.openxmlformats.org/drawingml/2006/main">
            <a:off x="666750" y="4533900"/>
            <a:ext cx="6229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0000"/>
              </a:lnSpc>
              <a:buNone/>
              <a:defRPr sz="1050" b="0">
                <a:solidFill>
                  <a:srgbClr val="607477"/>
                </a:solidFill>
                <a:latin typeface="NanumGothic"/>
                <a:ea typeface="NanumGothic"/>
                <a:cs typeface="NanumGothic"/>
              </a:defRPr>
            </a:pPr>
            <a:r>
              <a:rPr sz="1050" b="0">
                <a:solidFill>
                  <a:srgbClr val="607477"/>
                </a:solidFill>
                <a:latin typeface="NanumGothic"/>
                <a:ea typeface="NanumGothic"/>
                <a:cs typeface="NanumGothic"/>
              </a:rPr>
              <a:t>탄성 단계에서 꾸미기 보상이 적용되어 공 본체가 청록색과 금색으로 바뀐 화면</a:t>
            </a:r>
          </a:p>
        </p:txBody>
      </p:sp>
    </p:spTree>
    <p:extLst>
      <p:ext uri="{BB962C8B-B14F-4D97-AF65-F5344CB8AC3E}">
        <p14:creationId xmlns:p14="http://schemas.microsoft.com/office/powerpoint/2010/main" val="38059530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2" name="running-label">
            <a:extLst xmlns:a="http://schemas.openxmlformats.org/drawingml/2006/main">
              <a:ext uri="{FF2B5EF4-FFF2-40B4-BE49-F238E27FC236}">
                <a16:creationId xmlns:a16="http://schemas.microsoft.com/office/drawing/2014/main" id="{DA6B4C89-B2C8-4337-9D7E-44421A38AE0B}"/>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A0B1BFEF-D219-482B-9F8D-95D966F991BB}"/>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13</a:t>
            </a:r>
          </a:p>
        </p:txBody>
      </p:sp>
      <p:sp>
        <p:nvSpPr>
          <p:cNvPr id="3" name="header-rule">
            <a:extLst xmlns:a="http://schemas.openxmlformats.org/drawingml/2006/main">
              <a:ext uri="{FF2B5EF4-FFF2-40B4-BE49-F238E27FC236}">
                <a16:creationId xmlns:a16="http://schemas.microsoft.com/office/drawing/2014/main" id="{4191D193-E2C4-4B05-919E-7DDC692ED798}"/>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11610231-5842-47C0-809C-576BDAA96474}"/>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5. 10단계 구성</a:t>
            </a:r>
          </a:p>
        </p:txBody>
      </p:sp>
      <p:sp>
        <p:nvSpPr>
          <p:cNvPr id="5" name="table-cell-140-0-0">
            <a:extLst xmlns:a="http://schemas.openxmlformats.org/drawingml/2006/main">
              <a:ext uri="{FF2B5EF4-FFF2-40B4-BE49-F238E27FC236}">
                <a16:creationId xmlns:a16="http://schemas.microsoft.com/office/drawing/2014/main" id="{2C92B17B-2CE9-47FB-8A46-EE07C38102C2}"/>
              </a:ext>
            </a:extLst>
          </p:cNvPr>
          <p:cNvSpPr>
            <a:spLocks xmlns:a="http://schemas.openxmlformats.org/drawingml/2006/main" noGrp="1"/>
          </p:cNvSpPr>
          <p:nvPr/>
        </p:nvSpPr>
        <p:spPr>
          <a:xfrm xmlns:a="http://schemas.openxmlformats.org/drawingml/2006/main">
            <a:off x="53340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6" name="table-text-140-0-0">
            <a:extLst xmlns:a="http://schemas.openxmlformats.org/drawingml/2006/main">
              <a:ext uri="{FF2B5EF4-FFF2-40B4-BE49-F238E27FC236}">
                <a16:creationId xmlns:a16="http://schemas.microsoft.com/office/drawing/2014/main" id="{0AE5301F-8BA7-4165-8275-BBE0CCF9AF65}"/>
              </a:ext>
            </a:extLst>
          </p:cNvPr>
          <p:cNvSpPr>
            <a:spLocks xmlns:a="http://schemas.openxmlformats.org/drawingml/2006/main" noGrp="1"/>
          </p:cNvSpPr>
          <p:nvPr/>
        </p:nvSpPr>
        <p:spPr>
          <a:xfrm xmlns:a="http://schemas.openxmlformats.org/drawingml/2006/main">
            <a:off x="61912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단계</a:t>
            </a:r>
          </a:p>
        </p:txBody>
      </p:sp>
      <p:sp>
        <p:nvSpPr>
          <p:cNvPr id="7" name="table-cell-140-0-1">
            <a:extLst xmlns:a="http://schemas.openxmlformats.org/drawingml/2006/main">
              <a:ext uri="{FF2B5EF4-FFF2-40B4-BE49-F238E27FC236}">
                <a16:creationId xmlns:a16="http://schemas.microsoft.com/office/drawing/2014/main" id="{5686E473-C8D4-4500-9802-FA14145590A3}"/>
              </a:ext>
            </a:extLst>
          </p:cNvPr>
          <p:cNvSpPr>
            <a:spLocks xmlns:a="http://schemas.openxmlformats.org/drawingml/2006/main" noGrp="1"/>
          </p:cNvSpPr>
          <p:nvPr/>
        </p:nvSpPr>
        <p:spPr>
          <a:xfrm xmlns:a="http://schemas.openxmlformats.org/drawingml/2006/main">
            <a:off x="269875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8" name="table-text-140-0-1">
            <a:extLst xmlns:a="http://schemas.openxmlformats.org/drawingml/2006/main">
              <a:ext uri="{FF2B5EF4-FFF2-40B4-BE49-F238E27FC236}">
                <a16:creationId xmlns:a16="http://schemas.microsoft.com/office/drawing/2014/main" id="{6E4968C5-BDCB-4C23-9F9C-7B09B423BD1B}"/>
              </a:ext>
            </a:extLst>
          </p:cNvPr>
          <p:cNvSpPr>
            <a:spLocks xmlns:a="http://schemas.openxmlformats.org/drawingml/2006/main" noGrp="1"/>
          </p:cNvSpPr>
          <p:nvPr/>
        </p:nvSpPr>
        <p:spPr>
          <a:xfrm xmlns:a="http://schemas.openxmlformats.org/drawingml/2006/main">
            <a:off x="278447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핵심 개념</a:t>
            </a:r>
          </a:p>
        </p:txBody>
      </p:sp>
      <p:sp>
        <p:nvSpPr>
          <p:cNvPr id="9" name="table-cell-140-0-2">
            <a:extLst xmlns:a="http://schemas.openxmlformats.org/drawingml/2006/main">
              <a:ext uri="{FF2B5EF4-FFF2-40B4-BE49-F238E27FC236}">
                <a16:creationId xmlns:a16="http://schemas.microsoft.com/office/drawing/2014/main" id="{E3A5143F-10CA-4681-A925-E7B2D31698F3}"/>
              </a:ext>
            </a:extLst>
          </p:cNvPr>
          <p:cNvSpPr>
            <a:spLocks xmlns:a="http://schemas.openxmlformats.org/drawingml/2006/main" noGrp="1"/>
          </p:cNvSpPr>
          <p:nvPr/>
        </p:nvSpPr>
        <p:spPr>
          <a:xfrm xmlns:a="http://schemas.openxmlformats.org/drawingml/2006/main">
            <a:off x="4864100" y="1333500"/>
            <a:ext cx="2165350"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10" name="table-text-140-0-2">
            <a:extLst xmlns:a="http://schemas.openxmlformats.org/drawingml/2006/main">
              <a:ext uri="{FF2B5EF4-FFF2-40B4-BE49-F238E27FC236}">
                <a16:creationId xmlns:a16="http://schemas.microsoft.com/office/drawing/2014/main" id="{15D281ED-1FD0-4ED3-88C0-D7EB0EBC5A19}"/>
              </a:ext>
            </a:extLst>
          </p:cNvPr>
          <p:cNvSpPr>
            <a:spLocks xmlns:a="http://schemas.openxmlformats.org/drawingml/2006/main" noGrp="1"/>
          </p:cNvSpPr>
          <p:nvPr/>
        </p:nvSpPr>
        <p:spPr>
          <a:xfrm xmlns:a="http://schemas.openxmlformats.org/drawingml/2006/main">
            <a:off x="4949825" y="1400175"/>
            <a:ext cx="199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배우는 것</a:t>
            </a:r>
          </a:p>
        </p:txBody>
      </p:sp>
      <p:sp>
        <p:nvSpPr>
          <p:cNvPr id="11" name="table-cell-140-1-0">
            <a:extLst xmlns:a="http://schemas.openxmlformats.org/drawingml/2006/main">
              <a:ext uri="{FF2B5EF4-FFF2-40B4-BE49-F238E27FC236}">
                <a16:creationId xmlns:a16="http://schemas.microsoft.com/office/drawing/2014/main" id="{8AB6A9A7-CBC6-44C6-9337-AB1EF590C485}"/>
              </a:ext>
            </a:extLst>
          </p:cNvPr>
          <p:cNvSpPr>
            <a:spLocks xmlns:a="http://schemas.openxmlformats.org/drawingml/2006/main" noGrp="1"/>
          </p:cNvSpPr>
          <p:nvPr/>
        </p:nvSpPr>
        <p:spPr>
          <a:xfrm xmlns:a="http://schemas.openxmlformats.org/drawingml/2006/main">
            <a:off x="533400" y="17907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2" name="table-text-140-1-0">
            <a:extLst xmlns:a="http://schemas.openxmlformats.org/drawingml/2006/main">
              <a:ext uri="{FF2B5EF4-FFF2-40B4-BE49-F238E27FC236}">
                <a16:creationId xmlns:a16="http://schemas.microsoft.com/office/drawing/2014/main" id="{3EE623A4-B409-4EE7-BBF0-92AEBD42F618}"/>
              </a:ext>
            </a:extLst>
          </p:cNvPr>
          <p:cNvSpPr>
            <a:spLocks xmlns:a="http://schemas.openxmlformats.org/drawingml/2006/main" noGrp="1"/>
          </p:cNvSpPr>
          <p:nvPr/>
        </p:nvSpPr>
        <p:spPr>
          <a:xfrm xmlns:a="http://schemas.openxmlformats.org/drawingml/2006/main">
            <a:off x="619125" y="18573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1. 무거움 익히기</a:t>
            </a:r>
          </a:p>
        </p:txBody>
      </p:sp>
      <p:sp>
        <p:nvSpPr>
          <p:cNvPr id="13" name="table-cell-140-1-1">
            <a:extLst xmlns:a="http://schemas.openxmlformats.org/drawingml/2006/main">
              <a:ext uri="{FF2B5EF4-FFF2-40B4-BE49-F238E27FC236}">
                <a16:creationId xmlns:a16="http://schemas.microsoft.com/office/drawing/2014/main" id="{162B1F65-9573-4253-A439-6D2781B76DE7}"/>
              </a:ext>
            </a:extLst>
          </p:cNvPr>
          <p:cNvSpPr>
            <a:spLocks xmlns:a="http://schemas.openxmlformats.org/drawingml/2006/main" noGrp="1"/>
          </p:cNvSpPr>
          <p:nvPr/>
        </p:nvSpPr>
        <p:spPr>
          <a:xfrm xmlns:a="http://schemas.openxmlformats.org/drawingml/2006/main">
            <a:off x="2698750" y="17907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4" name="table-text-140-1-1">
            <a:extLst xmlns:a="http://schemas.openxmlformats.org/drawingml/2006/main">
              <a:ext uri="{FF2B5EF4-FFF2-40B4-BE49-F238E27FC236}">
                <a16:creationId xmlns:a16="http://schemas.microsoft.com/office/drawing/2014/main" id="{68E72687-DC34-4531-A101-C9FA29B02B14}"/>
              </a:ext>
            </a:extLst>
          </p:cNvPr>
          <p:cNvSpPr>
            <a:spLocks xmlns:a="http://schemas.openxmlformats.org/drawingml/2006/main" noGrp="1"/>
          </p:cNvSpPr>
          <p:nvPr/>
        </p:nvSpPr>
        <p:spPr>
          <a:xfrm xmlns:a="http://schemas.openxmlformats.org/drawingml/2006/main">
            <a:off x="2784475" y="18573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무거움·상자</a:t>
            </a:r>
          </a:p>
        </p:txBody>
      </p:sp>
      <p:sp>
        <p:nvSpPr>
          <p:cNvPr id="15" name="table-cell-140-1-2">
            <a:extLst xmlns:a="http://schemas.openxmlformats.org/drawingml/2006/main">
              <a:ext uri="{FF2B5EF4-FFF2-40B4-BE49-F238E27FC236}">
                <a16:creationId xmlns:a16="http://schemas.microsoft.com/office/drawing/2014/main" id="{EF21AA75-17AB-41DF-A313-C6B1EB2EDB95}"/>
              </a:ext>
            </a:extLst>
          </p:cNvPr>
          <p:cNvSpPr>
            <a:spLocks xmlns:a="http://schemas.openxmlformats.org/drawingml/2006/main" noGrp="1"/>
          </p:cNvSpPr>
          <p:nvPr/>
        </p:nvSpPr>
        <p:spPr>
          <a:xfrm xmlns:a="http://schemas.openxmlformats.org/drawingml/2006/main">
            <a:off x="4864100" y="17907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6" name="table-text-140-1-2">
            <a:extLst xmlns:a="http://schemas.openxmlformats.org/drawingml/2006/main">
              <a:ext uri="{FF2B5EF4-FFF2-40B4-BE49-F238E27FC236}">
                <a16:creationId xmlns:a16="http://schemas.microsoft.com/office/drawing/2014/main" id="{9064CFEA-3CDD-4BD6-91F2-3391765343ED}"/>
              </a:ext>
            </a:extLst>
          </p:cNvPr>
          <p:cNvSpPr>
            <a:spLocks xmlns:a="http://schemas.openxmlformats.org/drawingml/2006/main" noGrp="1"/>
          </p:cNvSpPr>
          <p:nvPr/>
        </p:nvSpPr>
        <p:spPr>
          <a:xfrm xmlns:a="http://schemas.openxmlformats.org/drawingml/2006/main">
            <a:off x="4949825" y="18573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운동량으로 장면 상태 바꾸기</a:t>
            </a:r>
          </a:p>
        </p:txBody>
      </p:sp>
      <p:sp>
        <p:nvSpPr>
          <p:cNvPr id="17" name="table-cell-140-2-0">
            <a:extLst xmlns:a="http://schemas.openxmlformats.org/drawingml/2006/main">
              <a:ext uri="{FF2B5EF4-FFF2-40B4-BE49-F238E27FC236}">
                <a16:creationId xmlns:a16="http://schemas.microsoft.com/office/drawing/2014/main" id="{1C6B4C0E-8CB3-44B3-929B-F647A7128D7B}"/>
              </a:ext>
            </a:extLst>
          </p:cNvPr>
          <p:cNvSpPr>
            <a:spLocks xmlns:a="http://schemas.openxmlformats.org/drawingml/2006/main" noGrp="1"/>
          </p:cNvSpPr>
          <p:nvPr/>
        </p:nvSpPr>
        <p:spPr>
          <a:xfrm xmlns:a="http://schemas.openxmlformats.org/drawingml/2006/main">
            <a:off x="533400" y="21907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8" name="table-text-140-2-0">
            <a:extLst xmlns:a="http://schemas.openxmlformats.org/drawingml/2006/main">
              <a:ext uri="{FF2B5EF4-FFF2-40B4-BE49-F238E27FC236}">
                <a16:creationId xmlns:a16="http://schemas.microsoft.com/office/drawing/2014/main" id="{17F969B2-2ADF-46CB-8EF4-C4D4F83E1A71}"/>
              </a:ext>
            </a:extLst>
          </p:cNvPr>
          <p:cNvSpPr>
            <a:spLocks xmlns:a="http://schemas.openxmlformats.org/drawingml/2006/main" noGrp="1"/>
          </p:cNvSpPr>
          <p:nvPr/>
        </p:nvSpPr>
        <p:spPr>
          <a:xfrm xmlns:a="http://schemas.openxmlformats.org/drawingml/2006/main">
            <a:off x="619125" y="22574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2. 탄성 익히기</a:t>
            </a:r>
          </a:p>
        </p:txBody>
      </p:sp>
      <p:sp>
        <p:nvSpPr>
          <p:cNvPr id="19" name="table-cell-140-2-1">
            <a:extLst xmlns:a="http://schemas.openxmlformats.org/drawingml/2006/main">
              <a:ext uri="{FF2B5EF4-FFF2-40B4-BE49-F238E27FC236}">
                <a16:creationId xmlns:a16="http://schemas.microsoft.com/office/drawing/2014/main" id="{36FFA99D-C486-477F-889F-AC170FF50341}"/>
              </a:ext>
            </a:extLst>
          </p:cNvPr>
          <p:cNvSpPr>
            <a:spLocks xmlns:a="http://schemas.openxmlformats.org/drawingml/2006/main" noGrp="1"/>
          </p:cNvSpPr>
          <p:nvPr/>
        </p:nvSpPr>
        <p:spPr>
          <a:xfrm xmlns:a="http://schemas.openxmlformats.org/drawingml/2006/main">
            <a:off x="2698750" y="21907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0" name="table-text-140-2-1">
            <a:extLst xmlns:a="http://schemas.openxmlformats.org/drawingml/2006/main">
              <a:ext uri="{FF2B5EF4-FFF2-40B4-BE49-F238E27FC236}">
                <a16:creationId xmlns:a16="http://schemas.microsoft.com/office/drawing/2014/main" id="{EF7F1BBE-64AF-43C1-AFD8-A050151B8617}"/>
              </a:ext>
            </a:extLst>
          </p:cNvPr>
          <p:cNvSpPr>
            <a:spLocks xmlns:a="http://schemas.openxmlformats.org/drawingml/2006/main" noGrp="1"/>
          </p:cNvSpPr>
          <p:nvPr/>
        </p:nvSpPr>
        <p:spPr>
          <a:xfrm xmlns:a="http://schemas.openxmlformats.org/drawingml/2006/main">
            <a:off x="2784475" y="22574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벽 반사</a:t>
            </a:r>
          </a:p>
        </p:txBody>
      </p:sp>
      <p:sp>
        <p:nvSpPr>
          <p:cNvPr id="21" name="table-cell-140-2-2">
            <a:extLst xmlns:a="http://schemas.openxmlformats.org/drawingml/2006/main">
              <a:ext uri="{FF2B5EF4-FFF2-40B4-BE49-F238E27FC236}">
                <a16:creationId xmlns:a16="http://schemas.microsoft.com/office/drawing/2014/main" id="{F008BE3B-86CD-4A3C-B48B-D3E3787F57C1}"/>
              </a:ext>
            </a:extLst>
          </p:cNvPr>
          <p:cNvSpPr>
            <a:spLocks xmlns:a="http://schemas.openxmlformats.org/drawingml/2006/main" noGrp="1"/>
          </p:cNvSpPr>
          <p:nvPr/>
        </p:nvSpPr>
        <p:spPr>
          <a:xfrm xmlns:a="http://schemas.openxmlformats.org/drawingml/2006/main">
            <a:off x="4864100" y="21907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2" name="table-text-140-2-2">
            <a:extLst xmlns:a="http://schemas.openxmlformats.org/drawingml/2006/main">
              <a:ext uri="{FF2B5EF4-FFF2-40B4-BE49-F238E27FC236}">
                <a16:creationId xmlns:a16="http://schemas.microsoft.com/office/drawing/2014/main" id="{5FB2E11C-BA38-45DD-9C00-BF26442E5A28}"/>
              </a:ext>
            </a:extLst>
          </p:cNvPr>
          <p:cNvSpPr>
            <a:spLocks xmlns:a="http://schemas.openxmlformats.org/drawingml/2006/main" noGrp="1"/>
          </p:cNvSpPr>
          <p:nvPr/>
        </p:nvSpPr>
        <p:spPr>
          <a:xfrm xmlns:a="http://schemas.openxmlformats.org/drawingml/2006/main">
            <a:off x="4949825" y="22574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반사 진입점과 다음 경로 계산</a:t>
            </a:r>
          </a:p>
        </p:txBody>
      </p:sp>
      <p:sp>
        <p:nvSpPr>
          <p:cNvPr id="23" name="table-cell-140-3-0">
            <a:extLst xmlns:a="http://schemas.openxmlformats.org/drawingml/2006/main">
              <a:ext uri="{FF2B5EF4-FFF2-40B4-BE49-F238E27FC236}">
                <a16:creationId xmlns:a16="http://schemas.microsoft.com/office/drawing/2014/main" id="{5684C346-C5CB-4A17-9658-D4D3FDCB7DF7}"/>
              </a:ext>
            </a:extLst>
          </p:cNvPr>
          <p:cNvSpPr>
            <a:spLocks xmlns:a="http://schemas.openxmlformats.org/drawingml/2006/main" noGrp="1"/>
          </p:cNvSpPr>
          <p:nvPr/>
        </p:nvSpPr>
        <p:spPr>
          <a:xfrm xmlns:a="http://schemas.openxmlformats.org/drawingml/2006/main">
            <a:off x="533400" y="25908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4" name="table-text-140-3-0">
            <a:extLst xmlns:a="http://schemas.openxmlformats.org/drawingml/2006/main">
              <a:ext uri="{FF2B5EF4-FFF2-40B4-BE49-F238E27FC236}">
                <a16:creationId xmlns:a16="http://schemas.microsoft.com/office/drawing/2014/main" id="{176060BC-D42E-4FD5-9B63-7A0FD6FEA48C}"/>
              </a:ext>
            </a:extLst>
          </p:cNvPr>
          <p:cNvSpPr>
            <a:spLocks xmlns:a="http://schemas.openxmlformats.org/drawingml/2006/main" noGrp="1"/>
          </p:cNvSpPr>
          <p:nvPr/>
        </p:nvSpPr>
        <p:spPr>
          <a:xfrm xmlns:a="http://schemas.openxmlformats.org/drawingml/2006/main">
            <a:off x="619125" y="26574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3. 연쇄 문 열기</a:t>
            </a:r>
          </a:p>
        </p:txBody>
      </p:sp>
      <p:sp>
        <p:nvSpPr>
          <p:cNvPr id="25" name="table-cell-140-3-1">
            <a:extLst xmlns:a="http://schemas.openxmlformats.org/drawingml/2006/main">
              <a:ext uri="{FF2B5EF4-FFF2-40B4-BE49-F238E27FC236}">
                <a16:creationId xmlns:a16="http://schemas.microsoft.com/office/drawing/2014/main" id="{AB308BF1-055C-48F7-8B92-1EF4AAC6F590}"/>
              </a:ext>
            </a:extLst>
          </p:cNvPr>
          <p:cNvSpPr>
            <a:spLocks xmlns:a="http://schemas.openxmlformats.org/drawingml/2006/main" noGrp="1"/>
          </p:cNvSpPr>
          <p:nvPr/>
        </p:nvSpPr>
        <p:spPr>
          <a:xfrm xmlns:a="http://schemas.openxmlformats.org/drawingml/2006/main">
            <a:off x="2698750" y="25908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6" name="table-text-140-3-1">
            <a:extLst xmlns:a="http://schemas.openxmlformats.org/drawingml/2006/main">
              <a:ext uri="{FF2B5EF4-FFF2-40B4-BE49-F238E27FC236}">
                <a16:creationId xmlns:a16="http://schemas.microsoft.com/office/drawing/2014/main" id="{AE57D32A-43AA-4878-A757-875437F8E571}"/>
              </a:ext>
            </a:extLst>
          </p:cNvPr>
          <p:cNvSpPr>
            <a:spLocks xmlns:a="http://schemas.openxmlformats.org/drawingml/2006/main" noGrp="1"/>
          </p:cNvSpPr>
          <p:nvPr/>
        </p:nvSpPr>
        <p:spPr>
          <a:xfrm xmlns:a="http://schemas.openxmlformats.org/drawingml/2006/main">
            <a:off x="2784475" y="26574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스위치·문</a:t>
            </a:r>
          </a:p>
        </p:txBody>
      </p:sp>
      <p:sp>
        <p:nvSpPr>
          <p:cNvPr id="27" name="table-cell-140-3-2">
            <a:extLst xmlns:a="http://schemas.openxmlformats.org/drawingml/2006/main">
              <a:ext uri="{FF2B5EF4-FFF2-40B4-BE49-F238E27FC236}">
                <a16:creationId xmlns:a16="http://schemas.microsoft.com/office/drawing/2014/main" id="{4DC3ECE4-341B-4829-B8F0-AF614AF4EF50}"/>
              </a:ext>
            </a:extLst>
          </p:cNvPr>
          <p:cNvSpPr>
            <a:spLocks xmlns:a="http://schemas.openxmlformats.org/drawingml/2006/main" noGrp="1"/>
          </p:cNvSpPr>
          <p:nvPr/>
        </p:nvSpPr>
        <p:spPr>
          <a:xfrm xmlns:a="http://schemas.openxmlformats.org/drawingml/2006/main">
            <a:off x="4864100" y="25908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8" name="table-text-140-3-2">
            <a:extLst xmlns:a="http://schemas.openxmlformats.org/drawingml/2006/main">
              <a:ext uri="{FF2B5EF4-FFF2-40B4-BE49-F238E27FC236}">
                <a16:creationId xmlns:a16="http://schemas.microsoft.com/office/drawing/2014/main" id="{86B3FD7D-0266-4527-8845-B5E7D90873AF}"/>
              </a:ext>
            </a:extLst>
          </p:cNvPr>
          <p:cNvSpPr>
            <a:spLocks xmlns:a="http://schemas.openxmlformats.org/drawingml/2006/main" noGrp="1"/>
          </p:cNvSpPr>
          <p:nvPr/>
        </p:nvSpPr>
        <p:spPr>
          <a:xfrm xmlns:a="http://schemas.openxmlformats.org/drawingml/2006/main">
            <a:off x="4949825" y="26574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원인과 결과의 작동 순서 추적</a:t>
            </a:r>
          </a:p>
        </p:txBody>
      </p:sp>
      <p:sp>
        <p:nvSpPr>
          <p:cNvPr id="29" name="table-cell-140-4-0">
            <a:extLst xmlns:a="http://schemas.openxmlformats.org/drawingml/2006/main">
              <a:ext uri="{FF2B5EF4-FFF2-40B4-BE49-F238E27FC236}">
                <a16:creationId xmlns:a16="http://schemas.microsoft.com/office/drawing/2014/main" id="{44503040-2F6B-4873-9F69-97DB07DCA50A}"/>
              </a:ext>
            </a:extLst>
          </p:cNvPr>
          <p:cNvSpPr>
            <a:spLocks xmlns:a="http://schemas.openxmlformats.org/drawingml/2006/main" noGrp="1"/>
          </p:cNvSpPr>
          <p:nvPr/>
        </p:nvSpPr>
        <p:spPr>
          <a:xfrm xmlns:a="http://schemas.openxmlformats.org/drawingml/2006/main">
            <a:off x="533400" y="29908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0" name="table-text-140-4-0">
            <a:extLst xmlns:a="http://schemas.openxmlformats.org/drawingml/2006/main">
              <a:ext uri="{FF2B5EF4-FFF2-40B4-BE49-F238E27FC236}">
                <a16:creationId xmlns:a16="http://schemas.microsoft.com/office/drawing/2014/main" id="{0619E3D6-DBCC-464A-A020-465019D608C6}"/>
              </a:ext>
            </a:extLst>
          </p:cNvPr>
          <p:cNvSpPr>
            <a:spLocks xmlns:a="http://schemas.openxmlformats.org/drawingml/2006/main" noGrp="1"/>
          </p:cNvSpPr>
          <p:nvPr/>
        </p:nvSpPr>
        <p:spPr>
          <a:xfrm xmlns:a="http://schemas.openxmlformats.org/drawingml/2006/main">
            <a:off x="619125" y="30575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4. 풍선 터뜨리기</a:t>
            </a:r>
          </a:p>
        </p:txBody>
      </p:sp>
      <p:sp>
        <p:nvSpPr>
          <p:cNvPr id="31" name="table-cell-140-4-1">
            <a:extLst xmlns:a="http://schemas.openxmlformats.org/drawingml/2006/main">
              <a:ext uri="{FF2B5EF4-FFF2-40B4-BE49-F238E27FC236}">
                <a16:creationId xmlns:a16="http://schemas.microsoft.com/office/drawing/2014/main" id="{C0C024C4-5D9F-4658-86F1-7A9855FC92FC}"/>
              </a:ext>
            </a:extLst>
          </p:cNvPr>
          <p:cNvSpPr>
            <a:spLocks xmlns:a="http://schemas.openxmlformats.org/drawingml/2006/main" noGrp="1"/>
          </p:cNvSpPr>
          <p:nvPr/>
        </p:nvSpPr>
        <p:spPr>
          <a:xfrm xmlns:a="http://schemas.openxmlformats.org/drawingml/2006/main">
            <a:off x="2698750" y="29908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2" name="table-text-140-4-1">
            <a:extLst xmlns:a="http://schemas.openxmlformats.org/drawingml/2006/main">
              <a:ext uri="{FF2B5EF4-FFF2-40B4-BE49-F238E27FC236}">
                <a16:creationId xmlns:a16="http://schemas.microsoft.com/office/drawing/2014/main" id="{F9417232-A03E-40B2-9F67-F9ADD291C169}"/>
              </a:ext>
            </a:extLst>
          </p:cNvPr>
          <p:cNvSpPr>
            <a:spLocks xmlns:a="http://schemas.openxmlformats.org/drawingml/2006/main" noGrp="1"/>
          </p:cNvSpPr>
          <p:nvPr/>
        </p:nvSpPr>
        <p:spPr>
          <a:xfrm xmlns:a="http://schemas.openxmlformats.org/drawingml/2006/main">
            <a:off x="2784475" y="30575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뾰족함·풍선</a:t>
            </a:r>
          </a:p>
        </p:txBody>
      </p:sp>
      <p:sp>
        <p:nvSpPr>
          <p:cNvPr id="33" name="table-cell-140-4-2">
            <a:extLst xmlns:a="http://schemas.openxmlformats.org/drawingml/2006/main">
              <a:ext uri="{FF2B5EF4-FFF2-40B4-BE49-F238E27FC236}">
                <a16:creationId xmlns:a16="http://schemas.microsoft.com/office/drawing/2014/main" id="{4E71A7B6-D4C0-4301-B186-CDF14B7A6A48}"/>
              </a:ext>
            </a:extLst>
          </p:cNvPr>
          <p:cNvSpPr>
            <a:spLocks xmlns:a="http://schemas.openxmlformats.org/drawingml/2006/main" noGrp="1"/>
          </p:cNvSpPr>
          <p:nvPr/>
        </p:nvSpPr>
        <p:spPr>
          <a:xfrm xmlns:a="http://schemas.openxmlformats.org/drawingml/2006/main">
            <a:off x="4864100" y="29908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4" name="table-text-140-4-2">
            <a:extLst xmlns:a="http://schemas.openxmlformats.org/drawingml/2006/main">
              <a:ext uri="{FF2B5EF4-FFF2-40B4-BE49-F238E27FC236}">
                <a16:creationId xmlns:a16="http://schemas.microsoft.com/office/drawing/2014/main" id="{B568B5B9-8A3C-4EEF-A2D5-92D21828D645}"/>
              </a:ext>
            </a:extLst>
          </p:cNvPr>
          <p:cNvSpPr>
            <a:spLocks xmlns:a="http://schemas.openxmlformats.org/drawingml/2006/main" noGrp="1"/>
          </p:cNvSpPr>
          <p:nvPr/>
        </p:nvSpPr>
        <p:spPr>
          <a:xfrm xmlns:a="http://schemas.openxmlformats.org/drawingml/2006/main">
            <a:off x="4949825" y="30575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터뜨리기와 우회 경로 선택</a:t>
            </a:r>
          </a:p>
        </p:txBody>
      </p:sp>
      <p:sp>
        <p:nvSpPr>
          <p:cNvPr id="35" name="table-cell-140-5-0">
            <a:extLst xmlns:a="http://schemas.openxmlformats.org/drawingml/2006/main">
              <a:ext uri="{FF2B5EF4-FFF2-40B4-BE49-F238E27FC236}">
                <a16:creationId xmlns:a16="http://schemas.microsoft.com/office/drawing/2014/main" id="{58E280A0-F20E-452C-97EA-F40C96265C94}"/>
              </a:ext>
            </a:extLst>
          </p:cNvPr>
          <p:cNvSpPr>
            <a:spLocks xmlns:a="http://schemas.openxmlformats.org/drawingml/2006/main" noGrp="1"/>
          </p:cNvSpPr>
          <p:nvPr/>
        </p:nvSpPr>
        <p:spPr>
          <a:xfrm xmlns:a="http://schemas.openxmlformats.org/drawingml/2006/main">
            <a:off x="533400" y="33909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6" name="table-text-140-5-0">
            <a:extLst xmlns:a="http://schemas.openxmlformats.org/drawingml/2006/main">
              <a:ext uri="{FF2B5EF4-FFF2-40B4-BE49-F238E27FC236}">
                <a16:creationId xmlns:a16="http://schemas.microsoft.com/office/drawing/2014/main" id="{09F9CE1B-8C13-48A8-862F-506E0B8B8B77}"/>
              </a:ext>
            </a:extLst>
          </p:cNvPr>
          <p:cNvSpPr>
            <a:spLocks xmlns:a="http://schemas.openxmlformats.org/drawingml/2006/main" noGrp="1"/>
          </p:cNvSpPr>
          <p:nvPr/>
        </p:nvSpPr>
        <p:spPr>
          <a:xfrm xmlns:a="http://schemas.openxmlformats.org/drawingml/2006/main">
            <a:off x="619125" y="34575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5. 비워진 속성</a:t>
            </a:r>
          </a:p>
        </p:txBody>
      </p:sp>
      <p:sp>
        <p:nvSpPr>
          <p:cNvPr id="37" name="table-cell-140-5-1">
            <a:extLst xmlns:a="http://schemas.openxmlformats.org/drawingml/2006/main">
              <a:ext uri="{FF2B5EF4-FFF2-40B4-BE49-F238E27FC236}">
                <a16:creationId xmlns:a16="http://schemas.microsoft.com/office/drawing/2014/main" id="{DEE1BAE0-A19F-4AE7-B061-CAC6EEC5FDB0}"/>
              </a:ext>
            </a:extLst>
          </p:cNvPr>
          <p:cNvSpPr>
            <a:spLocks xmlns:a="http://schemas.openxmlformats.org/drawingml/2006/main" noGrp="1"/>
          </p:cNvSpPr>
          <p:nvPr/>
        </p:nvSpPr>
        <p:spPr>
          <a:xfrm xmlns:a="http://schemas.openxmlformats.org/drawingml/2006/main">
            <a:off x="2698750" y="33909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8" name="table-text-140-5-1">
            <a:extLst xmlns:a="http://schemas.openxmlformats.org/drawingml/2006/main">
              <a:ext uri="{FF2B5EF4-FFF2-40B4-BE49-F238E27FC236}">
                <a16:creationId xmlns:a16="http://schemas.microsoft.com/office/drawing/2014/main" id="{4C251762-17CC-4A12-B7FD-3C53AC302ECA}"/>
              </a:ext>
            </a:extLst>
          </p:cNvPr>
          <p:cNvSpPr>
            <a:spLocks xmlns:a="http://schemas.openxmlformats.org/drawingml/2006/main" noGrp="1"/>
          </p:cNvSpPr>
          <p:nvPr/>
        </p:nvSpPr>
        <p:spPr>
          <a:xfrm xmlns:a="http://schemas.openxmlformats.org/drawingml/2006/main">
            <a:off x="2784475" y="34575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원본 상태 변화</a:t>
            </a:r>
          </a:p>
        </p:txBody>
      </p:sp>
      <p:sp>
        <p:nvSpPr>
          <p:cNvPr id="39" name="table-cell-140-5-2">
            <a:extLst xmlns:a="http://schemas.openxmlformats.org/drawingml/2006/main">
              <a:ext uri="{FF2B5EF4-FFF2-40B4-BE49-F238E27FC236}">
                <a16:creationId xmlns:a16="http://schemas.microsoft.com/office/drawing/2014/main" id="{6EB7B5F8-8476-498D-AC72-8EF15F57D08A}"/>
              </a:ext>
            </a:extLst>
          </p:cNvPr>
          <p:cNvSpPr>
            <a:spLocks xmlns:a="http://schemas.openxmlformats.org/drawingml/2006/main" noGrp="1"/>
          </p:cNvSpPr>
          <p:nvPr/>
        </p:nvSpPr>
        <p:spPr>
          <a:xfrm xmlns:a="http://schemas.openxmlformats.org/drawingml/2006/main">
            <a:off x="4864100" y="33909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0" name="table-text-140-5-2">
            <a:extLst xmlns:a="http://schemas.openxmlformats.org/drawingml/2006/main">
              <a:ext uri="{FF2B5EF4-FFF2-40B4-BE49-F238E27FC236}">
                <a16:creationId xmlns:a16="http://schemas.microsoft.com/office/drawing/2014/main" id="{8FABB198-1E69-484F-BD92-F4BF7836F8E3}"/>
              </a:ext>
            </a:extLst>
          </p:cNvPr>
          <p:cNvSpPr>
            <a:spLocks xmlns:a="http://schemas.openxmlformats.org/drawingml/2006/main" noGrp="1"/>
          </p:cNvSpPr>
          <p:nvPr/>
        </p:nvSpPr>
        <p:spPr>
          <a:xfrm xmlns:a="http://schemas.openxmlformats.org/drawingml/2006/main">
            <a:off x="4949825" y="34575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속성 이전 뒤 원본 재활용</a:t>
            </a:r>
          </a:p>
        </p:txBody>
      </p:sp>
      <p:sp>
        <p:nvSpPr>
          <p:cNvPr id="41" name="table-cell-140-6-0">
            <a:extLst xmlns:a="http://schemas.openxmlformats.org/drawingml/2006/main">
              <a:ext uri="{FF2B5EF4-FFF2-40B4-BE49-F238E27FC236}">
                <a16:creationId xmlns:a16="http://schemas.microsoft.com/office/drawing/2014/main" id="{AB703918-E47F-4B97-A022-36D011BAF67F}"/>
              </a:ext>
            </a:extLst>
          </p:cNvPr>
          <p:cNvSpPr>
            <a:spLocks xmlns:a="http://schemas.openxmlformats.org/drawingml/2006/main" noGrp="1"/>
          </p:cNvSpPr>
          <p:nvPr/>
        </p:nvSpPr>
        <p:spPr>
          <a:xfrm xmlns:a="http://schemas.openxmlformats.org/drawingml/2006/main">
            <a:off x="533400" y="37909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2" name="table-text-140-6-0">
            <a:extLst xmlns:a="http://schemas.openxmlformats.org/drawingml/2006/main">
              <a:ext uri="{FF2B5EF4-FFF2-40B4-BE49-F238E27FC236}">
                <a16:creationId xmlns:a16="http://schemas.microsoft.com/office/drawing/2014/main" id="{504041AE-BD72-410A-91A6-AD19FFE504D4}"/>
              </a:ext>
            </a:extLst>
          </p:cNvPr>
          <p:cNvSpPr>
            <a:spLocks xmlns:a="http://schemas.openxmlformats.org/drawingml/2006/main" noGrp="1"/>
          </p:cNvSpPr>
          <p:nvPr/>
        </p:nvSpPr>
        <p:spPr>
          <a:xfrm xmlns:a="http://schemas.openxmlformats.org/drawingml/2006/main">
            <a:off x="619125" y="38576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6. 속도를 되살리는 길</a:t>
            </a:r>
          </a:p>
        </p:txBody>
      </p:sp>
      <p:sp>
        <p:nvSpPr>
          <p:cNvPr id="43" name="table-cell-140-6-1">
            <a:extLst xmlns:a="http://schemas.openxmlformats.org/drawingml/2006/main">
              <a:ext uri="{FF2B5EF4-FFF2-40B4-BE49-F238E27FC236}">
                <a16:creationId xmlns:a16="http://schemas.microsoft.com/office/drawing/2014/main" id="{5152431D-CFD3-4697-82A3-0938D1291332}"/>
              </a:ext>
            </a:extLst>
          </p:cNvPr>
          <p:cNvSpPr>
            <a:spLocks xmlns:a="http://schemas.openxmlformats.org/drawingml/2006/main" noGrp="1"/>
          </p:cNvSpPr>
          <p:nvPr/>
        </p:nvSpPr>
        <p:spPr>
          <a:xfrm xmlns:a="http://schemas.openxmlformats.org/drawingml/2006/main">
            <a:off x="2698750" y="37909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4" name="table-text-140-6-1">
            <a:extLst xmlns:a="http://schemas.openxmlformats.org/drawingml/2006/main">
              <a:ext uri="{FF2B5EF4-FFF2-40B4-BE49-F238E27FC236}">
                <a16:creationId xmlns:a16="http://schemas.microsoft.com/office/drawing/2014/main" id="{B0002027-B587-4401-BA9C-359AA8CE3B79}"/>
              </a:ext>
            </a:extLst>
          </p:cNvPr>
          <p:cNvSpPr>
            <a:spLocks xmlns:a="http://schemas.openxmlformats.org/drawingml/2006/main" noGrp="1"/>
          </p:cNvSpPr>
          <p:nvPr/>
        </p:nvSpPr>
        <p:spPr>
          <a:xfrm xmlns:a="http://schemas.openxmlformats.org/drawingml/2006/main">
            <a:off x="2784475" y="38576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파워 발판</a:t>
            </a:r>
          </a:p>
        </p:txBody>
      </p:sp>
      <p:sp>
        <p:nvSpPr>
          <p:cNvPr id="45" name="table-cell-140-6-2">
            <a:extLst xmlns:a="http://schemas.openxmlformats.org/drawingml/2006/main">
              <a:ext uri="{FF2B5EF4-FFF2-40B4-BE49-F238E27FC236}">
                <a16:creationId xmlns:a16="http://schemas.microsoft.com/office/drawing/2014/main" id="{4FE82DC4-12EA-4A87-B016-A85E1076786D}"/>
              </a:ext>
            </a:extLst>
          </p:cNvPr>
          <p:cNvSpPr>
            <a:spLocks xmlns:a="http://schemas.openxmlformats.org/drawingml/2006/main" noGrp="1"/>
          </p:cNvSpPr>
          <p:nvPr/>
        </p:nvSpPr>
        <p:spPr>
          <a:xfrm xmlns:a="http://schemas.openxmlformats.org/drawingml/2006/main">
            <a:off x="4864100" y="37909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6" name="table-text-140-6-2">
            <a:extLst xmlns:a="http://schemas.openxmlformats.org/drawingml/2006/main">
              <a:ext uri="{FF2B5EF4-FFF2-40B4-BE49-F238E27FC236}">
                <a16:creationId xmlns:a16="http://schemas.microsoft.com/office/drawing/2014/main" id="{1D06F29C-75A1-47A7-850F-13ABD8F34E08}"/>
              </a:ext>
            </a:extLst>
          </p:cNvPr>
          <p:cNvSpPr>
            <a:spLocks xmlns:a="http://schemas.openxmlformats.org/drawingml/2006/main" noGrp="1"/>
          </p:cNvSpPr>
          <p:nvPr/>
        </p:nvSpPr>
        <p:spPr>
          <a:xfrm xmlns:a="http://schemas.openxmlformats.org/drawingml/2006/main">
            <a:off x="4949825" y="38576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속도 임계와 재가속 지점 판단</a:t>
            </a:r>
          </a:p>
        </p:txBody>
      </p:sp>
      <p:sp>
        <p:nvSpPr>
          <p:cNvPr id="47" name="table-cell-140-7-0">
            <a:extLst xmlns:a="http://schemas.openxmlformats.org/drawingml/2006/main">
              <a:ext uri="{FF2B5EF4-FFF2-40B4-BE49-F238E27FC236}">
                <a16:creationId xmlns:a16="http://schemas.microsoft.com/office/drawing/2014/main" id="{A3E34403-9167-4FFB-A566-786AF1E831DB}"/>
              </a:ext>
            </a:extLst>
          </p:cNvPr>
          <p:cNvSpPr>
            <a:spLocks xmlns:a="http://schemas.openxmlformats.org/drawingml/2006/main" noGrp="1"/>
          </p:cNvSpPr>
          <p:nvPr/>
        </p:nvSpPr>
        <p:spPr>
          <a:xfrm xmlns:a="http://schemas.openxmlformats.org/drawingml/2006/main">
            <a:off x="533400" y="41910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48" name="table-text-140-7-0">
            <a:extLst xmlns:a="http://schemas.openxmlformats.org/drawingml/2006/main">
              <a:ext uri="{FF2B5EF4-FFF2-40B4-BE49-F238E27FC236}">
                <a16:creationId xmlns:a16="http://schemas.microsoft.com/office/drawing/2014/main" id="{D5A48EC0-9833-4A9E-B885-16B4BF3FFEDF}"/>
              </a:ext>
            </a:extLst>
          </p:cNvPr>
          <p:cNvSpPr>
            <a:spLocks xmlns:a="http://schemas.openxmlformats.org/drawingml/2006/main" noGrp="1"/>
          </p:cNvSpPr>
          <p:nvPr/>
        </p:nvSpPr>
        <p:spPr>
          <a:xfrm xmlns:a="http://schemas.openxmlformats.org/drawingml/2006/main">
            <a:off x="619125" y="42576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7. 공은 사라지지 않는다</a:t>
            </a:r>
          </a:p>
        </p:txBody>
      </p:sp>
      <p:sp>
        <p:nvSpPr>
          <p:cNvPr id="49" name="table-cell-140-7-1">
            <a:extLst xmlns:a="http://schemas.openxmlformats.org/drawingml/2006/main">
              <a:ext uri="{FF2B5EF4-FFF2-40B4-BE49-F238E27FC236}">
                <a16:creationId xmlns:a16="http://schemas.microsoft.com/office/drawing/2014/main" id="{46EDAD70-8906-486B-93CD-3DB583936B23}"/>
              </a:ext>
            </a:extLst>
          </p:cNvPr>
          <p:cNvSpPr>
            <a:spLocks xmlns:a="http://schemas.openxmlformats.org/drawingml/2006/main" noGrp="1"/>
          </p:cNvSpPr>
          <p:nvPr/>
        </p:nvSpPr>
        <p:spPr>
          <a:xfrm xmlns:a="http://schemas.openxmlformats.org/drawingml/2006/main">
            <a:off x="2698750" y="41910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0" name="table-text-140-7-1">
            <a:extLst xmlns:a="http://schemas.openxmlformats.org/drawingml/2006/main">
              <a:ext uri="{FF2B5EF4-FFF2-40B4-BE49-F238E27FC236}">
                <a16:creationId xmlns:a16="http://schemas.microsoft.com/office/drawing/2014/main" id="{C63700CC-BC85-4ECB-966B-DC5F6F74367D}"/>
              </a:ext>
            </a:extLst>
          </p:cNvPr>
          <p:cNvSpPr>
            <a:spLocks xmlns:a="http://schemas.openxmlformats.org/drawingml/2006/main" noGrp="1"/>
          </p:cNvSpPr>
          <p:nvPr/>
        </p:nvSpPr>
        <p:spPr>
          <a:xfrm xmlns:a="http://schemas.openxmlformats.org/drawingml/2006/main">
            <a:off x="2784475" y="42576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잔류 공</a:t>
            </a:r>
          </a:p>
        </p:txBody>
      </p:sp>
      <p:sp>
        <p:nvSpPr>
          <p:cNvPr id="51" name="table-cell-140-7-2">
            <a:extLst xmlns:a="http://schemas.openxmlformats.org/drawingml/2006/main">
              <a:ext uri="{FF2B5EF4-FFF2-40B4-BE49-F238E27FC236}">
                <a16:creationId xmlns:a16="http://schemas.microsoft.com/office/drawing/2014/main" id="{D440F8E7-F33F-47CB-8EF3-EF6FD4B5AF49}"/>
              </a:ext>
            </a:extLst>
          </p:cNvPr>
          <p:cNvSpPr>
            <a:spLocks xmlns:a="http://schemas.openxmlformats.org/drawingml/2006/main" noGrp="1"/>
          </p:cNvSpPr>
          <p:nvPr/>
        </p:nvSpPr>
        <p:spPr>
          <a:xfrm xmlns:a="http://schemas.openxmlformats.org/drawingml/2006/main">
            <a:off x="4864100" y="41910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52" name="table-text-140-7-2">
            <a:extLst xmlns:a="http://schemas.openxmlformats.org/drawingml/2006/main">
              <a:ext uri="{FF2B5EF4-FFF2-40B4-BE49-F238E27FC236}">
                <a16:creationId xmlns:a16="http://schemas.microsoft.com/office/drawing/2014/main" id="{93A8D741-6286-4F32-B67C-62C014512488}"/>
              </a:ext>
            </a:extLst>
          </p:cNvPr>
          <p:cNvSpPr>
            <a:spLocks xmlns:a="http://schemas.openxmlformats.org/drawingml/2006/main" noGrp="1"/>
          </p:cNvSpPr>
          <p:nvPr/>
        </p:nvSpPr>
        <p:spPr>
          <a:xfrm xmlns:a="http://schemas.openxmlformats.org/drawingml/2006/main">
            <a:off x="4949825" y="42576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825"/>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첫 실패를 다음 성공의 조건으로 사용</a:t>
            </a:r>
          </a:p>
        </p:txBody>
      </p:sp>
      <p:sp>
        <p:nvSpPr>
          <p:cNvPr id="53" name="table-cell-140-8-0">
            <a:extLst xmlns:a="http://schemas.openxmlformats.org/drawingml/2006/main">
              <a:ext uri="{FF2B5EF4-FFF2-40B4-BE49-F238E27FC236}">
                <a16:creationId xmlns:a16="http://schemas.microsoft.com/office/drawing/2014/main" id="{09691AB2-FFCD-4544-B765-2D7B2FAAF2DC}"/>
              </a:ext>
            </a:extLst>
          </p:cNvPr>
          <p:cNvSpPr>
            <a:spLocks xmlns:a="http://schemas.openxmlformats.org/drawingml/2006/main" noGrp="1"/>
          </p:cNvSpPr>
          <p:nvPr/>
        </p:nvSpPr>
        <p:spPr>
          <a:xfrm xmlns:a="http://schemas.openxmlformats.org/drawingml/2006/main">
            <a:off x="533400" y="45910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54" name="table-text-140-8-0">
            <a:extLst xmlns:a="http://schemas.openxmlformats.org/drawingml/2006/main">
              <a:ext uri="{FF2B5EF4-FFF2-40B4-BE49-F238E27FC236}">
                <a16:creationId xmlns:a16="http://schemas.microsoft.com/office/drawing/2014/main" id="{63C05F67-AB00-44FD-B874-7E7B45C24873}"/>
              </a:ext>
            </a:extLst>
          </p:cNvPr>
          <p:cNvSpPr>
            <a:spLocks xmlns:a="http://schemas.openxmlformats.org/drawingml/2006/main" noGrp="1"/>
          </p:cNvSpPr>
          <p:nvPr/>
        </p:nvSpPr>
        <p:spPr>
          <a:xfrm xmlns:a="http://schemas.openxmlformats.org/drawingml/2006/main">
            <a:off x="619125" y="46577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8. 세 번 이어라</a:t>
            </a:r>
          </a:p>
        </p:txBody>
      </p:sp>
      <p:sp>
        <p:nvSpPr>
          <p:cNvPr id="55" name="table-cell-140-8-1">
            <a:extLst xmlns:a="http://schemas.openxmlformats.org/drawingml/2006/main">
              <a:ext uri="{FF2B5EF4-FFF2-40B4-BE49-F238E27FC236}">
                <a16:creationId xmlns:a16="http://schemas.microsoft.com/office/drawing/2014/main" id="{9EE4429E-0C93-4046-B449-4D0AD4E1F1F9}"/>
              </a:ext>
            </a:extLst>
          </p:cNvPr>
          <p:cNvSpPr>
            <a:spLocks xmlns:a="http://schemas.openxmlformats.org/drawingml/2006/main" noGrp="1"/>
          </p:cNvSpPr>
          <p:nvPr/>
        </p:nvSpPr>
        <p:spPr>
          <a:xfrm xmlns:a="http://schemas.openxmlformats.org/drawingml/2006/main">
            <a:off x="2698750" y="45910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56" name="table-text-140-8-1">
            <a:extLst xmlns:a="http://schemas.openxmlformats.org/drawingml/2006/main">
              <a:ext uri="{FF2B5EF4-FFF2-40B4-BE49-F238E27FC236}">
                <a16:creationId xmlns:a16="http://schemas.microsoft.com/office/drawing/2014/main" id="{82AEF92C-3C11-4BBC-8921-817BC8EB157C}"/>
              </a:ext>
            </a:extLst>
          </p:cNvPr>
          <p:cNvSpPr>
            <a:spLocks xmlns:a="http://schemas.openxmlformats.org/drawingml/2006/main" noGrp="1"/>
          </p:cNvSpPr>
          <p:nvPr/>
        </p:nvSpPr>
        <p:spPr>
          <a:xfrm xmlns:a="http://schemas.openxmlformats.org/drawingml/2006/main">
            <a:off x="2784475" y="46577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다중 연쇄</a:t>
            </a:r>
          </a:p>
        </p:txBody>
      </p:sp>
      <p:sp>
        <p:nvSpPr>
          <p:cNvPr id="57" name="table-cell-140-8-2">
            <a:extLst xmlns:a="http://schemas.openxmlformats.org/drawingml/2006/main">
              <a:ext uri="{FF2B5EF4-FFF2-40B4-BE49-F238E27FC236}">
                <a16:creationId xmlns:a16="http://schemas.microsoft.com/office/drawing/2014/main" id="{756335D4-4D93-4395-9A2E-406F73BBBD57}"/>
              </a:ext>
            </a:extLst>
          </p:cNvPr>
          <p:cNvSpPr>
            <a:spLocks xmlns:a="http://schemas.openxmlformats.org/drawingml/2006/main" noGrp="1"/>
          </p:cNvSpPr>
          <p:nvPr/>
        </p:nvSpPr>
        <p:spPr>
          <a:xfrm xmlns:a="http://schemas.openxmlformats.org/drawingml/2006/main">
            <a:off x="4864100" y="45910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58" name="table-text-140-8-2">
            <a:extLst xmlns:a="http://schemas.openxmlformats.org/drawingml/2006/main">
              <a:ext uri="{FF2B5EF4-FFF2-40B4-BE49-F238E27FC236}">
                <a16:creationId xmlns:a16="http://schemas.microsoft.com/office/drawing/2014/main" id="{5F4516C4-6C3F-4078-819E-F3FBD413CE18}"/>
              </a:ext>
            </a:extLst>
          </p:cNvPr>
          <p:cNvSpPr>
            <a:spLocks xmlns:a="http://schemas.openxmlformats.org/drawingml/2006/main" noGrp="1"/>
          </p:cNvSpPr>
          <p:nvPr/>
        </p:nvSpPr>
        <p:spPr>
          <a:xfrm xmlns:a="http://schemas.openxmlformats.org/drawingml/2006/main">
            <a:off x="4949825" y="46577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연속 충돌과 깊은 인과 구성</a:t>
            </a:r>
          </a:p>
        </p:txBody>
      </p:sp>
      <p:sp>
        <p:nvSpPr>
          <p:cNvPr id="59" name="table-cell-140-9-0">
            <a:extLst xmlns:a="http://schemas.openxmlformats.org/drawingml/2006/main">
              <a:ext uri="{FF2B5EF4-FFF2-40B4-BE49-F238E27FC236}">
                <a16:creationId xmlns:a16="http://schemas.microsoft.com/office/drawing/2014/main" id="{7B0FE07C-2E55-41CE-943B-7F6BB1B32558}"/>
              </a:ext>
            </a:extLst>
          </p:cNvPr>
          <p:cNvSpPr>
            <a:spLocks xmlns:a="http://schemas.openxmlformats.org/drawingml/2006/main" noGrp="1"/>
          </p:cNvSpPr>
          <p:nvPr/>
        </p:nvSpPr>
        <p:spPr>
          <a:xfrm xmlns:a="http://schemas.openxmlformats.org/drawingml/2006/main">
            <a:off x="533400" y="49911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60" name="table-text-140-9-0">
            <a:extLst xmlns:a="http://schemas.openxmlformats.org/drawingml/2006/main">
              <a:ext uri="{FF2B5EF4-FFF2-40B4-BE49-F238E27FC236}">
                <a16:creationId xmlns:a16="http://schemas.microsoft.com/office/drawing/2014/main" id="{FE23660E-03C5-4810-8E85-C87E175EB70D}"/>
              </a:ext>
            </a:extLst>
          </p:cNvPr>
          <p:cNvSpPr>
            <a:spLocks xmlns:a="http://schemas.openxmlformats.org/drawingml/2006/main" noGrp="1"/>
          </p:cNvSpPr>
          <p:nvPr/>
        </p:nvSpPr>
        <p:spPr>
          <a:xfrm xmlns:a="http://schemas.openxmlformats.org/drawingml/2006/main">
            <a:off x="619125" y="50577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9. 판을 돌려 놓아라</a:t>
            </a:r>
          </a:p>
        </p:txBody>
      </p:sp>
      <p:sp>
        <p:nvSpPr>
          <p:cNvPr id="61" name="table-cell-140-9-1">
            <a:extLst xmlns:a="http://schemas.openxmlformats.org/drawingml/2006/main">
              <a:ext uri="{FF2B5EF4-FFF2-40B4-BE49-F238E27FC236}">
                <a16:creationId xmlns:a16="http://schemas.microsoft.com/office/drawing/2014/main" id="{52798D27-1D8B-4CF9-AF5F-4A1F7B64CA04}"/>
              </a:ext>
            </a:extLst>
          </p:cNvPr>
          <p:cNvSpPr>
            <a:spLocks xmlns:a="http://schemas.openxmlformats.org/drawingml/2006/main" noGrp="1"/>
          </p:cNvSpPr>
          <p:nvPr/>
        </p:nvSpPr>
        <p:spPr>
          <a:xfrm xmlns:a="http://schemas.openxmlformats.org/drawingml/2006/main">
            <a:off x="2698750" y="49911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62" name="table-text-140-9-1">
            <a:extLst xmlns:a="http://schemas.openxmlformats.org/drawingml/2006/main">
              <a:ext uri="{FF2B5EF4-FFF2-40B4-BE49-F238E27FC236}">
                <a16:creationId xmlns:a16="http://schemas.microsoft.com/office/drawing/2014/main" id="{1F99C839-6EAC-418C-80AE-239EA1CE2643}"/>
              </a:ext>
            </a:extLst>
          </p:cNvPr>
          <p:cNvSpPr>
            <a:spLocks xmlns:a="http://schemas.openxmlformats.org/drawingml/2006/main" noGrp="1"/>
          </p:cNvSpPr>
          <p:nvPr/>
        </p:nvSpPr>
        <p:spPr>
          <a:xfrm xmlns:a="http://schemas.openxmlformats.org/drawingml/2006/main">
            <a:off x="2784475" y="50577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회전 반사판</a:t>
            </a:r>
          </a:p>
        </p:txBody>
      </p:sp>
      <p:sp>
        <p:nvSpPr>
          <p:cNvPr id="63" name="table-cell-140-9-2">
            <a:extLst xmlns:a="http://schemas.openxmlformats.org/drawingml/2006/main">
              <a:ext uri="{FF2B5EF4-FFF2-40B4-BE49-F238E27FC236}">
                <a16:creationId xmlns:a16="http://schemas.microsoft.com/office/drawing/2014/main" id="{EB8DC53D-C514-434F-860B-B74CA4A8005D}"/>
              </a:ext>
            </a:extLst>
          </p:cNvPr>
          <p:cNvSpPr>
            <a:spLocks xmlns:a="http://schemas.openxmlformats.org/drawingml/2006/main" noGrp="1"/>
          </p:cNvSpPr>
          <p:nvPr/>
        </p:nvSpPr>
        <p:spPr>
          <a:xfrm xmlns:a="http://schemas.openxmlformats.org/drawingml/2006/main">
            <a:off x="4864100" y="4991100"/>
            <a:ext cx="2165350" cy="400050"/>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64" name="table-text-140-9-2">
            <a:extLst xmlns:a="http://schemas.openxmlformats.org/drawingml/2006/main">
              <a:ext uri="{FF2B5EF4-FFF2-40B4-BE49-F238E27FC236}">
                <a16:creationId xmlns:a16="http://schemas.microsoft.com/office/drawing/2014/main" id="{4161B6D2-80C3-4F47-ACC3-8A09232453AE}"/>
              </a:ext>
            </a:extLst>
          </p:cNvPr>
          <p:cNvSpPr>
            <a:spLocks xmlns:a="http://schemas.openxmlformats.org/drawingml/2006/main" noGrp="1"/>
          </p:cNvSpPr>
          <p:nvPr/>
        </p:nvSpPr>
        <p:spPr>
          <a:xfrm xmlns:a="http://schemas.openxmlformats.org/drawingml/2006/main">
            <a:off x="4949825" y="505777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장치 상태를 다음 샷까지 누적</a:t>
            </a:r>
          </a:p>
        </p:txBody>
      </p:sp>
      <p:sp>
        <p:nvSpPr>
          <p:cNvPr id="65" name="table-cell-140-10-0">
            <a:extLst xmlns:a="http://schemas.openxmlformats.org/drawingml/2006/main">
              <a:ext uri="{FF2B5EF4-FFF2-40B4-BE49-F238E27FC236}">
                <a16:creationId xmlns:a16="http://schemas.microsoft.com/office/drawing/2014/main" id="{5C58B6CD-D130-452B-8A45-2ED2B0E7D00A}"/>
              </a:ext>
            </a:extLst>
          </p:cNvPr>
          <p:cNvSpPr>
            <a:spLocks xmlns:a="http://schemas.openxmlformats.org/drawingml/2006/main" noGrp="1"/>
          </p:cNvSpPr>
          <p:nvPr/>
        </p:nvSpPr>
        <p:spPr>
          <a:xfrm xmlns:a="http://schemas.openxmlformats.org/drawingml/2006/main">
            <a:off x="533400" y="53911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66" name="table-text-140-10-0">
            <a:extLst xmlns:a="http://schemas.openxmlformats.org/drawingml/2006/main">
              <a:ext uri="{FF2B5EF4-FFF2-40B4-BE49-F238E27FC236}">
                <a16:creationId xmlns:a16="http://schemas.microsoft.com/office/drawing/2014/main" id="{E888060F-2485-418C-94AA-0C0D4DA1416C}"/>
              </a:ext>
            </a:extLst>
          </p:cNvPr>
          <p:cNvSpPr>
            <a:spLocks xmlns:a="http://schemas.openxmlformats.org/drawingml/2006/main" noGrp="1"/>
          </p:cNvSpPr>
          <p:nvPr/>
        </p:nvSpPr>
        <p:spPr>
          <a:xfrm xmlns:a="http://schemas.openxmlformats.org/drawingml/2006/main">
            <a:off x="619125" y="54578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10. 속성 한방</a:t>
            </a:r>
          </a:p>
        </p:txBody>
      </p:sp>
      <p:sp>
        <p:nvSpPr>
          <p:cNvPr id="67" name="table-cell-140-10-1">
            <a:extLst xmlns:a="http://schemas.openxmlformats.org/drawingml/2006/main">
              <a:ext uri="{FF2B5EF4-FFF2-40B4-BE49-F238E27FC236}">
                <a16:creationId xmlns:a16="http://schemas.microsoft.com/office/drawing/2014/main" id="{EC36FB20-354F-4C07-809E-A13F6663D05C}"/>
              </a:ext>
            </a:extLst>
          </p:cNvPr>
          <p:cNvSpPr>
            <a:spLocks xmlns:a="http://schemas.openxmlformats.org/drawingml/2006/main" noGrp="1"/>
          </p:cNvSpPr>
          <p:nvPr/>
        </p:nvSpPr>
        <p:spPr>
          <a:xfrm xmlns:a="http://schemas.openxmlformats.org/drawingml/2006/main">
            <a:off x="2698750" y="53911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68" name="table-text-140-10-1">
            <a:extLst xmlns:a="http://schemas.openxmlformats.org/drawingml/2006/main">
              <a:ext uri="{FF2B5EF4-FFF2-40B4-BE49-F238E27FC236}">
                <a16:creationId xmlns:a16="http://schemas.microsoft.com/office/drawing/2014/main" id="{4B8ED62D-75F6-42C5-A0CD-2B6138A411A7}"/>
              </a:ext>
            </a:extLst>
          </p:cNvPr>
          <p:cNvSpPr>
            <a:spLocks xmlns:a="http://schemas.openxmlformats.org/drawingml/2006/main" noGrp="1"/>
          </p:cNvSpPr>
          <p:nvPr/>
        </p:nvSpPr>
        <p:spPr>
          <a:xfrm xmlns:a="http://schemas.openxmlformats.org/drawingml/2006/main">
            <a:off x="2784475" y="54578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전체 규칙 통합</a:t>
            </a:r>
          </a:p>
        </p:txBody>
      </p:sp>
      <p:sp>
        <p:nvSpPr>
          <p:cNvPr id="69" name="table-cell-140-10-2">
            <a:extLst xmlns:a="http://schemas.openxmlformats.org/drawingml/2006/main">
              <a:ext uri="{FF2B5EF4-FFF2-40B4-BE49-F238E27FC236}">
                <a16:creationId xmlns:a16="http://schemas.microsoft.com/office/drawing/2014/main" id="{D59C71C2-D7A0-4F10-91FE-C39563ADCC0B}"/>
              </a:ext>
            </a:extLst>
          </p:cNvPr>
          <p:cNvSpPr>
            <a:spLocks xmlns:a="http://schemas.openxmlformats.org/drawingml/2006/main" noGrp="1"/>
          </p:cNvSpPr>
          <p:nvPr/>
        </p:nvSpPr>
        <p:spPr>
          <a:xfrm xmlns:a="http://schemas.openxmlformats.org/drawingml/2006/main">
            <a:off x="4864100" y="5391150"/>
            <a:ext cx="2165350"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70" name="table-text-140-10-2">
            <a:extLst xmlns:a="http://schemas.openxmlformats.org/drawingml/2006/main">
              <a:ext uri="{FF2B5EF4-FFF2-40B4-BE49-F238E27FC236}">
                <a16:creationId xmlns:a16="http://schemas.microsoft.com/office/drawing/2014/main" id="{1BD57BDC-D30C-48ED-892C-C85C9D408582}"/>
              </a:ext>
            </a:extLst>
          </p:cNvPr>
          <p:cNvSpPr>
            <a:spLocks xmlns:a="http://schemas.openxmlformats.org/drawingml/2006/main" noGrp="1"/>
          </p:cNvSpPr>
          <p:nvPr/>
        </p:nvSpPr>
        <p:spPr>
          <a:xfrm xmlns:a="http://schemas.openxmlformats.org/drawingml/2006/main">
            <a:off x="4949825" y="5457825"/>
            <a:ext cx="199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복수 해법과 단계별 최적화</a:t>
            </a:r>
          </a:p>
        </p:txBody>
      </p:sp>
      <p:sp>
        <p:nvSpPr>
          <p:cNvPr id="71" name="paragraph-624">
            <a:extLst xmlns:a="http://schemas.openxmlformats.org/drawingml/2006/main">
              <a:ext uri="{FF2B5EF4-FFF2-40B4-BE49-F238E27FC236}">
                <a16:creationId xmlns:a16="http://schemas.microsoft.com/office/drawing/2014/main" id="{C8924A2E-71EC-43F6-860A-7B021E54E2E6}"/>
              </a:ext>
            </a:extLst>
          </p:cNvPr>
          <p:cNvSpPr>
            <a:spLocks xmlns:a="http://schemas.openxmlformats.org/drawingml/2006/main" noGrp="1"/>
          </p:cNvSpPr>
          <p:nvPr/>
        </p:nvSpPr>
        <p:spPr>
          <a:xfrm xmlns:a="http://schemas.openxmlformats.org/drawingml/2006/main">
            <a:off x="533400" y="5943600"/>
            <a:ext cx="6496050" cy="10408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모든 단계는 기믹을 쓰지 않는 창의적 우회를 완전히 금지하지 않되, 40개 각 패턴에서 기믹 사용이 대응 우회보다 엄격히 유리하고, 균등 셔플되는 단계별 4패턴 합계는 최소 1.4배여야 한다. 단발형은 결정론 격자, 영속형·속성 복합형은 준비 상태와 초기 상태의 동일 900입력 조건부 성공 영역, 연쇄 점수형은 같은 홀 진입 대비 점수로 검증한다.</a:t>
            </a:r>
          </a:p>
        </p:txBody>
      </p:sp>
    </p:spTree>
    <p:extLst>
      <p:ext uri="{BB962C8B-B14F-4D97-AF65-F5344CB8AC3E}">
        <p14:creationId xmlns:p14="http://schemas.microsoft.com/office/powerpoint/2010/main" val="65973096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running-label">
            <a:extLst xmlns:a="http://schemas.openxmlformats.org/drawingml/2006/main">
              <a:ext uri="{FF2B5EF4-FFF2-40B4-BE49-F238E27FC236}">
                <a16:creationId xmlns:a16="http://schemas.microsoft.com/office/drawing/2014/main" id="{9BA7D409-7E05-45D2-B2D4-D9487A807D65}"/>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1DFBCA4B-5378-4D48-B32F-659FBD185D71}"/>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14</a:t>
            </a:r>
          </a:p>
        </p:txBody>
      </p:sp>
      <p:sp>
        <p:nvSpPr>
          <p:cNvPr id="3" name="header-rule">
            <a:extLst xmlns:a="http://schemas.openxmlformats.org/drawingml/2006/main">
              <a:ext uri="{FF2B5EF4-FFF2-40B4-BE49-F238E27FC236}">
                <a16:creationId xmlns:a16="http://schemas.microsoft.com/office/drawing/2014/main" id="{B8723590-A26C-46DC-A340-00EC4F045A69}"/>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DD6181DE-94DD-47EB-ADEF-3BCCEC9DE6CD}"/>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6. 실행 및 설치 방법</a:t>
            </a:r>
          </a:p>
        </p:txBody>
      </p:sp>
      <p:sp>
        <p:nvSpPr>
          <p:cNvPr id="5" name="subheading-140">
            <a:extLst xmlns:a="http://schemas.openxmlformats.org/drawingml/2006/main">
              <a:ext uri="{FF2B5EF4-FFF2-40B4-BE49-F238E27FC236}">
                <a16:creationId xmlns:a16="http://schemas.microsoft.com/office/drawing/2014/main" id="{D5682609-0050-49A2-8C82-ED03AC0234D5}"/>
              </a:ext>
            </a:extLst>
          </p:cNvPr>
          <p:cNvSpPr>
            <a:spLocks xmlns:a="http://schemas.openxmlformats.org/drawingml/2006/main" noGrp="1"/>
          </p:cNvSpPr>
          <p:nvPr/>
        </p:nvSpPr>
        <p:spPr>
          <a:xfrm xmlns:a="http://schemas.openxmlformats.org/drawingml/2006/main">
            <a:off x="533400" y="13335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6.1 바로 플레이</a:t>
            </a:r>
          </a:p>
        </p:txBody>
      </p:sp>
      <p:sp>
        <p:nvSpPr>
          <p:cNvPr id="6" name="bullets-194">
            <a:extLst xmlns:a="http://schemas.openxmlformats.org/drawingml/2006/main">
              <a:ext uri="{FF2B5EF4-FFF2-40B4-BE49-F238E27FC236}">
                <a16:creationId xmlns:a16="http://schemas.microsoft.com/office/drawing/2014/main" id="{9D4463E3-89A1-4571-9FD8-C63599B24CE4}"/>
              </a:ext>
            </a:extLst>
          </p:cNvPr>
          <p:cNvSpPr>
            <a:spLocks xmlns:a="http://schemas.openxmlformats.org/drawingml/2006/main" noGrp="1"/>
          </p:cNvSpPr>
          <p:nvPr/>
        </p:nvSpPr>
        <p:spPr>
          <a:xfrm xmlns:a="http://schemas.openxmlformats.org/drawingml/2006/main">
            <a:off x="533400" y="1847850"/>
            <a:ext cx="6496050" cy="13456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GitHub Pages에서 바로 플레이 (https://good5229.github.io/Property_shot/)</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소스 저장소 (https://github.com/good5229/Property_shot)</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기능 기준 배포 워크플로 (https://github.com/good5229/Property_shot/actions/runs/31373105599)</a:t>
            </a:r>
          </a:p>
        </p:txBody>
      </p:sp>
      <p:sp>
        <p:nvSpPr>
          <p:cNvPr id="7" name="subheading-345.28">
            <a:extLst xmlns:a="http://schemas.openxmlformats.org/drawingml/2006/main">
              <a:ext uri="{FF2B5EF4-FFF2-40B4-BE49-F238E27FC236}">
                <a16:creationId xmlns:a16="http://schemas.microsoft.com/office/drawing/2014/main" id="{ABE36E1B-F3CE-4303-A9DB-54C6FDEC0270}"/>
              </a:ext>
            </a:extLst>
          </p:cNvPr>
          <p:cNvSpPr>
            <a:spLocks xmlns:a="http://schemas.openxmlformats.org/drawingml/2006/main" noGrp="1"/>
          </p:cNvSpPr>
          <p:nvPr/>
        </p:nvSpPr>
        <p:spPr>
          <a:xfrm xmlns:a="http://schemas.openxmlformats.org/drawingml/2006/main">
            <a:off x="533400" y="3288792"/>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6.2 소스에서 Web 실행</a:t>
            </a:r>
          </a:p>
        </p:txBody>
      </p:sp>
      <p:sp>
        <p:nvSpPr>
          <p:cNvPr id="8" name="code-bg-399.28">
            <a:extLst xmlns:a="http://schemas.openxmlformats.org/drawingml/2006/main">
              <a:ext uri="{FF2B5EF4-FFF2-40B4-BE49-F238E27FC236}">
                <a16:creationId xmlns:a16="http://schemas.microsoft.com/office/drawing/2014/main" id="{B378D376-5F27-468F-8D67-7A5B93C37340}"/>
              </a:ext>
            </a:extLst>
          </p:cNvPr>
          <p:cNvSpPr>
            <a:spLocks xmlns:a="http://schemas.openxmlformats.org/drawingml/2006/main" noGrp="1"/>
          </p:cNvSpPr>
          <p:nvPr/>
        </p:nvSpPr>
        <p:spPr>
          <a:xfrm xmlns:a="http://schemas.openxmlformats.org/drawingml/2006/main">
            <a:off x="533400" y="3803142"/>
            <a:ext cx="6496050" cy="739140"/>
          </a:xfrm>
          <a:prstGeom xmlns:a="http://schemas.openxmlformats.org/drawingml/2006/main" prst="roundRect">
            <a:avLst>
              <a:gd name="adj" fmla="val 10309"/>
            </a:avLst>
          </a:prstGeom>
          <a:solidFill xmlns:a="http://schemas.openxmlformats.org/drawingml/2006/main">
            <a:srgbClr val="F3F6F5"/>
          </a:solidFill>
          <a:ln xmlns:a="http://schemas.openxmlformats.org/drawingml/2006/main" w="9525">
            <a:solidFill>
              <a:srgbClr val="D7E1DE"/>
            </a:solidFill>
            <a:prstDash val="solid"/>
          </a:ln>
        </p:spPr>
      </p:sp>
      <p:sp>
        <p:nvSpPr>
          <p:cNvPr id="9" name="code-399.28">
            <a:extLst xmlns:a="http://schemas.openxmlformats.org/drawingml/2006/main">
              <a:ext uri="{FF2B5EF4-FFF2-40B4-BE49-F238E27FC236}">
                <a16:creationId xmlns:a16="http://schemas.microsoft.com/office/drawing/2014/main" id="{0A5AC862-E0B7-4036-B40C-FD395F417E64}"/>
              </a:ext>
            </a:extLst>
          </p:cNvPr>
          <p:cNvSpPr>
            <a:spLocks xmlns:a="http://schemas.openxmlformats.org/drawingml/2006/main" noGrp="1"/>
          </p:cNvSpPr>
          <p:nvPr/>
        </p:nvSpPr>
        <p:spPr>
          <a:xfrm xmlns:a="http://schemas.openxmlformats.org/drawingml/2006/main">
            <a:off x="685800" y="3898392"/>
            <a:ext cx="619125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652"/>
          </a:bodyPr>
          <a:lstStyle xmlns:a="http://schemas.openxmlformats.org/drawingml/2006/main"/>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git clone https://github.com/good5229/Property_shot.git</a:t>
            </a:r>
          </a:p>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cd Property_shot</a:t>
            </a:r>
          </a:p>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git switch main</a:t>
            </a:r>
          </a:p>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flutter pub get</a:t>
            </a:r>
          </a:p>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flutter run -d chrome</a:t>
            </a:r>
          </a:p>
        </p:txBody>
      </p:sp>
      <p:sp>
        <p:nvSpPr>
          <p:cNvPr id="10" name="paragraph-484.88">
            <a:extLst xmlns:a="http://schemas.openxmlformats.org/drawingml/2006/main">
              <a:ext uri="{FF2B5EF4-FFF2-40B4-BE49-F238E27FC236}">
                <a16:creationId xmlns:a16="http://schemas.microsoft.com/office/drawing/2014/main" id="{87C9BF80-7484-429E-9BA8-4097170C80F6}"/>
              </a:ext>
            </a:extLst>
          </p:cNvPr>
          <p:cNvSpPr>
            <a:spLocks xmlns:a="http://schemas.openxmlformats.org/drawingml/2006/main" noGrp="1"/>
          </p:cNvSpPr>
          <p:nvPr/>
        </p:nvSpPr>
        <p:spPr>
          <a:xfrm xmlns:a="http://schemas.openxmlformats.org/drawingml/2006/main">
            <a:off x="533400" y="4618482"/>
            <a:ext cx="6496050" cy="3459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배포용 빌드는 다음과 같다.</a:t>
            </a:r>
          </a:p>
        </p:txBody>
      </p:sp>
      <p:sp>
        <p:nvSpPr>
          <p:cNvPr id="11" name="code-bg-533.2">
            <a:extLst xmlns:a="http://schemas.openxmlformats.org/drawingml/2006/main">
              <a:ext uri="{FF2B5EF4-FFF2-40B4-BE49-F238E27FC236}">
                <a16:creationId xmlns:a16="http://schemas.microsoft.com/office/drawing/2014/main" id="{72051396-9BCF-416B-8A24-6EFF2A127C3B}"/>
              </a:ext>
            </a:extLst>
          </p:cNvPr>
          <p:cNvSpPr>
            <a:spLocks xmlns:a="http://schemas.openxmlformats.org/drawingml/2006/main" noGrp="1"/>
          </p:cNvSpPr>
          <p:nvPr/>
        </p:nvSpPr>
        <p:spPr>
          <a:xfrm xmlns:a="http://schemas.openxmlformats.org/drawingml/2006/main">
            <a:off x="533400" y="5078730"/>
            <a:ext cx="6496050" cy="521970"/>
          </a:xfrm>
          <a:prstGeom xmlns:a="http://schemas.openxmlformats.org/drawingml/2006/main" prst="roundRect">
            <a:avLst>
              <a:gd name="adj" fmla="val 14599"/>
            </a:avLst>
          </a:prstGeom>
          <a:solidFill xmlns:a="http://schemas.openxmlformats.org/drawingml/2006/main">
            <a:srgbClr val="F3F6F5"/>
          </a:solidFill>
          <a:ln xmlns:a="http://schemas.openxmlformats.org/drawingml/2006/main" w="9525">
            <a:solidFill>
              <a:srgbClr val="D7E1DE"/>
            </a:solidFill>
            <a:prstDash val="solid"/>
          </a:ln>
        </p:spPr>
      </p:sp>
      <p:sp>
        <p:nvSpPr>
          <p:cNvPr id="12" name="code-533.2">
            <a:extLst xmlns:a="http://schemas.openxmlformats.org/drawingml/2006/main">
              <a:ext uri="{FF2B5EF4-FFF2-40B4-BE49-F238E27FC236}">
                <a16:creationId xmlns:a16="http://schemas.microsoft.com/office/drawing/2014/main" id="{2CD524D8-8A21-49D4-8EE5-F3905C80AD64}"/>
              </a:ext>
            </a:extLst>
          </p:cNvPr>
          <p:cNvSpPr>
            <a:spLocks xmlns:a="http://schemas.openxmlformats.org/drawingml/2006/main" noGrp="1"/>
          </p:cNvSpPr>
          <p:nvPr/>
        </p:nvSpPr>
        <p:spPr>
          <a:xfrm xmlns:a="http://schemas.openxmlformats.org/drawingml/2006/main">
            <a:off x="685800" y="5173980"/>
            <a:ext cx="6191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flutter build web --release --base-href "/Property_shot/"</a:t>
            </a:r>
          </a:p>
        </p:txBody>
      </p:sp>
      <p:sp>
        <p:nvSpPr>
          <p:cNvPr id="13" name="subheading-596">
            <a:extLst xmlns:a="http://schemas.openxmlformats.org/drawingml/2006/main">
              <a:ext uri="{FF2B5EF4-FFF2-40B4-BE49-F238E27FC236}">
                <a16:creationId xmlns:a16="http://schemas.microsoft.com/office/drawing/2014/main" id="{A403D321-763D-4392-9474-5DA97B9A3A78}"/>
              </a:ext>
            </a:extLst>
          </p:cNvPr>
          <p:cNvSpPr>
            <a:spLocks xmlns:a="http://schemas.openxmlformats.org/drawingml/2006/main" noGrp="1"/>
          </p:cNvSpPr>
          <p:nvPr/>
        </p:nvSpPr>
        <p:spPr>
          <a:xfrm xmlns:a="http://schemas.openxmlformats.org/drawingml/2006/main">
            <a:off x="533400" y="5676900"/>
            <a:ext cx="6496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a:solidFill>
                  <a:srgbClr val="2C7A7B"/>
                </a:solidFill>
                <a:latin typeface="NanumGothic"/>
                <a:ea typeface="NanumGothic"/>
                <a:cs typeface="NanumGothic"/>
              </a:defRPr>
            </a:pPr>
            <a:r>
              <a:rPr sz="1800" b="1">
                <a:solidFill>
                  <a:srgbClr val="2C7A7B"/>
                </a:solidFill>
                <a:latin typeface="NanumGothic"/>
                <a:ea typeface="NanumGothic"/>
                <a:cs typeface="NanumGothic"/>
              </a:rPr>
              <a:t>6.3 Android APK 설치</a:t>
            </a:r>
          </a:p>
        </p:txBody>
      </p:sp>
      <p:sp>
        <p:nvSpPr>
          <p:cNvPr id="14" name="code-bg-650">
            <a:extLst xmlns:a="http://schemas.openxmlformats.org/drawingml/2006/main">
              <a:ext uri="{FF2B5EF4-FFF2-40B4-BE49-F238E27FC236}">
                <a16:creationId xmlns:a16="http://schemas.microsoft.com/office/drawing/2014/main" id="{C0E4ECAD-483E-4E84-A0CD-57EE576795D4}"/>
              </a:ext>
            </a:extLst>
          </p:cNvPr>
          <p:cNvSpPr>
            <a:spLocks xmlns:a="http://schemas.openxmlformats.org/drawingml/2006/main" noGrp="1"/>
          </p:cNvSpPr>
          <p:nvPr/>
        </p:nvSpPr>
        <p:spPr>
          <a:xfrm xmlns:a="http://schemas.openxmlformats.org/drawingml/2006/main">
            <a:off x="533400" y="6191250"/>
            <a:ext cx="6496050" cy="521970"/>
          </a:xfrm>
          <a:prstGeom xmlns:a="http://schemas.openxmlformats.org/drawingml/2006/main" prst="roundRect">
            <a:avLst>
              <a:gd name="adj" fmla="val 14599"/>
            </a:avLst>
          </a:prstGeom>
          <a:solidFill xmlns:a="http://schemas.openxmlformats.org/drawingml/2006/main">
            <a:srgbClr val="F3F6F5"/>
          </a:solidFill>
          <a:ln xmlns:a="http://schemas.openxmlformats.org/drawingml/2006/main" w="9525">
            <a:solidFill>
              <a:srgbClr val="D7E1DE"/>
            </a:solidFill>
            <a:prstDash val="solid"/>
          </a:ln>
        </p:spPr>
      </p:sp>
      <p:sp>
        <p:nvSpPr>
          <p:cNvPr id="15" name="code-650">
            <a:extLst xmlns:a="http://schemas.openxmlformats.org/drawingml/2006/main">
              <a:ext uri="{FF2B5EF4-FFF2-40B4-BE49-F238E27FC236}">
                <a16:creationId xmlns:a16="http://schemas.microsoft.com/office/drawing/2014/main" id="{D1E0CA28-B1FA-46E0-AC9E-F7FF0EE3A667}"/>
              </a:ext>
            </a:extLst>
          </p:cNvPr>
          <p:cNvSpPr>
            <a:spLocks xmlns:a="http://schemas.openxmlformats.org/drawingml/2006/main" noGrp="1"/>
          </p:cNvSpPr>
          <p:nvPr/>
        </p:nvSpPr>
        <p:spPr>
          <a:xfrm xmlns:a="http://schemas.openxmlformats.org/drawingml/2006/main">
            <a:off x="685800" y="6286500"/>
            <a:ext cx="6191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125" b="0">
                <a:solidFill>
                  <a:srgbClr val="173A3F"/>
                </a:solidFill>
                <a:latin typeface="NanumGothic"/>
                <a:ea typeface="NanumGothic"/>
                <a:cs typeface="NanumGothic"/>
              </a:defRPr>
            </a:pPr>
            <a:r>
              <a:rPr sz="1125" b="0">
                <a:solidFill>
                  <a:srgbClr val="173A3F"/>
                </a:solidFill>
                <a:latin typeface="NanumGothic"/>
                <a:ea typeface="NanumGothic"/>
                <a:cs typeface="NanumGothic"/>
              </a:rPr>
              <a:t>flutter build apk --release</a:t>
            </a:r>
          </a:p>
        </p:txBody>
      </p:sp>
      <p:sp>
        <p:nvSpPr>
          <p:cNvPr id="16" name="paragraph-712.8">
            <a:extLst xmlns:a="http://schemas.openxmlformats.org/drawingml/2006/main">
              <a:ext uri="{FF2B5EF4-FFF2-40B4-BE49-F238E27FC236}">
                <a16:creationId xmlns:a16="http://schemas.microsoft.com/office/drawing/2014/main" id="{21256655-F77C-45FF-A3A8-9DC40788714C}"/>
              </a:ext>
            </a:extLst>
          </p:cNvPr>
          <p:cNvSpPr>
            <a:spLocks xmlns:a="http://schemas.openxmlformats.org/drawingml/2006/main" noGrp="1"/>
          </p:cNvSpPr>
          <p:nvPr/>
        </p:nvSpPr>
        <p:spPr>
          <a:xfrm xmlns:a="http://schemas.openxmlformats.org/drawingml/2006/main">
            <a:off x="533400" y="6789420"/>
            <a:ext cx="6496050" cy="12725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200" b="0">
                <a:solidFill>
                  <a:srgbClr val="173A3F"/>
                </a:solidFill>
                <a:latin typeface="NanumGothic"/>
                <a:ea typeface="NanumGothic"/>
                <a:cs typeface="NanumGothic"/>
              </a:defRPr>
            </a:pPr>
            <a:r>
              <a:rPr sz="1200" b="0">
                <a:solidFill>
                  <a:srgbClr val="173A3F"/>
                </a:solidFill>
                <a:latin typeface="NanumGothic"/>
                <a:ea typeface="NanumGothic"/>
                <a:cs typeface="NanumGothic"/>
              </a:rPr>
              <a:t>생성 파일은 build/app/outputs/flutter-apk/app-release.apk이며, 이번 검증 빌드는 63,261,407바이트(약 60.33MiB), SHA-256 9560dcd76a98fa9b7ce5c140be8998f81eb7dea5e1833bb9f5fa39255ab31552다. Android 기기로 옮긴 뒤 알 수 없는 앱 설치 권한을 허용해 수동 설치할 수 있다. 공개 APK 다운로드 링크와 iOS TestFlight 링크는 제공하지 않는다.</a:t>
            </a:r>
          </a:p>
        </p:txBody>
      </p:sp>
    </p:spTree>
    <p:extLst>
      <p:ext uri="{BB962C8B-B14F-4D97-AF65-F5344CB8AC3E}">
        <p14:creationId xmlns:p14="http://schemas.microsoft.com/office/powerpoint/2010/main" val="212555202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unning-label">
            <a:extLst xmlns:a="http://schemas.openxmlformats.org/drawingml/2006/main">
              <a:ext uri="{FF2B5EF4-FFF2-40B4-BE49-F238E27FC236}">
                <a16:creationId xmlns:a16="http://schemas.microsoft.com/office/drawing/2014/main" id="{FA136AA7-D20E-416C-8B7C-2AB0BED3644B}"/>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9F97171B-DBC4-4303-938D-9FD78C53E4A3}"/>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15</a:t>
            </a:r>
          </a:p>
        </p:txBody>
      </p:sp>
      <p:sp>
        <p:nvSpPr>
          <p:cNvPr id="3" name="header-rule">
            <a:extLst xmlns:a="http://schemas.openxmlformats.org/drawingml/2006/main">
              <a:ext uri="{FF2B5EF4-FFF2-40B4-BE49-F238E27FC236}">
                <a16:creationId xmlns:a16="http://schemas.microsoft.com/office/drawing/2014/main" id="{D43F0097-FF5D-4F08-BA72-946689D34C8C}"/>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A498C833-AF9E-40D1-A088-B47AA5D9D046}"/>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7. 플레이 영상</a:t>
            </a:r>
          </a:p>
        </p:txBody>
      </p:sp>
      <p:sp>
        <p:nvSpPr>
          <p:cNvPr id="5" name="bullets-140">
            <a:extLst xmlns:a="http://schemas.openxmlformats.org/drawingml/2006/main">
              <a:ext uri="{FF2B5EF4-FFF2-40B4-BE49-F238E27FC236}">
                <a16:creationId xmlns:a16="http://schemas.microsoft.com/office/drawing/2014/main" id="{CC44F3EE-7DB2-4BC6-8CE8-004020CCA79E}"/>
              </a:ext>
            </a:extLst>
          </p:cNvPr>
          <p:cNvSpPr>
            <a:spLocks xmlns:a="http://schemas.openxmlformats.org/drawingml/2006/main" noGrp="1"/>
          </p:cNvSpPr>
          <p:nvPr/>
        </p:nvSpPr>
        <p:spPr>
          <a:xfrm xmlns:a="http://schemas.openxmlformats.org/drawingml/2006/main">
            <a:off x="533400" y="1333500"/>
            <a:ext cx="6496050" cy="36591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최종 파일: recordings/property-shot-gameplay-60s.mov</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재생 방법: QuickTime Player, VLC 또는 H.264 MOV를 지원하는 동영상 플레이어에서 연다.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목표 규격: H.264 MOV · 390×844 · 8fps · 480프레임 · 정확히 60.000초.</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구성 계약: 실제 stage_bouncy_01 브라우저 플레이 22초와 서로 다른 기능 장면 19개를 각 2초씩 이어 붙인다. 실제 텔레메트리로 열쇠·L1/L2·탄성 이전·다중 반사·비직행 클리어를 확인하고, 회전·반전 없는 identity transform과 마지막 여백 1.5–2.0초를 검사한다.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현재 상태: 19개 소스 Golden 68건과 SHA-256 freshness 검사를 통과한 뒤 최종 브라우저 재촬영과 합성을 완료했다. 실제 telemetry는 stage_bouncy_01, 48°·0.90, 벽 사용 4회, directClear=false, 콘솔 오류 0건과 ending slack 1.855초를 증명한다. 최종 MOV는 3,793,192바이트, SHA-256 6e9300750b23554a03fbf4e1029d67054d6f4ef3c521d596a5874fe67f761e7e다.</a:t>
            </a:r>
          </a:p>
        </p:txBody>
      </p:sp>
      <p:sp>
        <p:nvSpPr>
          <p:cNvPr id="6" name="bullets-534.16">
            <a:extLst xmlns:a="http://schemas.openxmlformats.org/drawingml/2006/main">
              <a:ext uri="{FF2B5EF4-FFF2-40B4-BE49-F238E27FC236}">
                <a16:creationId xmlns:a16="http://schemas.microsoft.com/office/drawing/2014/main" id="{E9B50614-15F4-440B-9217-E8B8E1A68D4F}"/>
              </a:ext>
            </a:extLst>
          </p:cNvPr>
          <p:cNvSpPr>
            <a:spLocks xmlns:a="http://schemas.openxmlformats.org/drawingml/2006/main" noGrp="1"/>
          </p:cNvSpPr>
          <p:nvPr/>
        </p:nvSpPr>
        <p:spPr>
          <a:xfrm xmlns:a="http://schemas.openxmlformats.org/drawingml/2006/main">
            <a:off x="533400" y="5087874"/>
            <a:ext cx="6496050" cy="6537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공개 링크: 별도 영상 호스팅 링크는 제공하지 않는다. 저장소 비대화를 막기 위해 영상 파일은 프로젝트 폴더에만 두고 Git 추적에서 제외한다.</a:t>
            </a:r>
          </a:p>
        </p:txBody>
      </p:sp>
    </p:spTree>
    <p:extLst>
      <p:ext uri="{BB962C8B-B14F-4D97-AF65-F5344CB8AC3E}">
        <p14:creationId xmlns:p14="http://schemas.microsoft.com/office/powerpoint/2010/main" val="3767007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running-label">
            <a:extLst xmlns:a="http://schemas.openxmlformats.org/drawingml/2006/main">
              <a:ext uri="{FF2B5EF4-FFF2-40B4-BE49-F238E27FC236}">
                <a16:creationId xmlns:a16="http://schemas.microsoft.com/office/drawing/2014/main" id="{AAE0B42F-5EFA-4B41-BD27-52CF3AFC8076}"/>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26124C6C-078D-403C-8A25-4BFA66F62898}"/>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16</a:t>
            </a:r>
          </a:p>
        </p:txBody>
      </p:sp>
      <p:sp>
        <p:nvSpPr>
          <p:cNvPr id="3" name="header-rule">
            <a:extLst xmlns:a="http://schemas.openxmlformats.org/drawingml/2006/main">
              <a:ext uri="{FF2B5EF4-FFF2-40B4-BE49-F238E27FC236}">
                <a16:creationId xmlns:a16="http://schemas.microsoft.com/office/drawing/2014/main" id="{738F6F4B-44B6-4334-BCEC-AB5E2A181A72}"/>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C9E113EC-C998-4170-AFC2-C8643E53738B}"/>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8. 검증 결과</a:t>
            </a:r>
          </a:p>
        </p:txBody>
      </p:sp>
      <p:sp>
        <p:nvSpPr>
          <p:cNvPr id="5" name="table-cell-140-0-0">
            <a:extLst xmlns:a="http://schemas.openxmlformats.org/drawingml/2006/main">
              <a:ext uri="{FF2B5EF4-FFF2-40B4-BE49-F238E27FC236}">
                <a16:creationId xmlns:a16="http://schemas.microsoft.com/office/drawing/2014/main" id="{13B29306-1EA4-41E3-BD8E-823DA21F314E}"/>
              </a:ext>
            </a:extLst>
          </p:cNvPr>
          <p:cNvSpPr>
            <a:spLocks xmlns:a="http://schemas.openxmlformats.org/drawingml/2006/main" noGrp="1"/>
          </p:cNvSpPr>
          <p:nvPr/>
        </p:nvSpPr>
        <p:spPr>
          <a:xfrm xmlns:a="http://schemas.openxmlformats.org/drawingml/2006/main">
            <a:off x="533400" y="1333500"/>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6" name="table-text-140-0-0">
            <a:extLst xmlns:a="http://schemas.openxmlformats.org/drawingml/2006/main">
              <a:ext uri="{FF2B5EF4-FFF2-40B4-BE49-F238E27FC236}">
                <a16:creationId xmlns:a16="http://schemas.microsoft.com/office/drawing/2014/main" id="{2FB82B39-87CF-46AB-A31E-B0350D417B5D}"/>
              </a:ext>
            </a:extLst>
          </p:cNvPr>
          <p:cNvSpPr>
            <a:spLocks xmlns:a="http://schemas.openxmlformats.org/drawingml/2006/main" noGrp="1"/>
          </p:cNvSpPr>
          <p:nvPr/>
        </p:nvSpPr>
        <p:spPr>
          <a:xfrm xmlns:a="http://schemas.openxmlformats.org/drawingml/2006/main">
            <a:off x="619125" y="1400175"/>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항목</a:t>
            </a:r>
          </a:p>
        </p:txBody>
      </p:sp>
      <p:sp>
        <p:nvSpPr>
          <p:cNvPr id="7" name="table-cell-140-0-1">
            <a:extLst xmlns:a="http://schemas.openxmlformats.org/drawingml/2006/main">
              <a:ext uri="{FF2B5EF4-FFF2-40B4-BE49-F238E27FC236}">
                <a16:creationId xmlns:a16="http://schemas.microsoft.com/office/drawing/2014/main" id="{84F87E3B-29F8-4884-AA01-C8192BAA2A08}"/>
              </a:ext>
            </a:extLst>
          </p:cNvPr>
          <p:cNvSpPr>
            <a:spLocks xmlns:a="http://schemas.openxmlformats.org/drawingml/2006/main" noGrp="1"/>
          </p:cNvSpPr>
          <p:nvPr/>
        </p:nvSpPr>
        <p:spPr>
          <a:xfrm xmlns:a="http://schemas.openxmlformats.org/drawingml/2006/main">
            <a:off x="3781425" y="1333500"/>
            <a:ext cx="3248025" cy="457200"/>
          </a:xfrm>
          <a:prstGeom xmlns:a="http://schemas.openxmlformats.org/drawingml/2006/main" prst="rect">
            <a:avLst/>
          </a:prstGeom>
          <a:solidFill xmlns:a="http://schemas.openxmlformats.org/drawingml/2006/main">
            <a:srgbClr val="E8F4F1"/>
          </a:solidFill>
          <a:ln xmlns:a="http://schemas.openxmlformats.org/drawingml/2006/main" w="9525">
            <a:solidFill>
              <a:srgbClr val="D7E1DE"/>
            </a:solidFill>
            <a:prstDash val="solid"/>
          </a:ln>
        </p:spPr>
      </p:sp>
      <p:sp>
        <p:nvSpPr>
          <p:cNvPr id="8" name="table-text-140-0-1">
            <a:extLst xmlns:a="http://schemas.openxmlformats.org/drawingml/2006/main">
              <a:ext uri="{FF2B5EF4-FFF2-40B4-BE49-F238E27FC236}">
                <a16:creationId xmlns:a16="http://schemas.microsoft.com/office/drawing/2014/main" id="{90D69EAB-1796-49D5-B096-E081FE2DFEEC}"/>
              </a:ext>
            </a:extLst>
          </p:cNvPr>
          <p:cNvSpPr>
            <a:spLocks xmlns:a="http://schemas.openxmlformats.org/drawingml/2006/main" noGrp="1"/>
          </p:cNvSpPr>
          <p:nvPr/>
        </p:nvSpPr>
        <p:spPr>
          <a:xfrm xmlns:a="http://schemas.openxmlformats.org/drawingml/2006/main">
            <a:off x="3867150" y="1400175"/>
            <a:ext cx="30765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a:solidFill>
                  <a:srgbClr val="173A3F"/>
                </a:solidFill>
                <a:latin typeface="NanumGothic"/>
                <a:ea typeface="NanumGothic"/>
                <a:cs typeface="NanumGothic"/>
              </a:defRPr>
            </a:pPr>
            <a:r>
              <a:rPr sz="1050" b="1">
                <a:solidFill>
                  <a:srgbClr val="173A3F"/>
                </a:solidFill>
                <a:latin typeface="NanumGothic"/>
                <a:ea typeface="NanumGothic"/>
                <a:cs typeface="NanumGothic"/>
              </a:rPr>
              <a:t>결과</a:t>
            </a:r>
          </a:p>
        </p:txBody>
      </p:sp>
      <p:sp>
        <p:nvSpPr>
          <p:cNvPr id="9" name="table-cell-140-1-0">
            <a:extLst xmlns:a="http://schemas.openxmlformats.org/drawingml/2006/main">
              <a:ext uri="{FF2B5EF4-FFF2-40B4-BE49-F238E27FC236}">
                <a16:creationId xmlns:a16="http://schemas.microsoft.com/office/drawing/2014/main" id="{668CF91F-FAC4-4A48-85EE-6DA3DCA20735}"/>
              </a:ext>
            </a:extLst>
          </p:cNvPr>
          <p:cNvSpPr>
            <a:spLocks xmlns:a="http://schemas.openxmlformats.org/drawingml/2006/main" noGrp="1"/>
          </p:cNvSpPr>
          <p:nvPr/>
        </p:nvSpPr>
        <p:spPr>
          <a:xfrm xmlns:a="http://schemas.openxmlformats.org/drawingml/2006/main">
            <a:off x="533400" y="1790700"/>
            <a:ext cx="3248025" cy="71151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0" name="table-text-140-1-0">
            <a:extLst xmlns:a="http://schemas.openxmlformats.org/drawingml/2006/main">
              <a:ext uri="{FF2B5EF4-FFF2-40B4-BE49-F238E27FC236}">
                <a16:creationId xmlns:a16="http://schemas.microsoft.com/office/drawing/2014/main" id="{81FB8850-4F8E-449A-ABBA-493ACF531394}"/>
              </a:ext>
            </a:extLst>
          </p:cNvPr>
          <p:cNvSpPr>
            <a:spLocks xmlns:a="http://schemas.openxmlformats.org/drawingml/2006/main" noGrp="1"/>
          </p:cNvSpPr>
          <p:nvPr/>
        </p:nvSpPr>
        <p:spPr>
          <a:xfrm xmlns:a="http://schemas.openxmlformats.org/drawingml/2006/main">
            <a:off x="619125" y="1857375"/>
            <a:ext cx="3076575" cy="5781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전체 테스트</a:t>
            </a:r>
          </a:p>
        </p:txBody>
      </p:sp>
      <p:sp>
        <p:nvSpPr>
          <p:cNvPr id="11" name="table-cell-140-1-1">
            <a:extLst xmlns:a="http://schemas.openxmlformats.org/drawingml/2006/main">
              <a:ext uri="{FF2B5EF4-FFF2-40B4-BE49-F238E27FC236}">
                <a16:creationId xmlns:a16="http://schemas.microsoft.com/office/drawing/2014/main" id="{8B8683E9-F7E6-4713-8F1D-E6228CAB7D19}"/>
              </a:ext>
            </a:extLst>
          </p:cNvPr>
          <p:cNvSpPr>
            <a:spLocks xmlns:a="http://schemas.openxmlformats.org/drawingml/2006/main" noGrp="1"/>
          </p:cNvSpPr>
          <p:nvPr/>
        </p:nvSpPr>
        <p:spPr>
          <a:xfrm xmlns:a="http://schemas.openxmlformats.org/drawingml/2006/main">
            <a:off x="3781425" y="1790700"/>
            <a:ext cx="3248025" cy="711518"/>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2" name="table-text-140-1-1">
            <a:extLst xmlns:a="http://schemas.openxmlformats.org/drawingml/2006/main">
              <a:ext uri="{FF2B5EF4-FFF2-40B4-BE49-F238E27FC236}">
                <a16:creationId xmlns:a16="http://schemas.microsoft.com/office/drawing/2014/main" id="{A08AB9F0-7D22-4EE2-B606-A4DCD74C61F1}"/>
              </a:ext>
            </a:extLst>
          </p:cNvPr>
          <p:cNvSpPr>
            <a:spLocks xmlns:a="http://schemas.openxmlformats.org/drawingml/2006/main" noGrp="1"/>
          </p:cNvSpPr>
          <p:nvPr/>
        </p:nvSpPr>
        <p:spPr>
          <a:xfrm xmlns:a="http://schemas.openxmlformats.org/drawingml/2006/main">
            <a:off x="3867150" y="1857375"/>
            <a:ext cx="3076575" cy="5781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261"/>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단 한 번의 직렬 실행 1,062건: 997 통과·65 실패(stale Golden 61, replay fixture 4). 분류·수정 후 Golden 67/67, replay·결정론 9/9, 핵심 변경 239/239 표적 재통과</a:t>
            </a:r>
          </a:p>
        </p:txBody>
      </p:sp>
      <p:sp>
        <p:nvSpPr>
          <p:cNvPr id="13" name="table-cell-140-2-0">
            <a:extLst xmlns:a="http://schemas.openxmlformats.org/drawingml/2006/main">
              <a:ext uri="{FF2B5EF4-FFF2-40B4-BE49-F238E27FC236}">
                <a16:creationId xmlns:a16="http://schemas.microsoft.com/office/drawing/2014/main" id="{EF847BD1-1AB5-4549-ABB2-9D08C6BBF9EF}"/>
              </a:ext>
            </a:extLst>
          </p:cNvPr>
          <p:cNvSpPr>
            <a:spLocks xmlns:a="http://schemas.openxmlformats.org/drawingml/2006/main" noGrp="1"/>
          </p:cNvSpPr>
          <p:nvPr/>
        </p:nvSpPr>
        <p:spPr>
          <a:xfrm xmlns:a="http://schemas.openxmlformats.org/drawingml/2006/main">
            <a:off x="533400" y="2502218"/>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4" name="table-text-140-2-0">
            <a:extLst xmlns:a="http://schemas.openxmlformats.org/drawingml/2006/main">
              <a:ext uri="{FF2B5EF4-FFF2-40B4-BE49-F238E27FC236}">
                <a16:creationId xmlns:a16="http://schemas.microsoft.com/office/drawing/2014/main" id="{CC097A84-E785-45E0-BF37-900B292E22D5}"/>
              </a:ext>
            </a:extLst>
          </p:cNvPr>
          <p:cNvSpPr>
            <a:spLocks xmlns:a="http://schemas.openxmlformats.org/drawingml/2006/main" noGrp="1"/>
          </p:cNvSpPr>
          <p:nvPr/>
        </p:nvSpPr>
        <p:spPr>
          <a:xfrm xmlns:a="http://schemas.openxmlformats.org/drawingml/2006/main">
            <a:off x="619125" y="256889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정적 분석</a:t>
            </a:r>
          </a:p>
        </p:txBody>
      </p:sp>
      <p:sp>
        <p:nvSpPr>
          <p:cNvPr id="15" name="table-cell-140-2-1">
            <a:extLst xmlns:a="http://schemas.openxmlformats.org/drawingml/2006/main">
              <a:ext uri="{FF2B5EF4-FFF2-40B4-BE49-F238E27FC236}">
                <a16:creationId xmlns:a16="http://schemas.microsoft.com/office/drawing/2014/main" id="{42234626-E404-4A4C-BB98-4B0D4E2C38EC}"/>
              </a:ext>
            </a:extLst>
          </p:cNvPr>
          <p:cNvSpPr>
            <a:spLocks xmlns:a="http://schemas.openxmlformats.org/drawingml/2006/main" noGrp="1"/>
          </p:cNvSpPr>
          <p:nvPr/>
        </p:nvSpPr>
        <p:spPr>
          <a:xfrm xmlns:a="http://schemas.openxmlformats.org/drawingml/2006/main">
            <a:off x="3781425" y="2502218"/>
            <a:ext cx="3248025" cy="400050"/>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16" name="table-text-140-2-1">
            <a:extLst xmlns:a="http://schemas.openxmlformats.org/drawingml/2006/main">
              <a:ext uri="{FF2B5EF4-FFF2-40B4-BE49-F238E27FC236}">
                <a16:creationId xmlns:a16="http://schemas.microsoft.com/office/drawing/2014/main" id="{D9A3F54B-3397-4C21-98DD-EE74984A7C2D}"/>
              </a:ext>
            </a:extLst>
          </p:cNvPr>
          <p:cNvSpPr>
            <a:spLocks xmlns:a="http://schemas.openxmlformats.org/drawingml/2006/main" noGrp="1"/>
          </p:cNvSpPr>
          <p:nvPr/>
        </p:nvSpPr>
        <p:spPr>
          <a:xfrm xmlns:a="http://schemas.openxmlformats.org/drawingml/2006/main">
            <a:off x="3867150" y="2568893"/>
            <a:ext cx="3076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flutter analyze — 문제 0건</a:t>
            </a:r>
          </a:p>
        </p:txBody>
      </p:sp>
      <p:sp>
        <p:nvSpPr>
          <p:cNvPr id="17" name="table-cell-140-3-0">
            <a:extLst xmlns:a="http://schemas.openxmlformats.org/drawingml/2006/main">
              <a:ext uri="{FF2B5EF4-FFF2-40B4-BE49-F238E27FC236}">
                <a16:creationId xmlns:a16="http://schemas.microsoft.com/office/drawing/2014/main" id="{F5749B35-A7C8-471B-A663-1356AF429113}"/>
              </a:ext>
            </a:extLst>
          </p:cNvPr>
          <p:cNvSpPr>
            <a:spLocks xmlns:a="http://schemas.openxmlformats.org/drawingml/2006/main" noGrp="1"/>
          </p:cNvSpPr>
          <p:nvPr/>
        </p:nvSpPr>
        <p:spPr>
          <a:xfrm xmlns:a="http://schemas.openxmlformats.org/drawingml/2006/main">
            <a:off x="533400" y="2902268"/>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18" name="table-text-140-3-0">
            <a:extLst xmlns:a="http://schemas.openxmlformats.org/drawingml/2006/main">
              <a:ext uri="{FF2B5EF4-FFF2-40B4-BE49-F238E27FC236}">
                <a16:creationId xmlns:a16="http://schemas.microsoft.com/office/drawing/2014/main" id="{7B7B625F-80AF-451B-9330-57DE491923AF}"/>
              </a:ext>
            </a:extLst>
          </p:cNvPr>
          <p:cNvSpPr>
            <a:spLocks xmlns:a="http://schemas.openxmlformats.org/drawingml/2006/main" noGrp="1"/>
          </p:cNvSpPr>
          <p:nvPr/>
        </p:nvSpPr>
        <p:spPr>
          <a:xfrm xmlns:a="http://schemas.openxmlformats.org/drawingml/2006/main">
            <a:off x="619125" y="2968943"/>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Web 출시·공개 배포</a:t>
            </a:r>
          </a:p>
        </p:txBody>
      </p:sp>
      <p:sp>
        <p:nvSpPr>
          <p:cNvPr id="19" name="table-cell-140-3-1">
            <a:extLst xmlns:a="http://schemas.openxmlformats.org/drawingml/2006/main">
              <a:ext uri="{FF2B5EF4-FFF2-40B4-BE49-F238E27FC236}">
                <a16:creationId xmlns:a16="http://schemas.microsoft.com/office/drawing/2014/main" id="{7D459F48-4155-4FB0-8BB4-4A9FE145FAFE}"/>
              </a:ext>
            </a:extLst>
          </p:cNvPr>
          <p:cNvSpPr>
            <a:spLocks xmlns:a="http://schemas.openxmlformats.org/drawingml/2006/main" noGrp="1"/>
          </p:cNvSpPr>
          <p:nvPr/>
        </p:nvSpPr>
        <p:spPr>
          <a:xfrm xmlns:a="http://schemas.openxmlformats.org/drawingml/2006/main">
            <a:off x="3781425" y="2902268"/>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0" name="table-text-140-3-1">
            <a:extLst xmlns:a="http://schemas.openxmlformats.org/drawingml/2006/main">
              <a:ext uri="{FF2B5EF4-FFF2-40B4-BE49-F238E27FC236}">
                <a16:creationId xmlns:a16="http://schemas.microsoft.com/office/drawing/2014/main" id="{F566C725-77E8-4CF0-969D-904F297F8558}"/>
              </a:ext>
            </a:extLst>
          </p:cNvPr>
          <p:cNvSpPr>
            <a:spLocks xmlns:a="http://schemas.openxmlformats.org/drawingml/2006/main" noGrp="1"/>
          </p:cNvSpPr>
          <p:nvPr/>
        </p:nvSpPr>
        <p:spPr>
          <a:xfrm xmlns:a="http://schemas.openxmlformats.org/drawingml/2006/main">
            <a:off x="3867150" y="2968943"/>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253"/>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Pages run 31373105599 성공, 공개 URL HTTP 200. 배포 main.dart.js 3,709,337바이트, SHA-256 fd3f99ec…1718375</a:t>
            </a:r>
          </a:p>
        </p:txBody>
      </p:sp>
      <p:sp>
        <p:nvSpPr>
          <p:cNvPr id="21" name="table-cell-140-4-0">
            <a:extLst xmlns:a="http://schemas.openxmlformats.org/drawingml/2006/main">
              <a:ext uri="{FF2B5EF4-FFF2-40B4-BE49-F238E27FC236}">
                <a16:creationId xmlns:a16="http://schemas.microsoft.com/office/drawing/2014/main" id="{AD01156A-D240-49D4-A4A6-A4D11188D832}"/>
              </a:ext>
            </a:extLst>
          </p:cNvPr>
          <p:cNvSpPr>
            <a:spLocks xmlns:a="http://schemas.openxmlformats.org/drawingml/2006/main" noGrp="1"/>
          </p:cNvSpPr>
          <p:nvPr/>
        </p:nvSpPr>
        <p:spPr>
          <a:xfrm xmlns:a="http://schemas.openxmlformats.org/drawingml/2006/main">
            <a:off x="533400" y="3433763"/>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2" name="table-text-140-4-0">
            <a:extLst xmlns:a="http://schemas.openxmlformats.org/drawingml/2006/main">
              <a:ext uri="{FF2B5EF4-FFF2-40B4-BE49-F238E27FC236}">
                <a16:creationId xmlns:a16="http://schemas.microsoft.com/office/drawing/2014/main" id="{1FE8CB63-AC3C-4DCF-969A-C86AEB133565}"/>
              </a:ext>
            </a:extLst>
          </p:cNvPr>
          <p:cNvSpPr>
            <a:spLocks xmlns:a="http://schemas.openxmlformats.org/drawingml/2006/main" noGrp="1"/>
          </p:cNvSpPr>
          <p:nvPr/>
        </p:nvSpPr>
        <p:spPr>
          <a:xfrm xmlns:a="http://schemas.openxmlformats.org/drawingml/2006/main">
            <a:off x="619125" y="3500438"/>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Android 출시 빌드</a:t>
            </a:r>
          </a:p>
        </p:txBody>
      </p:sp>
      <p:sp>
        <p:nvSpPr>
          <p:cNvPr id="23" name="table-cell-140-4-1">
            <a:extLst xmlns:a="http://schemas.openxmlformats.org/drawingml/2006/main">
              <a:ext uri="{FF2B5EF4-FFF2-40B4-BE49-F238E27FC236}">
                <a16:creationId xmlns:a16="http://schemas.microsoft.com/office/drawing/2014/main" id="{222F3CEF-3DA5-4150-AB7A-BBED7692DA54}"/>
              </a:ext>
            </a:extLst>
          </p:cNvPr>
          <p:cNvSpPr>
            <a:spLocks xmlns:a="http://schemas.openxmlformats.org/drawingml/2006/main" noGrp="1"/>
          </p:cNvSpPr>
          <p:nvPr/>
        </p:nvSpPr>
        <p:spPr>
          <a:xfrm xmlns:a="http://schemas.openxmlformats.org/drawingml/2006/main">
            <a:off x="3781425" y="3433763"/>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24" name="table-text-140-4-1">
            <a:extLst xmlns:a="http://schemas.openxmlformats.org/drawingml/2006/main">
              <a:ext uri="{FF2B5EF4-FFF2-40B4-BE49-F238E27FC236}">
                <a16:creationId xmlns:a16="http://schemas.microsoft.com/office/drawing/2014/main" id="{B7B92A45-30D7-43BA-9EBD-6A4B42C16DC1}"/>
              </a:ext>
            </a:extLst>
          </p:cNvPr>
          <p:cNvSpPr>
            <a:spLocks xmlns:a="http://schemas.openxmlformats.org/drawingml/2006/main" noGrp="1"/>
          </p:cNvSpPr>
          <p:nvPr/>
        </p:nvSpPr>
        <p:spPr>
          <a:xfrm xmlns:a="http://schemas.openxmlformats.org/drawingml/2006/main">
            <a:off x="3867150" y="3500438"/>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11"/>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flutter build apk --release — 통과, 63,261,407바이트(약 60.33MiB), SHA-256 9560dcd7…31552</a:t>
            </a:r>
          </a:p>
        </p:txBody>
      </p:sp>
      <p:sp>
        <p:nvSpPr>
          <p:cNvPr id="25" name="table-cell-140-5-0">
            <a:extLst xmlns:a="http://schemas.openxmlformats.org/drawingml/2006/main">
              <a:ext uri="{FF2B5EF4-FFF2-40B4-BE49-F238E27FC236}">
                <a16:creationId xmlns:a16="http://schemas.microsoft.com/office/drawing/2014/main" id="{6D4A388A-1299-4812-A03D-A9939DF6463B}"/>
              </a:ext>
            </a:extLst>
          </p:cNvPr>
          <p:cNvSpPr>
            <a:spLocks xmlns:a="http://schemas.openxmlformats.org/drawingml/2006/main" noGrp="1"/>
          </p:cNvSpPr>
          <p:nvPr/>
        </p:nvSpPr>
        <p:spPr>
          <a:xfrm xmlns:a="http://schemas.openxmlformats.org/drawingml/2006/main">
            <a:off x="533400" y="3965258"/>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6" name="table-text-140-5-0">
            <a:extLst xmlns:a="http://schemas.openxmlformats.org/drawingml/2006/main">
              <a:ext uri="{FF2B5EF4-FFF2-40B4-BE49-F238E27FC236}">
                <a16:creationId xmlns:a16="http://schemas.microsoft.com/office/drawing/2014/main" id="{0D8A59E2-95A8-4E5F-A5DE-44C074FAD38C}"/>
              </a:ext>
            </a:extLst>
          </p:cNvPr>
          <p:cNvSpPr>
            <a:spLocks xmlns:a="http://schemas.openxmlformats.org/drawingml/2006/main" noGrp="1"/>
          </p:cNvSpPr>
          <p:nvPr/>
        </p:nvSpPr>
        <p:spPr>
          <a:xfrm xmlns:a="http://schemas.openxmlformats.org/drawingml/2006/main">
            <a:off x="619125" y="4031933"/>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플레이 영상</a:t>
            </a:r>
          </a:p>
        </p:txBody>
      </p:sp>
      <p:sp>
        <p:nvSpPr>
          <p:cNvPr id="27" name="table-cell-140-5-1">
            <a:extLst xmlns:a="http://schemas.openxmlformats.org/drawingml/2006/main">
              <a:ext uri="{FF2B5EF4-FFF2-40B4-BE49-F238E27FC236}">
                <a16:creationId xmlns:a16="http://schemas.microsoft.com/office/drawing/2014/main" id="{A4086A80-AD6E-4948-A37B-7A25A487E0BA}"/>
              </a:ext>
            </a:extLst>
          </p:cNvPr>
          <p:cNvSpPr>
            <a:spLocks xmlns:a="http://schemas.openxmlformats.org/drawingml/2006/main" noGrp="1"/>
          </p:cNvSpPr>
          <p:nvPr/>
        </p:nvSpPr>
        <p:spPr>
          <a:xfrm xmlns:a="http://schemas.openxmlformats.org/drawingml/2006/main">
            <a:off x="3781425" y="3965258"/>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28" name="table-text-140-5-1">
            <a:extLst xmlns:a="http://schemas.openxmlformats.org/drawingml/2006/main">
              <a:ext uri="{FF2B5EF4-FFF2-40B4-BE49-F238E27FC236}">
                <a16:creationId xmlns:a16="http://schemas.microsoft.com/office/drawing/2014/main" id="{853E5A30-80E5-4C4C-A406-BFA95CFE490F}"/>
              </a:ext>
            </a:extLst>
          </p:cNvPr>
          <p:cNvSpPr>
            <a:spLocks xmlns:a="http://schemas.openxmlformats.org/drawingml/2006/main" noGrp="1"/>
          </p:cNvSpPr>
          <p:nvPr/>
        </p:nvSpPr>
        <p:spPr>
          <a:xfrm xmlns:a="http://schemas.openxmlformats.org/drawingml/2006/main">
            <a:off x="3867150" y="4031933"/>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793"/>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실제 telemetry·소스 freshness·60.000초 H.264/avc1·390×844·480프레임·identity transform·대표 27프레임 검사 통과</a:t>
            </a:r>
          </a:p>
        </p:txBody>
      </p:sp>
      <p:sp>
        <p:nvSpPr>
          <p:cNvPr id="29" name="table-cell-140-6-0">
            <a:extLst xmlns:a="http://schemas.openxmlformats.org/drawingml/2006/main">
              <a:ext uri="{FF2B5EF4-FFF2-40B4-BE49-F238E27FC236}">
                <a16:creationId xmlns:a16="http://schemas.microsoft.com/office/drawing/2014/main" id="{7845010E-EE3D-403C-8287-E64EABFAA911}"/>
              </a:ext>
            </a:extLst>
          </p:cNvPr>
          <p:cNvSpPr>
            <a:spLocks xmlns:a="http://schemas.openxmlformats.org/drawingml/2006/main" noGrp="1"/>
          </p:cNvSpPr>
          <p:nvPr/>
        </p:nvSpPr>
        <p:spPr>
          <a:xfrm xmlns:a="http://schemas.openxmlformats.org/drawingml/2006/main">
            <a:off x="533400" y="4496753"/>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0" name="table-text-140-6-0">
            <a:extLst xmlns:a="http://schemas.openxmlformats.org/drawingml/2006/main">
              <a:ext uri="{FF2B5EF4-FFF2-40B4-BE49-F238E27FC236}">
                <a16:creationId xmlns:a16="http://schemas.microsoft.com/office/drawing/2014/main" id="{BFC82E33-D070-4BE1-94AE-DE044B2F1640}"/>
              </a:ext>
            </a:extLst>
          </p:cNvPr>
          <p:cNvSpPr>
            <a:spLocks xmlns:a="http://schemas.openxmlformats.org/drawingml/2006/main" noGrp="1"/>
          </p:cNvSpPr>
          <p:nvPr/>
        </p:nvSpPr>
        <p:spPr>
          <a:xfrm xmlns:a="http://schemas.openxmlformats.org/drawingml/2006/main">
            <a:off x="619125" y="4563428"/>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화면 회귀</a:t>
            </a:r>
          </a:p>
        </p:txBody>
      </p:sp>
      <p:sp>
        <p:nvSpPr>
          <p:cNvPr id="31" name="table-cell-140-6-1">
            <a:extLst xmlns:a="http://schemas.openxmlformats.org/drawingml/2006/main">
              <a:ext uri="{FF2B5EF4-FFF2-40B4-BE49-F238E27FC236}">
                <a16:creationId xmlns:a16="http://schemas.microsoft.com/office/drawing/2014/main" id="{7F3B22F5-5C80-4BDC-8CFF-68C981F02C6E}"/>
              </a:ext>
            </a:extLst>
          </p:cNvPr>
          <p:cNvSpPr>
            <a:spLocks xmlns:a="http://schemas.openxmlformats.org/drawingml/2006/main" noGrp="1"/>
          </p:cNvSpPr>
          <p:nvPr/>
        </p:nvSpPr>
        <p:spPr>
          <a:xfrm xmlns:a="http://schemas.openxmlformats.org/drawingml/2006/main">
            <a:off x="3781425" y="4496753"/>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2" name="table-text-140-6-1">
            <a:extLst xmlns:a="http://schemas.openxmlformats.org/drawingml/2006/main">
              <a:ext uri="{FF2B5EF4-FFF2-40B4-BE49-F238E27FC236}">
                <a16:creationId xmlns:a16="http://schemas.microsoft.com/office/drawing/2014/main" id="{FF109E6D-B3EE-464D-9FFB-4531F829E14D}"/>
              </a:ext>
            </a:extLst>
          </p:cNvPr>
          <p:cNvSpPr>
            <a:spLocks xmlns:a="http://schemas.openxmlformats.org/drawingml/2006/main" noGrp="1"/>
          </p:cNvSpPr>
          <p:nvPr/>
        </p:nvSpPr>
        <p:spPr>
          <a:xfrm xmlns:a="http://schemas.openxmlformats.org/drawingml/2006/main">
            <a:off x="3867150" y="4563428"/>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Golden 61장을 실제 렌더와 대조해 하단 단일행 문구 변경만 확인, 영향권 67/67 재통과</a:t>
            </a:r>
          </a:p>
        </p:txBody>
      </p:sp>
      <p:sp>
        <p:nvSpPr>
          <p:cNvPr id="33" name="table-cell-140-7-0">
            <a:extLst xmlns:a="http://schemas.openxmlformats.org/drawingml/2006/main">
              <a:ext uri="{FF2B5EF4-FFF2-40B4-BE49-F238E27FC236}">
                <a16:creationId xmlns:a16="http://schemas.microsoft.com/office/drawing/2014/main" id="{A4E36CED-E81E-4396-8829-466F8F7174D0}"/>
              </a:ext>
            </a:extLst>
          </p:cNvPr>
          <p:cNvSpPr>
            <a:spLocks xmlns:a="http://schemas.openxmlformats.org/drawingml/2006/main" noGrp="1"/>
          </p:cNvSpPr>
          <p:nvPr/>
        </p:nvSpPr>
        <p:spPr>
          <a:xfrm xmlns:a="http://schemas.openxmlformats.org/drawingml/2006/main">
            <a:off x="533400" y="5028248"/>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4" name="table-text-140-7-0">
            <a:extLst xmlns:a="http://schemas.openxmlformats.org/drawingml/2006/main">
              <a:ext uri="{FF2B5EF4-FFF2-40B4-BE49-F238E27FC236}">
                <a16:creationId xmlns:a16="http://schemas.microsoft.com/office/drawing/2014/main" id="{02740D93-DE34-434F-8ACC-E571E7CCD541}"/>
              </a:ext>
            </a:extLst>
          </p:cNvPr>
          <p:cNvSpPr>
            <a:spLocks xmlns:a="http://schemas.openxmlformats.org/drawingml/2006/main" noGrp="1"/>
          </p:cNvSpPr>
          <p:nvPr/>
        </p:nvSpPr>
        <p:spPr>
          <a:xfrm xmlns:a="http://schemas.openxmlformats.org/drawingml/2006/main">
            <a:off x="619125" y="5094923"/>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기믹 우위</a:t>
            </a:r>
          </a:p>
        </p:txBody>
      </p:sp>
      <p:sp>
        <p:nvSpPr>
          <p:cNvPr id="35" name="table-cell-140-7-1">
            <a:extLst xmlns:a="http://schemas.openxmlformats.org/drawingml/2006/main">
              <a:ext uri="{FF2B5EF4-FFF2-40B4-BE49-F238E27FC236}">
                <a16:creationId xmlns:a16="http://schemas.microsoft.com/office/drawing/2014/main" id="{0FA70047-BDB1-4BA0-92B2-2B6A0C84E318}"/>
              </a:ext>
            </a:extLst>
          </p:cNvPr>
          <p:cNvSpPr>
            <a:spLocks xmlns:a="http://schemas.openxmlformats.org/drawingml/2006/main" noGrp="1"/>
          </p:cNvSpPr>
          <p:nvPr/>
        </p:nvSpPr>
        <p:spPr>
          <a:xfrm xmlns:a="http://schemas.openxmlformats.org/drawingml/2006/main">
            <a:off x="3781425" y="5028248"/>
            <a:ext cx="3248025" cy="531495"/>
          </a:xfrm>
          <a:prstGeom xmlns:a="http://schemas.openxmlformats.org/drawingml/2006/main" prst="rect">
            <a:avLst/>
          </a:prstGeom>
          <a:solidFill xmlns:a="http://schemas.openxmlformats.org/drawingml/2006/main">
            <a:srgbClr val="FFFFFF"/>
          </a:solidFill>
          <a:ln xmlns:a="http://schemas.openxmlformats.org/drawingml/2006/main" w="9525">
            <a:solidFill>
              <a:srgbClr val="D7E1DE"/>
            </a:solidFill>
            <a:prstDash val="solid"/>
          </a:ln>
        </p:spPr>
      </p:sp>
      <p:sp>
        <p:nvSpPr>
          <p:cNvPr id="36" name="table-text-140-7-1">
            <a:extLst xmlns:a="http://schemas.openxmlformats.org/drawingml/2006/main">
              <a:ext uri="{FF2B5EF4-FFF2-40B4-BE49-F238E27FC236}">
                <a16:creationId xmlns:a16="http://schemas.microsoft.com/office/drawing/2014/main" id="{3DDEE21C-E582-41B0-84F1-2AF5801628C9}"/>
              </a:ext>
            </a:extLst>
          </p:cNvPr>
          <p:cNvSpPr>
            <a:spLocks xmlns:a="http://schemas.openxmlformats.org/drawingml/2006/main" noGrp="1"/>
          </p:cNvSpPr>
          <p:nvPr/>
        </p:nvSpPr>
        <p:spPr>
          <a:xfrm xmlns:a="http://schemas.openxmlformats.org/drawingml/2006/main">
            <a:off x="3867150" y="5094923"/>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단발 32패턴 각각 ≥1.40배, 7단계 합계 1.92배, 8단계 연쇄 점수 1.48–1.74배, 10단계 합계 36.67배</a:t>
            </a:r>
          </a:p>
        </p:txBody>
      </p:sp>
      <p:sp>
        <p:nvSpPr>
          <p:cNvPr id="37" name="table-cell-140-8-0">
            <a:extLst xmlns:a="http://schemas.openxmlformats.org/drawingml/2006/main">
              <a:ext uri="{FF2B5EF4-FFF2-40B4-BE49-F238E27FC236}">
                <a16:creationId xmlns:a16="http://schemas.microsoft.com/office/drawing/2014/main" id="{CE1A19DB-61B0-49BE-ABBC-7A6C01DBAB7A}"/>
              </a:ext>
            </a:extLst>
          </p:cNvPr>
          <p:cNvSpPr>
            <a:spLocks xmlns:a="http://schemas.openxmlformats.org/drawingml/2006/main" noGrp="1"/>
          </p:cNvSpPr>
          <p:nvPr/>
        </p:nvSpPr>
        <p:spPr>
          <a:xfrm xmlns:a="http://schemas.openxmlformats.org/drawingml/2006/main">
            <a:off x="533400" y="5559742"/>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38" name="table-text-140-8-0">
            <a:extLst xmlns:a="http://schemas.openxmlformats.org/drawingml/2006/main">
              <a:ext uri="{FF2B5EF4-FFF2-40B4-BE49-F238E27FC236}">
                <a16:creationId xmlns:a16="http://schemas.microsoft.com/office/drawing/2014/main" id="{57A80F8D-604F-4AAF-8193-A1298F073840}"/>
              </a:ext>
            </a:extLst>
          </p:cNvPr>
          <p:cNvSpPr>
            <a:spLocks xmlns:a="http://schemas.openxmlformats.org/drawingml/2006/main" noGrp="1"/>
          </p:cNvSpPr>
          <p:nvPr/>
        </p:nvSpPr>
        <p:spPr>
          <a:xfrm xmlns:a="http://schemas.openxmlformats.org/drawingml/2006/main">
            <a:off x="619125" y="5626417"/>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독립 감사</a:t>
            </a:r>
          </a:p>
        </p:txBody>
      </p:sp>
      <p:sp>
        <p:nvSpPr>
          <p:cNvPr id="39" name="table-cell-140-8-1">
            <a:extLst xmlns:a="http://schemas.openxmlformats.org/drawingml/2006/main">
              <a:ext uri="{FF2B5EF4-FFF2-40B4-BE49-F238E27FC236}">
                <a16:creationId xmlns:a16="http://schemas.microsoft.com/office/drawing/2014/main" id="{7D279DB7-6C64-4740-84BD-CABC74950FE9}"/>
              </a:ext>
            </a:extLst>
          </p:cNvPr>
          <p:cNvSpPr>
            <a:spLocks xmlns:a="http://schemas.openxmlformats.org/drawingml/2006/main" noGrp="1"/>
          </p:cNvSpPr>
          <p:nvPr/>
        </p:nvSpPr>
        <p:spPr>
          <a:xfrm xmlns:a="http://schemas.openxmlformats.org/drawingml/2006/main">
            <a:off x="3781425" y="5559742"/>
            <a:ext cx="3248025" cy="531495"/>
          </a:xfrm>
          <a:prstGeom xmlns:a="http://schemas.openxmlformats.org/drawingml/2006/main" prst="rect">
            <a:avLst/>
          </a:prstGeom>
          <a:solidFill xmlns:a="http://schemas.openxmlformats.org/drawingml/2006/main">
            <a:srgbClr val="FAFCFB"/>
          </a:solidFill>
          <a:ln xmlns:a="http://schemas.openxmlformats.org/drawingml/2006/main" w="9525">
            <a:solidFill>
              <a:srgbClr val="D7E1DE"/>
            </a:solidFill>
            <a:prstDash val="solid"/>
          </a:ln>
        </p:spPr>
      </p:sp>
      <p:sp>
        <p:nvSpPr>
          <p:cNvPr id="40" name="table-text-140-8-1">
            <a:extLst xmlns:a="http://schemas.openxmlformats.org/drawingml/2006/main">
              <a:ext uri="{FF2B5EF4-FFF2-40B4-BE49-F238E27FC236}">
                <a16:creationId xmlns:a16="http://schemas.microsoft.com/office/drawing/2014/main" id="{BAD1C249-3941-4C33-8026-5FC14249D448}"/>
              </a:ext>
            </a:extLst>
          </p:cNvPr>
          <p:cNvSpPr>
            <a:spLocks xmlns:a="http://schemas.openxmlformats.org/drawingml/2006/main" noGrp="1"/>
          </p:cNvSpPr>
          <p:nvPr/>
        </p:nvSpPr>
        <p:spPr>
          <a:xfrm xmlns:a="http://schemas.openxmlformats.org/drawingml/2006/main">
            <a:off x="3867150" y="5626417"/>
            <a:ext cx="3076575" cy="39814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446"/>
          </a:bodyPr>
          <a:lstStyle xmlns:a="http://schemas.openxmlformats.org/drawingml/2006/main"/>
          <a:p xmlns:a="http://schemas.openxmlformats.org/drawingml/2006/main">
            <a:pPr algn="l">
              <a:lnSpc>
                <a:spcPct val="108000"/>
              </a:lnSpc>
              <a:buNone/>
              <a:defRPr sz="1050" b="0">
                <a:solidFill>
                  <a:srgbClr val="173A3F"/>
                </a:solidFill>
                <a:latin typeface="NanumGothic"/>
                <a:ea typeface="NanumGothic"/>
                <a:cs typeface="NanumGothic"/>
              </a:defRPr>
            </a:pPr>
            <a:r>
              <a:rPr sz="1050" b="0">
                <a:solidFill>
                  <a:srgbClr val="173A3F"/>
                </a:solidFill>
                <a:latin typeface="NanumGothic"/>
                <a:ea typeface="NanumGothic"/>
                <a:cs typeface="NanumGothic"/>
              </a:rPr>
              <a:t>코드·레벨·영상·문서 레이아웃 통과. telemetry shot_id 불일치를 수정하고 실제 발사 회귀·정적 분석 재통과</a:t>
            </a:r>
          </a:p>
        </p:txBody>
      </p:sp>
    </p:spTree>
    <p:extLst>
      <p:ext uri="{BB962C8B-B14F-4D97-AF65-F5344CB8AC3E}">
        <p14:creationId xmlns:p14="http://schemas.microsoft.com/office/powerpoint/2010/main" val="28838855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running-label">
            <a:extLst xmlns:a="http://schemas.openxmlformats.org/drawingml/2006/main">
              <a:ext uri="{FF2B5EF4-FFF2-40B4-BE49-F238E27FC236}">
                <a16:creationId xmlns:a16="http://schemas.microsoft.com/office/drawing/2014/main" id="{FDE7C016-B6C2-4A71-9B93-994C2F04D3B9}"/>
              </a:ext>
            </a:extLst>
          </p:cNvPr>
          <p:cNvSpPr>
            <a:spLocks xmlns:a="http://schemas.openxmlformats.org/drawingml/2006/main" noGrp="1"/>
          </p:cNvSpPr>
          <p:nvPr/>
        </p:nvSpPr>
        <p:spPr>
          <a:xfrm xmlns:a="http://schemas.openxmlformats.org/drawingml/2006/main">
            <a:off x="533400" y="30480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900" b="1">
                <a:solidFill>
                  <a:srgbClr val="2C7A7B"/>
                </a:solidFill>
                <a:latin typeface="NanumGothic"/>
                <a:ea typeface="NanumGothic"/>
                <a:cs typeface="NanumGothic"/>
              </a:defRPr>
            </a:pPr>
            <a:r>
              <a:rPr sz="900" b="1">
                <a:solidFill>
                  <a:srgbClr val="2C7A7B"/>
                </a:solidFill>
                <a:latin typeface="NanumGothic"/>
                <a:ea typeface="NanumGothic"/>
                <a:cs typeface="NanumGothic"/>
              </a:rPr>
              <a:t>Property Shot · Game Guide</a:t>
            </a:r>
          </a:p>
        </p:txBody>
      </p:sp>
      <p:sp>
        <p:nvSpPr>
          <p:cNvPr id="2" name="page-number">
            <a:extLst xmlns:a="http://schemas.openxmlformats.org/drawingml/2006/main">
              <a:ext uri="{FF2B5EF4-FFF2-40B4-BE49-F238E27FC236}">
                <a16:creationId xmlns:a16="http://schemas.microsoft.com/office/drawing/2014/main" id="{DFCECDFF-4616-481C-9B56-C9FBFB74F092}"/>
              </a:ext>
            </a:extLst>
          </p:cNvPr>
          <p:cNvSpPr>
            <a:spLocks xmlns:a="http://schemas.openxmlformats.org/drawingml/2006/main" noGrp="1"/>
          </p:cNvSpPr>
          <p:nvPr/>
        </p:nvSpPr>
        <p:spPr>
          <a:xfrm xmlns:a="http://schemas.openxmlformats.org/drawingml/2006/main">
            <a:off x="6648450" y="30480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900" b="0">
                <a:solidFill>
                  <a:srgbClr val="607477"/>
                </a:solidFill>
                <a:latin typeface="NanumGothic"/>
                <a:ea typeface="NanumGothic"/>
                <a:cs typeface="NanumGothic"/>
              </a:defRPr>
            </a:pPr>
            <a:r>
              <a:rPr sz="900" b="0">
                <a:solidFill>
                  <a:srgbClr val="607477"/>
                </a:solidFill>
                <a:latin typeface="NanumGothic"/>
                <a:ea typeface="NanumGothic"/>
                <a:cs typeface="NanumGothic"/>
              </a:rPr>
              <a:t>17</a:t>
            </a:r>
          </a:p>
        </p:txBody>
      </p:sp>
      <p:sp>
        <p:nvSpPr>
          <p:cNvPr id="3" name="header-rule">
            <a:extLst xmlns:a="http://schemas.openxmlformats.org/drawingml/2006/main">
              <a:ext uri="{FF2B5EF4-FFF2-40B4-BE49-F238E27FC236}">
                <a16:creationId xmlns:a16="http://schemas.microsoft.com/office/drawing/2014/main" id="{A0D34B69-5986-48A0-AB17-45F1F87275ED}"/>
              </a:ext>
            </a:extLst>
          </p:cNvPr>
          <p:cNvSpPr>
            <a:spLocks xmlns:a="http://schemas.openxmlformats.org/drawingml/2006/main" noGrp="1"/>
          </p:cNvSpPr>
          <p:nvPr/>
        </p:nvSpPr>
        <p:spPr>
          <a:xfrm xmlns:a="http://schemas.openxmlformats.org/drawingml/2006/main">
            <a:off x="533400" y="628650"/>
            <a:ext cx="6496050" cy="28575"/>
          </a:xfrm>
          <a:prstGeom xmlns:a="http://schemas.openxmlformats.org/drawingml/2006/main" prst="rect">
            <a:avLst/>
          </a:prstGeom>
          <a:solidFill xmlns:a="http://schemas.openxmlformats.org/drawingml/2006/main">
            <a:srgbClr val="D7A23D"/>
          </a:solidFill>
          <a:ln xmlns:a="http://schemas.openxmlformats.org/drawingml/2006/main" w="0">
            <a:noFill/>
            <a:prstDash val="solid"/>
          </a:ln>
        </p:spPr>
      </p:sp>
      <p:sp>
        <p:nvSpPr>
          <p:cNvPr id="4" name="slide-title">
            <a:extLst xmlns:a="http://schemas.openxmlformats.org/drawingml/2006/main">
              <a:ext uri="{FF2B5EF4-FFF2-40B4-BE49-F238E27FC236}">
                <a16:creationId xmlns:a16="http://schemas.microsoft.com/office/drawing/2014/main" id="{BDE7D60E-B8E1-43EC-B49A-BCB2FCB26B28}"/>
              </a:ext>
            </a:extLst>
          </p:cNvPr>
          <p:cNvSpPr>
            <a:spLocks xmlns:a="http://schemas.openxmlformats.org/drawingml/2006/main" noGrp="1"/>
          </p:cNvSpPr>
          <p:nvPr/>
        </p:nvSpPr>
        <p:spPr>
          <a:xfrm xmlns:a="http://schemas.openxmlformats.org/drawingml/2006/main">
            <a:off x="533400" y="800100"/>
            <a:ext cx="649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238"/>
          </a:bodyPr>
          <a:lstStyle xmlns:a="http://schemas.openxmlformats.org/drawingml/2006/main"/>
          <a:p xmlns:a="http://schemas.openxmlformats.org/drawingml/2006/main">
            <a:pPr algn="l">
              <a:lnSpc>
                <a:spcPct val="120000"/>
              </a:lnSpc>
              <a:buNone/>
              <a:defRPr sz="2625" b="1">
                <a:solidFill>
                  <a:srgbClr val="173A3F"/>
                </a:solidFill>
                <a:latin typeface="NanumGothic"/>
                <a:ea typeface="NanumGothic"/>
                <a:cs typeface="NanumGothic"/>
              </a:defRPr>
            </a:pPr>
            <a:r>
              <a:rPr sz="2625" b="1">
                <a:solidFill>
                  <a:srgbClr val="173A3F"/>
                </a:solidFill>
                <a:latin typeface="NanumGothic"/>
                <a:ea typeface="NanumGothic"/>
                <a:cs typeface="NanumGothic"/>
              </a:rPr>
              <a:t>9. 알려진 제한</a:t>
            </a:r>
          </a:p>
        </p:txBody>
      </p:sp>
      <p:sp>
        <p:nvSpPr>
          <p:cNvPr id="5" name="bullets-140">
            <a:extLst xmlns:a="http://schemas.openxmlformats.org/drawingml/2006/main">
              <a:ext uri="{FF2B5EF4-FFF2-40B4-BE49-F238E27FC236}">
                <a16:creationId xmlns:a16="http://schemas.microsoft.com/office/drawing/2014/main" id="{D3F18F85-43F7-4FE9-BCC0-A291B86317EF}"/>
              </a:ext>
            </a:extLst>
          </p:cNvPr>
          <p:cNvSpPr>
            <a:spLocks xmlns:a="http://schemas.openxmlformats.org/drawingml/2006/main" noGrp="1"/>
          </p:cNvSpPr>
          <p:nvPr/>
        </p:nvSpPr>
        <p:spPr>
          <a:xfrm xmlns:a="http://schemas.openxmlformats.org/drawingml/2006/main">
            <a:off x="533400" y="1333500"/>
            <a:ext cx="6496050" cy="15773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rmAutofit fontScale="100000"/>
          </a:bodyPr>
          <a:lstStyle xmlns:a="http://schemas.openxmlformats.org/drawingml/2006/main"/>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iPhone/iPad 실기기 성능·터치 체감과 App Store 제출은 이번 범위에서 검증하지 않았다.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외부 사용자 대상 정식 30초/5분 플레이테스트는 별도 모집이 필요하다.</a:t>
            </a:r>
          </a:p>
          <a:p xmlns:a="http://schemas.openxmlformats.org/drawingml/2006/main">
            <a:pPr marL="20" indent="-12">
              <a:lnSpc>
                <a:spcPct val="118000"/>
              </a:lnSpc>
              <a:spcAft>
                <a:spcPts val="8"/>
              </a:spcAft>
              <a:buNone/>
              <a:defRPr sz="1200">
                <a:solidFill>
                  <a:srgbClr val="173A3F"/>
                </a:solidFill>
                <a:latin typeface="NanumGothic"/>
                <a:ea typeface="NanumGothic"/>
                <a:cs typeface="NanumGothic"/>
              </a:defRPr>
            </a:pPr>
            <a:r>
              <a:rPr sz="1200">
                <a:solidFill>
                  <a:srgbClr val="173A3F"/>
                </a:solidFill>
                <a:latin typeface="NanumGothic"/>
                <a:ea typeface="NanumGothic"/>
                <a:cs typeface="NanumGothic"/>
              </a:rPr>
              <a:t>생성형 이미지 애셋은 출처·해시를 기록했으나 상업 공개 전 최종 권리 검토가 필요하다.</a:t>
            </a:r>
          </a:p>
        </p:txBody>
      </p:sp>
    </p:spTree>
    <p:extLst>
      <p:ext uri="{BB962C8B-B14F-4D97-AF65-F5344CB8AC3E}">
        <p14:creationId xmlns:p14="http://schemas.microsoft.com/office/powerpoint/2010/main" val="12206462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2026-08-10T09:20:04.5630000Z</dcterms:created>
  <dcterms:modified xsi:type="dcterms:W3CDTF">2026-08-10T09:20:04.5630000Z</dcterms:modified>
</coreProperties>
</file>