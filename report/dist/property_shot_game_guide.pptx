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98a229353dd4268" /><Relationship Type="http://schemas.openxmlformats.org/officeDocument/2006/relationships/extended-properties" Target="/docProps/app.xml" Id="R1854b7d855ec4afe" /><Relationship Type="http://schemas.openxmlformats.org/officeDocument/2006/relationships/officeDocument" Target="/ppt/presentation.xml" Id="R7d481d211380437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68af97e49644dc2"/>
  </p:sldMasterIdLst>
  <p:notesMasterIdLst>
    <p:notesMasterId xmlns:r="http://schemas.openxmlformats.org/officeDocument/2006/relationships" r:id="R6486938e4c994ee6"/>
  </p:notesMasterIdLst>
  <p:sldIdLst>
    <p:sldId xmlns:r="http://schemas.openxmlformats.org/officeDocument/2006/relationships" id="256" r:id="R73e975c69bf4435c"/>
    <p:sldId xmlns:r="http://schemas.openxmlformats.org/officeDocument/2006/relationships" id="257" r:id="R131cabca8a824ccc"/>
    <p:sldId xmlns:r="http://schemas.openxmlformats.org/officeDocument/2006/relationships" id="258" r:id="R61cd083110794d37"/>
    <p:sldId xmlns:r="http://schemas.openxmlformats.org/officeDocument/2006/relationships" id="259" r:id="R65ec918b927f4e45"/>
    <p:sldId xmlns:r="http://schemas.openxmlformats.org/officeDocument/2006/relationships" id="260" r:id="Rbb22814aa1dd4ef8"/>
    <p:sldId xmlns:r="http://schemas.openxmlformats.org/officeDocument/2006/relationships" id="261" r:id="Rdc24087fb81448e0"/>
    <p:sldId xmlns:r="http://schemas.openxmlformats.org/officeDocument/2006/relationships" id="262" r:id="R16ab52cda82247ed"/>
    <p:sldId xmlns:r="http://schemas.openxmlformats.org/officeDocument/2006/relationships" id="263" r:id="Rb7684d2334d545e9"/>
    <p:sldId xmlns:r="http://schemas.openxmlformats.org/officeDocument/2006/relationships" id="264" r:id="R08d62acf08c440d7"/>
    <p:sldId xmlns:r="http://schemas.openxmlformats.org/officeDocument/2006/relationships" id="265" r:id="R1934462de58b41d7"/>
    <p:sldId xmlns:r="http://schemas.openxmlformats.org/officeDocument/2006/relationships" id="266" r:id="Rd1d66fa2ab8b443b"/>
    <p:sldId xmlns:r="http://schemas.openxmlformats.org/officeDocument/2006/relationships" id="267" r:id="R142f25d719734c58"/>
  </p:sldIdLst>
  <p:sldSz cx="7562850" cy="10696575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4207632fc744059" /><Relationship Type="http://schemas.openxmlformats.org/officeDocument/2006/relationships/slideMaster" Target="/ppt/slideMasters/slideMaster1.xml" Id="R368af97e49644dc2" /><Relationship Type="http://schemas.openxmlformats.org/officeDocument/2006/relationships/notesMaster" Target="/ppt/notesMasters/notesMaster1.xml" Id="R6486938e4c994ee6" /><Relationship Type="http://schemas.openxmlformats.org/officeDocument/2006/relationships/presProps" Target="/ppt/presProps.xml" Id="R576deb3a14f540d0" /><Relationship Type="http://schemas.openxmlformats.org/officeDocument/2006/relationships/tableStyles" Target="/ppt/tableStyles.xml" Id="R1cdeac34b6874677" /><Relationship Type="http://schemas.openxmlformats.org/officeDocument/2006/relationships/slide" Target="/ppt/slides/slide1.xml" Id="R73e975c69bf4435c" /><Relationship Type="http://schemas.openxmlformats.org/officeDocument/2006/relationships/slide" Target="/ppt/slides/slide2.xml" Id="R131cabca8a824ccc" /><Relationship Type="http://schemas.openxmlformats.org/officeDocument/2006/relationships/slide" Target="/ppt/slides/slide3.xml" Id="R61cd083110794d37" /><Relationship Type="http://schemas.openxmlformats.org/officeDocument/2006/relationships/slide" Target="/ppt/slides/slide4.xml" Id="R65ec918b927f4e45" /><Relationship Type="http://schemas.openxmlformats.org/officeDocument/2006/relationships/slide" Target="/ppt/slides/slide5.xml" Id="Rbb22814aa1dd4ef8" /><Relationship Type="http://schemas.openxmlformats.org/officeDocument/2006/relationships/slide" Target="/ppt/slides/slide6.xml" Id="Rdc24087fb81448e0" /><Relationship Type="http://schemas.openxmlformats.org/officeDocument/2006/relationships/slide" Target="/ppt/slides/slide7.xml" Id="R16ab52cda82247ed" /><Relationship Type="http://schemas.openxmlformats.org/officeDocument/2006/relationships/slide" Target="/ppt/slides/slide8.xml" Id="Rb7684d2334d545e9" /><Relationship Type="http://schemas.openxmlformats.org/officeDocument/2006/relationships/slide" Target="/ppt/slides/slide9.xml" Id="R08d62acf08c440d7" /><Relationship Type="http://schemas.openxmlformats.org/officeDocument/2006/relationships/slide" Target="/ppt/slides/slide10.xml" Id="R1934462de58b41d7" /><Relationship Type="http://schemas.openxmlformats.org/officeDocument/2006/relationships/slide" Target="/ppt/slides/slide11.xml" Id="Rd1d66fa2ab8b443b" /><Relationship Type="http://schemas.openxmlformats.org/officeDocument/2006/relationships/slide" Target="/ppt/slides/slide12.xml" Id="R142f25d719734c5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f097b3e743f4fb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f0701d865e9451d" /><Relationship Type="http://schemas.openxmlformats.org/officeDocument/2006/relationships/notesMaster" Target="/ppt/notesMasters/notesMaster1.xml" Id="R2396eb413571427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14ee7e4c40642ea" /><Relationship Type="http://schemas.openxmlformats.org/officeDocument/2006/relationships/notesMaster" Target="/ppt/notesMasters/notesMaster1.xml" Id="R1dad53dd2b3a44e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5d2b60c607b41a6" /><Relationship Type="http://schemas.openxmlformats.org/officeDocument/2006/relationships/notesMaster" Target="/ppt/notesMasters/notesMaster1.xml" Id="R440c31f6bd4848f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deecea48ad549f0" /><Relationship Type="http://schemas.openxmlformats.org/officeDocument/2006/relationships/notesMaster" Target="/ppt/notesMasters/notesMaster1.xml" Id="Rbb8e3f7f2cb845d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0b6cadf66aa499b" /><Relationship Type="http://schemas.openxmlformats.org/officeDocument/2006/relationships/notesMaster" Target="/ppt/notesMasters/notesMaster1.xml" Id="Rf048cd6eac7b4a1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0c733f475b84260" /><Relationship Type="http://schemas.openxmlformats.org/officeDocument/2006/relationships/notesMaster" Target="/ppt/notesMasters/notesMaster1.xml" Id="R8b9f3312496d4bd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149b42fff884e16" /><Relationship Type="http://schemas.openxmlformats.org/officeDocument/2006/relationships/notesMaster" Target="/ppt/notesMasters/notesMaster1.xml" Id="Rb1873c83d9ad43e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ed24a3aa258422b" /><Relationship Type="http://schemas.openxmlformats.org/officeDocument/2006/relationships/notesMaster" Target="/ppt/notesMasters/notesMaster1.xml" Id="Ra5753a2f4ef3497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03bf4d61817413a" /><Relationship Type="http://schemas.openxmlformats.org/officeDocument/2006/relationships/notesMaster" Target="/ppt/notesMasters/notesMaster1.xml" Id="Rfbbad119d7624d8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a17ac1865d54472" /><Relationship Type="http://schemas.openxmlformats.org/officeDocument/2006/relationships/notesMaster" Target="/ppt/notesMasters/notesMaster1.xml" Id="Rde99f8689530492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1c2c78e968e4344" /><Relationship Type="http://schemas.openxmlformats.org/officeDocument/2006/relationships/notesMaster" Target="/ppt/notesMasters/notesMaster1.xml" Id="R2a1f947ac5d7441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80e6730da8c4320" /><Relationship Type="http://schemas.openxmlformats.org/officeDocument/2006/relationships/notesMaster" Target="/ppt/notesMasters/notesMaster1.xml" Id="Re8705590fd5a4c9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report source and local repository assets</a:t>
            </a:r>
          </a:p>
          <a:p xmlns:a="http://schemas.openxmlformats.org/drawingml/2006/main">
            <a:r>
              <a:t>- https://nan2026.nhn.com/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report/game_introduction.md</a:t>
            </a:r>
          </a:p>
          <a:p xmlns:a="http://schemas.openxmlformats.org/drawingml/2006/main">
            <a:r>
              <a:t>- screenshots/commercial-vertical-slice/390x844-current-play-audit.png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report/game_introduction.md</a:t>
            </a:r>
          </a:p>
          <a:p xmlns:a="http://schemas.openxmlformats.org/drawingml/2006/main">
            <a:r>
              <a:t>- screenshots/commercial-vertical-slice/390x844-material-source-popup.png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report/game_introduction.md</a:t>
            </a:r>
          </a:p>
          <a:p xmlns:a="http://schemas.openxmlformats.org/drawingml/2006/main">
            <a:r>
              <a:t>- assets/generated/stone-v2.png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report/game_introduction.md</a:t>
            </a:r>
          </a:p>
          <a:p xmlns:a="http://schemas.openxmlformats.org/drawingml/2006/main">
            <a:r>
              <a:t>- assets/generated/jelly-bumper-v1.png</a:t>
            </a:r>
          </a:p>
          <a:p xmlns:a="http://schemas.openxmlformats.org/drawingml/2006/main">
            <a:r>
              <a:t>- screenshots/commercial-vertical-slice/stage4-property-ready.png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report/game_introduction.md</a:t>
            </a:r>
          </a:p>
          <a:p xmlns:a="http://schemas.openxmlformats.org/drawingml/2006/main">
            <a:r>
              <a:t>- test/goldens/game_screen_stage3_390x844.png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report/game_introduction.md</a:t>
            </a:r>
          </a:p>
          <a:p xmlns:a="http://schemas.openxmlformats.org/drawingml/2006/main">
            <a:r>
              <a:t>- test/goldens/difficulty_easy_first_arrival_390x844.png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report/game_introduction.md</a:t>
            </a:r>
          </a:p>
          <a:p xmlns:a="http://schemas.openxmlformats.org/drawingml/2006/main">
            <a:r>
              <a:t>- test/goldens/run_reward_320x568_hint_first.png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report/game_introduction.md</a:t>
            </a:r>
          </a:p>
          <a:p xmlns:a="http://schemas.openxmlformats.org/drawingml/2006/main">
            <a:r>
              <a:t>- test/goldens/ball_reward_appearance_comparison.png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report/game_introduction.md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report/game_introduction.md</a:t>
            </a:r>
          </a:p>
          <a:p xmlns:a="http://schemas.openxmlformats.org/drawingml/2006/main">
            <a:r>
              <a:t>- https://good5229.github.io/Property_shot/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report/game_introduction.md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d8f3d181ff4b6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0e042d8dbee4e1b" /><Relationship Type="http://schemas.openxmlformats.org/officeDocument/2006/relationships/slideLayout" Target="/ppt/slideLayouts/slideLayout1.xml" Id="R91096985357b40c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1096985357b40c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b9848c220b4c2a" /><Relationship Type="http://schemas.openxmlformats.org/officeDocument/2006/relationships/image" Target="/ppt/media/image.png" Id="R06a9491bbc6e4312" /><Relationship Type="http://schemas.openxmlformats.org/officeDocument/2006/relationships/notesSlide" Target="/ppt/notesSlides/notesSlide1.xml" Id="R90ac7d4d911f469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245cd0d2b647f4" /><Relationship Type="http://schemas.openxmlformats.org/officeDocument/2006/relationships/image" Target="/ppt/media/image2.png" Id="Re1fa09ebc8fa4e0d" /><Relationship Type="http://schemas.openxmlformats.org/officeDocument/2006/relationships/notesSlide" Target="/ppt/notesSlides/notesSlide2.xml" Id="R6d637e17b1564a2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315cf3159446e6" /><Relationship Type="http://schemas.openxmlformats.org/officeDocument/2006/relationships/image" Target="/ppt/media/image3.png" Id="R1adf2c451e3a45e7" /><Relationship Type="http://schemas.openxmlformats.org/officeDocument/2006/relationships/notesSlide" Target="/ppt/notesSlides/notesSlide3.xml" Id="Rfb84a936d64e4c3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4ed24de28d44b4" /><Relationship Type="http://schemas.openxmlformats.org/officeDocument/2006/relationships/image" Target="/ppt/media/image4.png" Id="R93f2f55e2ae24522" /><Relationship Type="http://schemas.openxmlformats.org/officeDocument/2006/relationships/notesSlide" Target="/ppt/notesSlides/notesSlide4.xml" Id="Rf4a6e301f0f8484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5167b3d03a4dea" /><Relationship Type="http://schemas.openxmlformats.org/officeDocument/2006/relationships/image" Target="/ppt/media/image5.png" Id="R6029080ad77549b3" /><Relationship Type="http://schemas.openxmlformats.org/officeDocument/2006/relationships/image" Target="/ppt/media/image6.png" Id="R0e784c99b28848ed" /><Relationship Type="http://schemas.openxmlformats.org/officeDocument/2006/relationships/notesSlide" Target="/ppt/notesSlides/notesSlide5.xml" Id="R02e17ee978af46f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55faf3e468470a" /><Relationship Type="http://schemas.openxmlformats.org/officeDocument/2006/relationships/image" Target="/ppt/media/image7.png" Id="Red36327a14ba4a0a" /><Relationship Type="http://schemas.openxmlformats.org/officeDocument/2006/relationships/notesSlide" Target="/ppt/notesSlides/notesSlide6.xml" Id="Re8d1d1b46c924c1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bacc2e37134cd5" /><Relationship Type="http://schemas.openxmlformats.org/officeDocument/2006/relationships/image" Target="/ppt/media/image8.png" Id="Rec054363a669451e" /><Relationship Type="http://schemas.openxmlformats.org/officeDocument/2006/relationships/notesSlide" Target="/ppt/notesSlides/notesSlide7.xml" Id="R9297f42de4bd458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c801c883f948fe" /><Relationship Type="http://schemas.openxmlformats.org/officeDocument/2006/relationships/image" Target="/ppt/media/image9.png" Id="R2568b3aca43743d1" /><Relationship Type="http://schemas.openxmlformats.org/officeDocument/2006/relationships/notesSlide" Target="/ppt/notesSlides/notesSlide8.xml" Id="Rb2a5f1d39681429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43d79456094000" /><Relationship Type="http://schemas.openxmlformats.org/officeDocument/2006/relationships/image" Target="/ppt/media/image10.png" Id="Rb84102cf3cd940af" /><Relationship Type="http://schemas.openxmlformats.org/officeDocument/2006/relationships/notesSlide" Target="/ppt/notesSlides/notesSlide9.xml" Id="R9708787bcbcf449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0fcd515ab542f7" /><Relationship Type="http://schemas.openxmlformats.org/officeDocument/2006/relationships/notesSlide" Target="/ppt/notesSlides/notesSlide10.xml" Id="Re5e9810a9d81461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21e614b8cc454e" /><Relationship Type="http://schemas.openxmlformats.org/officeDocument/2006/relationships/notesSlide" Target="/ppt/notesSlides/notesSlide11.xml" Id="R4d1340417b9442f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95f3506e444c13" /><Relationship Type="http://schemas.openxmlformats.org/officeDocument/2006/relationships/notesSlide" Target="/ppt/notesSlides/notesSlide12.xml" Id="Rdf6d53440a194fe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9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605AD8F1-A673-415D-9573-CCD024721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10696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6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E4E61D72-8AC1-4012-A146-6ADAAD473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24000"/>
            <a:ext cx="561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1">
                <a:solidFill>
                  <a:srgbClr val="D7A23D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D7A23D"/>
                </a:solidFill>
                <a:latin typeface="NanumGothic"/>
                <a:ea typeface="NanumGothic"/>
                <a:cs typeface="NanumGothic"/>
              </a:rPr>
              <a:t>GAME GUIDE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43ED7C57-2631-4033-B422-E3D8C93A7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6096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7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속성 한방(Property Shot)</a:t>
            </a:r>
          </a:p>
        </p:txBody>
      </p:sp>
      <p:sp>
        <p:nvSpPr>
          <p:cNvPr id="4" name="cover-rule">
            <a:extLst xmlns:a="http://schemas.openxmlformats.org/drawingml/2006/main">
              <a:ext uri="{FF2B5EF4-FFF2-40B4-BE49-F238E27FC236}">
                <a16:creationId xmlns:a16="http://schemas.microsoft.com/office/drawing/2014/main" id="{B6A9B6FE-EE2E-4460-99A7-C0FAD5D49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9100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over-description">
            <a:extLst xmlns:a="http://schemas.openxmlformats.org/drawingml/2006/main">
              <a:ext uri="{FF2B5EF4-FFF2-40B4-BE49-F238E27FC236}">
                <a16:creationId xmlns:a16="http://schemas.microsoft.com/office/drawing/2014/main" id="{4CAF1B77-CA17-4F1F-A48E-8A82ADB3C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52950"/>
            <a:ext cx="3238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65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속성을 옮기고, 실패까지 다음 해법으로 바꾸는 물리 퍼즐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a9491bbc6e4312"/>
          <a:stretch xmlns:a="http://schemas.openxmlformats.org/drawingml/2006/main"/>
        </p:blipFill>
        <p:spPr>
          <a:xfrm xmlns:a="http://schemas.openxmlformats.org/drawingml/2006/main">
            <a:off x="4845900" y="4457700"/>
            <a:ext cx="1452450" cy="3143250"/>
          </a:xfrm>
          <a:prstGeom xmlns:a="http://schemas.openxmlformats.org/drawingml/2006/main" prst="roundRect">
            <a:avLst>
              <a:gd name="adj" fmla="val 5217"/>
            </a:avLst>
          </a:prstGeom>
        </p:spPr>
      </p:pic>
      <p:sp>
        <p:nvSpPr>
          <p:cNvPr id="7" name="cover-meta">
            <a:extLst xmlns:a="http://schemas.openxmlformats.org/drawingml/2006/main">
              <a:ext uri="{FF2B5EF4-FFF2-40B4-BE49-F238E27FC236}">
                <a16:creationId xmlns:a16="http://schemas.microsoft.com/office/drawing/2014/main" id="{292EE0A4-8833-43D8-8094-E8AB0C1EA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8572500"/>
            <a:ext cx="5810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275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NAN 2026 Game × AI 해커톤 사전 과제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275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2026-08-10</a:t>
            </a:r>
          </a:p>
        </p:txBody>
      </p:sp>
      <p:sp>
        <p:nvSpPr>
          <p:cNvPr id="8" name="cover-page">
            <a:extLst xmlns:a="http://schemas.openxmlformats.org/drawingml/2006/main">
              <a:ext uri="{FF2B5EF4-FFF2-40B4-BE49-F238E27FC236}">
                <a16:creationId xmlns:a16="http://schemas.microsoft.com/office/drawing/2014/main" id="{FCE6C4F5-CEDC-40A9-B433-E87532787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99631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76760555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B984E977-841B-4662-9CDF-F55C68913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Game Guide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ABE1CD9-682A-49ED-860E-6A85EE158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2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F45C9762-1693-45EA-BAC9-6A8F40D4E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F51FA50-DC1B-4B6A-8F77-CDC33329C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1. 한눈에 보는 게임</a:t>
            </a:r>
          </a:p>
        </p:txBody>
      </p:sp>
      <p:sp>
        <p:nvSpPr>
          <p:cNvPr id="5" name="paragraph-140">
            <a:extLst xmlns:a="http://schemas.openxmlformats.org/drawingml/2006/main">
              <a:ext uri="{FF2B5EF4-FFF2-40B4-BE49-F238E27FC236}">
                <a16:creationId xmlns:a16="http://schemas.microsoft.com/office/drawing/2014/main" id="{0CEABB45-43AD-4579-A39E-DE7A819BE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496050" cy="5775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속성 한방은 주변 사물의 물리 속성을 공에 옮기고, 속성이 비워진 원본과 이전 샷의 공까지 다음 해법으로 활용하는 세로형 물리 퍼즐이다.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fa09ebc8fa4e0d"/>
          <a:stretch xmlns:a="http://schemas.openxmlformats.org/drawingml/2006/main"/>
        </p:blipFill>
        <p:spPr>
          <a:xfrm xmlns:a="http://schemas.openxmlformats.org/drawingml/2006/main">
            <a:off x="3055200" y="2025396"/>
            <a:ext cx="145245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7" name="image-caption-212.64">
            <a:extLst xmlns:a="http://schemas.openxmlformats.org/drawingml/2006/main">
              <a:ext uri="{FF2B5EF4-FFF2-40B4-BE49-F238E27FC236}">
                <a16:creationId xmlns:a16="http://schemas.microsoft.com/office/drawing/2014/main" id="{201097C3-47F8-47EB-A171-A5682CC3C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25796"/>
            <a:ext cx="6229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속성 공을 조준해 장면의 상태를 바꾸는 실제 플레이 화면</a:t>
            </a:r>
          </a:p>
        </p:txBody>
      </p:sp>
      <p:sp>
        <p:nvSpPr>
          <p:cNvPr id="8" name="table-cell-596.64-0-0">
            <a:extLst xmlns:a="http://schemas.openxmlformats.org/drawingml/2006/main">
              <a:ext uri="{FF2B5EF4-FFF2-40B4-BE49-F238E27FC236}">
                <a16:creationId xmlns:a16="http://schemas.microsoft.com/office/drawing/2014/main" id="{8BFE894C-1F45-4B8A-B756-09932ECF6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82996"/>
            <a:ext cx="32480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9" name="table-text-596.64-0-0">
            <a:extLst xmlns:a="http://schemas.openxmlformats.org/drawingml/2006/main">
              <a:ext uri="{FF2B5EF4-FFF2-40B4-BE49-F238E27FC236}">
                <a16:creationId xmlns:a16="http://schemas.microsoft.com/office/drawing/2014/main" id="{502DA039-FA4C-48E2-B3B1-F18E8ABC1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49671"/>
            <a:ext cx="3076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항목</a:t>
            </a:r>
          </a:p>
        </p:txBody>
      </p:sp>
      <p:sp>
        <p:nvSpPr>
          <p:cNvPr id="10" name="table-cell-596.64-0-1">
            <a:extLst xmlns:a="http://schemas.openxmlformats.org/drawingml/2006/main">
              <a:ext uri="{FF2B5EF4-FFF2-40B4-BE49-F238E27FC236}">
                <a16:creationId xmlns:a16="http://schemas.microsoft.com/office/drawing/2014/main" id="{AE85B7E5-511A-4724-BDA6-4B7E569CE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5682996"/>
            <a:ext cx="32480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1" name="table-text-596.64-0-1">
            <a:extLst xmlns:a="http://schemas.openxmlformats.org/drawingml/2006/main">
              <a:ext uri="{FF2B5EF4-FFF2-40B4-BE49-F238E27FC236}">
                <a16:creationId xmlns:a16="http://schemas.microsoft.com/office/drawing/2014/main" id="{58593C2D-793E-4CB6-9361-34F6BA3C6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749671"/>
            <a:ext cx="3076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내용</a:t>
            </a:r>
          </a:p>
        </p:txBody>
      </p:sp>
      <p:sp>
        <p:nvSpPr>
          <p:cNvPr id="12" name="table-cell-596.64-1-0">
            <a:extLst xmlns:a="http://schemas.openxmlformats.org/drawingml/2006/main">
              <a:ext uri="{FF2B5EF4-FFF2-40B4-BE49-F238E27FC236}">
                <a16:creationId xmlns:a16="http://schemas.microsoft.com/office/drawing/2014/main" id="{05C9543B-C120-4D0E-861A-7AB88D428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40196"/>
            <a:ext cx="3248025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3" name="table-text-596.64-1-0">
            <a:extLst xmlns:a="http://schemas.openxmlformats.org/drawingml/2006/main">
              <a:ext uri="{FF2B5EF4-FFF2-40B4-BE49-F238E27FC236}">
                <a16:creationId xmlns:a16="http://schemas.microsoft.com/office/drawing/2014/main" id="{6F5E4A8B-485C-41EE-9A65-CE7C121E7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206871"/>
            <a:ext cx="3076575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무엇이 새로운가</a:t>
            </a:r>
          </a:p>
        </p:txBody>
      </p:sp>
      <p:sp>
        <p:nvSpPr>
          <p:cNvPr id="14" name="table-cell-596.64-1-1">
            <a:extLst xmlns:a="http://schemas.openxmlformats.org/drawingml/2006/main">
              <a:ext uri="{FF2B5EF4-FFF2-40B4-BE49-F238E27FC236}">
                <a16:creationId xmlns:a16="http://schemas.microsoft.com/office/drawing/2014/main" id="{B043B9FA-246F-4B64-8209-6660B5ACF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6140196"/>
            <a:ext cx="3248025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5" name="table-text-596.64-1-1">
            <a:extLst xmlns:a="http://schemas.openxmlformats.org/drawingml/2006/main">
              <a:ext uri="{FF2B5EF4-FFF2-40B4-BE49-F238E27FC236}">
                <a16:creationId xmlns:a16="http://schemas.microsoft.com/office/drawing/2014/main" id="{ADA6AF23-6EB7-4426-98C6-2E4D23191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6206871"/>
            <a:ext cx="3076575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방향과 힘뿐 아니라 ‘어떤 속성을 옮길지’와 ‘바뀐 장면을 다음 샷에 어떻게 쓸지’를 설계한다.</a:t>
            </a:r>
          </a:p>
        </p:txBody>
      </p:sp>
      <p:sp>
        <p:nvSpPr>
          <p:cNvPr id="16" name="table-cell-596.64-2-0">
            <a:extLst xmlns:a="http://schemas.openxmlformats.org/drawingml/2006/main">
              <a:ext uri="{FF2B5EF4-FFF2-40B4-BE49-F238E27FC236}">
                <a16:creationId xmlns:a16="http://schemas.microsoft.com/office/drawing/2014/main" id="{AFCDFF80-102D-4F08-B9E2-B0B07C389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71691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7" name="table-text-596.64-2-0">
            <a:extLst xmlns:a="http://schemas.openxmlformats.org/drawingml/2006/main">
              <a:ext uri="{FF2B5EF4-FFF2-40B4-BE49-F238E27FC236}">
                <a16:creationId xmlns:a16="http://schemas.microsoft.com/office/drawing/2014/main" id="{ECAA6009-4A52-4107-B0AA-E81707C8F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738366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무엇이 재미있는가</a:t>
            </a:r>
          </a:p>
        </p:txBody>
      </p:sp>
      <p:sp>
        <p:nvSpPr>
          <p:cNvPr id="18" name="table-cell-596.64-2-1">
            <a:extLst xmlns:a="http://schemas.openxmlformats.org/drawingml/2006/main">
              <a:ext uri="{FF2B5EF4-FFF2-40B4-BE49-F238E27FC236}">
                <a16:creationId xmlns:a16="http://schemas.microsoft.com/office/drawing/2014/main" id="{66C348E0-4850-4150-8E40-CF8D4BFA6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6671691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9" name="table-text-596.64-2-1">
            <a:extLst xmlns:a="http://schemas.openxmlformats.org/drawingml/2006/main">
              <a:ext uri="{FF2B5EF4-FFF2-40B4-BE49-F238E27FC236}">
                <a16:creationId xmlns:a16="http://schemas.microsoft.com/office/drawing/2014/main" id="{AAAE3DDC-31D7-4766-A666-5C781E3AA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6738366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16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실패한 샷도 잔류 공과 열린 문, 회전한 반사판을 남겨 다음 성공의 재료가 된다.</a:t>
            </a:r>
          </a:p>
        </p:txBody>
      </p:sp>
      <p:sp>
        <p:nvSpPr>
          <p:cNvPr id="20" name="table-cell-596.64-3-0">
            <a:extLst xmlns:a="http://schemas.openxmlformats.org/drawingml/2006/main">
              <a:ext uri="{FF2B5EF4-FFF2-40B4-BE49-F238E27FC236}">
                <a16:creationId xmlns:a16="http://schemas.microsoft.com/office/drawing/2014/main" id="{29C725CD-7135-480D-A1C3-7FFD705DC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071741"/>
            <a:ext cx="3248025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1" name="table-text-596.64-3-0">
            <a:extLst xmlns:a="http://schemas.openxmlformats.org/drawingml/2006/main">
              <a:ext uri="{FF2B5EF4-FFF2-40B4-BE49-F238E27FC236}">
                <a16:creationId xmlns:a16="http://schemas.microsoft.com/office/drawing/2014/main" id="{CBF5201A-D866-47A2-BD19-829427AD5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7138416"/>
            <a:ext cx="3076575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얼마나 완성됐는가</a:t>
            </a:r>
          </a:p>
        </p:txBody>
      </p:sp>
      <p:sp>
        <p:nvSpPr>
          <p:cNvPr id="22" name="table-cell-596.64-3-1">
            <a:extLst xmlns:a="http://schemas.openxmlformats.org/drawingml/2006/main">
              <a:ext uri="{FF2B5EF4-FFF2-40B4-BE49-F238E27FC236}">
                <a16:creationId xmlns:a16="http://schemas.microsoft.com/office/drawing/2014/main" id="{665344B0-1ADB-4C7E-BC54-44AA5230B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7071741"/>
            <a:ext cx="3248025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3" name="table-text-596.64-3-1">
            <a:extLst xmlns:a="http://schemas.openxmlformats.org/drawingml/2006/main">
              <a:ext uri="{FF2B5EF4-FFF2-40B4-BE49-F238E27FC236}">
                <a16:creationId xmlns:a16="http://schemas.microsoft.com/office/drawing/2014/main" id="{876F28F1-6D59-4B43-8736-991748298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7138416"/>
            <a:ext cx="3076575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4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10단계 × 4패턴, 총 40개 퍼즐과 튜토리얼·힌트·난이도·보상·리플레이를 플레이할 수 있다.</a:t>
            </a:r>
          </a:p>
        </p:txBody>
      </p:sp>
      <p:sp>
        <p:nvSpPr>
          <p:cNvPr id="24" name="table-cell-596.64-4-0">
            <a:extLst xmlns:a="http://schemas.openxmlformats.org/drawingml/2006/main">
              <a:ext uri="{FF2B5EF4-FFF2-40B4-BE49-F238E27FC236}">
                <a16:creationId xmlns:a16="http://schemas.microsoft.com/office/drawing/2014/main" id="{20C37673-FC82-490E-BC02-1682170C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03236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5" name="table-text-596.64-4-0">
            <a:extLst xmlns:a="http://schemas.openxmlformats.org/drawingml/2006/main">
              <a:ext uri="{FF2B5EF4-FFF2-40B4-BE49-F238E27FC236}">
                <a16:creationId xmlns:a16="http://schemas.microsoft.com/office/drawing/2014/main" id="{F3081EE3-FED9-479B-8E51-467F16CC0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7669911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한 판의 흐름</a:t>
            </a:r>
          </a:p>
        </p:txBody>
      </p:sp>
      <p:sp>
        <p:nvSpPr>
          <p:cNvPr id="26" name="table-cell-596.64-4-1">
            <a:extLst xmlns:a="http://schemas.openxmlformats.org/drawingml/2006/main">
              <a:ext uri="{FF2B5EF4-FFF2-40B4-BE49-F238E27FC236}">
                <a16:creationId xmlns:a16="http://schemas.microsoft.com/office/drawing/2014/main" id="{2110C325-4B58-4867-B3BF-8D54007DD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7603236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7" name="table-text-596.64-4-1">
            <a:extLst xmlns:a="http://schemas.openxmlformats.org/drawingml/2006/main">
              <a:ext uri="{FF2B5EF4-FFF2-40B4-BE49-F238E27FC236}">
                <a16:creationId xmlns:a16="http://schemas.microsoft.com/office/drawing/2014/main" id="{079ACBE9-4A24-4EF5-9EC4-07043BED8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7669911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속성 이전 → 기믹 연쇄 → 장면 상태 변화 → 홀 진입</a:t>
            </a:r>
          </a:p>
        </p:txBody>
      </p:sp>
    </p:spTree>
    <p:extLst>
      <p:ext uri="{BB962C8B-B14F-4D97-AF65-F5344CB8AC3E}">
        <p14:creationId xmlns:p14="http://schemas.microsoft.com/office/powerpoint/2010/main" val="11942305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ADEEE9A0-8686-4095-B988-B42803AD0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Game Guide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064BDA5-E00E-4402-8A54-74FE8386B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3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71D3AB29-DC4D-424B-AA14-C3662B956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467B32D-E652-4FBA-8086-C513AE54B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2. 플레이어가 하는 일</a:t>
            </a:r>
          </a:p>
        </p:txBody>
      </p:sp>
      <p:sp>
        <p:nvSpPr>
          <p:cNvPr id="5" name="subheading-140">
            <a:extLst xmlns:a="http://schemas.openxmlformats.org/drawingml/2006/main">
              <a:ext uri="{FF2B5EF4-FFF2-40B4-BE49-F238E27FC236}">
                <a16:creationId xmlns:a16="http://schemas.microsoft.com/office/drawing/2014/main" id="{465263AA-7E6B-41B7-B95D-74DAF64AB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2.1 목표와 조작</a:t>
            </a:r>
          </a:p>
        </p:txBody>
      </p:sp>
      <p:sp>
        <p:nvSpPr>
          <p:cNvPr id="6" name="bullets-194">
            <a:extLst xmlns:a="http://schemas.openxmlformats.org/drawingml/2006/main">
              <a:ext uri="{FF2B5EF4-FFF2-40B4-BE49-F238E27FC236}">
                <a16:creationId xmlns:a16="http://schemas.microsoft.com/office/drawing/2014/main" id="{862F70A6-7CE9-4E95-8BE2-BF1720AC3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47850"/>
            <a:ext cx="6496050" cy="2037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맵에서 무거움·탄성·점착·뾰족함 속성을 가진 오브젝트를 고른다.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속성을 공에 이전한다. 원본은 속성이 비워져 새로운 장면 상태가 된다.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드래그로 방향을 정하고 공을 길게 눌러 힘을 모은다.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초록 → 노랑 → 빨강 → 점멸 빨강 → 회색으로 바뀌는 게이지를 보고 발사한다.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공이 홀에 들어가면 성공한다. 실패해도 장치 상태와 잔류 공이 유지되어 다음 샷으로 이어진다.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df2c451e3a45e7"/>
          <a:stretch xmlns:a="http://schemas.openxmlformats.org/drawingml/2006/main"/>
        </p:blipFill>
        <p:spPr>
          <a:xfrm xmlns:a="http://schemas.openxmlformats.org/drawingml/2006/main">
            <a:off x="3055200" y="3980688"/>
            <a:ext cx="145245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8" name="image-caption-417.92">
            <a:extLst xmlns:a="http://schemas.openxmlformats.org/drawingml/2006/main">
              <a:ext uri="{FF2B5EF4-FFF2-40B4-BE49-F238E27FC236}">
                <a16:creationId xmlns:a16="http://schemas.microsoft.com/office/drawing/2014/main" id="{284B79E9-155D-4391-B4EC-8275194A9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181088"/>
            <a:ext cx="6229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무거움 돌에서 속성을 이전하거나 복사하는 선택 화면</a:t>
            </a:r>
          </a:p>
        </p:txBody>
      </p:sp>
      <p:sp>
        <p:nvSpPr>
          <p:cNvPr id="9" name="subheading-801.9200000000001">
            <a:extLst xmlns:a="http://schemas.openxmlformats.org/drawingml/2006/main">
              <a:ext uri="{FF2B5EF4-FFF2-40B4-BE49-F238E27FC236}">
                <a16:creationId xmlns:a16="http://schemas.microsoft.com/office/drawing/2014/main" id="{FE0EC4D2-C169-4D2D-B842-4F9BF1395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38288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2.2 한 번의 플레이 루프</a:t>
            </a:r>
          </a:p>
        </p:txBody>
      </p:sp>
      <p:sp>
        <p:nvSpPr>
          <p:cNvPr id="10" name="table-cell-855.9200000000001-0-0">
            <a:extLst xmlns:a="http://schemas.openxmlformats.org/drawingml/2006/main">
              <a:ext uri="{FF2B5EF4-FFF2-40B4-BE49-F238E27FC236}">
                <a16:creationId xmlns:a16="http://schemas.microsoft.com/office/drawing/2014/main" id="{F4B485AC-C394-417B-BD94-72E7C3EA4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152638"/>
            <a:ext cx="1624013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1" name="table-text-855.9200000000001-0-0">
            <a:extLst xmlns:a="http://schemas.openxmlformats.org/drawingml/2006/main">
              <a:ext uri="{FF2B5EF4-FFF2-40B4-BE49-F238E27FC236}">
                <a16:creationId xmlns:a16="http://schemas.microsoft.com/office/drawing/2014/main" id="{8EC836F3-E222-4BB5-BEE2-5256C2830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8219313"/>
            <a:ext cx="145256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97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관찰</a:t>
            </a:r>
          </a:p>
        </p:txBody>
      </p:sp>
      <p:sp>
        <p:nvSpPr>
          <p:cNvPr id="12" name="table-cell-855.9200000000001-0-1">
            <a:extLst xmlns:a="http://schemas.openxmlformats.org/drawingml/2006/main">
              <a:ext uri="{FF2B5EF4-FFF2-40B4-BE49-F238E27FC236}">
                <a16:creationId xmlns:a16="http://schemas.microsoft.com/office/drawing/2014/main" id="{E85C1CE4-A208-4889-B069-88568D939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7413" y="8152638"/>
            <a:ext cx="1624013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3" name="table-text-855.9200000000001-0-1">
            <a:extLst xmlns:a="http://schemas.openxmlformats.org/drawingml/2006/main">
              <a:ext uri="{FF2B5EF4-FFF2-40B4-BE49-F238E27FC236}">
                <a16:creationId xmlns:a16="http://schemas.microsoft.com/office/drawing/2014/main" id="{58F89C5A-7EDE-4242-8A5F-1DE20AF53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138" y="8219313"/>
            <a:ext cx="145256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97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선택</a:t>
            </a:r>
          </a:p>
        </p:txBody>
      </p:sp>
      <p:sp>
        <p:nvSpPr>
          <p:cNvPr id="14" name="table-cell-855.9200000000001-0-2">
            <a:extLst xmlns:a="http://schemas.openxmlformats.org/drawingml/2006/main">
              <a:ext uri="{FF2B5EF4-FFF2-40B4-BE49-F238E27FC236}">
                <a16:creationId xmlns:a16="http://schemas.microsoft.com/office/drawing/2014/main" id="{B5121344-BE20-4D81-A773-B4A211233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8152638"/>
            <a:ext cx="1624013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5" name="table-text-855.9200000000001-0-2">
            <a:extLst xmlns:a="http://schemas.openxmlformats.org/drawingml/2006/main">
              <a:ext uri="{FF2B5EF4-FFF2-40B4-BE49-F238E27FC236}">
                <a16:creationId xmlns:a16="http://schemas.microsoft.com/office/drawing/2014/main" id="{1217213A-6229-4E56-A3BE-C62838A07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8219313"/>
            <a:ext cx="145256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97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실행</a:t>
            </a:r>
          </a:p>
        </p:txBody>
      </p:sp>
      <p:sp>
        <p:nvSpPr>
          <p:cNvPr id="16" name="table-cell-855.9200000000001-0-3">
            <a:extLst xmlns:a="http://schemas.openxmlformats.org/drawingml/2006/main">
              <a:ext uri="{FF2B5EF4-FFF2-40B4-BE49-F238E27FC236}">
                <a16:creationId xmlns:a16="http://schemas.microsoft.com/office/drawing/2014/main" id="{90EF0A89-6AC9-4BB7-B837-CEF801925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5438" y="8152638"/>
            <a:ext cx="1624013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7" name="table-text-855.9200000000001-0-3">
            <a:extLst xmlns:a="http://schemas.openxmlformats.org/drawingml/2006/main">
              <a:ext uri="{FF2B5EF4-FFF2-40B4-BE49-F238E27FC236}">
                <a16:creationId xmlns:a16="http://schemas.microsoft.com/office/drawing/2014/main" id="{767B8A21-5C16-4618-8F98-D0356064E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1163" y="8219313"/>
            <a:ext cx="145256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97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학습</a:t>
            </a:r>
          </a:p>
        </p:txBody>
      </p:sp>
      <p:sp>
        <p:nvSpPr>
          <p:cNvPr id="18" name="table-cell-855.9200000000001-1-0">
            <a:extLst xmlns:a="http://schemas.openxmlformats.org/drawingml/2006/main">
              <a:ext uri="{FF2B5EF4-FFF2-40B4-BE49-F238E27FC236}">
                <a16:creationId xmlns:a16="http://schemas.microsoft.com/office/drawing/2014/main" id="{AA07414E-7A74-4AD1-967D-959F04954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09838"/>
            <a:ext cx="1624013" cy="5057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9" name="table-text-855.9200000000001-1-0">
            <a:extLst xmlns:a="http://schemas.openxmlformats.org/drawingml/2006/main">
              <a:ext uri="{FF2B5EF4-FFF2-40B4-BE49-F238E27FC236}">
                <a16:creationId xmlns:a16="http://schemas.microsoft.com/office/drawing/2014/main" id="{3D94912D-4971-41A8-8CED-560F309A9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8676513"/>
            <a:ext cx="1452563" cy="3724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홀과 장애물, 속성 원본을 읽는다</a:t>
            </a:r>
          </a:p>
        </p:txBody>
      </p:sp>
      <p:sp>
        <p:nvSpPr>
          <p:cNvPr id="20" name="table-cell-855.9200000000001-1-1">
            <a:extLst xmlns:a="http://schemas.openxmlformats.org/drawingml/2006/main">
              <a:ext uri="{FF2B5EF4-FFF2-40B4-BE49-F238E27FC236}">
                <a16:creationId xmlns:a16="http://schemas.microsoft.com/office/drawing/2014/main" id="{6A97DDB4-4ADD-4C38-A786-74D28CDC9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7413" y="8609838"/>
            <a:ext cx="1624013" cy="5057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1" name="table-text-855.9200000000001-1-1">
            <a:extLst xmlns:a="http://schemas.openxmlformats.org/drawingml/2006/main">
              <a:ext uri="{FF2B5EF4-FFF2-40B4-BE49-F238E27FC236}">
                <a16:creationId xmlns:a16="http://schemas.microsoft.com/office/drawing/2014/main" id="{D4248CB7-DCB2-4D3E-A4DA-FA08AE95F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138" y="8676513"/>
            <a:ext cx="1452563" cy="3724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옮길 속성과 경로를 정한다</a:t>
            </a:r>
          </a:p>
        </p:txBody>
      </p:sp>
      <p:sp>
        <p:nvSpPr>
          <p:cNvPr id="22" name="table-cell-855.9200000000001-1-2">
            <a:extLst xmlns:a="http://schemas.openxmlformats.org/drawingml/2006/main">
              <a:ext uri="{FF2B5EF4-FFF2-40B4-BE49-F238E27FC236}">
                <a16:creationId xmlns:a16="http://schemas.microsoft.com/office/drawing/2014/main" id="{333A67D0-F7A7-4161-B663-837E54372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8609838"/>
            <a:ext cx="1624013" cy="5057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3" name="table-text-855.9200000000001-1-2">
            <a:extLst xmlns:a="http://schemas.openxmlformats.org/drawingml/2006/main">
              <a:ext uri="{FF2B5EF4-FFF2-40B4-BE49-F238E27FC236}">
                <a16:creationId xmlns:a16="http://schemas.microsoft.com/office/drawing/2014/main" id="{775CE437-593A-4E0C-9DDF-B286747E2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8676513"/>
            <a:ext cx="1452563" cy="3724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방향·힘을 조절해 발사한다</a:t>
            </a:r>
          </a:p>
        </p:txBody>
      </p:sp>
      <p:sp>
        <p:nvSpPr>
          <p:cNvPr id="24" name="table-cell-855.9200000000001-1-3">
            <a:extLst xmlns:a="http://schemas.openxmlformats.org/drawingml/2006/main">
              <a:ext uri="{FF2B5EF4-FFF2-40B4-BE49-F238E27FC236}">
                <a16:creationId xmlns:a16="http://schemas.microsoft.com/office/drawing/2014/main" id="{56480564-D4AE-4BDB-84AE-BE892D6C3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5438" y="8609838"/>
            <a:ext cx="1624013" cy="5057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5" name="table-text-855.9200000000001-1-3">
            <a:extLst xmlns:a="http://schemas.openxmlformats.org/drawingml/2006/main">
              <a:ext uri="{FF2B5EF4-FFF2-40B4-BE49-F238E27FC236}">
                <a16:creationId xmlns:a16="http://schemas.microsoft.com/office/drawing/2014/main" id="{00B5B9A6-364F-4808-8588-2748F52B0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1163" y="8676513"/>
            <a:ext cx="1452563" cy="3724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남은 공과 바뀐 장면으로 다음 해법을 만든다</a:t>
            </a:r>
          </a:p>
        </p:txBody>
      </p:sp>
      <p:sp>
        <p:nvSpPr>
          <p:cNvPr id="26" name="paragraph-973.0200000000001">
            <a:extLst xmlns:a="http://schemas.openxmlformats.org/drawingml/2006/main">
              <a:ext uri="{FF2B5EF4-FFF2-40B4-BE49-F238E27FC236}">
                <a16:creationId xmlns:a16="http://schemas.microsoft.com/office/drawing/2014/main" id="{B5069237-0968-4DC7-AAC5-A97FD0AA8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268016"/>
            <a:ext cx="6496050" cy="3459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이 구조 덕분에 정답을 외우는 게임보다 ‘물리 상태를 편집하는 퍼즐’에 가깝다.</a:t>
            </a:r>
          </a:p>
        </p:txBody>
      </p:sp>
    </p:spTree>
    <p:extLst>
      <p:ext uri="{BB962C8B-B14F-4D97-AF65-F5344CB8AC3E}">
        <p14:creationId xmlns:p14="http://schemas.microsoft.com/office/powerpoint/2010/main" val="162984962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ACB6F05E-6B1F-4973-8C1B-E35514CE1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Game Guide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63CD49D-98E9-46F7-9F9F-92F0F97DE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4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5092235D-8C39-43E7-921F-4D5CCFB63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4E526B8-A53B-404B-A00E-D027E6465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3. 핵심 기믹과 학습 곡선</a:t>
            </a:r>
          </a:p>
        </p:txBody>
      </p:sp>
      <p:sp>
        <p:nvSpPr>
          <p:cNvPr id="5" name="subheading-140">
            <a:extLst xmlns:a="http://schemas.openxmlformats.org/drawingml/2006/main">
              <a:ext uri="{FF2B5EF4-FFF2-40B4-BE49-F238E27FC236}">
                <a16:creationId xmlns:a16="http://schemas.microsoft.com/office/drawing/2014/main" id="{F4C0EF76-C388-40F3-B66E-4405F55A1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3.1 네 가지 속성</a:t>
            </a:r>
          </a:p>
        </p:txBody>
      </p:sp>
      <p:sp>
        <p:nvSpPr>
          <p:cNvPr id="6" name="table-cell-194-0-0">
            <a:extLst xmlns:a="http://schemas.openxmlformats.org/drawingml/2006/main">
              <a:ext uri="{FF2B5EF4-FFF2-40B4-BE49-F238E27FC236}">
                <a16:creationId xmlns:a16="http://schemas.microsoft.com/office/drawing/2014/main" id="{02865826-202A-43D9-82D9-AD133EFE3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47850"/>
            <a:ext cx="216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7" name="table-text-194-0-0">
            <a:extLst xmlns:a="http://schemas.openxmlformats.org/drawingml/2006/main">
              <a:ext uri="{FF2B5EF4-FFF2-40B4-BE49-F238E27FC236}">
                <a16:creationId xmlns:a16="http://schemas.microsoft.com/office/drawing/2014/main" id="{2E0E157B-EB46-4F42-9353-B183FBF47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14525"/>
            <a:ext cx="199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속성</a:t>
            </a:r>
          </a:p>
        </p:txBody>
      </p:sp>
      <p:sp>
        <p:nvSpPr>
          <p:cNvPr id="8" name="table-cell-194-0-1">
            <a:extLst xmlns:a="http://schemas.openxmlformats.org/drawingml/2006/main">
              <a:ext uri="{FF2B5EF4-FFF2-40B4-BE49-F238E27FC236}">
                <a16:creationId xmlns:a16="http://schemas.microsoft.com/office/drawing/2014/main" id="{61E2EEBF-1118-43C3-96FF-318F70734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1847850"/>
            <a:ext cx="216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9" name="table-text-194-0-1">
            <a:extLst xmlns:a="http://schemas.openxmlformats.org/drawingml/2006/main">
              <a:ext uri="{FF2B5EF4-FFF2-40B4-BE49-F238E27FC236}">
                <a16:creationId xmlns:a16="http://schemas.microsoft.com/office/drawing/2014/main" id="{30559D56-8413-4288-9F9F-19F4871E0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1914525"/>
            <a:ext cx="199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플레이 변화</a:t>
            </a:r>
          </a:p>
        </p:txBody>
      </p:sp>
      <p:sp>
        <p:nvSpPr>
          <p:cNvPr id="10" name="table-cell-194-0-2">
            <a:extLst xmlns:a="http://schemas.openxmlformats.org/drawingml/2006/main">
              <a:ext uri="{FF2B5EF4-FFF2-40B4-BE49-F238E27FC236}">
                <a16:creationId xmlns:a16="http://schemas.microsoft.com/office/drawing/2014/main" id="{D452000A-A7A8-4ACA-8A59-DC4BA904A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1847850"/>
            <a:ext cx="216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1" name="table-text-194-0-2">
            <a:extLst xmlns:a="http://schemas.openxmlformats.org/drawingml/2006/main">
              <a:ext uri="{FF2B5EF4-FFF2-40B4-BE49-F238E27FC236}">
                <a16:creationId xmlns:a16="http://schemas.microsoft.com/office/drawing/2014/main" id="{F7891835-68AA-44A8-B65F-7D0F26ACD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1914525"/>
            <a:ext cx="199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대표 학습</a:t>
            </a:r>
          </a:p>
        </p:txBody>
      </p:sp>
      <p:sp>
        <p:nvSpPr>
          <p:cNvPr id="12" name="table-cell-194-1-0">
            <a:extLst xmlns:a="http://schemas.openxmlformats.org/drawingml/2006/main">
              <a:ext uri="{FF2B5EF4-FFF2-40B4-BE49-F238E27FC236}">
                <a16:creationId xmlns:a16="http://schemas.microsoft.com/office/drawing/2014/main" id="{D739202B-4BAD-4386-8610-47908B27F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505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3" name="table-text-194-1-0">
            <a:extLst xmlns:a="http://schemas.openxmlformats.org/drawingml/2006/main">
              <a:ext uri="{FF2B5EF4-FFF2-40B4-BE49-F238E27FC236}">
                <a16:creationId xmlns:a16="http://schemas.microsoft.com/office/drawing/2014/main" id="{DE325C2E-1C5B-4B69-B4C6-7A0C5AAE9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37172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무거움</a:t>
            </a:r>
          </a:p>
        </p:txBody>
      </p:sp>
      <p:sp>
        <p:nvSpPr>
          <p:cNvPr id="14" name="table-cell-194-1-1">
            <a:extLst xmlns:a="http://schemas.openxmlformats.org/drawingml/2006/main">
              <a:ext uri="{FF2B5EF4-FFF2-40B4-BE49-F238E27FC236}">
                <a16:creationId xmlns:a16="http://schemas.microsoft.com/office/drawing/2014/main" id="{41077FBC-8868-42B8-A36A-463189A28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230505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5" name="table-text-194-1-1">
            <a:extLst xmlns:a="http://schemas.openxmlformats.org/drawingml/2006/main">
              <a:ext uri="{FF2B5EF4-FFF2-40B4-BE49-F238E27FC236}">
                <a16:creationId xmlns:a16="http://schemas.microsoft.com/office/drawing/2014/main" id="{827DA344-C335-4413-A65B-DE67F7046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237172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상자·스위치에 큰 운동량 전달</a:t>
            </a:r>
          </a:p>
        </p:txBody>
      </p:sp>
      <p:sp>
        <p:nvSpPr>
          <p:cNvPr id="16" name="table-cell-194-1-2">
            <a:extLst xmlns:a="http://schemas.openxmlformats.org/drawingml/2006/main">
              <a:ext uri="{FF2B5EF4-FFF2-40B4-BE49-F238E27FC236}">
                <a16:creationId xmlns:a16="http://schemas.microsoft.com/office/drawing/2014/main" id="{E98AE31D-CB65-4810-90CA-F8CF5795F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230505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7" name="table-text-194-1-2">
            <a:extLst xmlns:a="http://schemas.openxmlformats.org/drawingml/2006/main">
              <a:ext uri="{FF2B5EF4-FFF2-40B4-BE49-F238E27FC236}">
                <a16:creationId xmlns:a16="http://schemas.microsoft.com/office/drawing/2014/main" id="{E5A941CA-A0AA-4552-9533-2D4CEBB37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237172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힘으로 장면을 바꾸기</a:t>
            </a:r>
          </a:p>
        </p:txBody>
      </p:sp>
      <p:sp>
        <p:nvSpPr>
          <p:cNvPr id="18" name="table-cell-194-2-0">
            <a:extLst xmlns:a="http://schemas.openxmlformats.org/drawingml/2006/main">
              <a:ext uri="{FF2B5EF4-FFF2-40B4-BE49-F238E27FC236}">
                <a16:creationId xmlns:a16="http://schemas.microsoft.com/office/drawing/2014/main" id="{B49C61B2-2F33-48A2-B12F-429DC6AC8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0510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9" name="table-text-194-2-0">
            <a:extLst xmlns:a="http://schemas.openxmlformats.org/drawingml/2006/main">
              <a:ext uri="{FF2B5EF4-FFF2-40B4-BE49-F238E27FC236}">
                <a16:creationId xmlns:a16="http://schemas.microsoft.com/office/drawing/2014/main" id="{7A865949-C1AC-4594-9D2B-F4DDAC157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77177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탄성</a:t>
            </a:r>
          </a:p>
        </p:txBody>
      </p:sp>
      <p:sp>
        <p:nvSpPr>
          <p:cNvPr id="20" name="table-cell-194-2-1">
            <a:extLst xmlns:a="http://schemas.openxmlformats.org/drawingml/2006/main">
              <a:ext uri="{FF2B5EF4-FFF2-40B4-BE49-F238E27FC236}">
                <a16:creationId xmlns:a16="http://schemas.microsoft.com/office/drawing/2014/main" id="{D2FF9B61-B343-4148-9E31-040291230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270510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1" name="table-text-194-2-1">
            <a:extLst xmlns:a="http://schemas.openxmlformats.org/drawingml/2006/main">
              <a:ext uri="{FF2B5EF4-FFF2-40B4-BE49-F238E27FC236}">
                <a16:creationId xmlns:a16="http://schemas.microsoft.com/office/drawing/2014/main" id="{929D91C9-837A-49B0-855D-BF42AB12F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277177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벽과 범퍼에서 반사 에너지 유지</a:t>
            </a:r>
          </a:p>
        </p:txBody>
      </p:sp>
      <p:sp>
        <p:nvSpPr>
          <p:cNvPr id="22" name="table-cell-194-2-2">
            <a:extLst xmlns:a="http://schemas.openxmlformats.org/drawingml/2006/main">
              <a:ext uri="{FF2B5EF4-FFF2-40B4-BE49-F238E27FC236}">
                <a16:creationId xmlns:a16="http://schemas.microsoft.com/office/drawing/2014/main" id="{02AFB72C-390D-4002-B60D-AC15F6AB8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270510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3" name="table-text-194-2-2">
            <a:extLst xmlns:a="http://schemas.openxmlformats.org/drawingml/2006/main">
              <a:ext uri="{FF2B5EF4-FFF2-40B4-BE49-F238E27FC236}">
                <a16:creationId xmlns:a16="http://schemas.microsoft.com/office/drawing/2014/main" id="{EC2558FB-8DBF-421C-906D-70CD9B65B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277177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직선이 아닌 경로 만들기</a:t>
            </a:r>
          </a:p>
        </p:txBody>
      </p:sp>
      <p:sp>
        <p:nvSpPr>
          <p:cNvPr id="24" name="table-cell-194-3-0">
            <a:extLst xmlns:a="http://schemas.openxmlformats.org/drawingml/2006/main">
              <a:ext uri="{FF2B5EF4-FFF2-40B4-BE49-F238E27FC236}">
                <a16:creationId xmlns:a16="http://schemas.microsoft.com/office/drawing/2014/main" id="{95E82C93-E3AA-48A4-8091-B7737A1F8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0515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5" name="table-text-194-3-0">
            <a:extLst xmlns:a="http://schemas.openxmlformats.org/drawingml/2006/main">
              <a:ext uri="{FF2B5EF4-FFF2-40B4-BE49-F238E27FC236}">
                <a16:creationId xmlns:a16="http://schemas.microsoft.com/office/drawing/2014/main" id="{F03FD298-176C-4C87-8AA3-5903B7047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17182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점착</a:t>
            </a:r>
          </a:p>
        </p:txBody>
      </p:sp>
      <p:sp>
        <p:nvSpPr>
          <p:cNvPr id="26" name="table-cell-194-3-1">
            <a:extLst xmlns:a="http://schemas.openxmlformats.org/drawingml/2006/main">
              <a:ext uri="{FF2B5EF4-FFF2-40B4-BE49-F238E27FC236}">
                <a16:creationId xmlns:a16="http://schemas.microsoft.com/office/drawing/2014/main" id="{3879C48E-5C1C-435A-90DA-5A18F6607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310515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7" name="table-text-194-3-1">
            <a:extLst xmlns:a="http://schemas.openxmlformats.org/drawingml/2006/main">
              <a:ext uri="{FF2B5EF4-FFF2-40B4-BE49-F238E27FC236}">
                <a16:creationId xmlns:a16="http://schemas.microsoft.com/office/drawing/2014/main" id="{D3CEDA8D-8E8D-4D58-8F15-B6D0D5D63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317182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표면에 붙어 다음 샷의 발판이 됨</a:t>
            </a:r>
          </a:p>
        </p:txBody>
      </p:sp>
      <p:sp>
        <p:nvSpPr>
          <p:cNvPr id="28" name="table-cell-194-3-2">
            <a:extLst xmlns:a="http://schemas.openxmlformats.org/drawingml/2006/main">
              <a:ext uri="{FF2B5EF4-FFF2-40B4-BE49-F238E27FC236}">
                <a16:creationId xmlns:a16="http://schemas.microsoft.com/office/drawing/2014/main" id="{DD3741E5-F43D-46A6-AE87-C5A6FDE54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310515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9" name="table-text-194-3-2">
            <a:extLst xmlns:a="http://schemas.openxmlformats.org/drawingml/2006/main">
              <a:ext uri="{FF2B5EF4-FFF2-40B4-BE49-F238E27FC236}">
                <a16:creationId xmlns:a16="http://schemas.microsoft.com/office/drawing/2014/main" id="{CC4909C3-FBC8-4DCE-828B-3B1005456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317182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첫 샷을 두 번째 샷의 도구로 사용</a:t>
            </a:r>
          </a:p>
        </p:txBody>
      </p:sp>
      <p:sp>
        <p:nvSpPr>
          <p:cNvPr id="30" name="table-cell-194-4-0">
            <a:extLst xmlns:a="http://schemas.openxmlformats.org/drawingml/2006/main">
              <a:ext uri="{FF2B5EF4-FFF2-40B4-BE49-F238E27FC236}">
                <a16:creationId xmlns:a16="http://schemas.microsoft.com/office/drawing/2014/main" id="{4BD68259-297E-4DE2-9B47-1D442BFA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0520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1" name="table-text-194-4-0">
            <a:extLst xmlns:a="http://schemas.openxmlformats.org/drawingml/2006/main">
              <a:ext uri="{FF2B5EF4-FFF2-40B4-BE49-F238E27FC236}">
                <a16:creationId xmlns:a16="http://schemas.microsoft.com/office/drawing/2014/main" id="{31D9D66A-CB3A-469B-BA0A-D988ECF3A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57187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뾰족함</a:t>
            </a:r>
          </a:p>
        </p:txBody>
      </p:sp>
      <p:sp>
        <p:nvSpPr>
          <p:cNvPr id="32" name="table-cell-194-4-1">
            <a:extLst xmlns:a="http://schemas.openxmlformats.org/drawingml/2006/main">
              <a:ext uri="{FF2B5EF4-FFF2-40B4-BE49-F238E27FC236}">
                <a16:creationId xmlns:a16="http://schemas.microsoft.com/office/drawing/2014/main" id="{FA306F34-B279-4A55-AEAE-01C8915A0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350520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3" name="table-text-194-4-1">
            <a:extLst xmlns:a="http://schemas.openxmlformats.org/drawingml/2006/main">
              <a:ext uri="{FF2B5EF4-FFF2-40B4-BE49-F238E27FC236}">
                <a16:creationId xmlns:a16="http://schemas.microsoft.com/office/drawing/2014/main" id="{11AD1138-5675-4CF6-A56C-D519C6FD1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357187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풍선을 터뜨려 숨은 장치를 노출</a:t>
            </a:r>
          </a:p>
        </p:txBody>
      </p:sp>
      <p:sp>
        <p:nvSpPr>
          <p:cNvPr id="34" name="table-cell-194-4-2">
            <a:extLst xmlns:a="http://schemas.openxmlformats.org/drawingml/2006/main">
              <a:ext uri="{FF2B5EF4-FFF2-40B4-BE49-F238E27FC236}">
                <a16:creationId xmlns:a16="http://schemas.microsoft.com/office/drawing/2014/main" id="{7174A7A2-BE66-416D-A891-26AE4CD2A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350520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5" name="table-text-194-4-2">
            <a:extLst xmlns:a="http://schemas.openxmlformats.org/drawingml/2006/main">
              <a:ext uri="{FF2B5EF4-FFF2-40B4-BE49-F238E27FC236}">
                <a16:creationId xmlns:a16="http://schemas.microsoft.com/office/drawing/2014/main" id="{BB39E097-F72A-40D9-A58E-5E66F0D6A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357187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속성 → 기물 → 문 연쇄 이해</a:t>
            </a:r>
          </a:p>
        </p:txBody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f2f55e2ae24522"/>
          <a:stretch xmlns:a="http://schemas.openxmlformats.org/drawingml/2006/main"/>
        </p:blipFill>
        <p:spPr>
          <a:xfrm xmlns:a="http://schemas.openxmlformats.org/drawingml/2006/main">
            <a:off x="2209800" y="4057650"/>
            <a:ext cx="314325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37" name="image-caption-426">
            <a:extLst xmlns:a="http://schemas.openxmlformats.org/drawingml/2006/main">
              <a:ext uri="{FF2B5EF4-FFF2-40B4-BE49-F238E27FC236}">
                <a16:creationId xmlns:a16="http://schemas.microsoft.com/office/drawing/2014/main" id="{86985AC7-06D3-4917-B99D-5BAF6A1D2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58050"/>
            <a:ext cx="6229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운동량 전달을 상징하는 무거움 돌</a:t>
            </a:r>
          </a:p>
        </p:txBody>
      </p:sp>
    </p:spTree>
    <p:extLst>
      <p:ext uri="{BB962C8B-B14F-4D97-AF65-F5344CB8AC3E}">
        <p14:creationId xmlns:p14="http://schemas.microsoft.com/office/powerpoint/2010/main" val="205634924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CD971789-5269-497E-80A7-8EBE31F8F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Game Guide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2EB24E4-DAB2-4B9B-BE7F-C7DEAD02F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5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24132F12-C032-4DE3-93F3-E243F4E8E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B83454B-F54E-48F3-8190-3564C4419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3. 핵심 기믹과 학습 곡선 · 계속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29080ad77549b3"/>
          <a:stretch xmlns:a="http://schemas.openxmlformats.org/drawingml/2006/main"/>
        </p:blipFill>
        <p:spPr>
          <a:xfrm xmlns:a="http://schemas.openxmlformats.org/drawingml/2006/main">
            <a:off x="2209800" y="1333500"/>
            <a:ext cx="314325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6" name="image-caption-140">
            <a:extLst xmlns:a="http://schemas.openxmlformats.org/drawingml/2006/main">
              <a:ext uri="{FF2B5EF4-FFF2-40B4-BE49-F238E27FC236}">
                <a16:creationId xmlns:a16="http://schemas.microsoft.com/office/drawing/2014/main" id="{2A9D5CBD-9A32-4616-8B23-5DCD8260F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33900"/>
            <a:ext cx="6229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벽 반사를 상징하는 탄성 젤리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784c99b28848ed"/>
          <a:stretch xmlns:a="http://schemas.openxmlformats.org/drawingml/2006/main"/>
        </p:blipFill>
        <p:spPr>
          <a:xfrm xmlns:a="http://schemas.openxmlformats.org/drawingml/2006/main">
            <a:off x="3055200" y="4991100"/>
            <a:ext cx="145245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8" name="image-caption-524">
            <a:extLst xmlns:a="http://schemas.openxmlformats.org/drawingml/2006/main">
              <a:ext uri="{FF2B5EF4-FFF2-40B4-BE49-F238E27FC236}">
                <a16:creationId xmlns:a16="http://schemas.microsoft.com/office/drawing/2014/main" id="{7827E559-9676-4454-8235-EDFD7B346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191500"/>
            <a:ext cx="6229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뾰족함 공이 풍선과 문 연쇄를 준비하는 4단계</a:t>
            </a:r>
          </a:p>
        </p:txBody>
      </p:sp>
    </p:spTree>
    <p:extLst>
      <p:ext uri="{BB962C8B-B14F-4D97-AF65-F5344CB8AC3E}">
        <p14:creationId xmlns:p14="http://schemas.microsoft.com/office/powerpoint/2010/main" val="199011144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0CB5A9E3-0C9A-4A14-959B-045C4C03E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Game Guide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125510F-6837-4A31-8313-A9E4C6012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6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377C8DDA-C1BC-4F74-AFA5-9FD54B9C6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5D38AF8-ACDD-4909-A96B-E629B8700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3. 핵심 기믹과 학습 곡선 · 계속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36327a14ba4a0a"/>
          <a:stretch xmlns:a="http://schemas.openxmlformats.org/drawingml/2006/main"/>
        </p:blipFill>
        <p:spPr>
          <a:xfrm xmlns:a="http://schemas.openxmlformats.org/drawingml/2006/main">
            <a:off x="3055200" y="1333500"/>
            <a:ext cx="145245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6" name="image-caption-140">
            <a:extLst xmlns:a="http://schemas.openxmlformats.org/drawingml/2006/main">
              <a:ext uri="{FF2B5EF4-FFF2-40B4-BE49-F238E27FC236}">
                <a16:creationId xmlns:a16="http://schemas.microsoft.com/office/drawing/2014/main" id="{3C6BBA28-26D5-42CC-AF11-715E70011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33900"/>
            <a:ext cx="6229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점착과 잔류 공 활용을 배우는 3단계의 시작 배치</a:t>
            </a:r>
          </a:p>
        </p:txBody>
      </p:sp>
      <p:sp>
        <p:nvSpPr>
          <p:cNvPr id="7" name="subheading-524">
            <a:extLst xmlns:a="http://schemas.openxmlformats.org/drawingml/2006/main">
              <a:ext uri="{FF2B5EF4-FFF2-40B4-BE49-F238E27FC236}">
                <a16:creationId xmlns:a16="http://schemas.microsoft.com/office/drawing/2014/main" id="{F2406F23-89CB-446B-B778-AF9E960CA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91100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3.2 10단계 진행 구조</a:t>
            </a:r>
          </a:p>
        </p:txBody>
      </p:sp>
      <p:sp>
        <p:nvSpPr>
          <p:cNvPr id="8" name="table-cell-578-0-0">
            <a:extLst xmlns:a="http://schemas.openxmlformats.org/drawingml/2006/main">
              <a:ext uri="{FF2B5EF4-FFF2-40B4-BE49-F238E27FC236}">
                <a16:creationId xmlns:a16="http://schemas.microsoft.com/office/drawing/2014/main" id="{8E4337B0-4F5D-4185-B485-2DB6185F9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05450"/>
            <a:ext cx="216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9" name="table-text-578-0-0">
            <a:extLst xmlns:a="http://schemas.openxmlformats.org/drawingml/2006/main">
              <a:ext uri="{FF2B5EF4-FFF2-40B4-BE49-F238E27FC236}">
                <a16:creationId xmlns:a16="http://schemas.microsoft.com/office/drawing/2014/main" id="{8990D072-33D5-4721-9080-DB82E7F40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572125"/>
            <a:ext cx="199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단계</a:t>
            </a:r>
          </a:p>
        </p:txBody>
      </p:sp>
      <p:sp>
        <p:nvSpPr>
          <p:cNvPr id="10" name="table-cell-578-0-1">
            <a:extLst xmlns:a="http://schemas.openxmlformats.org/drawingml/2006/main">
              <a:ext uri="{FF2B5EF4-FFF2-40B4-BE49-F238E27FC236}">
                <a16:creationId xmlns:a16="http://schemas.microsoft.com/office/drawing/2014/main" id="{31332730-639A-42DD-8A2D-29CF530D4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5505450"/>
            <a:ext cx="216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1" name="table-text-578-0-1">
            <a:extLst xmlns:a="http://schemas.openxmlformats.org/drawingml/2006/main">
              <a:ext uri="{FF2B5EF4-FFF2-40B4-BE49-F238E27FC236}">
                <a16:creationId xmlns:a16="http://schemas.microsoft.com/office/drawing/2014/main" id="{6AB7C106-F8BA-4388-BFDB-5EE5E8354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5572125"/>
            <a:ext cx="199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새로 배우는 규칙</a:t>
            </a:r>
          </a:p>
        </p:txBody>
      </p:sp>
      <p:sp>
        <p:nvSpPr>
          <p:cNvPr id="12" name="table-cell-578-0-2">
            <a:extLst xmlns:a="http://schemas.openxmlformats.org/drawingml/2006/main">
              <a:ext uri="{FF2B5EF4-FFF2-40B4-BE49-F238E27FC236}">
                <a16:creationId xmlns:a16="http://schemas.microsoft.com/office/drawing/2014/main" id="{7CF89653-00DC-4FF3-9D4D-67550CB24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5505450"/>
            <a:ext cx="216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3" name="table-text-578-0-2">
            <a:extLst xmlns:a="http://schemas.openxmlformats.org/drawingml/2006/main">
              <a:ext uri="{FF2B5EF4-FFF2-40B4-BE49-F238E27FC236}">
                <a16:creationId xmlns:a16="http://schemas.microsoft.com/office/drawing/2014/main" id="{CFD36D9F-EA96-461C-9253-321A34E2F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5572125"/>
            <a:ext cx="199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플레이어가 만드는 변화</a:t>
            </a:r>
          </a:p>
        </p:txBody>
      </p:sp>
      <p:sp>
        <p:nvSpPr>
          <p:cNvPr id="14" name="table-cell-578-1-0">
            <a:extLst xmlns:a="http://schemas.openxmlformats.org/drawingml/2006/main">
              <a:ext uri="{FF2B5EF4-FFF2-40B4-BE49-F238E27FC236}">
                <a16:creationId xmlns:a16="http://schemas.microsoft.com/office/drawing/2014/main" id="{43C64762-D607-438E-A8DD-8E4198859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6265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5" name="table-text-578-1-0">
            <a:extLst xmlns:a="http://schemas.openxmlformats.org/drawingml/2006/main">
              <a:ext uri="{FF2B5EF4-FFF2-40B4-BE49-F238E27FC236}">
                <a16:creationId xmlns:a16="http://schemas.microsoft.com/office/drawing/2014/main" id="{FE7A765F-6BF2-4E7F-81DC-122126D3D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02932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1–2</a:t>
            </a:r>
          </a:p>
        </p:txBody>
      </p:sp>
      <p:sp>
        <p:nvSpPr>
          <p:cNvPr id="16" name="table-cell-578-1-1">
            <a:extLst xmlns:a="http://schemas.openxmlformats.org/drawingml/2006/main">
              <a:ext uri="{FF2B5EF4-FFF2-40B4-BE49-F238E27FC236}">
                <a16:creationId xmlns:a16="http://schemas.microsoft.com/office/drawing/2014/main" id="{046DA95E-E02A-46E6-91F1-95C31BABB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596265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7" name="table-text-578-1-1">
            <a:extLst xmlns:a="http://schemas.openxmlformats.org/drawingml/2006/main">
              <a:ext uri="{FF2B5EF4-FFF2-40B4-BE49-F238E27FC236}">
                <a16:creationId xmlns:a16="http://schemas.microsoft.com/office/drawing/2014/main" id="{547FFBF0-838A-4A69-A7D9-12C5411EA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602932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무거움, 탄성</a:t>
            </a:r>
          </a:p>
        </p:txBody>
      </p:sp>
      <p:sp>
        <p:nvSpPr>
          <p:cNvPr id="18" name="table-cell-578-1-2">
            <a:extLst xmlns:a="http://schemas.openxmlformats.org/drawingml/2006/main">
              <a:ext uri="{FF2B5EF4-FFF2-40B4-BE49-F238E27FC236}">
                <a16:creationId xmlns:a16="http://schemas.microsoft.com/office/drawing/2014/main" id="{975A6128-C2EA-4ECA-880A-D025243C3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596265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9" name="table-text-578-1-2">
            <a:extLst xmlns:a="http://schemas.openxmlformats.org/drawingml/2006/main">
              <a:ext uri="{FF2B5EF4-FFF2-40B4-BE49-F238E27FC236}">
                <a16:creationId xmlns:a16="http://schemas.microsoft.com/office/drawing/2014/main" id="{DEF9F1A6-FF06-4F4C-9A33-2EFFE52C0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602932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상자를 밀고 벽 반사 경로를 만든다</a:t>
            </a:r>
          </a:p>
        </p:txBody>
      </p:sp>
      <p:sp>
        <p:nvSpPr>
          <p:cNvPr id="20" name="table-cell-578-2-0">
            <a:extLst xmlns:a="http://schemas.openxmlformats.org/drawingml/2006/main">
              <a:ext uri="{FF2B5EF4-FFF2-40B4-BE49-F238E27FC236}">
                <a16:creationId xmlns:a16="http://schemas.microsoft.com/office/drawing/2014/main" id="{FE30FF46-BF84-4677-8A8C-475A11096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1" name="table-text-578-2-0">
            <a:extLst xmlns:a="http://schemas.openxmlformats.org/drawingml/2006/main">
              <a:ext uri="{FF2B5EF4-FFF2-40B4-BE49-F238E27FC236}">
                <a16:creationId xmlns:a16="http://schemas.microsoft.com/office/drawing/2014/main" id="{D839FAC9-DEFC-4397-903D-5038B9C95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2937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3–4</a:t>
            </a:r>
          </a:p>
        </p:txBody>
      </p:sp>
      <p:sp>
        <p:nvSpPr>
          <p:cNvPr id="22" name="table-cell-578-2-1">
            <a:extLst xmlns:a="http://schemas.openxmlformats.org/drawingml/2006/main">
              <a:ext uri="{FF2B5EF4-FFF2-40B4-BE49-F238E27FC236}">
                <a16:creationId xmlns:a16="http://schemas.microsoft.com/office/drawing/2014/main" id="{9380877C-93F7-40CC-AA07-52B8C58F8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636270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3" name="table-text-578-2-1">
            <a:extLst xmlns:a="http://schemas.openxmlformats.org/drawingml/2006/main">
              <a:ext uri="{FF2B5EF4-FFF2-40B4-BE49-F238E27FC236}">
                <a16:creationId xmlns:a16="http://schemas.microsoft.com/office/drawing/2014/main" id="{16E13F82-C7F7-442A-AFDA-8BC4E3787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642937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스위치·문, 뾰족함·풍선</a:t>
            </a:r>
          </a:p>
        </p:txBody>
      </p:sp>
      <p:sp>
        <p:nvSpPr>
          <p:cNvPr id="24" name="table-cell-578-2-2">
            <a:extLst xmlns:a="http://schemas.openxmlformats.org/drawingml/2006/main">
              <a:ext uri="{FF2B5EF4-FFF2-40B4-BE49-F238E27FC236}">
                <a16:creationId xmlns:a16="http://schemas.microsoft.com/office/drawing/2014/main" id="{9CDF64A6-326A-4E73-8482-057C65567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636270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5" name="table-text-578-2-2">
            <a:extLst xmlns:a="http://schemas.openxmlformats.org/drawingml/2006/main">
              <a:ext uri="{FF2B5EF4-FFF2-40B4-BE49-F238E27FC236}">
                <a16:creationId xmlns:a16="http://schemas.microsoft.com/office/drawing/2014/main" id="{1329B1A4-DA41-4EBF-8D07-88BE3BB9E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642937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원인과 결과의 순서를 읽는다</a:t>
            </a:r>
          </a:p>
        </p:txBody>
      </p:sp>
      <p:sp>
        <p:nvSpPr>
          <p:cNvPr id="26" name="table-cell-578-3-0">
            <a:extLst xmlns:a="http://schemas.openxmlformats.org/drawingml/2006/main">
              <a:ext uri="{FF2B5EF4-FFF2-40B4-BE49-F238E27FC236}">
                <a16:creationId xmlns:a16="http://schemas.microsoft.com/office/drawing/2014/main" id="{0D73CE7B-6ED4-4E3E-9789-00F2CBBE3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76275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7" name="table-text-578-3-0">
            <a:extLst xmlns:a="http://schemas.openxmlformats.org/drawingml/2006/main">
              <a:ext uri="{FF2B5EF4-FFF2-40B4-BE49-F238E27FC236}">
                <a16:creationId xmlns:a16="http://schemas.microsoft.com/office/drawing/2014/main" id="{236F723A-2649-497D-A666-B239F3FE7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2942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5–6</a:t>
            </a:r>
          </a:p>
        </p:txBody>
      </p:sp>
      <p:sp>
        <p:nvSpPr>
          <p:cNvPr id="28" name="table-cell-578-3-1">
            <a:extLst xmlns:a="http://schemas.openxmlformats.org/drawingml/2006/main">
              <a:ext uri="{FF2B5EF4-FFF2-40B4-BE49-F238E27FC236}">
                <a16:creationId xmlns:a16="http://schemas.microsoft.com/office/drawing/2014/main" id="{7D0D75C4-279C-47A7-A498-DD3BEA2C2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676275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9" name="table-text-578-3-1">
            <a:extLst xmlns:a="http://schemas.openxmlformats.org/drawingml/2006/main">
              <a:ext uri="{FF2B5EF4-FFF2-40B4-BE49-F238E27FC236}">
                <a16:creationId xmlns:a16="http://schemas.microsoft.com/office/drawing/2014/main" id="{4F572152-947E-42F9-B50A-1AFA6049F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682942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비워진 원본, 파워 발판</a:t>
            </a:r>
          </a:p>
        </p:txBody>
      </p:sp>
      <p:sp>
        <p:nvSpPr>
          <p:cNvPr id="30" name="table-cell-578-3-2">
            <a:extLst xmlns:a="http://schemas.openxmlformats.org/drawingml/2006/main">
              <a:ext uri="{FF2B5EF4-FFF2-40B4-BE49-F238E27FC236}">
                <a16:creationId xmlns:a16="http://schemas.microsoft.com/office/drawing/2014/main" id="{4E24AED6-CC45-44E3-9A7A-E9B8FB78A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676275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1" name="table-text-578-3-2">
            <a:extLst xmlns:a="http://schemas.openxmlformats.org/drawingml/2006/main">
              <a:ext uri="{FF2B5EF4-FFF2-40B4-BE49-F238E27FC236}">
                <a16:creationId xmlns:a16="http://schemas.microsoft.com/office/drawing/2014/main" id="{C66F871A-DB92-49BB-8C1D-A0F493FB5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682942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속도와 원본 상태를 재활용한다</a:t>
            </a:r>
          </a:p>
        </p:txBody>
      </p:sp>
      <p:sp>
        <p:nvSpPr>
          <p:cNvPr id="32" name="table-cell-578-4-0">
            <a:extLst xmlns:a="http://schemas.openxmlformats.org/drawingml/2006/main">
              <a:ext uri="{FF2B5EF4-FFF2-40B4-BE49-F238E27FC236}">
                <a16:creationId xmlns:a16="http://schemas.microsoft.com/office/drawing/2014/main" id="{A90E93C2-B512-433E-8718-08E38F387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16280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3" name="table-text-578-4-0">
            <a:extLst xmlns:a="http://schemas.openxmlformats.org/drawingml/2006/main">
              <a:ext uri="{FF2B5EF4-FFF2-40B4-BE49-F238E27FC236}">
                <a16:creationId xmlns:a16="http://schemas.microsoft.com/office/drawing/2014/main" id="{0E016AE5-B7B3-4D4B-B3B2-C9036BFD4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722947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7–8</a:t>
            </a:r>
          </a:p>
        </p:txBody>
      </p:sp>
      <p:sp>
        <p:nvSpPr>
          <p:cNvPr id="34" name="table-cell-578-4-1">
            <a:extLst xmlns:a="http://schemas.openxmlformats.org/drawingml/2006/main">
              <a:ext uri="{FF2B5EF4-FFF2-40B4-BE49-F238E27FC236}">
                <a16:creationId xmlns:a16="http://schemas.microsoft.com/office/drawing/2014/main" id="{BA6A6A07-CD95-454F-B88E-B04652CD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716280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5" name="table-text-578-4-1">
            <a:extLst xmlns:a="http://schemas.openxmlformats.org/drawingml/2006/main">
              <a:ext uri="{FF2B5EF4-FFF2-40B4-BE49-F238E27FC236}">
                <a16:creationId xmlns:a16="http://schemas.microsoft.com/office/drawing/2014/main" id="{130CFA5C-7FF2-4519-AA81-40DEB9E34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722947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잔류 공, 다중 연쇄</a:t>
            </a:r>
          </a:p>
        </p:txBody>
      </p:sp>
      <p:sp>
        <p:nvSpPr>
          <p:cNvPr id="36" name="table-cell-578-4-2">
            <a:extLst xmlns:a="http://schemas.openxmlformats.org/drawingml/2006/main">
              <a:ext uri="{FF2B5EF4-FFF2-40B4-BE49-F238E27FC236}">
                <a16:creationId xmlns:a16="http://schemas.microsoft.com/office/drawing/2014/main" id="{6B8165DD-3B62-4A4D-9C66-7B14B7EAA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716280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7" name="table-text-578-4-2">
            <a:extLst xmlns:a="http://schemas.openxmlformats.org/drawingml/2006/main">
              <a:ext uri="{FF2B5EF4-FFF2-40B4-BE49-F238E27FC236}">
                <a16:creationId xmlns:a16="http://schemas.microsoft.com/office/drawing/2014/main" id="{9C5A12D6-A87D-4C23-B3FB-A5694C166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722947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56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실패한 공을 다음 성공 조건으로 바꾼다</a:t>
            </a:r>
          </a:p>
        </p:txBody>
      </p:sp>
      <p:sp>
        <p:nvSpPr>
          <p:cNvPr id="38" name="table-cell-578-5-0">
            <a:extLst xmlns:a="http://schemas.openxmlformats.org/drawingml/2006/main">
              <a:ext uri="{FF2B5EF4-FFF2-40B4-BE49-F238E27FC236}">
                <a16:creationId xmlns:a16="http://schemas.microsoft.com/office/drawing/2014/main" id="{580D9BE7-153E-4E23-9A76-53CF968BD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56285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9" name="table-text-578-5-0">
            <a:extLst xmlns:a="http://schemas.openxmlformats.org/drawingml/2006/main">
              <a:ext uri="{FF2B5EF4-FFF2-40B4-BE49-F238E27FC236}">
                <a16:creationId xmlns:a16="http://schemas.microsoft.com/office/drawing/2014/main" id="{D19A8720-7D8D-41BB-8E3D-510A07ADE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762952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9–10</a:t>
            </a:r>
          </a:p>
        </p:txBody>
      </p:sp>
      <p:sp>
        <p:nvSpPr>
          <p:cNvPr id="40" name="table-cell-578-5-1">
            <a:extLst xmlns:a="http://schemas.openxmlformats.org/drawingml/2006/main">
              <a:ext uri="{FF2B5EF4-FFF2-40B4-BE49-F238E27FC236}">
                <a16:creationId xmlns:a16="http://schemas.microsoft.com/office/drawing/2014/main" id="{D82F337E-7822-47BC-84E2-8AC080B8C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756285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41" name="table-text-578-5-1">
            <a:extLst xmlns:a="http://schemas.openxmlformats.org/drawingml/2006/main">
              <a:ext uri="{FF2B5EF4-FFF2-40B4-BE49-F238E27FC236}">
                <a16:creationId xmlns:a16="http://schemas.microsoft.com/office/drawing/2014/main" id="{BBE9D472-04F3-4B70-B7B6-17A5AA035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762952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회전 반사판, 규칙 통합</a:t>
            </a:r>
          </a:p>
        </p:txBody>
      </p:sp>
      <p:sp>
        <p:nvSpPr>
          <p:cNvPr id="42" name="table-cell-578-5-2">
            <a:extLst xmlns:a="http://schemas.openxmlformats.org/drawingml/2006/main">
              <a:ext uri="{FF2B5EF4-FFF2-40B4-BE49-F238E27FC236}">
                <a16:creationId xmlns:a16="http://schemas.microsoft.com/office/drawing/2014/main" id="{6AD972D2-B77D-4249-BB5C-366F18E6D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756285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43" name="table-text-578-5-2">
            <a:extLst xmlns:a="http://schemas.openxmlformats.org/drawingml/2006/main">
              <a:ext uri="{FF2B5EF4-FFF2-40B4-BE49-F238E27FC236}">
                <a16:creationId xmlns:a16="http://schemas.microsoft.com/office/drawing/2014/main" id="{5A4299A4-5A9D-4EC3-8230-CC2A84269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762952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16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누적된 장면 상태와 복수 해법을 최적화한다</a:t>
            </a:r>
          </a:p>
        </p:txBody>
      </p:sp>
      <p:sp>
        <p:nvSpPr>
          <p:cNvPr id="44" name="paragraph-852">
            <a:extLst xmlns:a="http://schemas.openxmlformats.org/drawingml/2006/main">
              <a:ext uri="{FF2B5EF4-FFF2-40B4-BE49-F238E27FC236}">
                <a16:creationId xmlns:a16="http://schemas.microsoft.com/office/drawing/2014/main" id="{FCB030E2-81A8-4D38-92DA-F8EBCD32D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115300"/>
            <a:ext cx="6496050" cy="5775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각 단계는 4개 패턴을 균등하게 순환한다. 첫 학습에서는 가장 읽기 쉬운 기준 패턴을 먼저 보여 주고, 이후에는 변형을 통해 같은 규칙을 다른 배치에서 다시 이해하게 한다.</a:t>
            </a:r>
          </a:p>
        </p:txBody>
      </p:sp>
    </p:spTree>
    <p:extLst>
      <p:ext uri="{BB962C8B-B14F-4D97-AF65-F5344CB8AC3E}">
        <p14:creationId xmlns:p14="http://schemas.microsoft.com/office/powerpoint/2010/main" val="208917065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572CFD70-1EDE-4A3E-8845-000A6FBAD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Game Guide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9E35E55-9B3E-462F-AED1-17CCE7016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7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F118032F-79CE-4319-899D-26A592E7C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7E52301-D11A-4545-8DD1-BBFA042DC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4. 주요 제공 기능</a:t>
            </a:r>
          </a:p>
        </p:txBody>
      </p:sp>
      <p:sp>
        <p:nvSpPr>
          <p:cNvPr id="5" name="subheading-140">
            <a:extLst xmlns:a="http://schemas.openxmlformats.org/drawingml/2006/main">
              <a:ext uri="{FF2B5EF4-FFF2-40B4-BE49-F238E27FC236}">
                <a16:creationId xmlns:a16="http://schemas.microsoft.com/office/drawing/2014/main" id="{816C332E-B87D-4F4D-AECA-ADF365810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4.1 난이도와 접근성</a:t>
            </a:r>
          </a:p>
        </p:txBody>
      </p:sp>
      <p:sp>
        <p:nvSpPr>
          <p:cNvPr id="6" name="bullets-194">
            <a:extLst xmlns:a="http://schemas.openxmlformats.org/drawingml/2006/main">
              <a:ext uri="{FF2B5EF4-FFF2-40B4-BE49-F238E27FC236}">
                <a16:creationId xmlns:a16="http://schemas.microsoft.com/office/drawing/2014/main" id="{48BF0041-8123-4FBA-837E-D7B956D47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47850"/>
            <a:ext cx="6496050" cy="22692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보통: 현재 조준 정보만 제공해 퍼즐 추론을 그대로 유지한다.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쉬움: 실제 판정기와 같은 계산으로 예상 첫 도착 위치를 마름모와 예상 라벨로 표시한다.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쉬움 클리어는 진행 해금에 반영되지만 보통 최고 기록을 덮지 않는다.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충전 게이지는 공 가까이에서 핵심 기물을 피하는 위치를 자동 선택하며 좌·우 선호를 설정할 수 있다.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저모션·강한 점멸 끄기·형태와 텍스트를 함께 제공해 색에만 의존하지 않는다.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054363a669451e"/>
          <a:stretch xmlns:a="http://schemas.openxmlformats.org/drawingml/2006/main"/>
        </p:blipFill>
        <p:spPr>
          <a:xfrm xmlns:a="http://schemas.openxmlformats.org/drawingml/2006/main">
            <a:off x="3055200" y="4212336"/>
            <a:ext cx="145245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8" name="image-caption-442.24">
            <a:extLst xmlns:a="http://schemas.openxmlformats.org/drawingml/2006/main">
              <a:ext uri="{FF2B5EF4-FFF2-40B4-BE49-F238E27FC236}">
                <a16:creationId xmlns:a16="http://schemas.microsoft.com/office/drawing/2014/main" id="{DBFF1538-DC53-405C-878C-B0CE16D89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412736"/>
            <a:ext cx="6229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쉬움 모드의 예상 첫 도착 위치</a:t>
            </a:r>
          </a:p>
        </p:txBody>
      </p:sp>
      <p:sp>
        <p:nvSpPr>
          <p:cNvPr id="9" name="subheading-826.24">
            <a:extLst xmlns:a="http://schemas.openxmlformats.org/drawingml/2006/main">
              <a:ext uri="{FF2B5EF4-FFF2-40B4-BE49-F238E27FC236}">
                <a16:creationId xmlns:a16="http://schemas.microsoft.com/office/drawing/2014/main" id="{B07A3532-3450-4EDC-99A3-023BA7096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69936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4.2 구체적인 L1/L2 힌트와 열쇠</a:t>
            </a:r>
          </a:p>
        </p:txBody>
      </p:sp>
      <p:sp>
        <p:nvSpPr>
          <p:cNvPr id="10" name="paragraph-880.24">
            <a:extLst xmlns:a="http://schemas.openxmlformats.org/drawingml/2006/main">
              <a:ext uri="{FF2B5EF4-FFF2-40B4-BE49-F238E27FC236}">
                <a16:creationId xmlns:a16="http://schemas.microsoft.com/office/drawing/2014/main" id="{71ACC2AF-CBCE-4A40-B299-4620ACE2D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384286"/>
            <a:ext cx="6496050" cy="1040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40개 패턴마다 두 단계의 힌트가 있다. L1은 사용할 기믹과 첫 행동을, L2는 조준 위치·세기·행동 순서·예상 결과를 설명한다. 다음 단계 팁 보상을 선택하거나 스테이지의 선택형 열쇠에 공을 닿게 하면 해당 패턴의 힌트가 열린다. 열쇠는 물리와 점수를 바꾸지 않으므로 ‘도움이 필요할 때 스스로 선택하는 보조 목표’다.</a:t>
            </a:r>
          </a:p>
        </p:txBody>
      </p:sp>
    </p:spTree>
    <p:extLst>
      <p:ext uri="{BB962C8B-B14F-4D97-AF65-F5344CB8AC3E}">
        <p14:creationId xmlns:p14="http://schemas.microsoft.com/office/powerpoint/2010/main" val="168302050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14EE7F42-473C-42B8-83F0-84982B758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Game Guide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7C0F23E-1E9C-4DC8-9C02-23E3FEAC2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8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4C402B94-F50C-4FF6-9431-E2EB536F5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F553085-CB82-4171-99BF-611B9942E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4. 주요 제공 기능 · 계속</a:t>
            </a:r>
          </a:p>
        </p:txBody>
      </p:sp>
      <p:sp>
        <p:nvSpPr>
          <p:cNvPr id="5" name="subheading-140">
            <a:extLst xmlns:a="http://schemas.openxmlformats.org/drawingml/2006/main">
              <a:ext uri="{FF2B5EF4-FFF2-40B4-BE49-F238E27FC236}">
                <a16:creationId xmlns:a16="http://schemas.microsoft.com/office/drawing/2014/main" id="{5FA9A735-49D8-424F-AD18-FB1E4D16E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4.3 보상과 반복 플레이</a:t>
            </a:r>
          </a:p>
        </p:txBody>
      </p:sp>
      <p:sp>
        <p:nvSpPr>
          <p:cNvPr id="6" name="paragraph-194">
            <a:extLst xmlns:a="http://schemas.openxmlformats.org/drawingml/2006/main">
              <a:ext uri="{FF2B5EF4-FFF2-40B4-BE49-F238E27FC236}">
                <a16:creationId xmlns:a16="http://schemas.microsoft.com/office/drawing/2014/main" id="{B70DE555-7852-4197-939C-9EFBBA529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47850"/>
            <a:ext cx="6496050" cy="1040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런 보상 9종은 복사·되감기·회수·안내·도전·인과·꾸미기·기록 보호·다음 스테이지 팁을 서로 다른 무료 Material 아이콘과 텍스트로 구분한다. 청록/금색 꾸미기는 링뿐 아니라 공 본체의 그라데이션·금색 외곽선·하이라이트를 바꿔 다음 스테이지에서도 즉시 식별된다.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68b3aca43743d1"/>
          <a:stretch xmlns:a="http://schemas.openxmlformats.org/drawingml/2006/main"/>
        </p:blipFill>
        <p:spPr>
          <a:xfrm xmlns:a="http://schemas.openxmlformats.org/drawingml/2006/main">
            <a:off x="2896002" y="3003042"/>
            <a:ext cx="1770845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8" name="image-caption-315.28">
            <a:extLst xmlns:a="http://schemas.openxmlformats.org/drawingml/2006/main">
              <a:ext uri="{FF2B5EF4-FFF2-40B4-BE49-F238E27FC236}">
                <a16:creationId xmlns:a16="http://schemas.microsoft.com/office/drawing/2014/main" id="{AF4C1E98-691E-47D8-AE9F-C147201A3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03442"/>
            <a:ext cx="6229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모바일에서도 첫 화면에 보이는 보상 선택</a:t>
            </a:r>
          </a:p>
        </p:txBody>
      </p:sp>
    </p:spTree>
    <p:extLst>
      <p:ext uri="{BB962C8B-B14F-4D97-AF65-F5344CB8AC3E}">
        <p14:creationId xmlns:p14="http://schemas.microsoft.com/office/powerpoint/2010/main" val="41030220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A5D8EFDA-421C-4070-AD10-195105D65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Game Guide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26B8E8D-B994-4835-8CBD-29A7B61F5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9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EC51064E-1559-40AE-BBB8-CB91ACDED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9472123-6359-4A4B-A978-466214807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4. 주요 제공 기능 · 계속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4102cf3cd940af"/>
          <a:stretch xmlns:a="http://schemas.openxmlformats.org/drawingml/2006/main"/>
        </p:blipFill>
        <p:spPr>
          <a:xfrm xmlns:a="http://schemas.openxmlformats.org/drawingml/2006/main">
            <a:off x="638175" y="1333500"/>
            <a:ext cx="628650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6" name="image-caption-140">
            <a:extLst xmlns:a="http://schemas.openxmlformats.org/drawingml/2006/main">
              <a:ext uri="{FF2B5EF4-FFF2-40B4-BE49-F238E27FC236}">
                <a16:creationId xmlns:a16="http://schemas.microsoft.com/office/drawing/2014/main" id="{9A3641CE-DB2D-4F50-A4D7-536E4205A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33900"/>
            <a:ext cx="6229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기본 공과 청록·금색 공의 차이</a:t>
            </a:r>
          </a:p>
        </p:txBody>
      </p:sp>
      <p:sp>
        <p:nvSpPr>
          <p:cNvPr id="7" name="paragraph-524">
            <a:extLst xmlns:a="http://schemas.openxmlformats.org/drawingml/2006/main">
              <a:ext uri="{FF2B5EF4-FFF2-40B4-BE49-F238E27FC236}">
                <a16:creationId xmlns:a16="http://schemas.microsoft.com/office/drawing/2014/main" id="{6BFAA53B-59C9-4EA8-A115-3EC75C9F1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91100"/>
            <a:ext cx="6496050" cy="3459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그 밖에 오늘의 도전, 리플레이, 실패 원인 안내, 기록 재도전을 제공한다.</a:t>
            </a:r>
          </a:p>
        </p:txBody>
      </p:sp>
    </p:spTree>
    <p:extLst>
      <p:ext uri="{BB962C8B-B14F-4D97-AF65-F5344CB8AC3E}">
        <p14:creationId xmlns:p14="http://schemas.microsoft.com/office/powerpoint/2010/main" val="16469041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F51D6401-3F44-4F88-A962-489BA2267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Game Guide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051B96E-5F8C-47A1-A1AE-73BAE952B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10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4355B4C0-22BA-4176-B5A1-A43694461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DF23D58-A6B4-489E-808D-BD22188C2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5. 게임 설계의 차별점</a:t>
            </a:r>
          </a:p>
        </p:txBody>
      </p:sp>
      <p:sp>
        <p:nvSpPr>
          <p:cNvPr id="5" name="subheading-140">
            <a:extLst xmlns:a="http://schemas.openxmlformats.org/drawingml/2006/main">
              <a:ext uri="{FF2B5EF4-FFF2-40B4-BE49-F238E27FC236}">
                <a16:creationId xmlns:a16="http://schemas.microsoft.com/office/drawing/2014/main" id="{0310B234-5B14-4D4F-B372-E62D7C5F7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5.1 실패가 사라지지 않는다</a:t>
            </a:r>
          </a:p>
        </p:txBody>
      </p:sp>
      <p:sp>
        <p:nvSpPr>
          <p:cNvPr id="6" name="paragraph-194">
            <a:extLst xmlns:a="http://schemas.openxmlformats.org/drawingml/2006/main">
              <a:ext uri="{FF2B5EF4-FFF2-40B4-BE49-F238E27FC236}">
                <a16:creationId xmlns:a16="http://schemas.microsoft.com/office/drawing/2014/main" id="{8B30C84D-D6FF-4B90-9F62-6ACEAE9AA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47850"/>
            <a:ext cx="6496050" cy="8092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보통의 한 샷 퍼즐은 실패를 초기화한다. 속성 한방은 공·문·스위치·반사판의 결과를 남긴다. 플레이어는 첫 샷의 결과를 관찰하고 두 번째 샷에서 이용한다. 이 때문에 ‘정확히 쏘기’보다 ‘상태를 계획하고 수정하기’가 핵심 능력이 된다.</a:t>
            </a:r>
          </a:p>
        </p:txBody>
      </p:sp>
      <p:sp>
        <p:nvSpPr>
          <p:cNvPr id="7" name="subheading-290.96000000000004">
            <a:extLst xmlns:a="http://schemas.openxmlformats.org/drawingml/2006/main">
              <a:ext uri="{FF2B5EF4-FFF2-40B4-BE49-F238E27FC236}">
                <a16:creationId xmlns:a16="http://schemas.microsoft.com/office/drawing/2014/main" id="{5AFF2B7B-AD6F-4E10-A75E-7BAA4140A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71394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5.2 기믹을 쓰는 편이 실제로 유리하다</a:t>
            </a:r>
          </a:p>
        </p:txBody>
      </p:sp>
      <p:sp>
        <p:nvSpPr>
          <p:cNvPr id="8" name="paragraph-344.96000000000004">
            <a:extLst xmlns:a="http://schemas.openxmlformats.org/drawingml/2006/main">
              <a:ext uri="{FF2B5EF4-FFF2-40B4-BE49-F238E27FC236}">
                <a16:creationId xmlns:a16="http://schemas.microsoft.com/office/drawing/2014/main" id="{6FB86190-89CA-4E27-9BE4-1509A1B75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85744"/>
            <a:ext cx="6496050" cy="1040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모든 10개 단계에서 기믹 경로가 우회보다 유리하도록 같은 입력 격자에서 40패턴을 전수 검증했다. 단발형 32패턴은 각 변형에서 최소 1.40배의 성공 영역 우위를 보였고, 여러 샷을 쓰는 단계는 준비 전·후를 같은 900개 입력으로 비교해 단계 합계 기준을 통과했다. 연쇄 점수 단계는 같은 홀 진입에서도 기믹 연쇄가 더 높은 점수를 만든다.</a:t>
            </a:r>
          </a:p>
        </p:txBody>
      </p:sp>
      <p:sp>
        <p:nvSpPr>
          <p:cNvPr id="9" name="paragraph-466.24">
            <a:extLst xmlns:a="http://schemas.openxmlformats.org/drawingml/2006/main">
              <a:ext uri="{FF2B5EF4-FFF2-40B4-BE49-F238E27FC236}">
                <a16:creationId xmlns:a16="http://schemas.microsoft.com/office/drawing/2014/main" id="{36BA369B-9D8A-4FE2-8C05-5CFF72F02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40936"/>
            <a:ext cx="6496050" cy="3459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이는 기믹이 장식이 아니라 플레이어가 배우고 활용해야 할 핵심 규칙이라는 뜻이다.</a:t>
            </a:r>
          </a:p>
        </p:txBody>
      </p:sp>
    </p:spTree>
    <p:extLst>
      <p:ext uri="{BB962C8B-B14F-4D97-AF65-F5344CB8AC3E}">
        <p14:creationId xmlns:p14="http://schemas.microsoft.com/office/powerpoint/2010/main" val="207052258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83F46B81-D785-485A-B2D2-FC37EAEDF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Game Guide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65BA90F-EFEE-44C3-A782-B3A90047C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11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BB4BB484-848B-49A8-A9FC-7177DFC26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BA1B363-57EB-496B-910B-169913A9E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6. 실행 방법</a:t>
            </a:r>
          </a:p>
        </p:txBody>
      </p:sp>
      <p:sp>
        <p:nvSpPr>
          <p:cNvPr id="5" name="subheading-140">
            <a:extLst xmlns:a="http://schemas.openxmlformats.org/drawingml/2006/main">
              <a:ext uri="{FF2B5EF4-FFF2-40B4-BE49-F238E27FC236}">
                <a16:creationId xmlns:a16="http://schemas.microsoft.com/office/drawing/2014/main" id="{42828070-7FD3-4146-9AD4-DB56AB74C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6.1 바로 플레이</a:t>
            </a:r>
          </a:p>
        </p:txBody>
      </p:sp>
      <p:sp>
        <p:nvSpPr>
          <p:cNvPr id="6" name="paragraph-194">
            <a:extLst xmlns:a="http://schemas.openxmlformats.org/drawingml/2006/main">
              <a:ext uri="{FF2B5EF4-FFF2-40B4-BE49-F238E27FC236}">
                <a16:creationId xmlns:a16="http://schemas.microsoft.com/office/drawing/2014/main" id="{E29CF93B-C7BC-4094-B48B-F629FB824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47850"/>
            <a:ext cx="6496050" cy="3459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웹에서 바로 플레이 (https://good5229.github.io/Property_shot/)</a:t>
            </a:r>
          </a:p>
        </p:txBody>
      </p:sp>
      <p:sp>
        <p:nvSpPr>
          <p:cNvPr id="7" name="paragraph-242.32">
            <a:extLst xmlns:a="http://schemas.openxmlformats.org/drawingml/2006/main">
              <a:ext uri="{FF2B5EF4-FFF2-40B4-BE49-F238E27FC236}">
                <a16:creationId xmlns:a16="http://schemas.microsoft.com/office/drawing/2014/main" id="{4C5407EC-2576-4A34-84B1-F5BD3A41A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8098"/>
            <a:ext cx="6496050" cy="5775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모바일 세로 화면을 권장한다. Chrome, Safari, Edge의 최신 버전에서 URL을 열면 설치 없이 시작할 수 있다.</a:t>
            </a:r>
          </a:p>
        </p:txBody>
      </p:sp>
      <p:sp>
        <p:nvSpPr>
          <p:cNvPr id="8" name="subheading-314.96">
            <a:extLst xmlns:a="http://schemas.openxmlformats.org/drawingml/2006/main">
              <a:ext uri="{FF2B5EF4-FFF2-40B4-BE49-F238E27FC236}">
                <a16:creationId xmlns:a16="http://schemas.microsoft.com/office/drawing/2014/main" id="{33E67405-5C2A-4220-B7B7-B79E91075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99994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6.2 Android 설치와 로컬 실행</a:t>
            </a:r>
          </a:p>
        </p:txBody>
      </p:sp>
      <p:sp>
        <p:nvSpPr>
          <p:cNvPr id="9" name="paragraph-368.96">
            <a:extLst xmlns:a="http://schemas.openxmlformats.org/drawingml/2006/main">
              <a:ext uri="{FF2B5EF4-FFF2-40B4-BE49-F238E27FC236}">
                <a16:creationId xmlns:a16="http://schemas.microsoft.com/office/drawing/2014/main" id="{563CD26D-98F0-4807-ACCB-95B543789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14344"/>
            <a:ext cx="6496050" cy="5775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Android에서는 프로젝트의 release APK를 기기로 옮겨 설치할 수 있다. 개발 환경에서는 Flutter SDK 설치 후 flutter pub get, flutter run -d chrome 순서로 실행한다.</a:t>
            </a:r>
          </a:p>
        </p:txBody>
      </p:sp>
    </p:spTree>
    <p:extLst>
      <p:ext uri="{BB962C8B-B14F-4D97-AF65-F5344CB8AC3E}">
        <p14:creationId xmlns:p14="http://schemas.microsoft.com/office/powerpoint/2010/main" val="8187262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4646ED87-512D-4CE4-8458-77F852ACF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Game Guide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EC3CAB9-77ED-4FE8-B393-84285B694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12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D591CA33-7001-4C54-A850-9307A1F9F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6D60796-3E8E-4387-BE74-4803D0971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7. 완성도와 검증</a:t>
            </a:r>
          </a:p>
        </p:txBody>
      </p:sp>
      <p:sp>
        <p:nvSpPr>
          <p:cNvPr id="5" name="table-cell-140-0-0">
            <a:extLst xmlns:a="http://schemas.openxmlformats.org/drawingml/2006/main">
              <a:ext uri="{FF2B5EF4-FFF2-40B4-BE49-F238E27FC236}">
                <a16:creationId xmlns:a16="http://schemas.microsoft.com/office/drawing/2014/main" id="{90C80871-B940-44EF-8179-7A88493F0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32480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6" name="table-text-140-0-0">
            <a:extLst xmlns:a="http://schemas.openxmlformats.org/drawingml/2006/main">
              <a:ext uri="{FF2B5EF4-FFF2-40B4-BE49-F238E27FC236}">
                <a16:creationId xmlns:a16="http://schemas.microsoft.com/office/drawing/2014/main" id="{EE6FCFF6-5F47-4C23-B810-BA296E5EA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00175"/>
            <a:ext cx="3076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구분</a:t>
            </a:r>
          </a:p>
        </p:txBody>
      </p:sp>
      <p:sp>
        <p:nvSpPr>
          <p:cNvPr id="7" name="table-cell-140-0-1">
            <a:extLst xmlns:a="http://schemas.openxmlformats.org/drawingml/2006/main">
              <a:ext uri="{FF2B5EF4-FFF2-40B4-BE49-F238E27FC236}">
                <a16:creationId xmlns:a16="http://schemas.microsoft.com/office/drawing/2014/main" id="{3452E89C-8370-41F1-9B01-F19C4BC5B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1333500"/>
            <a:ext cx="32480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8" name="table-text-140-0-1">
            <a:extLst xmlns:a="http://schemas.openxmlformats.org/drawingml/2006/main">
              <a:ext uri="{FF2B5EF4-FFF2-40B4-BE49-F238E27FC236}">
                <a16:creationId xmlns:a16="http://schemas.microsoft.com/office/drawing/2014/main" id="{DA6F370C-409D-4478-83C8-7882DC9D0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1400175"/>
            <a:ext cx="3076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확인한 내용</a:t>
            </a:r>
          </a:p>
        </p:txBody>
      </p:sp>
      <p:sp>
        <p:nvSpPr>
          <p:cNvPr id="9" name="table-cell-140-1-0">
            <a:extLst xmlns:a="http://schemas.openxmlformats.org/drawingml/2006/main">
              <a:ext uri="{FF2B5EF4-FFF2-40B4-BE49-F238E27FC236}">
                <a16:creationId xmlns:a16="http://schemas.microsoft.com/office/drawing/2014/main" id="{BF07576B-3337-4096-9366-398A0FF4C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3248025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0" name="table-text-140-1-0">
            <a:extLst xmlns:a="http://schemas.openxmlformats.org/drawingml/2006/main">
              <a:ext uri="{FF2B5EF4-FFF2-40B4-BE49-F238E27FC236}">
                <a16:creationId xmlns:a16="http://schemas.microsoft.com/office/drawing/2014/main" id="{3968CBC1-1F1A-42A6-ACFE-E205EB144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857375"/>
            <a:ext cx="3076575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기능 완성도</a:t>
            </a:r>
          </a:p>
        </p:txBody>
      </p:sp>
      <p:sp>
        <p:nvSpPr>
          <p:cNvPr id="11" name="table-cell-140-1-1">
            <a:extLst xmlns:a="http://schemas.openxmlformats.org/drawingml/2006/main">
              <a:ext uri="{FF2B5EF4-FFF2-40B4-BE49-F238E27FC236}">
                <a16:creationId xmlns:a16="http://schemas.microsoft.com/office/drawing/2014/main" id="{3345CEBC-9529-493A-A46F-7EAB01EBD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1790700"/>
            <a:ext cx="3248025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2" name="table-text-140-1-1">
            <a:extLst xmlns:a="http://schemas.openxmlformats.org/drawingml/2006/main">
              <a:ext uri="{FF2B5EF4-FFF2-40B4-BE49-F238E27FC236}">
                <a16:creationId xmlns:a16="http://schemas.microsoft.com/office/drawing/2014/main" id="{49D759A2-6388-426D-B866-6EFE21552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1857375"/>
            <a:ext cx="3076575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10단계·40패턴, 난이도, 힌트, 열쇠, 보상, 꾸미기, 오늘의 도전, 리플레이가 연결됨</a:t>
            </a:r>
          </a:p>
        </p:txBody>
      </p:sp>
      <p:sp>
        <p:nvSpPr>
          <p:cNvPr id="13" name="table-cell-140-2-0">
            <a:extLst xmlns:a="http://schemas.openxmlformats.org/drawingml/2006/main">
              <a:ext uri="{FF2B5EF4-FFF2-40B4-BE49-F238E27FC236}">
                <a16:creationId xmlns:a16="http://schemas.microsoft.com/office/drawing/2014/main" id="{0F66796C-57B5-4EA3-945A-3758EA2FF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22195"/>
            <a:ext cx="3248025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4" name="table-text-140-2-0">
            <a:extLst xmlns:a="http://schemas.openxmlformats.org/drawingml/2006/main">
              <a:ext uri="{FF2B5EF4-FFF2-40B4-BE49-F238E27FC236}">
                <a16:creationId xmlns:a16="http://schemas.microsoft.com/office/drawing/2014/main" id="{910E6AEE-F14B-4C8B-848D-758763CE7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388870"/>
            <a:ext cx="3076575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플레이 공정성</a:t>
            </a:r>
          </a:p>
        </p:txBody>
      </p:sp>
      <p:sp>
        <p:nvSpPr>
          <p:cNvPr id="15" name="table-cell-140-2-1">
            <a:extLst xmlns:a="http://schemas.openxmlformats.org/drawingml/2006/main">
              <a:ext uri="{FF2B5EF4-FFF2-40B4-BE49-F238E27FC236}">
                <a16:creationId xmlns:a16="http://schemas.microsoft.com/office/drawing/2014/main" id="{9F85ED77-9AA9-4281-AEBA-0A2D27A72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2322195"/>
            <a:ext cx="3248025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6" name="table-text-140-2-1">
            <a:extLst xmlns:a="http://schemas.openxmlformats.org/drawingml/2006/main">
              <a:ext uri="{FF2B5EF4-FFF2-40B4-BE49-F238E27FC236}">
                <a16:creationId xmlns:a16="http://schemas.microsoft.com/office/drawing/2014/main" id="{64430B27-FF0A-43EA-BE62-0D61A4445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388870"/>
            <a:ext cx="3076575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쉬움 기록 분리, 공식 오늘의 도전 보통 고정, 저장·재개에서도 완료 당시 난이도 유지</a:t>
            </a:r>
          </a:p>
        </p:txBody>
      </p:sp>
      <p:sp>
        <p:nvSpPr>
          <p:cNvPr id="17" name="table-cell-140-3-0">
            <a:extLst xmlns:a="http://schemas.openxmlformats.org/drawingml/2006/main">
              <a:ext uri="{FF2B5EF4-FFF2-40B4-BE49-F238E27FC236}">
                <a16:creationId xmlns:a16="http://schemas.microsoft.com/office/drawing/2014/main" id="{DD466924-6DB3-4D5A-AD2B-7ED75934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369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8" name="table-text-140-3-0">
            <a:extLst xmlns:a="http://schemas.openxmlformats.org/drawingml/2006/main">
              <a:ext uri="{FF2B5EF4-FFF2-40B4-BE49-F238E27FC236}">
                <a16:creationId xmlns:a16="http://schemas.microsoft.com/office/drawing/2014/main" id="{3FB74E18-7BE1-4802-9E4A-CB4E75174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2036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퍼즐 품질</a:t>
            </a:r>
          </a:p>
        </p:txBody>
      </p:sp>
      <p:sp>
        <p:nvSpPr>
          <p:cNvPr id="19" name="table-cell-140-3-1">
            <a:extLst xmlns:a="http://schemas.openxmlformats.org/drawingml/2006/main">
              <a:ext uri="{FF2B5EF4-FFF2-40B4-BE49-F238E27FC236}">
                <a16:creationId xmlns:a16="http://schemas.microsoft.com/office/drawing/2014/main" id="{A441F087-279B-48FF-9244-9EE6197F8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285369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0" name="table-text-140-3-1">
            <a:extLst xmlns:a="http://schemas.openxmlformats.org/drawingml/2006/main">
              <a:ext uri="{FF2B5EF4-FFF2-40B4-BE49-F238E27FC236}">
                <a16:creationId xmlns:a16="http://schemas.microsoft.com/office/drawing/2014/main" id="{7249C5C6-E652-40AA-880C-95126C3B9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92036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04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모든 단계에서 기믹 경로 우위, 대표 해법과 근방 입력의 결정론 확인</a:t>
            </a:r>
          </a:p>
        </p:txBody>
      </p:sp>
      <p:sp>
        <p:nvSpPr>
          <p:cNvPr id="21" name="table-cell-140-4-0">
            <a:extLst xmlns:a="http://schemas.openxmlformats.org/drawingml/2006/main">
              <a:ext uri="{FF2B5EF4-FFF2-40B4-BE49-F238E27FC236}">
                <a16:creationId xmlns:a16="http://schemas.microsoft.com/office/drawing/2014/main" id="{B8E35C6E-B423-4721-9012-51869BB41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5374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2" name="table-text-140-4-0">
            <a:extLst xmlns:a="http://schemas.openxmlformats.org/drawingml/2006/main">
              <a:ext uri="{FF2B5EF4-FFF2-40B4-BE49-F238E27FC236}">
                <a16:creationId xmlns:a16="http://schemas.microsoft.com/office/drawing/2014/main" id="{1038366D-2D22-4522-8434-E8DB319FE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32041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화면 품질</a:t>
            </a:r>
          </a:p>
        </p:txBody>
      </p:sp>
      <p:sp>
        <p:nvSpPr>
          <p:cNvPr id="23" name="table-cell-140-4-1">
            <a:extLst xmlns:a="http://schemas.openxmlformats.org/drawingml/2006/main">
              <a:ext uri="{FF2B5EF4-FFF2-40B4-BE49-F238E27FC236}">
                <a16:creationId xmlns:a16="http://schemas.microsoft.com/office/drawing/2014/main" id="{C18EFE15-1640-4DE1-ABD6-A673CB834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325374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4" name="table-text-140-4-1">
            <a:extLst xmlns:a="http://schemas.openxmlformats.org/drawingml/2006/main">
              <a:ext uri="{FF2B5EF4-FFF2-40B4-BE49-F238E27FC236}">
                <a16:creationId xmlns:a16="http://schemas.microsoft.com/office/drawing/2014/main" id="{E6973943-411A-4354-A183-365DB2B23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32041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16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320×568부터 태블릿까지 Golden 화면 회귀와 SafeArea·큰 글자·저모션 확인</a:t>
            </a:r>
          </a:p>
        </p:txBody>
      </p:sp>
    </p:spTree>
    <p:extLst>
      <p:ext uri="{BB962C8B-B14F-4D97-AF65-F5344CB8AC3E}">
        <p14:creationId xmlns:p14="http://schemas.microsoft.com/office/powerpoint/2010/main" val="160834463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2026-08-10T12:16:26.2370000Z</dcterms:created>
  <dcterms:modified xsi:type="dcterms:W3CDTF">2026-08-10T12:16:26.2370000Z</dcterms:modified>
</coreProperties>
</file>