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d77d05c3b334951" /><Relationship Type="http://schemas.openxmlformats.org/officeDocument/2006/relationships/extended-properties" Target="/docProps/app.xml" Id="R6b0e2e381b2b4f8f" /><Relationship Type="http://schemas.openxmlformats.org/officeDocument/2006/relationships/officeDocument" Target="/ppt/presentation.xml" Id="R89cfa570431344a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e282ac16d75420f"/>
  </p:sldMasterIdLst>
  <p:notesMasterIdLst>
    <p:notesMasterId xmlns:r="http://schemas.openxmlformats.org/officeDocument/2006/relationships" r:id="R4f32809a8f0c4a79"/>
  </p:notesMasterIdLst>
  <p:sldIdLst>
    <p:sldId xmlns:r="http://schemas.openxmlformats.org/officeDocument/2006/relationships" id="256" r:id="R4d8bfd827231428d"/>
    <p:sldId xmlns:r="http://schemas.openxmlformats.org/officeDocument/2006/relationships" id="257" r:id="R1ad65ab75c024eda"/>
    <p:sldId xmlns:r="http://schemas.openxmlformats.org/officeDocument/2006/relationships" id="258" r:id="R72d5cbbfafbc420e"/>
    <p:sldId xmlns:r="http://schemas.openxmlformats.org/officeDocument/2006/relationships" id="259" r:id="R8b103e558aaf4941"/>
    <p:sldId xmlns:r="http://schemas.openxmlformats.org/officeDocument/2006/relationships" id="260" r:id="R2c31025a64cc40fe"/>
    <p:sldId xmlns:r="http://schemas.openxmlformats.org/officeDocument/2006/relationships" id="261" r:id="R1b661c13074746d0"/>
    <p:sldId xmlns:r="http://schemas.openxmlformats.org/officeDocument/2006/relationships" id="262" r:id="Ra001bf336db64287"/>
    <p:sldId xmlns:r="http://schemas.openxmlformats.org/officeDocument/2006/relationships" id="263" r:id="Rbccddd095b6d4ca7"/>
    <p:sldId xmlns:r="http://schemas.openxmlformats.org/officeDocument/2006/relationships" id="264" r:id="R2a87071d618a41b2"/>
    <p:sldId xmlns:r="http://schemas.openxmlformats.org/officeDocument/2006/relationships" id="265" r:id="R3113e297d70d4c32"/>
    <p:sldId xmlns:r="http://schemas.openxmlformats.org/officeDocument/2006/relationships" id="266" r:id="R4b777c2bc486434d"/>
    <p:sldId xmlns:r="http://schemas.openxmlformats.org/officeDocument/2006/relationships" id="267" r:id="Rd041eadbec0c4e4e"/>
  </p:sldIdLst>
  <p:sldSz cx="7562850" cy="1069657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c551c3d582a4fed" /><Relationship Type="http://schemas.openxmlformats.org/officeDocument/2006/relationships/slideMaster" Target="/ppt/slideMasters/slideMaster1.xml" Id="Ree282ac16d75420f" /><Relationship Type="http://schemas.openxmlformats.org/officeDocument/2006/relationships/notesMaster" Target="/ppt/notesMasters/notesMaster1.xml" Id="R4f32809a8f0c4a79" /><Relationship Type="http://schemas.openxmlformats.org/officeDocument/2006/relationships/presProps" Target="/ppt/presProps.xml" Id="R271e936f913240be" /><Relationship Type="http://schemas.openxmlformats.org/officeDocument/2006/relationships/tableStyles" Target="/ppt/tableStyles.xml" Id="Rd074b6ffb5014cb0" /><Relationship Type="http://schemas.openxmlformats.org/officeDocument/2006/relationships/slide" Target="/ppt/slides/slide1.xml" Id="R4d8bfd827231428d" /><Relationship Type="http://schemas.openxmlformats.org/officeDocument/2006/relationships/slide" Target="/ppt/slides/slide2.xml" Id="R1ad65ab75c024eda" /><Relationship Type="http://schemas.openxmlformats.org/officeDocument/2006/relationships/slide" Target="/ppt/slides/slide3.xml" Id="R72d5cbbfafbc420e" /><Relationship Type="http://schemas.openxmlformats.org/officeDocument/2006/relationships/slide" Target="/ppt/slides/slide4.xml" Id="R8b103e558aaf4941" /><Relationship Type="http://schemas.openxmlformats.org/officeDocument/2006/relationships/slide" Target="/ppt/slides/slide5.xml" Id="R2c31025a64cc40fe" /><Relationship Type="http://schemas.openxmlformats.org/officeDocument/2006/relationships/slide" Target="/ppt/slides/slide6.xml" Id="R1b661c13074746d0" /><Relationship Type="http://schemas.openxmlformats.org/officeDocument/2006/relationships/slide" Target="/ppt/slides/slide7.xml" Id="Ra001bf336db64287" /><Relationship Type="http://schemas.openxmlformats.org/officeDocument/2006/relationships/slide" Target="/ppt/slides/slide8.xml" Id="Rbccddd095b6d4ca7" /><Relationship Type="http://schemas.openxmlformats.org/officeDocument/2006/relationships/slide" Target="/ppt/slides/slide9.xml" Id="R2a87071d618a41b2" /><Relationship Type="http://schemas.openxmlformats.org/officeDocument/2006/relationships/slide" Target="/ppt/slides/slide10.xml" Id="R3113e297d70d4c32" /><Relationship Type="http://schemas.openxmlformats.org/officeDocument/2006/relationships/slide" Target="/ppt/slides/slide11.xml" Id="R4b777c2bc486434d" /><Relationship Type="http://schemas.openxmlformats.org/officeDocument/2006/relationships/slide" Target="/ppt/slides/slide12.xml" Id="Rd041eadbec0c4e4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05ab4976ec74e8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a6ef1cd660a4cc8" /><Relationship Type="http://schemas.openxmlformats.org/officeDocument/2006/relationships/notesMaster" Target="/ppt/notesMasters/notesMaster1.xml" Id="Ra3625090068a4d7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2aa87d3456b4cb3" /><Relationship Type="http://schemas.openxmlformats.org/officeDocument/2006/relationships/notesMaster" Target="/ppt/notesMasters/notesMaster1.xml" Id="R72515860b040433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9756143386f4a28" /><Relationship Type="http://schemas.openxmlformats.org/officeDocument/2006/relationships/notesMaster" Target="/ppt/notesMasters/notesMaster1.xml" Id="R436d3c0079c3451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d5017f4fb944200" /><Relationship Type="http://schemas.openxmlformats.org/officeDocument/2006/relationships/notesMaster" Target="/ppt/notesMasters/notesMaster1.xml" Id="R821b6804467b408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18b3f01e1024439" /><Relationship Type="http://schemas.openxmlformats.org/officeDocument/2006/relationships/notesMaster" Target="/ppt/notesMasters/notesMaster1.xml" Id="Rf277d79bb9bb494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7029f65dc874183" /><Relationship Type="http://schemas.openxmlformats.org/officeDocument/2006/relationships/notesMaster" Target="/ppt/notesMasters/notesMaster1.xml" Id="R060167ca38bc465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82614c9009d4a9d" /><Relationship Type="http://schemas.openxmlformats.org/officeDocument/2006/relationships/notesMaster" Target="/ppt/notesMasters/notesMaster1.xml" Id="Rf42c1205cfc542f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04dc63d9f48499e" /><Relationship Type="http://schemas.openxmlformats.org/officeDocument/2006/relationships/notesMaster" Target="/ppt/notesMasters/notesMaster1.xml" Id="R13240b9d6866485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2a17248eefb417b" /><Relationship Type="http://schemas.openxmlformats.org/officeDocument/2006/relationships/notesMaster" Target="/ppt/notesMasters/notesMaster1.xml" Id="Re8cc232070cf4f8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6a1b43e3b844065" /><Relationship Type="http://schemas.openxmlformats.org/officeDocument/2006/relationships/notesMaster" Target="/ppt/notesMasters/notesMaster1.xml" Id="Rebb34727d58c457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9e979e728754df9" /><Relationship Type="http://schemas.openxmlformats.org/officeDocument/2006/relationships/notesMaster" Target="/ppt/notesMasters/notesMaster1.xml" Id="Rdd2ef0fa7b564a9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d1d57ddccf74033" /><Relationship Type="http://schemas.openxmlformats.org/officeDocument/2006/relationships/notesMaster" Target="/ppt/notesMasters/notesMaster1.xml" Id="R9a05d418ff124a7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report source and local repository assets</a:t>
            </a:r>
          </a:p>
          <a:p xmlns:a="http://schemas.openxmlformats.org/drawingml/2006/main">
            <a:r>
              <a:t>- https://nan2026.nhn.com/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report/game_introduction.md</a:t>
            </a:r>
          </a:p>
          <a:p xmlns:a="http://schemas.openxmlformats.org/drawingml/2006/main">
            <a:r>
              <a:t>- screenshots/commercial-vertical-slice/390x844-current-play-audit.png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report/game_introduction.md</a:t>
            </a:r>
          </a:p>
          <a:p xmlns:a="http://schemas.openxmlformats.org/drawingml/2006/main">
            <a:r>
              <a:t>- screenshots/commercial-vertical-slice/390x844-material-source-popup.png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report/game_introduction.md</a:t>
            </a:r>
          </a:p>
          <a:p xmlns:a="http://schemas.openxmlformats.org/drawingml/2006/main">
            <a:r>
              <a:t>- assets/generated/stone-v2.png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report/game_introduction.md</a:t>
            </a:r>
          </a:p>
          <a:p xmlns:a="http://schemas.openxmlformats.org/drawingml/2006/main">
            <a:r>
              <a:t>- assets/generated/jelly-bumper-v1.png</a:t>
            </a:r>
          </a:p>
          <a:p xmlns:a="http://schemas.openxmlformats.org/drawingml/2006/main">
            <a:r>
              <a:t>- screenshots/commercial-vertical-slice/stage4-property-ready.png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report/game_introduction.md</a:t>
            </a:r>
          </a:p>
          <a:p xmlns:a="http://schemas.openxmlformats.org/drawingml/2006/main">
            <a:r>
              <a:t>- test/goldens/game_screen_stage3_390x844.png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report/game_introduction.md</a:t>
            </a:r>
          </a:p>
          <a:p xmlns:a="http://schemas.openxmlformats.org/drawingml/2006/main">
            <a:r>
              <a:t>- test/goldens/difficulty_easy_first_arrival_390x844.png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report/game_introduction.md</a:t>
            </a:r>
          </a:p>
          <a:p xmlns:a="http://schemas.openxmlformats.org/drawingml/2006/main">
            <a:r>
              <a:t>- test/goldens/run_reward_320x568_hint_first.png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report/game_introduction.md</a:t>
            </a:r>
          </a:p>
          <a:p xmlns:a="http://schemas.openxmlformats.org/drawingml/2006/main">
            <a:r>
              <a:t>- test/goldens/ball_reward_appearance_comparison.png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report/game_introduction.md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report/game_introduction.md</a:t>
            </a:r>
          </a:p>
          <a:p xmlns:a="http://schemas.openxmlformats.org/drawingml/2006/main">
            <a:r>
              <a:t>- https://good5229.github.io/Property_shot/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report/game_introduction.md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e084cad85c4e9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1feaf077ba447aa" /><Relationship Type="http://schemas.openxmlformats.org/officeDocument/2006/relationships/slideLayout" Target="/ppt/slideLayouts/slideLayout1.xml" Id="R0bbb3ded0301492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bbb3ded0301492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e9cf2aabdd4656" /><Relationship Type="http://schemas.openxmlformats.org/officeDocument/2006/relationships/image" Target="/ppt/media/image.png" Id="R0bb0dafe3b774694" /><Relationship Type="http://schemas.openxmlformats.org/officeDocument/2006/relationships/notesSlide" Target="/ppt/notesSlides/notesSlide1.xml" Id="R634e9a5a733048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1f357070be481d" /><Relationship Type="http://schemas.openxmlformats.org/officeDocument/2006/relationships/image" Target="/ppt/media/image2.png" Id="Rfc258c40777f4c86" /><Relationship Type="http://schemas.openxmlformats.org/officeDocument/2006/relationships/notesSlide" Target="/ppt/notesSlides/notesSlide2.xml" Id="R60eb3985afe5481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a900147b694804" /><Relationship Type="http://schemas.openxmlformats.org/officeDocument/2006/relationships/image" Target="/ppt/media/image3.png" Id="Rd179475efcb44f43" /><Relationship Type="http://schemas.openxmlformats.org/officeDocument/2006/relationships/notesSlide" Target="/ppt/notesSlides/notesSlide3.xml" Id="Re156bab3a21f462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605497bd524e19" /><Relationship Type="http://schemas.openxmlformats.org/officeDocument/2006/relationships/image" Target="/ppt/media/image4.png" Id="R8ebc3b427c7442ff" /><Relationship Type="http://schemas.openxmlformats.org/officeDocument/2006/relationships/notesSlide" Target="/ppt/notesSlides/notesSlide4.xml" Id="R402103528d9b4e4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b6aad07ae8437d" /><Relationship Type="http://schemas.openxmlformats.org/officeDocument/2006/relationships/image" Target="/ppt/media/image5.png" Id="R24c32311650f40be" /><Relationship Type="http://schemas.openxmlformats.org/officeDocument/2006/relationships/image" Target="/ppt/media/image6.png" Id="Rb93aadf0d62e4a5d" /><Relationship Type="http://schemas.openxmlformats.org/officeDocument/2006/relationships/notesSlide" Target="/ppt/notesSlides/notesSlide5.xml" Id="R963544a5915d433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39a01d00574f77" /><Relationship Type="http://schemas.openxmlformats.org/officeDocument/2006/relationships/image" Target="/ppt/media/image7.png" Id="Rb2a778a5232143c6" /><Relationship Type="http://schemas.openxmlformats.org/officeDocument/2006/relationships/notesSlide" Target="/ppt/notesSlides/notesSlide6.xml" Id="R1ea8ac0ebcfe4ce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2d6dcb9ed94162" /><Relationship Type="http://schemas.openxmlformats.org/officeDocument/2006/relationships/image" Target="/ppt/media/image8.png" Id="Rc2d9f38435104ce4" /><Relationship Type="http://schemas.openxmlformats.org/officeDocument/2006/relationships/notesSlide" Target="/ppt/notesSlides/notesSlide7.xml" Id="R9c522a224f8d4bb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b4d7eff591439f" /><Relationship Type="http://schemas.openxmlformats.org/officeDocument/2006/relationships/image" Target="/ppt/media/image9.png" Id="R0bf3cb26dac14725" /><Relationship Type="http://schemas.openxmlformats.org/officeDocument/2006/relationships/notesSlide" Target="/ppt/notesSlides/notesSlide8.xml" Id="Ra3d90eb79340400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c21b766f214074" /><Relationship Type="http://schemas.openxmlformats.org/officeDocument/2006/relationships/image" Target="/ppt/media/image10.png" Id="Rdb495323f0664230" /><Relationship Type="http://schemas.openxmlformats.org/officeDocument/2006/relationships/notesSlide" Target="/ppt/notesSlides/notesSlide9.xml" Id="R480c998dbfba480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c1f3626ac848ec" /><Relationship Type="http://schemas.openxmlformats.org/officeDocument/2006/relationships/notesSlide" Target="/ppt/notesSlides/notesSlide10.xml" Id="Rc12af3591eeb4ea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9a821b3ae24b14" /><Relationship Type="http://schemas.openxmlformats.org/officeDocument/2006/relationships/notesSlide" Target="/ppt/notesSlides/notesSlide11.xml" Id="R437874ece63f408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89176fdf834b52" /><Relationship Type="http://schemas.openxmlformats.org/officeDocument/2006/relationships/notesSlide" Target="/ppt/notesSlides/notesSlide12.xml" Id="R2641825cede6450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9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4724B758-BB45-45C9-8A1F-6FFDCBFF8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0696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6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D5EFF48B-8441-4F56-B753-9645F2F3F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24000"/>
            <a:ext cx="561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1">
                <a:solidFill>
                  <a:srgbClr val="D7A23D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D7A23D"/>
                </a:solidFill>
                <a:latin typeface="NanumGothic"/>
                <a:ea typeface="NanumGothic"/>
                <a:cs typeface="NanumGothic"/>
              </a:rPr>
              <a:t>GAME GUIDE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ABB6B82-FD73-4ED2-A431-9AD46232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6096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7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속성 한방(Property Shot)</a:t>
            </a:r>
          </a:p>
        </p:txBody>
      </p:sp>
      <p:sp>
        <p:nvSpPr>
          <p:cNvPr id="4" name="cover-rule">
            <a:extLst xmlns:a="http://schemas.openxmlformats.org/drawingml/2006/main">
              <a:ext uri="{FF2B5EF4-FFF2-40B4-BE49-F238E27FC236}">
                <a16:creationId xmlns:a16="http://schemas.microsoft.com/office/drawing/2014/main" id="{0AFE86AA-20E1-4E84-8BBC-C13E7AD8E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b0dafe3b774694"/>
          <a:stretch xmlns:a="http://schemas.openxmlformats.org/drawingml/2006/main"/>
        </p:blipFill>
        <p:spPr>
          <a:xfrm xmlns:a="http://schemas.openxmlformats.org/drawingml/2006/main">
            <a:off x="3055200" y="4457700"/>
            <a:ext cx="1452450" cy="3143250"/>
          </a:xfrm>
          <a:prstGeom xmlns:a="http://schemas.openxmlformats.org/drawingml/2006/main" prst="roundRect">
            <a:avLst>
              <a:gd name="adj" fmla="val 5217"/>
            </a:avLst>
          </a:prstGeom>
        </p:spPr>
      </p:pic>
      <p:sp>
        <p:nvSpPr>
          <p:cNvPr id="6" name="cover-meta">
            <a:extLst xmlns:a="http://schemas.openxmlformats.org/drawingml/2006/main">
              <a:ext uri="{FF2B5EF4-FFF2-40B4-BE49-F238E27FC236}">
                <a16:creationId xmlns:a16="http://schemas.microsoft.com/office/drawing/2014/main" id="{AE943181-3CD1-4974-8DCD-A59DE784D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572500"/>
            <a:ext cx="581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NAN 2026 Game × AI 해커톤 사전 과제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2026-08-10</a:t>
            </a:r>
          </a:p>
        </p:txBody>
      </p:sp>
      <p:sp>
        <p:nvSpPr>
          <p:cNvPr id="7" name="cover-page">
            <a:extLst xmlns:a="http://schemas.openxmlformats.org/drawingml/2006/main">
              <a:ext uri="{FF2B5EF4-FFF2-40B4-BE49-F238E27FC236}">
                <a16:creationId xmlns:a16="http://schemas.microsoft.com/office/drawing/2014/main" id="{B6481D57-8A79-43A8-816D-F06E5DCEF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99631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908124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6F7FE889-B874-4C45-BB8F-91C8BFCD4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Game Guide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1B74107-C307-4457-94EF-142837D85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2193F4FF-133C-4B72-ACF1-923D1143B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52A12B2-69A3-4FDD-9A2A-4CDC4521E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1. 한눈에 보는 게임</a:t>
            </a:r>
          </a:p>
        </p:txBody>
      </p:sp>
      <p:sp>
        <p:nvSpPr>
          <p:cNvPr id="5" name="paragraph-140">
            <a:extLst xmlns:a="http://schemas.openxmlformats.org/drawingml/2006/main">
              <a:ext uri="{FF2B5EF4-FFF2-40B4-BE49-F238E27FC236}">
                <a16:creationId xmlns:a16="http://schemas.microsoft.com/office/drawing/2014/main" id="{527D3347-219E-4732-9AB3-8EEB1C719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속성 한방은 주변 사물의 물리 속성을 공에 옮기고, 속성이 비워진 원본과 이전 샷의 공까지 다음 해법으로 활용하는 세로형 물리 퍼즐이다.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258c40777f4c86"/>
          <a:stretch xmlns:a="http://schemas.openxmlformats.org/drawingml/2006/main"/>
        </p:blipFill>
        <p:spPr>
          <a:xfrm xmlns:a="http://schemas.openxmlformats.org/drawingml/2006/main">
            <a:off x="3055200" y="2025396"/>
            <a:ext cx="14524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7" name="image-caption-212.64">
            <a:extLst xmlns:a="http://schemas.openxmlformats.org/drawingml/2006/main">
              <a:ext uri="{FF2B5EF4-FFF2-40B4-BE49-F238E27FC236}">
                <a16:creationId xmlns:a16="http://schemas.microsoft.com/office/drawing/2014/main" id="{B42CD1B8-C368-4645-B48F-DD1DF3676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25796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속성 공을 조준해 장면의 상태를 바꾸는 실제 플레이 화면</a:t>
            </a:r>
          </a:p>
        </p:txBody>
      </p:sp>
      <p:sp>
        <p:nvSpPr>
          <p:cNvPr id="8" name="table-cell-596.64-0-0">
            <a:extLst xmlns:a="http://schemas.openxmlformats.org/drawingml/2006/main">
              <a:ext uri="{FF2B5EF4-FFF2-40B4-BE49-F238E27FC236}">
                <a16:creationId xmlns:a16="http://schemas.microsoft.com/office/drawing/2014/main" id="{3B94C196-887B-43B3-A03C-785B6BB48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82996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9" name="table-text-596.64-0-0">
            <a:extLst xmlns:a="http://schemas.openxmlformats.org/drawingml/2006/main">
              <a:ext uri="{FF2B5EF4-FFF2-40B4-BE49-F238E27FC236}">
                <a16:creationId xmlns:a16="http://schemas.microsoft.com/office/drawing/2014/main" id="{CDC73385-F1D1-46AC-B163-D256C2055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49671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항목</a:t>
            </a:r>
          </a:p>
        </p:txBody>
      </p:sp>
      <p:sp>
        <p:nvSpPr>
          <p:cNvPr id="10" name="table-cell-596.64-0-1">
            <a:extLst xmlns:a="http://schemas.openxmlformats.org/drawingml/2006/main">
              <a:ext uri="{FF2B5EF4-FFF2-40B4-BE49-F238E27FC236}">
                <a16:creationId xmlns:a16="http://schemas.microsoft.com/office/drawing/2014/main" id="{38D31CF6-98E2-49A3-86EA-6D79CDF5F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682996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1" name="table-text-596.64-0-1">
            <a:extLst xmlns:a="http://schemas.openxmlformats.org/drawingml/2006/main">
              <a:ext uri="{FF2B5EF4-FFF2-40B4-BE49-F238E27FC236}">
                <a16:creationId xmlns:a16="http://schemas.microsoft.com/office/drawing/2014/main" id="{B1ED4D95-5CE7-4DE6-8FF3-6CCF26EEC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749671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내용</a:t>
            </a:r>
          </a:p>
        </p:txBody>
      </p:sp>
      <p:sp>
        <p:nvSpPr>
          <p:cNvPr id="12" name="table-cell-596.64-1-0">
            <a:extLst xmlns:a="http://schemas.openxmlformats.org/drawingml/2006/main">
              <a:ext uri="{FF2B5EF4-FFF2-40B4-BE49-F238E27FC236}">
                <a16:creationId xmlns:a16="http://schemas.microsoft.com/office/drawing/2014/main" id="{FAE91728-DEC1-4339-BEE4-1266F45FC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40196"/>
            <a:ext cx="3248025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3" name="table-text-596.64-1-0">
            <a:extLst xmlns:a="http://schemas.openxmlformats.org/drawingml/2006/main">
              <a:ext uri="{FF2B5EF4-FFF2-40B4-BE49-F238E27FC236}">
                <a16:creationId xmlns:a16="http://schemas.microsoft.com/office/drawing/2014/main" id="{7A4683FB-C3A4-4877-9417-BF26E30EB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206871"/>
            <a:ext cx="3076575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무엇이 새로운가</a:t>
            </a:r>
          </a:p>
        </p:txBody>
      </p:sp>
      <p:sp>
        <p:nvSpPr>
          <p:cNvPr id="14" name="table-cell-596.64-1-1">
            <a:extLst xmlns:a="http://schemas.openxmlformats.org/drawingml/2006/main">
              <a:ext uri="{FF2B5EF4-FFF2-40B4-BE49-F238E27FC236}">
                <a16:creationId xmlns:a16="http://schemas.microsoft.com/office/drawing/2014/main" id="{C982B8F9-98C0-4EF7-BDEB-F13354959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6140196"/>
            <a:ext cx="3248025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5" name="table-text-596.64-1-1">
            <a:extLst xmlns:a="http://schemas.openxmlformats.org/drawingml/2006/main">
              <a:ext uri="{FF2B5EF4-FFF2-40B4-BE49-F238E27FC236}">
                <a16:creationId xmlns:a16="http://schemas.microsoft.com/office/drawing/2014/main" id="{94FEB157-3282-425B-916D-069625AE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6206871"/>
            <a:ext cx="3076575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방향과 힘뿐 아니라 ‘어떤 속성을 옮길지’와 ‘바뀐 장면을 다음 샷에 어떻게 쓸지’를 설계한다.</a:t>
            </a:r>
          </a:p>
        </p:txBody>
      </p:sp>
      <p:sp>
        <p:nvSpPr>
          <p:cNvPr id="16" name="table-cell-596.64-2-0">
            <a:extLst xmlns:a="http://schemas.openxmlformats.org/drawingml/2006/main">
              <a:ext uri="{FF2B5EF4-FFF2-40B4-BE49-F238E27FC236}">
                <a16:creationId xmlns:a16="http://schemas.microsoft.com/office/drawing/2014/main" id="{01AFEAAE-0956-40B4-A55F-A67245DB9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71691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7" name="table-text-596.64-2-0">
            <a:extLst xmlns:a="http://schemas.openxmlformats.org/drawingml/2006/main">
              <a:ext uri="{FF2B5EF4-FFF2-40B4-BE49-F238E27FC236}">
                <a16:creationId xmlns:a16="http://schemas.microsoft.com/office/drawing/2014/main" id="{6F086F18-2167-46C8-9CEC-9C278D5C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738366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무엇이 재미있는가</a:t>
            </a:r>
          </a:p>
        </p:txBody>
      </p:sp>
      <p:sp>
        <p:nvSpPr>
          <p:cNvPr id="18" name="table-cell-596.64-2-1">
            <a:extLst xmlns:a="http://schemas.openxmlformats.org/drawingml/2006/main">
              <a:ext uri="{FF2B5EF4-FFF2-40B4-BE49-F238E27FC236}">
                <a16:creationId xmlns:a16="http://schemas.microsoft.com/office/drawing/2014/main" id="{7424C1D2-91F9-4547-AB20-81D6D182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6671691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9" name="table-text-596.64-2-1">
            <a:extLst xmlns:a="http://schemas.openxmlformats.org/drawingml/2006/main">
              <a:ext uri="{FF2B5EF4-FFF2-40B4-BE49-F238E27FC236}">
                <a16:creationId xmlns:a16="http://schemas.microsoft.com/office/drawing/2014/main" id="{1C8ACE7E-620F-4183-9077-0E9E50628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6738366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실패한 샷도 잔류 공과 열린 문, 회전한 반사판을 남겨 다음 성공의 재료가 된다.</a:t>
            </a:r>
          </a:p>
        </p:txBody>
      </p:sp>
      <p:sp>
        <p:nvSpPr>
          <p:cNvPr id="20" name="table-cell-596.64-3-0">
            <a:extLst xmlns:a="http://schemas.openxmlformats.org/drawingml/2006/main">
              <a:ext uri="{FF2B5EF4-FFF2-40B4-BE49-F238E27FC236}">
                <a16:creationId xmlns:a16="http://schemas.microsoft.com/office/drawing/2014/main" id="{C941E46E-7735-4DA0-974C-F717F6C04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71741"/>
            <a:ext cx="3248025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1" name="table-text-596.64-3-0">
            <a:extLst xmlns:a="http://schemas.openxmlformats.org/drawingml/2006/main">
              <a:ext uri="{FF2B5EF4-FFF2-40B4-BE49-F238E27FC236}">
                <a16:creationId xmlns:a16="http://schemas.microsoft.com/office/drawing/2014/main" id="{3D4A9DEE-C595-4423-B7DE-082328A23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7138416"/>
            <a:ext cx="3076575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얼마나 완성됐는가</a:t>
            </a:r>
          </a:p>
        </p:txBody>
      </p:sp>
      <p:sp>
        <p:nvSpPr>
          <p:cNvPr id="22" name="table-cell-596.64-3-1">
            <a:extLst xmlns:a="http://schemas.openxmlformats.org/drawingml/2006/main">
              <a:ext uri="{FF2B5EF4-FFF2-40B4-BE49-F238E27FC236}">
                <a16:creationId xmlns:a16="http://schemas.microsoft.com/office/drawing/2014/main" id="{758F9FD1-F938-4211-B320-53695287A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7071741"/>
            <a:ext cx="3248025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3" name="table-text-596.64-3-1">
            <a:extLst xmlns:a="http://schemas.openxmlformats.org/drawingml/2006/main">
              <a:ext uri="{FF2B5EF4-FFF2-40B4-BE49-F238E27FC236}">
                <a16:creationId xmlns:a16="http://schemas.microsoft.com/office/drawing/2014/main" id="{42692C8E-7F72-4BDE-B9B6-7CE33F30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7138416"/>
            <a:ext cx="3076575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4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10단계 × 4패턴, 총 40개 퍼즐과 튜토리얼·힌트·난이도·보상·리플레이를 플레이할 수 있다.</a:t>
            </a:r>
          </a:p>
        </p:txBody>
      </p:sp>
      <p:sp>
        <p:nvSpPr>
          <p:cNvPr id="24" name="table-cell-596.64-4-0">
            <a:extLst xmlns:a="http://schemas.openxmlformats.org/drawingml/2006/main">
              <a:ext uri="{FF2B5EF4-FFF2-40B4-BE49-F238E27FC236}">
                <a16:creationId xmlns:a16="http://schemas.microsoft.com/office/drawing/2014/main" id="{18E5ADE9-D2DE-43D1-9259-FA6AA4C00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03236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5" name="table-text-596.64-4-0">
            <a:extLst xmlns:a="http://schemas.openxmlformats.org/drawingml/2006/main">
              <a:ext uri="{FF2B5EF4-FFF2-40B4-BE49-F238E27FC236}">
                <a16:creationId xmlns:a16="http://schemas.microsoft.com/office/drawing/2014/main" id="{6819C956-35B3-4B5C-821F-145C71777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7669911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한 판의 흐름</a:t>
            </a:r>
          </a:p>
        </p:txBody>
      </p:sp>
      <p:sp>
        <p:nvSpPr>
          <p:cNvPr id="26" name="table-cell-596.64-4-1">
            <a:extLst xmlns:a="http://schemas.openxmlformats.org/drawingml/2006/main">
              <a:ext uri="{FF2B5EF4-FFF2-40B4-BE49-F238E27FC236}">
                <a16:creationId xmlns:a16="http://schemas.microsoft.com/office/drawing/2014/main" id="{1DEA22FA-1C3F-4E37-8B6C-F70428941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7603236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7" name="table-text-596.64-4-1">
            <a:extLst xmlns:a="http://schemas.openxmlformats.org/drawingml/2006/main">
              <a:ext uri="{FF2B5EF4-FFF2-40B4-BE49-F238E27FC236}">
                <a16:creationId xmlns:a16="http://schemas.microsoft.com/office/drawing/2014/main" id="{6EDDBC8F-CC56-46D6-A1A7-A91812E5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7669911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속성 이전 → 기믹 연쇄 → 장면 상태 변화 → 홀 진입</a:t>
            </a:r>
          </a:p>
        </p:txBody>
      </p:sp>
    </p:spTree>
    <p:extLst>
      <p:ext uri="{BB962C8B-B14F-4D97-AF65-F5344CB8AC3E}">
        <p14:creationId xmlns:p14="http://schemas.microsoft.com/office/powerpoint/2010/main" val="168742770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0A3CABA5-F18C-4C44-90B6-E095985AA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Game Guide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2F63EB6-7004-4622-A9C7-ADF3F4A73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052E62A-0EAE-43BB-B62B-D55AC3849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B8F02D9-8941-4C39-A71B-15BA63DEA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2. 플레이어가 하는 일</a:t>
            </a:r>
          </a:p>
        </p:txBody>
      </p:sp>
      <p:sp>
        <p:nvSpPr>
          <p:cNvPr id="5" name="subheading-140">
            <a:extLst xmlns:a="http://schemas.openxmlformats.org/drawingml/2006/main">
              <a:ext uri="{FF2B5EF4-FFF2-40B4-BE49-F238E27FC236}">
                <a16:creationId xmlns:a16="http://schemas.microsoft.com/office/drawing/2014/main" id="{F08E893D-3B7D-42F0-ADD9-46C6B22C4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2.1 목표와 조작</a:t>
            </a:r>
          </a:p>
        </p:txBody>
      </p:sp>
      <p:sp>
        <p:nvSpPr>
          <p:cNvPr id="6" name="bullets-194">
            <a:extLst xmlns:a="http://schemas.openxmlformats.org/drawingml/2006/main">
              <a:ext uri="{FF2B5EF4-FFF2-40B4-BE49-F238E27FC236}">
                <a16:creationId xmlns:a16="http://schemas.microsoft.com/office/drawing/2014/main" id="{04B9A6C2-ABBD-4879-B337-F84403180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6496050" cy="2037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맵에서 무거움·탄성·점착·뾰족함 속성을 가진 오브젝트를 고른다.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속성을 공에 이전한다. 원본은 속성이 비워져 새로운 장면 상태가 된다.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드래그로 방향을 정하고 공을 길게 눌러 힘을 모은다.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초록 → 노랑 → 빨강 → 점멸 빨강 → 회색으로 바뀌는 게이지를 보고 발사한다.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공이 홀에 들어가면 성공한다. 실패해도 장치 상태와 잔류 공이 유지되어 다음 샷으로 이어진다.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79475efcb44f43"/>
          <a:stretch xmlns:a="http://schemas.openxmlformats.org/drawingml/2006/main"/>
        </p:blipFill>
        <p:spPr>
          <a:xfrm xmlns:a="http://schemas.openxmlformats.org/drawingml/2006/main">
            <a:off x="3055200" y="3980688"/>
            <a:ext cx="14524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8" name="image-caption-417.92">
            <a:extLst xmlns:a="http://schemas.openxmlformats.org/drawingml/2006/main">
              <a:ext uri="{FF2B5EF4-FFF2-40B4-BE49-F238E27FC236}">
                <a16:creationId xmlns:a16="http://schemas.microsoft.com/office/drawing/2014/main" id="{8DF2D1C7-388D-41BB-8508-D7936035C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181088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무거움 돌에서 속성을 이전하거나 복사하는 선택 화면</a:t>
            </a:r>
          </a:p>
        </p:txBody>
      </p:sp>
      <p:sp>
        <p:nvSpPr>
          <p:cNvPr id="9" name="subheading-801.9200000000001">
            <a:extLst xmlns:a="http://schemas.openxmlformats.org/drawingml/2006/main">
              <a:ext uri="{FF2B5EF4-FFF2-40B4-BE49-F238E27FC236}">
                <a16:creationId xmlns:a16="http://schemas.microsoft.com/office/drawing/2014/main" id="{05BE9696-8242-426E-A7A0-E6AD97C61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38288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2.2 한 번의 플레이 루프</a:t>
            </a:r>
          </a:p>
        </p:txBody>
      </p:sp>
      <p:sp>
        <p:nvSpPr>
          <p:cNvPr id="10" name="table-cell-855.9200000000001-0-0">
            <a:extLst xmlns:a="http://schemas.openxmlformats.org/drawingml/2006/main">
              <a:ext uri="{FF2B5EF4-FFF2-40B4-BE49-F238E27FC236}">
                <a16:creationId xmlns:a16="http://schemas.microsoft.com/office/drawing/2014/main" id="{ACAC2B4E-CB25-4B7D-A91B-10C700984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152638"/>
            <a:ext cx="162401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1" name="table-text-855.9200000000001-0-0">
            <a:extLst xmlns:a="http://schemas.openxmlformats.org/drawingml/2006/main">
              <a:ext uri="{FF2B5EF4-FFF2-40B4-BE49-F238E27FC236}">
                <a16:creationId xmlns:a16="http://schemas.microsoft.com/office/drawing/2014/main" id="{13358B33-53D5-4BA5-8B14-8FF8670C4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8219313"/>
            <a:ext cx="145256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관찰</a:t>
            </a:r>
          </a:p>
        </p:txBody>
      </p:sp>
      <p:sp>
        <p:nvSpPr>
          <p:cNvPr id="12" name="table-cell-855.9200000000001-0-1">
            <a:extLst xmlns:a="http://schemas.openxmlformats.org/drawingml/2006/main">
              <a:ext uri="{FF2B5EF4-FFF2-40B4-BE49-F238E27FC236}">
                <a16:creationId xmlns:a16="http://schemas.microsoft.com/office/drawing/2014/main" id="{E90E3C4D-2FBC-474D-9579-C21E36E63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413" y="8152638"/>
            <a:ext cx="162401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3" name="table-text-855.9200000000001-0-1">
            <a:extLst xmlns:a="http://schemas.openxmlformats.org/drawingml/2006/main">
              <a:ext uri="{FF2B5EF4-FFF2-40B4-BE49-F238E27FC236}">
                <a16:creationId xmlns:a16="http://schemas.microsoft.com/office/drawing/2014/main" id="{4AC94B15-178E-4DD0-A2F5-25EC919A2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138" y="8219313"/>
            <a:ext cx="145256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선택</a:t>
            </a:r>
          </a:p>
        </p:txBody>
      </p:sp>
      <p:sp>
        <p:nvSpPr>
          <p:cNvPr id="14" name="table-cell-855.9200000000001-0-2">
            <a:extLst xmlns:a="http://schemas.openxmlformats.org/drawingml/2006/main">
              <a:ext uri="{FF2B5EF4-FFF2-40B4-BE49-F238E27FC236}">
                <a16:creationId xmlns:a16="http://schemas.microsoft.com/office/drawing/2014/main" id="{5DACD40E-F5C4-4D2D-B619-417B82E05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8152638"/>
            <a:ext cx="162401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5" name="table-text-855.9200000000001-0-2">
            <a:extLst xmlns:a="http://schemas.openxmlformats.org/drawingml/2006/main">
              <a:ext uri="{FF2B5EF4-FFF2-40B4-BE49-F238E27FC236}">
                <a16:creationId xmlns:a16="http://schemas.microsoft.com/office/drawing/2014/main" id="{132B7857-3C6B-484C-9825-70774F167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8219313"/>
            <a:ext cx="145256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실행</a:t>
            </a:r>
          </a:p>
        </p:txBody>
      </p:sp>
      <p:sp>
        <p:nvSpPr>
          <p:cNvPr id="16" name="table-cell-855.9200000000001-0-3">
            <a:extLst xmlns:a="http://schemas.openxmlformats.org/drawingml/2006/main">
              <a:ext uri="{FF2B5EF4-FFF2-40B4-BE49-F238E27FC236}">
                <a16:creationId xmlns:a16="http://schemas.microsoft.com/office/drawing/2014/main" id="{E50777CD-5E8B-4F8E-814B-01E9ED4D3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5438" y="8152638"/>
            <a:ext cx="162401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7" name="table-text-855.9200000000001-0-3">
            <a:extLst xmlns:a="http://schemas.openxmlformats.org/drawingml/2006/main">
              <a:ext uri="{FF2B5EF4-FFF2-40B4-BE49-F238E27FC236}">
                <a16:creationId xmlns:a16="http://schemas.microsoft.com/office/drawing/2014/main" id="{A4E7E996-72ED-435D-81A3-FF95FCCAA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1163" y="8219313"/>
            <a:ext cx="145256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학습</a:t>
            </a:r>
          </a:p>
        </p:txBody>
      </p:sp>
      <p:sp>
        <p:nvSpPr>
          <p:cNvPr id="18" name="table-cell-855.9200000000001-1-0">
            <a:extLst xmlns:a="http://schemas.openxmlformats.org/drawingml/2006/main">
              <a:ext uri="{FF2B5EF4-FFF2-40B4-BE49-F238E27FC236}">
                <a16:creationId xmlns:a16="http://schemas.microsoft.com/office/drawing/2014/main" id="{615933B2-0BC0-4355-9E10-2C6CC42CB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09838"/>
            <a:ext cx="1624013" cy="5057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9" name="table-text-855.9200000000001-1-0">
            <a:extLst xmlns:a="http://schemas.openxmlformats.org/drawingml/2006/main">
              <a:ext uri="{FF2B5EF4-FFF2-40B4-BE49-F238E27FC236}">
                <a16:creationId xmlns:a16="http://schemas.microsoft.com/office/drawing/2014/main" id="{429E6489-F4D0-4AB9-97B2-EB5171A8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8676513"/>
            <a:ext cx="1452563" cy="372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홀과 장애물, 속성 원본을 읽는다</a:t>
            </a:r>
          </a:p>
        </p:txBody>
      </p:sp>
      <p:sp>
        <p:nvSpPr>
          <p:cNvPr id="20" name="table-cell-855.9200000000001-1-1">
            <a:extLst xmlns:a="http://schemas.openxmlformats.org/drawingml/2006/main">
              <a:ext uri="{FF2B5EF4-FFF2-40B4-BE49-F238E27FC236}">
                <a16:creationId xmlns:a16="http://schemas.microsoft.com/office/drawing/2014/main" id="{A1960285-E2B2-45C9-A7F1-DA7F9D806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413" y="8609838"/>
            <a:ext cx="1624013" cy="5057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1" name="table-text-855.9200000000001-1-1">
            <a:extLst xmlns:a="http://schemas.openxmlformats.org/drawingml/2006/main">
              <a:ext uri="{FF2B5EF4-FFF2-40B4-BE49-F238E27FC236}">
                <a16:creationId xmlns:a16="http://schemas.microsoft.com/office/drawing/2014/main" id="{E892F79A-CAD8-4EE0-99E3-81CE97F5C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138" y="8676513"/>
            <a:ext cx="1452563" cy="372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옮길 속성과 경로를 정한다</a:t>
            </a:r>
          </a:p>
        </p:txBody>
      </p:sp>
      <p:sp>
        <p:nvSpPr>
          <p:cNvPr id="22" name="table-cell-855.9200000000001-1-2">
            <a:extLst xmlns:a="http://schemas.openxmlformats.org/drawingml/2006/main">
              <a:ext uri="{FF2B5EF4-FFF2-40B4-BE49-F238E27FC236}">
                <a16:creationId xmlns:a16="http://schemas.microsoft.com/office/drawing/2014/main" id="{54E803A2-4492-4E1B-82B1-1FC1762D1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8609838"/>
            <a:ext cx="1624013" cy="5057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3" name="table-text-855.9200000000001-1-2">
            <a:extLst xmlns:a="http://schemas.openxmlformats.org/drawingml/2006/main">
              <a:ext uri="{FF2B5EF4-FFF2-40B4-BE49-F238E27FC236}">
                <a16:creationId xmlns:a16="http://schemas.microsoft.com/office/drawing/2014/main" id="{E90863DC-938D-4AE9-9114-24A8BD212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8676513"/>
            <a:ext cx="1452563" cy="372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방향·힘을 조절해 발사한다</a:t>
            </a:r>
          </a:p>
        </p:txBody>
      </p:sp>
      <p:sp>
        <p:nvSpPr>
          <p:cNvPr id="24" name="table-cell-855.9200000000001-1-3">
            <a:extLst xmlns:a="http://schemas.openxmlformats.org/drawingml/2006/main">
              <a:ext uri="{FF2B5EF4-FFF2-40B4-BE49-F238E27FC236}">
                <a16:creationId xmlns:a16="http://schemas.microsoft.com/office/drawing/2014/main" id="{3B86EC11-7461-4DDC-B832-42EEE200E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5438" y="8609838"/>
            <a:ext cx="1624013" cy="5057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5" name="table-text-855.9200000000001-1-3">
            <a:extLst xmlns:a="http://schemas.openxmlformats.org/drawingml/2006/main">
              <a:ext uri="{FF2B5EF4-FFF2-40B4-BE49-F238E27FC236}">
                <a16:creationId xmlns:a16="http://schemas.microsoft.com/office/drawing/2014/main" id="{DB36D539-BF50-42EF-8AAB-CEAADC3B5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1163" y="8676513"/>
            <a:ext cx="1452563" cy="372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남은 공과 바뀐 장면으로 다음 해법을 만든다</a:t>
            </a:r>
          </a:p>
        </p:txBody>
      </p:sp>
      <p:sp>
        <p:nvSpPr>
          <p:cNvPr id="26" name="paragraph-973.0200000000001">
            <a:extLst xmlns:a="http://schemas.openxmlformats.org/drawingml/2006/main">
              <a:ext uri="{FF2B5EF4-FFF2-40B4-BE49-F238E27FC236}">
                <a16:creationId xmlns:a16="http://schemas.microsoft.com/office/drawing/2014/main" id="{6A78F7C4-17B0-401C-B7D5-9FB5618F5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268016"/>
            <a:ext cx="6496050" cy="3459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이 구조 덕분에 정답을 외우는 게임보다 ‘물리 상태를 편집하는 퍼즐’에 가깝다.</a:t>
            </a:r>
          </a:p>
        </p:txBody>
      </p:sp>
    </p:spTree>
    <p:extLst>
      <p:ext uri="{BB962C8B-B14F-4D97-AF65-F5344CB8AC3E}">
        <p14:creationId xmlns:p14="http://schemas.microsoft.com/office/powerpoint/2010/main" val="168082539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D21CBFCD-5C89-41CC-AA31-303EDBE67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Game Guide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99E85A3-3A1B-4AAD-93CC-85C5A755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18A0DA0A-F15F-4AA5-95E4-8196ED82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6C5E204-7944-4CFE-9F12-3DA54E749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3. 핵심 기믹과 학습 곡선</a:t>
            </a:r>
          </a:p>
        </p:txBody>
      </p:sp>
      <p:sp>
        <p:nvSpPr>
          <p:cNvPr id="5" name="subheading-140">
            <a:extLst xmlns:a="http://schemas.openxmlformats.org/drawingml/2006/main">
              <a:ext uri="{FF2B5EF4-FFF2-40B4-BE49-F238E27FC236}">
                <a16:creationId xmlns:a16="http://schemas.microsoft.com/office/drawing/2014/main" id="{BE49AC7F-99C3-41EB-91F3-D749798CE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3.1 네 가지 속성</a:t>
            </a:r>
          </a:p>
        </p:txBody>
      </p:sp>
      <p:sp>
        <p:nvSpPr>
          <p:cNvPr id="6" name="table-cell-194-0-0">
            <a:extLst xmlns:a="http://schemas.openxmlformats.org/drawingml/2006/main">
              <a:ext uri="{FF2B5EF4-FFF2-40B4-BE49-F238E27FC236}">
                <a16:creationId xmlns:a16="http://schemas.microsoft.com/office/drawing/2014/main" id="{8CF7C067-6D89-4A29-BB80-51ED59705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7" name="table-text-194-0-0">
            <a:extLst xmlns:a="http://schemas.openxmlformats.org/drawingml/2006/main">
              <a:ext uri="{FF2B5EF4-FFF2-40B4-BE49-F238E27FC236}">
                <a16:creationId xmlns:a16="http://schemas.microsoft.com/office/drawing/2014/main" id="{0B5801B3-7E88-4756-BA74-2173E3A53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14525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속성</a:t>
            </a:r>
          </a:p>
        </p:txBody>
      </p:sp>
      <p:sp>
        <p:nvSpPr>
          <p:cNvPr id="8" name="table-cell-194-0-1">
            <a:extLst xmlns:a="http://schemas.openxmlformats.org/drawingml/2006/main">
              <a:ext uri="{FF2B5EF4-FFF2-40B4-BE49-F238E27FC236}">
                <a16:creationId xmlns:a16="http://schemas.microsoft.com/office/drawing/2014/main" id="{C17524F3-4418-4D5E-A4D8-9F306DD17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1847850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9" name="table-text-194-0-1">
            <a:extLst xmlns:a="http://schemas.openxmlformats.org/drawingml/2006/main">
              <a:ext uri="{FF2B5EF4-FFF2-40B4-BE49-F238E27FC236}">
                <a16:creationId xmlns:a16="http://schemas.microsoft.com/office/drawing/2014/main" id="{E40CBDED-A0F1-48A7-8990-163BE2D02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1914525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플레이 변화</a:t>
            </a:r>
          </a:p>
        </p:txBody>
      </p:sp>
      <p:sp>
        <p:nvSpPr>
          <p:cNvPr id="10" name="table-cell-194-0-2">
            <a:extLst xmlns:a="http://schemas.openxmlformats.org/drawingml/2006/main">
              <a:ext uri="{FF2B5EF4-FFF2-40B4-BE49-F238E27FC236}">
                <a16:creationId xmlns:a16="http://schemas.microsoft.com/office/drawing/2014/main" id="{8B0A7A1D-01EC-45AF-8022-CF3791DC8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1847850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1" name="table-text-194-0-2">
            <a:extLst xmlns:a="http://schemas.openxmlformats.org/drawingml/2006/main">
              <a:ext uri="{FF2B5EF4-FFF2-40B4-BE49-F238E27FC236}">
                <a16:creationId xmlns:a16="http://schemas.microsoft.com/office/drawing/2014/main" id="{AF2E921C-0F55-4748-8DA8-518B4F5A1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1914525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대표 학습</a:t>
            </a:r>
          </a:p>
        </p:txBody>
      </p:sp>
      <p:sp>
        <p:nvSpPr>
          <p:cNvPr id="12" name="table-cell-194-1-0">
            <a:extLst xmlns:a="http://schemas.openxmlformats.org/drawingml/2006/main">
              <a:ext uri="{FF2B5EF4-FFF2-40B4-BE49-F238E27FC236}">
                <a16:creationId xmlns:a16="http://schemas.microsoft.com/office/drawing/2014/main" id="{BFCE20E9-73CE-4806-86D4-6D7EB532F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3" name="table-text-194-1-0">
            <a:extLst xmlns:a="http://schemas.openxmlformats.org/drawingml/2006/main">
              <a:ext uri="{FF2B5EF4-FFF2-40B4-BE49-F238E27FC236}">
                <a16:creationId xmlns:a16="http://schemas.microsoft.com/office/drawing/2014/main" id="{727B9F7E-F2F3-47D5-A160-AC8F41B0B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717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무거움</a:t>
            </a:r>
          </a:p>
        </p:txBody>
      </p:sp>
      <p:sp>
        <p:nvSpPr>
          <p:cNvPr id="14" name="table-cell-194-1-1">
            <a:extLst xmlns:a="http://schemas.openxmlformats.org/drawingml/2006/main">
              <a:ext uri="{FF2B5EF4-FFF2-40B4-BE49-F238E27FC236}">
                <a16:creationId xmlns:a16="http://schemas.microsoft.com/office/drawing/2014/main" id="{EEF87FFF-91DA-441C-A116-82D5A24FC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23050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5" name="table-text-194-1-1">
            <a:extLst xmlns:a="http://schemas.openxmlformats.org/drawingml/2006/main">
              <a:ext uri="{FF2B5EF4-FFF2-40B4-BE49-F238E27FC236}">
                <a16:creationId xmlns:a16="http://schemas.microsoft.com/office/drawing/2014/main" id="{B796AF94-E914-4F4E-BDAF-815DD4AC8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23717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상자·스위치에 큰 운동량 전달</a:t>
            </a:r>
          </a:p>
        </p:txBody>
      </p:sp>
      <p:sp>
        <p:nvSpPr>
          <p:cNvPr id="16" name="table-cell-194-1-2">
            <a:extLst xmlns:a="http://schemas.openxmlformats.org/drawingml/2006/main">
              <a:ext uri="{FF2B5EF4-FFF2-40B4-BE49-F238E27FC236}">
                <a16:creationId xmlns:a16="http://schemas.microsoft.com/office/drawing/2014/main" id="{F348ACF1-A1E8-4FF6-AA2B-A1BD31B7C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23050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7" name="table-text-194-1-2">
            <a:extLst xmlns:a="http://schemas.openxmlformats.org/drawingml/2006/main">
              <a:ext uri="{FF2B5EF4-FFF2-40B4-BE49-F238E27FC236}">
                <a16:creationId xmlns:a16="http://schemas.microsoft.com/office/drawing/2014/main" id="{55F4347B-77A7-476D-8AC3-F685290A2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23717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힘으로 장면을 바꾸기</a:t>
            </a:r>
          </a:p>
        </p:txBody>
      </p:sp>
      <p:sp>
        <p:nvSpPr>
          <p:cNvPr id="18" name="table-cell-194-2-0">
            <a:extLst xmlns:a="http://schemas.openxmlformats.org/drawingml/2006/main">
              <a:ext uri="{FF2B5EF4-FFF2-40B4-BE49-F238E27FC236}">
                <a16:creationId xmlns:a16="http://schemas.microsoft.com/office/drawing/2014/main" id="{8ECF1177-8142-407A-BCF0-115764BF9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0510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9" name="table-text-194-2-0">
            <a:extLst xmlns:a="http://schemas.openxmlformats.org/drawingml/2006/main">
              <a:ext uri="{FF2B5EF4-FFF2-40B4-BE49-F238E27FC236}">
                <a16:creationId xmlns:a16="http://schemas.microsoft.com/office/drawing/2014/main" id="{BD6FEAE8-5D94-46C4-842E-6CA085017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77177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탄성</a:t>
            </a:r>
          </a:p>
        </p:txBody>
      </p:sp>
      <p:sp>
        <p:nvSpPr>
          <p:cNvPr id="20" name="table-cell-194-2-1">
            <a:extLst xmlns:a="http://schemas.openxmlformats.org/drawingml/2006/main">
              <a:ext uri="{FF2B5EF4-FFF2-40B4-BE49-F238E27FC236}">
                <a16:creationId xmlns:a16="http://schemas.microsoft.com/office/drawing/2014/main" id="{F5E6A93E-2C4E-4504-943B-BA1508CDA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270510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1" name="table-text-194-2-1">
            <a:extLst xmlns:a="http://schemas.openxmlformats.org/drawingml/2006/main">
              <a:ext uri="{FF2B5EF4-FFF2-40B4-BE49-F238E27FC236}">
                <a16:creationId xmlns:a16="http://schemas.microsoft.com/office/drawing/2014/main" id="{0EE5FFD0-7840-460E-BFA9-316BA1986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277177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벽과 범퍼에서 반사 에너지 유지</a:t>
            </a:r>
          </a:p>
        </p:txBody>
      </p:sp>
      <p:sp>
        <p:nvSpPr>
          <p:cNvPr id="22" name="table-cell-194-2-2">
            <a:extLst xmlns:a="http://schemas.openxmlformats.org/drawingml/2006/main">
              <a:ext uri="{FF2B5EF4-FFF2-40B4-BE49-F238E27FC236}">
                <a16:creationId xmlns:a16="http://schemas.microsoft.com/office/drawing/2014/main" id="{82A0434E-078B-4DA4-B25C-79DFA2D6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270510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3" name="table-text-194-2-2">
            <a:extLst xmlns:a="http://schemas.openxmlformats.org/drawingml/2006/main">
              <a:ext uri="{FF2B5EF4-FFF2-40B4-BE49-F238E27FC236}">
                <a16:creationId xmlns:a16="http://schemas.microsoft.com/office/drawing/2014/main" id="{1F8C95DA-F130-4C42-B40B-5C03BECFC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277177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직선이 아닌 경로 만들기</a:t>
            </a:r>
          </a:p>
        </p:txBody>
      </p:sp>
      <p:sp>
        <p:nvSpPr>
          <p:cNvPr id="24" name="table-cell-194-3-0">
            <a:extLst xmlns:a="http://schemas.openxmlformats.org/drawingml/2006/main">
              <a:ext uri="{FF2B5EF4-FFF2-40B4-BE49-F238E27FC236}">
                <a16:creationId xmlns:a16="http://schemas.microsoft.com/office/drawing/2014/main" id="{18923242-DEA0-406E-8B3E-741ABF269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051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5" name="table-text-194-3-0">
            <a:extLst xmlns:a="http://schemas.openxmlformats.org/drawingml/2006/main">
              <a:ext uri="{FF2B5EF4-FFF2-40B4-BE49-F238E27FC236}">
                <a16:creationId xmlns:a16="http://schemas.microsoft.com/office/drawing/2014/main" id="{831790F1-1204-42C4-8A34-8F05F80DE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1718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점착</a:t>
            </a:r>
          </a:p>
        </p:txBody>
      </p:sp>
      <p:sp>
        <p:nvSpPr>
          <p:cNvPr id="26" name="table-cell-194-3-1">
            <a:extLst xmlns:a="http://schemas.openxmlformats.org/drawingml/2006/main">
              <a:ext uri="{FF2B5EF4-FFF2-40B4-BE49-F238E27FC236}">
                <a16:creationId xmlns:a16="http://schemas.microsoft.com/office/drawing/2014/main" id="{76E845BE-7B5B-4D83-9688-38ADF0FCA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31051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7" name="table-text-194-3-1">
            <a:extLst xmlns:a="http://schemas.openxmlformats.org/drawingml/2006/main">
              <a:ext uri="{FF2B5EF4-FFF2-40B4-BE49-F238E27FC236}">
                <a16:creationId xmlns:a16="http://schemas.microsoft.com/office/drawing/2014/main" id="{E4D29266-D821-4C5F-BECA-2BCD13AC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31718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표면에 붙어 다음 샷의 발판이 됨</a:t>
            </a:r>
          </a:p>
        </p:txBody>
      </p:sp>
      <p:sp>
        <p:nvSpPr>
          <p:cNvPr id="28" name="table-cell-194-3-2">
            <a:extLst xmlns:a="http://schemas.openxmlformats.org/drawingml/2006/main">
              <a:ext uri="{FF2B5EF4-FFF2-40B4-BE49-F238E27FC236}">
                <a16:creationId xmlns:a16="http://schemas.microsoft.com/office/drawing/2014/main" id="{F2D51CE5-753F-4A1F-8E3E-BFB4437C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31051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9" name="table-text-194-3-2">
            <a:extLst xmlns:a="http://schemas.openxmlformats.org/drawingml/2006/main">
              <a:ext uri="{FF2B5EF4-FFF2-40B4-BE49-F238E27FC236}">
                <a16:creationId xmlns:a16="http://schemas.microsoft.com/office/drawing/2014/main" id="{4748E944-3A17-4231-904F-0836F9D7A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31718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첫 샷을 두 번째 샷의 도구로 사용</a:t>
            </a:r>
          </a:p>
        </p:txBody>
      </p:sp>
      <p:sp>
        <p:nvSpPr>
          <p:cNvPr id="30" name="table-cell-194-4-0">
            <a:extLst xmlns:a="http://schemas.openxmlformats.org/drawingml/2006/main">
              <a:ext uri="{FF2B5EF4-FFF2-40B4-BE49-F238E27FC236}">
                <a16:creationId xmlns:a16="http://schemas.microsoft.com/office/drawing/2014/main" id="{C5733415-8038-41EB-8D50-F1D18A02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0520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1" name="table-text-194-4-0">
            <a:extLst xmlns:a="http://schemas.openxmlformats.org/drawingml/2006/main">
              <a:ext uri="{FF2B5EF4-FFF2-40B4-BE49-F238E27FC236}">
                <a16:creationId xmlns:a16="http://schemas.microsoft.com/office/drawing/2014/main" id="{CE11A12E-B4BC-4974-B3F3-1FF15DF43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57187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뾰족함</a:t>
            </a:r>
          </a:p>
        </p:txBody>
      </p:sp>
      <p:sp>
        <p:nvSpPr>
          <p:cNvPr id="32" name="table-cell-194-4-1">
            <a:extLst xmlns:a="http://schemas.openxmlformats.org/drawingml/2006/main">
              <a:ext uri="{FF2B5EF4-FFF2-40B4-BE49-F238E27FC236}">
                <a16:creationId xmlns:a16="http://schemas.microsoft.com/office/drawing/2014/main" id="{4F9850A9-833C-4D74-9EA5-A0931F931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350520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3" name="table-text-194-4-1">
            <a:extLst xmlns:a="http://schemas.openxmlformats.org/drawingml/2006/main">
              <a:ext uri="{FF2B5EF4-FFF2-40B4-BE49-F238E27FC236}">
                <a16:creationId xmlns:a16="http://schemas.microsoft.com/office/drawing/2014/main" id="{BE45D178-519F-4ABE-B1F4-35047B4C6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357187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풍선을 터뜨려 숨은 장치를 노출</a:t>
            </a:r>
          </a:p>
        </p:txBody>
      </p:sp>
      <p:sp>
        <p:nvSpPr>
          <p:cNvPr id="34" name="table-cell-194-4-2">
            <a:extLst xmlns:a="http://schemas.openxmlformats.org/drawingml/2006/main">
              <a:ext uri="{FF2B5EF4-FFF2-40B4-BE49-F238E27FC236}">
                <a16:creationId xmlns:a16="http://schemas.microsoft.com/office/drawing/2014/main" id="{63D144BB-9CBE-45C4-80BA-7BAA06108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350520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5" name="table-text-194-4-2">
            <a:extLst xmlns:a="http://schemas.openxmlformats.org/drawingml/2006/main">
              <a:ext uri="{FF2B5EF4-FFF2-40B4-BE49-F238E27FC236}">
                <a16:creationId xmlns:a16="http://schemas.microsoft.com/office/drawing/2014/main" id="{E8358849-C5BE-423D-8AAB-C9FE78F25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357187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속성 → 기물 → 문 연쇄 이해</a:t>
            </a:r>
          </a:p>
        </p:txBody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bc3b427c7442ff"/>
          <a:stretch xmlns:a="http://schemas.openxmlformats.org/drawingml/2006/main"/>
        </p:blipFill>
        <p:spPr>
          <a:xfrm xmlns:a="http://schemas.openxmlformats.org/drawingml/2006/main">
            <a:off x="2209800" y="4057650"/>
            <a:ext cx="31432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37" name="image-caption-426">
            <a:extLst xmlns:a="http://schemas.openxmlformats.org/drawingml/2006/main">
              <a:ext uri="{FF2B5EF4-FFF2-40B4-BE49-F238E27FC236}">
                <a16:creationId xmlns:a16="http://schemas.microsoft.com/office/drawing/2014/main" id="{4143FB9C-6559-45CA-BB1D-0EB36B3DF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58050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운동량 전달을 상징하는 무거움 돌</a:t>
            </a:r>
          </a:p>
        </p:txBody>
      </p:sp>
    </p:spTree>
    <p:extLst>
      <p:ext uri="{BB962C8B-B14F-4D97-AF65-F5344CB8AC3E}">
        <p14:creationId xmlns:p14="http://schemas.microsoft.com/office/powerpoint/2010/main" val="51623276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BA90B740-9729-4DFF-80D1-B14C9133B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Game Guide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5EAAE15-1D02-4D25-A5CE-BCADBBE6C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5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ED32C754-81CA-4900-BD62-B06853AC9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621D32E-B5DE-47EE-A92F-C3401D9BD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3. 핵심 기믹과 학습 곡선 · 계속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c32311650f40be"/>
          <a:stretch xmlns:a="http://schemas.openxmlformats.org/drawingml/2006/main"/>
        </p:blipFill>
        <p:spPr>
          <a:xfrm xmlns:a="http://schemas.openxmlformats.org/drawingml/2006/main">
            <a:off x="2209800" y="1333500"/>
            <a:ext cx="31432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6" name="image-caption-140">
            <a:extLst xmlns:a="http://schemas.openxmlformats.org/drawingml/2006/main">
              <a:ext uri="{FF2B5EF4-FFF2-40B4-BE49-F238E27FC236}">
                <a16:creationId xmlns:a16="http://schemas.microsoft.com/office/drawing/2014/main" id="{5BACDCB8-D761-4E52-8382-4FADA298E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벽 반사를 상징하는 탄성 젤리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3aadf0d62e4a5d"/>
          <a:stretch xmlns:a="http://schemas.openxmlformats.org/drawingml/2006/main"/>
        </p:blipFill>
        <p:spPr>
          <a:xfrm xmlns:a="http://schemas.openxmlformats.org/drawingml/2006/main">
            <a:off x="3055200" y="4991100"/>
            <a:ext cx="14524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8" name="image-caption-524">
            <a:extLst xmlns:a="http://schemas.openxmlformats.org/drawingml/2006/main">
              <a:ext uri="{FF2B5EF4-FFF2-40B4-BE49-F238E27FC236}">
                <a16:creationId xmlns:a16="http://schemas.microsoft.com/office/drawing/2014/main" id="{3A2817FD-0674-4A53-84AE-04DBEEBCC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91500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뾰족함 공이 풍선과 문 연쇄를 준비하는 4단계</a:t>
            </a:r>
          </a:p>
        </p:txBody>
      </p:sp>
    </p:spTree>
    <p:extLst>
      <p:ext uri="{BB962C8B-B14F-4D97-AF65-F5344CB8AC3E}">
        <p14:creationId xmlns:p14="http://schemas.microsoft.com/office/powerpoint/2010/main" val="13657582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275D85BD-7D4F-4725-BC1A-3DBCAA21C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Game Guide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B1A6EB6-E7B3-4B05-8C49-FACABCFEA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6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6268DC42-3F51-4AFC-948C-64F2AC507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37659DC-05F9-4FE5-B255-C7C704832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3. 핵심 기믹과 학습 곡선 · 계속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a778a5232143c6"/>
          <a:stretch xmlns:a="http://schemas.openxmlformats.org/drawingml/2006/main"/>
        </p:blipFill>
        <p:spPr>
          <a:xfrm xmlns:a="http://schemas.openxmlformats.org/drawingml/2006/main">
            <a:off x="3055200" y="1333500"/>
            <a:ext cx="14524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6" name="image-caption-140">
            <a:extLst xmlns:a="http://schemas.openxmlformats.org/drawingml/2006/main">
              <a:ext uri="{FF2B5EF4-FFF2-40B4-BE49-F238E27FC236}">
                <a16:creationId xmlns:a16="http://schemas.microsoft.com/office/drawing/2014/main" id="{4824738F-F13F-439A-B6EE-C3256C182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점착과 잔류 공 활용을 배우는 3단계의 시작 배치</a:t>
            </a:r>
          </a:p>
        </p:txBody>
      </p:sp>
      <p:sp>
        <p:nvSpPr>
          <p:cNvPr id="7" name="subheading-524">
            <a:extLst xmlns:a="http://schemas.openxmlformats.org/drawingml/2006/main">
              <a:ext uri="{FF2B5EF4-FFF2-40B4-BE49-F238E27FC236}">
                <a16:creationId xmlns:a16="http://schemas.microsoft.com/office/drawing/2014/main" id="{96B975A0-5E9D-407E-8A4C-1C36A9A52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91100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3.2 10단계 진행 구조</a:t>
            </a:r>
          </a:p>
        </p:txBody>
      </p:sp>
      <p:sp>
        <p:nvSpPr>
          <p:cNvPr id="8" name="table-cell-578-0-0">
            <a:extLst xmlns:a="http://schemas.openxmlformats.org/drawingml/2006/main">
              <a:ext uri="{FF2B5EF4-FFF2-40B4-BE49-F238E27FC236}">
                <a16:creationId xmlns:a16="http://schemas.microsoft.com/office/drawing/2014/main" id="{80F19F43-122B-46D9-ABE8-4F349B67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05450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9" name="table-text-578-0-0">
            <a:extLst xmlns:a="http://schemas.openxmlformats.org/drawingml/2006/main">
              <a:ext uri="{FF2B5EF4-FFF2-40B4-BE49-F238E27FC236}">
                <a16:creationId xmlns:a16="http://schemas.microsoft.com/office/drawing/2014/main" id="{169A2889-FC50-4182-84A6-0AFBD8BA9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572125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단계</a:t>
            </a:r>
          </a:p>
        </p:txBody>
      </p:sp>
      <p:sp>
        <p:nvSpPr>
          <p:cNvPr id="10" name="table-cell-578-0-1">
            <a:extLst xmlns:a="http://schemas.openxmlformats.org/drawingml/2006/main">
              <a:ext uri="{FF2B5EF4-FFF2-40B4-BE49-F238E27FC236}">
                <a16:creationId xmlns:a16="http://schemas.microsoft.com/office/drawing/2014/main" id="{7056463B-B12C-40D7-8A82-127C1A88F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5505450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1" name="table-text-578-0-1">
            <a:extLst xmlns:a="http://schemas.openxmlformats.org/drawingml/2006/main">
              <a:ext uri="{FF2B5EF4-FFF2-40B4-BE49-F238E27FC236}">
                <a16:creationId xmlns:a16="http://schemas.microsoft.com/office/drawing/2014/main" id="{D83125F1-8837-44DA-A1EE-46FBA615D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5572125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새로 배우는 규칙</a:t>
            </a:r>
          </a:p>
        </p:txBody>
      </p:sp>
      <p:sp>
        <p:nvSpPr>
          <p:cNvPr id="12" name="table-cell-578-0-2">
            <a:extLst xmlns:a="http://schemas.openxmlformats.org/drawingml/2006/main">
              <a:ext uri="{FF2B5EF4-FFF2-40B4-BE49-F238E27FC236}">
                <a16:creationId xmlns:a16="http://schemas.microsoft.com/office/drawing/2014/main" id="{85183A8A-4B5B-4DEF-9BEC-7C4B9CBE8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5505450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3" name="table-text-578-0-2">
            <a:extLst xmlns:a="http://schemas.openxmlformats.org/drawingml/2006/main">
              <a:ext uri="{FF2B5EF4-FFF2-40B4-BE49-F238E27FC236}">
                <a16:creationId xmlns:a16="http://schemas.microsoft.com/office/drawing/2014/main" id="{9CD99561-177C-4D55-9699-0C80759ED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5572125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플레이어가 만드는 변화</a:t>
            </a:r>
          </a:p>
        </p:txBody>
      </p:sp>
      <p:sp>
        <p:nvSpPr>
          <p:cNvPr id="14" name="table-cell-578-1-0">
            <a:extLst xmlns:a="http://schemas.openxmlformats.org/drawingml/2006/main">
              <a:ext uri="{FF2B5EF4-FFF2-40B4-BE49-F238E27FC236}">
                <a16:creationId xmlns:a16="http://schemas.microsoft.com/office/drawing/2014/main" id="{7FFCCF85-43EE-4B8E-968C-68DCC1AB6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626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5" name="table-text-578-1-0">
            <a:extLst xmlns:a="http://schemas.openxmlformats.org/drawingml/2006/main">
              <a:ext uri="{FF2B5EF4-FFF2-40B4-BE49-F238E27FC236}">
                <a16:creationId xmlns:a16="http://schemas.microsoft.com/office/drawing/2014/main" id="{084CD465-3B19-4536-9252-051E4DF95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0293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1–2</a:t>
            </a:r>
          </a:p>
        </p:txBody>
      </p:sp>
      <p:sp>
        <p:nvSpPr>
          <p:cNvPr id="16" name="table-cell-578-1-1">
            <a:extLst xmlns:a="http://schemas.openxmlformats.org/drawingml/2006/main">
              <a:ext uri="{FF2B5EF4-FFF2-40B4-BE49-F238E27FC236}">
                <a16:creationId xmlns:a16="http://schemas.microsoft.com/office/drawing/2014/main" id="{76999E7B-680F-4069-AFC7-8A4ED8227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59626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7" name="table-text-578-1-1">
            <a:extLst xmlns:a="http://schemas.openxmlformats.org/drawingml/2006/main">
              <a:ext uri="{FF2B5EF4-FFF2-40B4-BE49-F238E27FC236}">
                <a16:creationId xmlns:a16="http://schemas.microsoft.com/office/drawing/2014/main" id="{E78EDB2C-4A32-489E-A2C8-C25F0530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60293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무거움, 탄성</a:t>
            </a:r>
          </a:p>
        </p:txBody>
      </p:sp>
      <p:sp>
        <p:nvSpPr>
          <p:cNvPr id="18" name="table-cell-578-1-2">
            <a:extLst xmlns:a="http://schemas.openxmlformats.org/drawingml/2006/main">
              <a:ext uri="{FF2B5EF4-FFF2-40B4-BE49-F238E27FC236}">
                <a16:creationId xmlns:a16="http://schemas.microsoft.com/office/drawing/2014/main" id="{33B8ED01-91E2-4723-A254-76E46DAC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59626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9" name="table-text-578-1-2">
            <a:extLst xmlns:a="http://schemas.openxmlformats.org/drawingml/2006/main">
              <a:ext uri="{FF2B5EF4-FFF2-40B4-BE49-F238E27FC236}">
                <a16:creationId xmlns:a16="http://schemas.microsoft.com/office/drawing/2014/main" id="{6A6482EC-EF13-4881-9DB0-8A6501A50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60293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상자를 밀고 벽 반사 경로를 만든다</a:t>
            </a:r>
          </a:p>
        </p:txBody>
      </p:sp>
      <p:sp>
        <p:nvSpPr>
          <p:cNvPr id="20" name="table-cell-578-2-0">
            <a:extLst xmlns:a="http://schemas.openxmlformats.org/drawingml/2006/main">
              <a:ext uri="{FF2B5EF4-FFF2-40B4-BE49-F238E27FC236}">
                <a16:creationId xmlns:a16="http://schemas.microsoft.com/office/drawing/2014/main" id="{5FE8919A-53B1-45C1-9F54-D819AD6F0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1" name="table-text-578-2-0">
            <a:extLst xmlns:a="http://schemas.openxmlformats.org/drawingml/2006/main">
              <a:ext uri="{FF2B5EF4-FFF2-40B4-BE49-F238E27FC236}">
                <a16:creationId xmlns:a16="http://schemas.microsoft.com/office/drawing/2014/main" id="{B951895E-EB9E-40CC-86B3-F86C8B023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2937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3–4</a:t>
            </a:r>
          </a:p>
        </p:txBody>
      </p:sp>
      <p:sp>
        <p:nvSpPr>
          <p:cNvPr id="22" name="table-cell-578-2-1">
            <a:extLst xmlns:a="http://schemas.openxmlformats.org/drawingml/2006/main">
              <a:ext uri="{FF2B5EF4-FFF2-40B4-BE49-F238E27FC236}">
                <a16:creationId xmlns:a16="http://schemas.microsoft.com/office/drawing/2014/main" id="{3C3C5D4B-8D90-48A3-BDEB-E578AA711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636270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3" name="table-text-578-2-1">
            <a:extLst xmlns:a="http://schemas.openxmlformats.org/drawingml/2006/main">
              <a:ext uri="{FF2B5EF4-FFF2-40B4-BE49-F238E27FC236}">
                <a16:creationId xmlns:a16="http://schemas.microsoft.com/office/drawing/2014/main" id="{6777F150-1554-443F-A99C-888491396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642937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스위치·문, 뾰족함·풍선</a:t>
            </a:r>
          </a:p>
        </p:txBody>
      </p:sp>
      <p:sp>
        <p:nvSpPr>
          <p:cNvPr id="24" name="table-cell-578-2-2">
            <a:extLst xmlns:a="http://schemas.openxmlformats.org/drawingml/2006/main">
              <a:ext uri="{FF2B5EF4-FFF2-40B4-BE49-F238E27FC236}">
                <a16:creationId xmlns:a16="http://schemas.microsoft.com/office/drawing/2014/main" id="{DDC165AE-7913-4705-93F1-729EF0ECC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636270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5" name="table-text-578-2-2">
            <a:extLst xmlns:a="http://schemas.openxmlformats.org/drawingml/2006/main">
              <a:ext uri="{FF2B5EF4-FFF2-40B4-BE49-F238E27FC236}">
                <a16:creationId xmlns:a16="http://schemas.microsoft.com/office/drawing/2014/main" id="{F463ECB5-1F40-4AD0-8127-059B38C68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642937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원인과 결과의 순서를 읽는다</a:t>
            </a:r>
          </a:p>
        </p:txBody>
      </p:sp>
      <p:sp>
        <p:nvSpPr>
          <p:cNvPr id="26" name="table-cell-578-3-0">
            <a:extLst xmlns:a="http://schemas.openxmlformats.org/drawingml/2006/main">
              <a:ext uri="{FF2B5EF4-FFF2-40B4-BE49-F238E27FC236}">
                <a16:creationId xmlns:a16="http://schemas.microsoft.com/office/drawing/2014/main" id="{87965AC0-9B49-4B01-9069-657B20E13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7627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7" name="table-text-578-3-0">
            <a:extLst xmlns:a="http://schemas.openxmlformats.org/drawingml/2006/main">
              <a:ext uri="{FF2B5EF4-FFF2-40B4-BE49-F238E27FC236}">
                <a16:creationId xmlns:a16="http://schemas.microsoft.com/office/drawing/2014/main" id="{9C234BB2-9B95-4FB0-B60F-62645B348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294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5–6</a:t>
            </a:r>
          </a:p>
        </p:txBody>
      </p:sp>
      <p:sp>
        <p:nvSpPr>
          <p:cNvPr id="28" name="table-cell-578-3-1">
            <a:extLst xmlns:a="http://schemas.openxmlformats.org/drawingml/2006/main">
              <a:ext uri="{FF2B5EF4-FFF2-40B4-BE49-F238E27FC236}">
                <a16:creationId xmlns:a16="http://schemas.microsoft.com/office/drawing/2014/main" id="{DDD943D4-48DF-42D8-83C9-879287682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67627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9" name="table-text-578-3-1">
            <a:extLst xmlns:a="http://schemas.openxmlformats.org/drawingml/2006/main">
              <a:ext uri="{FF2B5EF4-FFF2-40B4-BE49-F238E27FC236}">
                <a16:creationId xmlns:a16="http://schemas.microsoft.com/office/drawing/2014/main" id="{F1DC85EC-398C-491F-9C9E-6BF93605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68294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비워진 원본, 파워 발판</a:t>
            </a:r>
          </a:p>
        </p:txBody>
      </p:sp>
      <p:sp>
        <p:nvSpPr>
          <p:cNvPr id="30" name="table-cell-578-3-2">
            <a:extLst xmlns:a="http://schemas.openxmlformats.org/drawingml/2006/main">
              <a:ext uri="{FF2B5EF4-FFF2-40B4-BE49-F238E27FC236}">
                <a16:creationId xmlns:a16="http://schemas.microsoft.com/office/drawing/2014/main" id="{40FB4F8C-96FB-461F-A444-D2615433E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67627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1" name="table-text-578-3-2">
            <a:extLst xmlns:a="http://schemas.openxmlformats.org/drawingml/2006/main">
              <a:ext uri="{FF2B5EF4-FFF2-40B4-BE49-F238E27FC236}">
                <a16:creationId xmlns:a16="http://schemas.microsoft.com/office/drawing/2014/main" id="{94B45E5B-EA57-481B-B386-10BCE4643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68294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속도와 원본 상태를 재활용한다</a:t>
            </a:r>
          </a:p>
        </p:txBody>
      </p:sp>
      <p:sp>
        <p:nvSpPr>
          <p:cNvPr id="32" name="table-cell-578-4-0">
            <a:extLst xmlns:a="http://schemas.openxmlformats.org/drawingml/2006/main">
              <a:ext uri="{FF2B5EF4-FFF2-40B4-BE49-F238E27FC236}">
                <a16:creationId xmlns:a16="http://schemas.microsoft.com/office/drawing/2014/main" id="{DC97FECB-404F-43FA-A5A8-F6251CF9D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16280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3" name="table-text-578-4-0">
            <a:extLst xmlns:a="http://schemas.openxmlformats.org/drawingml/2006/main">
              <a:ext uri="{FF2B5EF4-FFF2-40B4-BE49-F238E27FC236}">
                <a16:creationId xmlns:a16="http://schemas.microsoft.com/office/drawing/2014/main" id="{7767FA0A-42CE-4C41-B587-B5B00C81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722947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7–8</a:t>
            </a:r>
          </a:p>
        </p:txBody>
      </p:sp>
      <p:sp>
        <p:nvSpPr>
          <p:cNvPr id="34" name="table-cell-578-4-1">
            <a:extLst xmlns:a="http://schemas.openxmlformats.org/drawingml/2006/main">
              <a:ext uri="{FF2B5EF4-FFF2-40B4-BE49-F238E27FC236}">
                <a16:creationId xmlns:a16="http://schemas.microsoft.com/office/drawing/2014/main" id="{ACF85BEA-8A18-4C21-9A9E-4A39518F1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716280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5" name="table-text-578-4-1">
            <a:extLst xmlns:a="http://schemas.openxmlformats.org/drawingml/2006/main">
              <a:ext uri="{FF2B5EF4-FFF2-40B4-BE49-F238E27FC236}">
                <a16:creationId xmlns:a16="http://schemas.microsoft.com/office/drawing/2014/main" id="{970BE92E-9AE0-4F20-BB28-00476877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722947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잔류 공, 다중 연쇄</a:t>
            </a:r>
          </a:p>
        </p:txBody>
      </p:sp>
      <p:sp>
        <p:nvSpPr>
          <p:cNvPr id="36" name="table-cell-578-4-2">
            <a:extLst xmlns:a="http://schemas.openxmlformats.org/drawingml/2006/main">
              <a:ext uri="{FF2B5EF4-FFF2-40B4-BE49-F238E27FC236}">
                <a16:creationId xmlns:a16="http://schemas.microsoft.com/office/drawing/2014/main" id="{ACED97F2-52C0-4C00-9C50-77A8F142E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716280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7" name="table-text-578-4-2">
            <a:extLst xmlns:a="http://schemas.openxmlformats.org/drawingml/2006/main">
              <a:ext uri="{FF2B5EF4-FFF2-40B4-BE49-F238E27FC236}">
                <a16:creationId xmlns:a16="http://schemas.microsoft.com/office/drawing/2014/main" id="{B7288D46-65A1-4171-912A-35041DC49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722947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56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실패한 공을 다음 성공 조건으로 바꾼다</a:t>
            </a:r>
          </a:p>
        </p:txBody>
      </p:sp>
      <p:sp>
        <p:nvSpPr>
          <p:cNvPr id="38" name="table-cell-578-5-0">
            <a:extLst xmlns:a="http://schemas.openxmlformats.org/drawingml/2006/main">
              <a:ext uri="{FF2B5EF4-FFF2-40B4-BE49-F238E27FC236}">
                <a16:creationId xmlns:a16="http://schemas.microsoft.com/office/drawing/2014/main" id="{5A54B0E4-D714-4E5B-8F74-00605AB4A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5628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9" name="table-text-578-5-0">
            <a:extLst xmlns:a="http://schemas.openxmlformats.org/drawingml/2006/main">
              <a:ext uri="{FF2B5EF4-FFF2-40B4-BE49-F238E27FC236}">
                <a16:creationId xmlns:a16="http://schemas.microsoft.com/office/drawing/2014/main" id="{94211E37-5900-4A10-A9BD-9A7C1BA39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76295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9–10</a:t>
            </a:r>
          </a:p>
        </p:txBody>
      </p:sp>
      <p:sp>
        <p:nvSpPr>
          <p:cNvPr id="40" name="table-cell-578-5-1">
            <a:extLst xmlns:a="http://schemas.openxmlformats.org/drawingml/2006/main">
              <a:ext uri="{FF2B5EF4-FFF2-40B4-BE49-F238E27FC236}">
                <a16:creationId xmlns:a16="http://schemas.microsoft.com/office/drawing/2014/main" id="{A5BFB627-DDE5-42B8-A16B-9D6F2D2AD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75628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1" name="table-text-578-5-1">
            <a:extLst xmlns:a="http://schemas.openxmlformats.org/drawingml/2006/main">
              <a:ext uri="{FF2B5EF4-FFF2-40B4-BE49-F238E27FC236}">
                <a16:creationId xmlns:a16="http://schemas.microsoft.com/office/drawing/2014/main" id="{42DD09EF-FA2B-43E9-A564-5C13A8D23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76295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회전 반사판, 규칙 통합</a:t>
            </a:r>
          </a:p>
        </p:txBody>
      </p:sp>
      <p:sp>
        <p:nvSpPr>
          <p:cNvPr id="42" name="table-cell-578-5-2">
            <a:extLst xmlns:a="http://schemas.openxmlformats.org/drawingml/2006/main">
              <a:ext uri="{FF2B5EF4-FFF2-40B4-BE49-F238E27FC236}">
                <a16:creationId xmlns:a16="http://schemas.microsoft.com/office/drawing/2014/main" id="{24D6069B-4DE6-4D5C-BD69-07C2070A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7562850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3" name="table-text-578-5-2">
            <a:extLst xmlns:a="http://schemas.openxmlformats.org/drawingml/2006/main">
              <a:ext uri="{FF2B5EF4-FFF2-40B4-BE49-F238E27FC236}">
                <a16:creationId xmlns:a16="http://schemas.microsoft.com/office/drawing/2014/main" id="{523DE0E7-26E0-4855-95E9-B350D8176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7629525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16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누적된 장면 상태와 복수 해법을 최적화한다</a:t>
            </a:r>
          </a:p>
        </p:txBody>
      </p:sp>
      <p:sp>
        <p:nvSpPr>
          <p:cNvPr id="44" name="paragraph-852">
            <a:extLst xmlns:a="http://schemas.openxmlformats.org/drawingml/2006/main">
              <a:ext uri="{FF2B5EF4-FFF2-40B4-BE49-F238E27FC236}">
                <a16:creationId xmlns:a16="http://schemas.microsoft.com/office/drawing/2014/main" id="{83C07C3B-C848-430E-9A59-BAA9F6976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115300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각 단계는 4개 패턴을 균등하게 순환한다. 첫 학습에서는 가장 읽기 쉬운 기준 패턴을 먼저 보여 주고, 이후에는 변형을 통해 같은 규칙을 다른 배치에서 다시 이해하게 한다.</a:t>
            </a:r>
          </a:p>
        </p:txBody>
      </p:sp>
    </p:spTree>
    <p:extLst>
      <p:ext uri="{BB962C8B-B14F-4D97-AF65-F5344CB8AC3E}">
        <p14:creationId xmlns:p14="http://schemas.microsoft.com/office/powerpoint/2010/main" val="151947856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63A3AFBA-004C-43A7-AD10-5F9FF14B2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Game Guide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CFCCF47-F373-45DD-84E6-E4DCB2147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7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85912500-7A7D-4909-8D68-04C6BFAFB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1F3336C-3A31-4EE8-8F1D-2701A9C7B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4. 주요 제공 기능</a:t>
            </a:r>
          </a:p>
        </p:txBody>
      </p:sp>
      <p:sp>
        <p:nvSpPr>
          <p:cNvPr id="5" name="subheading-140">
            <a:extLst xmlns:a="http://schemas.openxmlformats.org/drawingml/2006/main">
              <a:ext uri="{FF2B5EF4-FFF2-40B4-BE49-F238E27FC236}">
                <a16:creationId xmlns:a16="http://schemas.microsoft.com/office/drawing/2014/main" id="{BA33429A-2152-4E8D-AF6F-1A135A60A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4.1 난이도와 접근성</a:t>
            </a:r>
          </a:p>
        </p:txBody>
      </p:sp>
      <p:sp>
        <p:nvSpPr>
          <p:cNvPr id="6" name="bullets-194">
            <a:extLst xmlns:a="http://schemas.openxmlformats.org/drawingml/2006/main">
              <a:ext uri="{FF2B5EF4-FFF2-40B4-BE49-F238E27FC236}">
                <a16:creationId xmlns:a16="http://schemas.microsoft.com/office/drawing/2014/main" id="{F68D1468-47CB-4BC0-98A0-CEC245A7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6496050" cy="22692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보통: 현재 조준 정보만 제공해 퍼즐 추론을 그대로 유지한다.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쉬움: 실제 판정기와 같은 계산으로 예상 첫 도착 위치를 마름모와 예상 라벨로 표시한다.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쉬움 클리어는 진행 해금에 반영되지만 보통 최고 기록을 덮지 않는다.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충전 게이지는 공 가까이에서 핵심 기물을 피하는 위치를 자동 선택하며 좌·우 선호를 설정할 수 있다.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저모션·강한 점멸 끄기·형태와 텍스트를 함께 제공해 색에만 의존하지 않는다.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d9f38435104ce4"/>
          <a:stretch xmlns:a="http://schemas.openxmlformats.org/drawingml/2006/main"/>
        </p:blipFill>
        <p:spPr>
          <a:xfrm xmlns:a="http://schemas.openxmlformats.org/drawingml/2006/main">
            <a:off x="3055200" y="4212336"/>
            <a:ext cx="14524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8" name="image-caption-442.24">
            <a:extLst xmlns:a="http://schemas.openxmlformats.org/drawingml/2006/main">
              <a:ext uri="{FF2B5EF4-FFF2-40B4-BE49-F238E27FC236}">
                <a16:creationId xmlns:a16="http://schemas.microsoft.com/office/drawing/2014/main" id="{B4EB4CB9-C2F0-4A09-A9FC-516E21F70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412736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쉬움 모드의 예상 첫 도착 위치</a:t>
            </a:r>
          </a:p>
        </p:txBody>
      </p:sp>
      <p:sp>
        <p:nvSpPr>
          <p:cNvPr id="9" name="subheading-826.24">
            <a:extLst xmlns:a="http://schemas.openxmlformats.org/drawingml/2006/main">
              <a:ext uri="{FF2B5EF4-FFF2-40B4-BE49-F238E27FC236}">
                <a16:creationId xmlns:a16="http://schemas.microsoft.com/office/drawing/2014/main" id="{156D3C30-BDF8-4F15-8CD3-20A6DAB49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69936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4.2 구체적인 L1/L2 힌트와 열쇠</a:t>
            </a:r>
          </a:p>
        </p:txBody>
      </p:sp>
      <p:sp>
        <p:nvSpPr>
          <p:cNvPr id="10" name="paragraph-880.24">
            <a:extLst xmlns:a="http://schemas.openxmlformats.org/drawingml/2006/main">
              <a:ext uri="{FF2B5EF4-FFF2-40B4-BE49-F238E27FC236}">
                <a16:creationId xmlns:a16="http://schemas.microsoft.com/office/drawing/2014/main" id="{80140992-5E1E-483A-AC39-66DB16B5F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384286"/>
            <a:ext cx="6496050" cy="1040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40개 패턴마다 두 단계의 힌트가 있다. L1은 사용할 기믹과 첫 행동을, L2는 조준 위치·세기·행동 순서·예상 결과를 설명한다. 다음 단계 팁 보상을 선택하거나 스테이지의 선택형 열쇠에 공을 닿게 하면 해당 패턴의 힌트가 열린다. 열쇠는 물리와 점수를 바꾸지 않으므로 ‘도움이 필요할 때 스스로 선택하는 보조 목표’다.</a:t>
            </a:r>
          </a:p>
        </p:txBody>
      </p:sp>
    </p:spTree>
    <p:extLst>
      <p:ext uri="{BB962C8B-B14F-4D97-AF65-F5344CB8AC3E}">
        <p14:creationId xmlns:p14="http://schemas.microsoft.com/office/powerpoint/2010/main" val="201696739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F7FA8090-6E4A-4D2A-97E7-D9B603053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Game Guide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9FCF0C5-3CD0-44FE-BCE6-2676E0E00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8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8A63C970-F9DC-4358-B8CC-AC625EB8C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8E31A6A-11D2-4280-8A15-380C20517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4. 주요 제공 기능 · 계속</a:t>
            </a:r>
          </a:p>
        </p:txBody>
      </p:sp>
      <p:sp>
        <p:nvSpPr>
          <p:cNvPr id="5" name="subheading-140">
            <a:extLst xmlns:a="http://schemas.openxmlformats.org/drawingml/2006/main">
              <a:ext uri="{FF2B5EF4-FFF2-40B4-BE49-F238E27FC236}">
                <a16:creationId xmlns:a16="http://schemas.microsoft.com/office/drawing/2014/main" id="{ADD6DE9B-E606-4044-A0D0-E1FB93555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4.3 보상과 반복 플레이</a:t>
            </a:r>
          </a:p>
        </p:txBody>
      </p:sp>
      <p:sp>
        <p:nvSpPr>
          <p:cNvPr id="6" name="paragraph-194">
            <a:extLst xmlns:a="http://schemas.openxmlformats.org/drawingml/2006/main">
              <a:ext uri="{FF2B5EF4-FFF2-40B4-BE49-F238E27FC236}">
                <a16:creationId xmlns:a16="http://schemas.microsoft.com/office/drawing/2014/main" id="{029368A4-29F0-4A76-928E-8C53D55B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6496050" cy="1040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런 보상 9종은 복사·되감기·회수·안내·도전·인과·꾸미기·기록 보호·다음 스테이지 팁을 서로 다른 무료 Material 아이콘과 텍스트로 구분한다. 청록/금색 꾸미기는 링뿐 아니라 공 본체의 그라데이션·금색 외곽선·하이라이트를 바꿔 다음 스테이지에서도 즉시 식별된다.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f3cb26dac14725"/>
          <a:stretch xmlns:a="http://schemas.openxmlformats.org/drawingml/2006/main"/>
        </p:blipFill>
        <p:spPr>
          <a:xfrm xmlns:a="http://schemas.openxmlformats.org/drawingml/2006/main">
            <a:off x="2896002" y="3003042"/>
            <a:ext cx="1770845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8" name="image-caption-315.28">
            <a:extLst xmlns:a="http://schemas.openxmlformats.org/drawingml/2006/main">
              <a:ext uri="{FF2B5EF4-FFF2-40B4-BE49-F238E27FC236}">
                <a16:creationId xmlns:a16="http://schemas.microsoft.com/office/drawing/2014/main" id="{B81CFCB2-8601-4639-A263-8410D8C05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03442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모바일에서도 첫 화면에 보이는 보상 선택</a:t>
            </a:r>
          </a:p>
        </p:txBody>
      </p:sp>
    </p:spTree>
    <p:extLst>
      <p:ext uri="{BB962C8B-B14F-4D97-AF65-F5344CB8AC3E}">
        <p14:creationId xmlns:p14="http://schemas.microsoft.com/office/powerpoint/2010/main" val="149180747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06B30A6E-EB1A-4294-AA59-1CC5B933E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Game Guide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2732563-4BE0-4017-BD7C-03410FBB3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9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0A3BA39-202A-49AF-B3AE-A0F2D6133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370DEDF-59DC-49FC-9CCA-8A9934558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4. 주요 제공 기능 · 계속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495323f0664230"/>
          <a:stretch xmlns:a="http://schemas.openxmlformats.org/drawingml/2006/main"/>
        </p:blipFill>
        <p:spPr>
          <a:xfrm xmlns:a="http://schemas.openxmlformats.org/drawingml/2006/main">
            <a:off x="638175" y="1333500"/>
            <a:ext cx="628650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6" name="image-caption-140">
            <a:extLst xmlns:a="http://schemas.openxmlformats.org/drawingml/2006/main">
              <a:ext uri="{FF2B5EF4-FFF2-40B4-BE49-F238E27FC236}">
                <a16:creationId xmlns:a16="http://schemas.microsoft.com/office/drawing/2014/main" id="{24EC01F6-657C-417F-9BE3-7498A676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기본 공과 청록·금색 공의 차이</a:t>
            </a:r>
          </a:p>
        </p:txBody>
      </p:sp>
      <p:sp>
        <p:nvSpPr>
          <p:cNvPr id="7" name="paragraph-524">
            <a:extLst xmlns:a="http://schemas.openxmlformats.org/drawingml/2006/main">
              <a:ext uri="{FF2B5EF4-FFF2-40B4-BE49-F238E27FC236}">
                <a16:creationId xmlns:a16="http://schemas.microsoft.com/office/drawing/2014/main" id="{BE94A4AF-6D0F-44B1-9C83-B9462FEBC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91100"/>
            <a:ext cx="6496050" cy="3459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그 밖에 오늘의 도전, 리플레이, 실패 원인 안내, 기록 재도전을 제공한다.</a:t>
            </a:r>
          </a:p>
        </p:txBody>
      </p:sp>
    </p:spTree>
    <p:extLst>
      <p:ext uri="{BB962C8B-B14F-4D97-AF65-F5344CB8AC3E}">
        <p14:creationId xmlns:p14="http://schemas.microsoft.com/office/powerpoint/2010/main" val="126953519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FC28CA8F-87A6-4B30-B761-9E3FBC6A1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Game Guide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7C22B41-706B-4757-8CFE-26BF0ECDF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10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C88C919A-1B6F-42E9-9519-F0CC1F4BD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1FF041B-677D-427E-A717-EEDD7A8E8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5. 게임 설계의 차별점</a:t>
            </a:r>
          </a:p>
        </p:txBody>
      </p:sp>
      <p:sp>
        <p:nvSpPr>
          <p:cNvPr id="5" name="subheading-140">
            <a:extLst xmlns:a="http://schemas.openxmlformats.org/drawingml/2006/main">
              <a:ext uri="{FF2B5EF4-FFF2-40B4-BE49-F238E27FC236}">
                <a16:creationId xmlns:a16="http://schemas.microsoft.com/office/drawing/2014/main" id="{DBFA952F-4F52-4681-AC4D-278857C4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5.1 실패가 사라지지 않는다</a:t>
            </a:r>
          </a:p>
        </p:txBody>
      </p:sp>
      <p:sp>
        <p:nvSpPr>
          <p:cNvPr id="6" name="paragraph-194">
            <a:extLst xmlns:a="http://schemas.openxmlformats.org/drawingml/2006/main">
              <a:ext uri="{FF2B5EF4-FFF2-40B4-BE49-F238E27FC236}">
                <a16:creationId xmlns:a16="http://schemas.microsoft.com/office/drawing/2014/main" id="{C0259B48-F08C-4C44-8B28-88BBB52F7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6496050" cy="8092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보통의 한 샷 퍼즐은 실패를 초기화한다. 속성 한방은 공·문·스위치·반사판의 결과를 남긴다. 플레이어는 첫 샷의 결과를 관찰하고 두 번째 샷에서 이용한다. 이 때문에 ‘정확히 쏘기’보다 ‘상태를 계획하고 수정하기’가 핵심 능력이 된다.</a:t>
            </a:r>
          </a:p>
        </p:txBody>
      </p:sp>
      <p:sp>
        <p:nvSpPr>
          <p:cNvPr id="7" name="subheading-290.96000000000004">
            <a:extLst xmlns:a="http://schemas.openxmlformats.org/drawingml/2006/main">
              <a:ext uri="{FF2B5EF4-FFF2-40B4-BE49-F238E27FC236}">
                <a16:creationId xmlns:a16="http://schemas.microsoft.com/office/drawing/2014/main" id="{7A2D29C2-B902-47E4-A152-73156F235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71394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5.2 기믹을 쓰는 편이 실제로 유리하다</a:t>
            </a:r>
          </a:p>
        </p:txBody>
      </p:sp>
      <p:sp>
        <p:nvSpPr>
          <p:cNvPr id="8" name="paragraph-344.96000000000004">
            <a:extLst xmlns:a="http://schemas.openxmlformats.org/drawingml/2006/main">
              <a:ext uri="{FF2B5EF4-FFF2-40B4-BE49-F238E27FC236}">
                <a16:creationId xmlns:a16="http://schemas.microsoft.com/office/drawing/2014/main" id="{2CED0051-94B5-455F-BCFF-EBD3A6994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85744"/>
            <a:ext cx="6496050" cy="1040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모든 10개 단계에서 기믹 경로가 우회보다 유리하도록 같은 입력 격자에서 40패턴을 전수 검증했다. 단발형 32패턴은 각 변형에서 최소 1.40배의 성공 영역 우위를 보였고, 여러 샷을 쓰는 단계는 준비 전·후를 같은 900개 입력으로 비교해 단계 합계 기준을 통과했다. 연쇄 점수 단계는 같은 홀 진입에서도 기믹 연쇄가 더 높은 점수를 만든다.</a:t>
            </a:r>
          </a:p>
        </p:txBody>
      </p:sp>
      <p:sp>
        <p:nvSpPr>
          <p:cNvPr id="9" name="paragraph-466.24">
            <a:extLst xmlns:a="http://schemas.openxmlformats.org/drawingml/2006/main">
              <a:ext uri="{FF2B5EF4-FFF2-40B4-BE49-F238E27FC236}">
                <a16:creationId xmlns:a16="http://schemas.microsoft.com/office/drawing/2014/main" id="{F2E97EE7-B636-4167-B8AA-B86AEFDA2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40936"/>
            <a:ext cx="6496050" cy="3459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이는 기믹이 장식이 아니라 플레이어가 배우고 활용해야 할 핵심 규칙이라는 뜻이다.</a:t>
            </a:r>
          </a:p>
        </p:txBody>
      </p:sp>
    </p:spTree>
    <p:extLst>
      <p:ext uri="{BB962C8B-B14F-4D97-AF65-F5344CB8AC3E}">
        <p14:creationId xmlns:p14="http://schemas.microsoft.com/office/powerpoint/2010/main" val="97563169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8B4D891A-FD96-43F1-9266-984F51D48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Game Guide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5F6E0DA-F2DF-447B-8745-168E33847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11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EB919228-E080-4D78-8060-2A411763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886ADD6-C9EA-4A84-BAE6-ACB5C9C02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6. 실행 방법</a:t>
            </a:r>
          </a:p>
        </p:txBody>
      </p:sp>
      <p:sp>
        <p:nvSpPr>
          <p:cNvPr id="5" name="subheading-140">
            <a:extLst xmlns:a="http://schemas.openxmlformats.org/drawingml/2006/main">
              <a:ext uri="{FF2B5EF4-FFF2-40B4-BE49-F238E27FC236}">
                <a16:creationId xmlns:a16="http://schemas.microsoft.com/office/drawing/2014/main" id="{1F38039D-1F35-4B6E-9FA0-6FE048691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6.1 바로 플레이</a:t>
            </a:r>
          </a:p>
        </p:txBody>
      </p:sp>
      <p:sp>
        <p:nvSpPr>
          <p:cNvPr id="6" name="paragraph-194">
            <a:extLst xmlns:a="http://schemas.openxmlformats.org/drawingml/2006/main">
              <a:ext uri="{FF2B5EF4-FFF2-40B4-BE49-F238E27FC236}">
                <a16:creationId xmlns:a16="http://schemas.microsoft.com/office/drawing/2014/main" id="{A0A0A4C5-4F4A-42B2-ADB5-A54B589A9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6496050" cy="3459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웹에서 바로 플레이 (https://good5229.github.io/Property_shot/)</a:t>
            </a:r>
          </a:p>
        </p:txBody>
      </p:sp>
      <p:sp>
        <p:nvSpPr>
          <p:cNvPr id="7" name="paragraph-242.32">
            <a:extLst xmlns:a="http://schemas.openxmlformats.org/drawingml/2006/main">
              <a:ext uri="{FF2B5EF4-FFF2-40B4-BE49-F238E27FC236}">
                <a16:creationId xmlns:a16="http://schemas.microsoft.com/office/drawing/2014/main" id="{0D44D0BD-BA4F-4E8C-84B6-96810C20A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8098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모바일 세로 화면을 권장한다. Chrome, Safari, Edge의 최신 버전에서 URL을 열면 설치 없이 시작할 수 있다.</a:t>
            </a:r>
          </a:p>
        </p:txBody>
      </p:sp>
      <p:sp>
        <p:nvSpPr>
          <p:cNvPr id="8" name="subheading-314.96">
            <a:extLst xmlns:a="http://schemas.openxmlformats.org/drawingml/2006/main">
              <a:ext uri="{FF2B5EF4-FFF2-40B4-BE49-F238E27FC236}">
                <a16:creationId xmlns:a16="http://schemas.microsoft.com/office/drawing/2014/main" id="{C9246495-CE8D-4B55-85B6-AE150050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99994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6.2 Android 설치와 로컬 실행</a:t>
            </a:r>
          </a:p>
        </p:txBody>
      </p:sp>
      <p:sp>
        <p:nvSpPr>
          <p:cNvPr id="9" name="paragraph-368.96">
            <a:extLst xmlns:a="http://schemas.openxmlformats.org/drawingml/2006/main">
              <a:ext uri="{FF2B5EF4-FFF2-40B4-BE49-F238E27FC236}">
                <a16:creationId xmlns:a16="http://schemas.microsoft.com/office/drawing/2014/main" id="{9CC45E7D-5977-40CC-A56B-E7CB14D36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14344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Android에서는 프로젝트의 release APK를 기기로 옮겨 설치할 수 있다. 개발 환경에서는 Flutter SDK 설치 후 flutter pub get, flutter run -d chrome 순서로 실행한다.</a:t>
            </a:r>
          </a:p>
        </p:txBody>
      </p:sp>
    </p:spTree>
    <p:extLst>
      <p:ext uri="{BB962C8B-B14F-4D97-AF65-F5344CB8AC3E}">
        <p14:creationId xmlns:p14="http://schemas.microsoft.com/office/powerpoint/2010/main" val="103638824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37E3CEEC-8D8B-4F9D-8824-FFC5ED274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Game Guide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B0D723F-5B92-4483-B527-96872A125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12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4B8BC1BC-D449-4AFB-930D-42DC1C8F7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01D6976-59D2-4F85-9AAA-CEE18EB22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7. 완성도와 검증</a:t>
            </a:r>
          </a:p>
        </p:txBody>
      </p:sp>
      <p:sp>
        <p:nvSpPr>
          <p:cNvPr id="5" name="table-cell-140-0-0">
            <a:extLst xmlns:a="http://schemas.openxmlformats.org/drawingml/2006/main">
              <a:ext uri="{FF2B5EF4-FFF2-40B4-BE49-F238E27FC236}">
                <a16:creationId xmlns:a16="http://schemas.microsoft.com/office/drawing/2014/main" id="{2D816BF0-57BE-4A77-84E2-7C84A84D6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6" name="table-text-140-0-0">
            <a:extLst xmlns:a="http://schemas.openxmlformats.org/drawingml/2006/main">
              <a:ext uri="{FF2B5EF4-FFF2-40B4-BE49-F238E27FC236}">
                <a16:creationId xmlns:a16="http://schemas.microsoft.com/office/drawing/2014/main" id="{5BA2D542-553B-43AF-B24B-1B6208F18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00175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구분</a:t>
            </a:r>
          </a:p>
        </p:txBody>
      </p:sp>
      <p:sp>
        <p:nvSpPr>
          <p:cNvPr id="7" name="table-cell-140-0-1">
            <a:extLst xmlns:a="http://schemas.openxmlformats.org/drawingml/2006/main">
              <a:ext uri="{FF2B5EF4-FFF2-40B4-BE49-F238E27FC236}">
                <a16:creationId xmlns:a16="http://schemas.microsoft.com/office/drawing/2014/main" id="{03632134-A7DA-4496-AF57-8410BC22B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1333500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8" name="table-text-140-0-1">
            <a:extLst xmlns:a="http://schemas.openxmlformats.org/drawingml/2006/main">
              <a:ext uri="{FF2B5EF4-FFF2-40B4-BE49-F238E27FC236}">
                <a16:creationId xmlns:a16="http://schemas.microsoft.com/office/drawing/2014/main" id="{40D390D0-1A7D-4125-AC08-DC69D6FE8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400175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확인한 내용</a:t>
            </a:r>
          </a:p>
        </p:txBody>
      </p:sp>
      <p:sp>
        <p:nvSpPr>
          <p:cNvPr id="9" name="table-cell-140-1-0">
            <a:extLst xmlns:a="http://schemas.openxmlformats.org/drawingml/2006/main">
              <a:ext uri="{FF2B5EF4-FFF2-40B4-BE49-F238E27FC236}">
                <a16:creationId xmlns:a16="http://schemas.microsoft.com/office/drawing/2014/main" id="{2796BBA7-C767-4C5A-9521-180BDFDD5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3248025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0" name="table-text-140-1-0">
            <a:extLst xmlns:a="http://schemas.openxmlformats.org/drawingml/2006/main">
              <a:ext uri="{FF2B5EF4-FFF2-40B4-BE49-F238E27FC236}">
                <a16:creationId xmlns:a16="http://schemas.microsoft.com/office/drawing/2014/main" id="{BE67A96A-3766-4C00-93BE-22E8367E4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57375"/>
            <a:ext cx="3076575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기능 완성도</a:t>
            </a:r>
          </a:p>
        </p:txBody>
      </p:sp>
      <p:sp>
        <p:nvSpPr>
          <p:cNvPr id="11" name="table-cell-140-1-1">
            <a:extLst xmlns:a="http://schemas.openxmlformats.org/drawingml/2006/main">
              <a:ext uri="{FF2B5EF4-FFF2-40B4-BE49-F238E27FC236}">
                <a16:creationId xmlns:a16="http://schemas.microsoft.com/office/drawing/2014/main" id="{117EEEDB-2E41-4980-92F3-AC95335EB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1790700"/>
            <a:ext cx="3248025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2" name="table-text-140-1-1">
            <a:extLst xmlns:a="http://schemas.openxmlformats.org/drawingml/2006/main">
              <a:ext uri="{FF2B5EF4-FFF2-40B4-BE49-F238E27FC236}">
                <a16:creationId xmlns:a16="http://schemas.microsoft.com/office/drawing/2014/main" id="{FCEF644A-565A-42BD-B678-E0D3F57CE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857375"/>
            <a:ext cx="3076575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10단계·40패턴, 난이도, 힌트, 열쇠, 보상, 꾸미기, 오늘의 도전, 리플레이가 연결됨</a:t>
            </a:r>
          </a:p>
        </p:txBody>
      </p:sp>
      <p:sp>
        <p:nvSpPr>
          <p:cNvPr id="13" name="table-cell-140-2-0">
            <a:extLst xmlns:a="http://schemas.openxmlformats.org/drawingml/2006/main">
              <a:ext uri="{FF2B5EF4-FFF2-40B4-BE49-F238E27FC236}">
                <a16:creationId xmlns:a16="http://schemas.microsoft.com/office/drawing/2014/main" id="{DD31D35B-8F6F-4B24-9944-CFDBCC30A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22195"/>
            <a:ext cx="3248025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4" name="table-text-140-2-0">
            <a:extLst xmlns:a="http://schemas.openxmlformats.org/drawingml/2006/main">
              <a:ext uri="{FF2B5EF4-FFF2-40B4-BE49-F238E27FC236}">
                <a16:creationId xmlns:a16="http://schemas.microsoft.com/office/drawing/2014/main" id="{D63041F6-C0FF-4C60-AA03-B74E60808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88870"/>
            <a:ext cx="3076575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플레이 공정성</a:t>
            </a:r>
          </a:p>
        </p:txBody>
      </p:sp>
      <p:sp>
        <p:nvSpPr>
          <p:cNvPr id="15" name="table-cell-140-2-1">
            <a:extLst xmlns:a="http://schemas.openxmlformats.org/drawingml/2006/main">
              <a:ext uri="{FF2B5EF4-FFF2-40B4-BE49-F238E27FC236}">
                <a16:creationId xmlns:a16="http://schemas.microsoft.com/office/drawing/2014/main" id="{E17A2857-834D-4CDD-AE30-8D6358AC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322195"/>
            <a:ext cx="3248025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6" name="table-text-140-2-1">
            <a:extLst xmlns:a="http://schemas.openxmlformats.org/drawingml/2006/main">
              <a:ext uri="{FF2B5EF4-FFF2-40B4-BE49-F238E27FC236}">
                <a16:creationId xmlns:a16="http://schemas.microsoft.com/office/drawing/2014/main" id="{1348001F-B2E4-48AD-8E87-933C00E48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388870"/>
            <a:ext cx="3076575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쉬움 기록 분리, 공식 오늘의 도전 보통 고정, 저장·재개에서도 완료 당시 난이도 유지</a:t>
            </a:r>
          </a:p>
        </p:txBody>
      </p:sp>
      <p:sp>
        <p:nvSpPr>
          <p:cNvPr id="17" name="table-cell-140-3-0">
            <a:extLst xmlns:a="http://schemas.openxmlformats.org/drawingml/2006/main">
              <a:ext uri="{FF2B5EF4-FFF2-40B4-BE49-F238E27FC236}">
                <a16:creationId xmlns:a16="http://schemas.microsoft.com/office/drawing/2014/main" id="{96B35C03-B7B4-491F-A223-C52B1E714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369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8" name="table-text-140-3-0">
            <a:extLst xmlns:a="http://schemas.openxmlformats.org/drawingml/2006/main">
              <a:ext uri="{FF2B5EF4-FFF2-40B4-BE49-F238E27FC236}">
                <a16:creationId xmlns:a16="http://schemas.microsoft.com/office/drawing/2014/main" id="{81D40971-D11C-449D-8AE5-462D49D9E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2036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퍼즐 품질</a:t>
            </a:r>
          </a:p>
        </p:txBody>
      </p:sp>
      <p:sp>
        <p:nvSpPr>
          <p:cNvPr id="19" name="table-cell-140-3-1">
            <a:extLst xmlns:a="http://schemas.openxmlformats.org/drawingml/2006/main">
              <a:ext uri="{FF2B5EF4-FFF2-40B4-BE49-F238E27FC236}">
                <a16:creationId xmlns:a16="http://schemas.microsoft.com/office/drawing/2014/main" id="{4BECD7A1-8BD5-4B46-BFBB-05ACCED83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85369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0" name="table-text-140-3-1">
            <a:extLst xmlns:a="http://schemas.openxmlformats.org/drawingml/2006/main">
              <a:ext uri="{FF2B5EF4-FFF2-40B4-BE49-F238E27FC236}">
                <a16:creationId xmlns:a16="http://schemas.microsoft.com/office/drawing/2014/main" id="{38AC1BA7-8C92-49E0-B1AE-A50831DEF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92036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0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모든 단계에서 기믹 경로 우위, 대표 해법과 근방 입력의 결정론 확인</a:t>
            </a:r>
          </a:p>
        </p:txBody>
      </p:sp>
      <p:sp>
        <p:nvSpPr>
          <p:cNvPr id="21" name="table-cell-140-4-0">
            <a:extLst xmlns:a="http://schemas.openxmlformats.org/drawingml/2006/main">
              <a:ext uri="{FF2B5EF4-FFF2-40B4-BE49-F238E27FC236}">
                <a16:creationId xmlns:a16="http://schemas.microsoft.com/office/drawing/2014/main" id="{E4FEA142-B1C5-45F1-A19C-B37C4D8D2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5374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2" name="table-text-140-4-0">
            <a:extLst xmlns:a="http://schemas.openxmlformats.org/drawingml/2006/main">
              <a:ext uri="{FF2B5EF4-FFF2-40B4-BE49-F238E27FC236}">
                <a16:creationId xmlns:a16="http://schemas.microsoft.com/office/drawing/2014/main" id="{2FDF3A9B-4BFE-4EC4-BAC2-D534A6D7A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2041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화면 품질</a:t>
            </a:r>
          </a:p>
        </p:txBody>
      </p:sp>
      <p:sp>
        <p:nvSpPr>
          <p:cNvPr id="23" name="table-cell-140-4-1">
            <a:extLst xmlns:a="http://schemas.openxmlformats.org/drawingml/2006/main">
              <a:ext uri="{FF2B5EF4-FFF2-40B4-BE49-F238E27FC236}">
                <a16:creationId xmlns:a16="http://schemas.microsoft.com/office/drawing/2014/main" id="{0BC8CE94-5E41-41FE-AB2C-D438927B4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325374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4" name="table-text-140-4-1">
            <a:extLst xmlns:a="http://schemas.openxmlformats.org/drawingml/2006/main">
              <a:ext uri="{FF2B5EF4-FFF2-40B4-BE49-F238E27FC236}">
                <a16:creationId xmlns:a16="http://schemas.microsoft.com/office/drawing/2014/main" id="{03E8FB47-5B7B-4EE1-913F-CEF992C9D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32041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320×568부터 태블릿까지 Golden 화면 회귀와 SafeArea·큰 글자·저모션 확인</a:t>
            </a:r>
          </a:p>
        </p:txBody>
      </p:sp>
    </p:spTree>
    <p:extLst>
      <p:ext uri="{BB962C8B-B14F-4D97-AF65-F5344CB8AC3E}">
        <p14:creationId xmlns:p14="http://schemas.microsoft.com/office/powerpoint/2010/main" val="11727683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2026-08-10T12:50:07.9190000Z</dcterms:created>
  <dcterms:modified xsi:type="dcterms:W3CDTF">2026-08-10T12:50:07.9190000Z</dcterms:modified>
</coreProperties>
</file>