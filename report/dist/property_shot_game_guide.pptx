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14e628694b4fc4" /><Relationship Type="http://schemas.openxmlformats.org/officeDocument/2006/relationships/extended-properties" Target="/docProps/app.xml" Id="Rf41d68e7bb854533" /><Relationship Type="http://schemas.openxmlformats.org/officeDocument/2006/relationships/officeDocument" Target="/ppt/presentation.xml" Id="R08572fd053994a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dd6bc54b864d4c"/>
  </p:sldMasterIdLst>
  <p:notesMasterIdLst>
    <p:notesMasterId xmlns:r="http://schemas.openxmlformats.org/officeDocument/2006/relationships" r:id="R81dfb25f8323404e"/>
  </p:notesMasterIdLst>
  <p:sldIdLst>
    <p:sldId xmlns:r="http://schemas.openxmlformats.org/officeDocument/2006/relationships" id="256" r:id="R1ab34eaab4c84774"/>
    <p:sldId xmlns:r="http://schemas.openxmlformats.org/officeDocument/2006/relationships" id="257" r:id="R135b4f53a4a041ba"/>
    <p:sldId xmlns:r="http://schemas.openxmlformats.org/officeDocument/2006/relationships" id="258" r:id="R2e924c26c175460f"/>
    <p:sldId xmlns:r="http://schemas.openxmlformats.org/officeDocument/2006/relationships" id="259" r:id="R3afedd2672084935"/>
    <p:sldId xmlns:r="http://schemas.openxmlformats.org/officeDocument/2006/relationships" id="260" r:id="Rca6de60333e044fb"/>
    <p:sldId xmlns:r="http://schemas.openxmlformats.org/officeDocument/2006/relationships" id="261" r:id="Rd09c5bf0f492426b"/>
    <p:sldId xmlns:r="http://schemas.openxmlformats.org/officeDocument/2006/relationships" id="262" r:id="Rc94f362fd99549e1"/>
    <p:sldId xmlns:r="http://schemas.openxmlformats.org/officeDocument/2006/relationships" id="263" r:id="R97eb9a5e7e5447e8"/>
    <p:sldId xmlns:r="http://schemas.openxmlformats.org/officeDocument/2006/relationships" id="264" r:id="R22af186121614df9"/>
    <p:sldId xmlns:r="http://schemas.openxmlformats.org/officeDocument/2006/relationships" id="265" r:id="R1449ccca848547bf"/>
    <p:sldId xmlns:r="http://schemas.openxmlformats.org/officeDocument/2006/relationships" id="266" r:id="R80c5a16376744648"/>
    <p:sldId xmlns:r="http://schemas.openxmlformats.org/officeDocument/2006/relationships" id="267" r:id="R4632c81b58e340b8"/>
    <p:sldId xmlns:r="http://schemas.openxmlformats.org/officeDocument/2006/relationships" id="268" r:id="Ra7d8ca0d25a74aaf"/>
    <p:sldId xmlns:r="http://schemas.openxmlformats.org/officeDocument/2006/relationships" id="269" r:id="Rcb16641d59734237"/>
    <p:sldId xmlns:r="http://schemas.openxmlformats.org/officeDocument/2006/relationships" id="270" r:id="Rfb7c773babc94f21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4b88fb486b457c" /><Relationship Type="http://schemas.openxmlformats.org/officeDocument/2006/relationships/slideMaster" Target="/ppt/slideMasters/slideMaster1.xml" Id="R47dd6bc54b864d4c" /><Relationship Type="http://schemas.openxmlformats.org/officeDocument/2006/relationships/notesMaster" Target="/ppt/notesMasters/notesMaster1.xml" Id="R81dfb25f8323404e" /><Relationship Type="http://schemas.openxmlformats.org/officeDocument/2006/relationships/presProps" Target="/ppt/presProps.xml" Id="R1b962c9a75a04061" /><Relationship Type="http://schemas.openxmlformats.org/officeDocument/2006/relationships/tableStyles" Target="/ppt/tableStyles.xml" Id="R9824b01a443b4df8" /><Relationship Type="http://schemas.openxmlformats.org/officeDocument/2006/relationships/slide" Target="/ppt/slides/slide1.xml" Id="R1ab34eaab4c84774" /><Relationship Type="http://schemas.openxmlformats.org/officeDocument/2006/relationships/slide" Target="/ppt/slides/slide2.xml" Id="R135b4f53a4a041ba" /><Relationship Type="http://schemas.openxmlformats.org/officeDocument/2006/relationships/slide" Target="/ppt/slides/slide3.xml" Id="R2e924c26c175460f" /><Relationship Type="http://schemas.openxmlformats.org/officeDocument/2006/relationships/slide" Target="/ppt/slides/slide4.xml" Id="R3afedd2672084935" /><Relationship Type="http://schemas.openxmlformats.org/officeDocument/2006/relationships/slide" Target="/ppt/slides/slide5.xml" Id="Rca6de60333e044fb" /><Relationship Type="http://schemas.openxmlformats.org/officeDocument/2006/relationships/slide" Target="/ppt/slides/slide6.xml" Id="Rd09c5bf0f492426b" /><Relationship Type="http://schemas.openxmlformats.org/officeDocument/2006/relationships/slide" Target="/ppt/slides/slide7.xml" Id="Rc94f362fd99549e1" /><Relationship Type="http://schemas.openxmlformats.org/officeDocument/2006/relationships/slide" Target="/ppt/slides/slide8.xml" Id="R97eb9a5e7e5447e8" /><Relationship Type="http://schemas.openxmlformats.org/officeDocument/2006/relationships/slide" Target="/ppt/slides/slide9.xml" Id="R22af186121614df9" /><Relationship Type="http://schemas.openxmlformats.org/officeDocument/2006/relationships/slide" Target="/ppt/slides/slide10.xml" Id="R1449ccca848547bf" /><Relationship Type="http://schemas.openxmlformats.org/officeDocument/2006/relationships/slide" Target="/ppt/slides/slide11.xml" Id="R80c5a16376744648" /><Relationship Type="http://schemas.openxmlformats.org/officeDocument/2006/relationships/slide" Target="/ppt/slides/slide12.xml" Id="R4632c81b58e340b8" /><Relationship Type="http://schemas.openxmlformats.org/officeDocument/2006/relationships/slide" Target="/ppt/slides/slide13.xml" Id="Ra7d8ca0d25a74aaf" /><Relationship Type="http://schemas.openxmlformats.org/officeDocument/2006/relationships/slide" Target="/ppt/slides/slide14.xml" Id="Rcb16641d59734237" /><Relationship Type="http://schemas.openxmlformats.org/officeDocument/2006/relationships/slide" Target="/ppt/slides/slide15.xml" Id="Rfb7c773babc94f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1f8dec5f294b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1e71ddbaec41f3" /><Relationship Type="http://schemas.openxmlformats.org/officeDocument/2006/relationships/notesMaster" Target="/ppt/notesMasters/notesMaster1.xml" Id="Rba7623bfd83340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9a5d25e64149ce" /><Relationship Type="http://schemas.openxmlformats.org/officeDocument/2006/relationships/notesMaster" Target="/ppt/notesMasters/notesMaster1.xml" Id="R5a4c046afe894a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8bf9e91e2a4f09" /><Relationship Type="http://schemas.openxmlformats.org/officeDocument/2006/relationships/notesMaster" Target="/ppt/notesMasters/notesMaster1.xml" Id="R46a45aabd10144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78c6bd1df84c6e" /><Relationship Type="http://schemas.openxmlformats.org/officeDocument/2006/relationships/notesMaster" Target="/ppt/notesMasters/notesMaster1.xml" Id="R0d3a51b87ddc47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fd226b907f4753" /><Relationship Type="http://schemas.openxmlformats.org/officeDocument/2006/relationships/notesMaster" Target="/ppt/notesMasters/notesMaster1.xml" Id="Re2d593f3d95c44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308857f5d84c17" /><Relationship Type="http://schemas.openxmlformats.org/officeDocument/2006/relationships/notesMaster" Target="/ppt/notesMasters/notesMaster1.xml" Id="Rd90f3c7b232d40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b1b9362f2d427e" /><Relationship Type="http://schemas.openxmlformats.org/officeDocument/2006/relationships/notesMaster" Target="/ppt/notesMasters/notesMaster1.xml" Id="Rde61d3c2cfa544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2d5c5f9cf4352" /><Relationship Type="http://schemas.openxmlformats.org/officeDocument/2006/relationships/notesMaster" Target="/ppt/notesMasters/notesMaster1.xml" Id="Rdab9f9a0a48541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a2ee1ec9094d77" /><Relationship Type="http://schemas.openxmlformats.org/officeDocument/2006/relationships/notesMaster" Target="/ppt/notesMasters/notesMaster1.xml" Id="R844f274943c247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c06d57da624c6d" /><Relationship Type="http://schemas.openxmlformats.org/officeDocument/2006/relationships/notesMaster" Target="/ppt/notesMasters/notesMaster1.xml" Id="R34eefe02537443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82f99c18fa49f8" /><Relationship Type="http://schemas.openxmlformats.org/officeDocument/2006/relationships/notesMaster" Target="/ppt/notesMasters/notesMaster1.xml" Id="R76887face85845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7e68b8072b4d07" /><Relationship Type="http://schemas.openxmlformats.org/officeDocument/2006/relationships/notesMaster" Target="/ppt/notesMasters/notesMaster1.xml" Id="R38a4a222c26a4c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3844ccec3841a9" /><Relationship Type="http://schemas.openxmlformats.org/officeDocument/2006/relationships/notesMaster" Target="/ppt/notesMasters/notesMaster1.xml" Id="R1af8da87883b46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7e8abd1a664417" /><Relationship Type="http://schemas.openxmlformats.org/officeDocument/2006/relationships/notesMaster" Target="/ppt/notesMasters/notesMaster1.xml" Id="Ra6e889c8399a43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d629dffbee4eea" /><Relationship Type="http://schemas.openxmlformats.org/officeDocument/2006/relationships/notesMaster" Target="/ppt/notesMasters/notesMaster1.xml" Id="Ra9ffd106a32e42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report source and local repository assets</a:t>
            </a:r>
          </a:p>
          <a:p xmlns:a="http://schemas.openxmlformats.org/drawingml/2006/main">
            <a:r>
              <a:t>- https://nan2026.nhn.com/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screenshots/commercial-vertical-slice/390x844-current-play-audit.png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screenshots/commercial-vertical-slice/390x844-material-source-popup.png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assets/generated/stone-v2.png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assets/generated/jelly-bumper-v1.png</a:t>
            </a:r>
          </a:p>
          <a:p xmlns:a="http://schemas.openxmlformats.org/drawingml/2006/main">
            <a:r>
              <a:t>- screenshots/commercial-vertical-slice/stage4-property-ready.png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test/goldens/game_screen_stage3_390x844.png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test/goldens/difficulty_easy_first_arrival_390x844.png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test/goldens/run_reward_320x568_hint_first.png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test/goldens/ball_reward_appearance_comparison.png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screenshots/commercial-vertical-slice/stage4-impact-120ms.png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  <a:p xmlns:a="http://schemas.openxmlformats.org/drawingml/2006/main">
            <a:r>
              <a:t>- https://good5229.github.io/Property_shot/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report/game_introduction.md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164f15f7a47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3fc6664dc14a0e" /><Relationship Type="http://schemas.openxmlformats.org/officeDocument/2006/relationships/slideLayout" Target="/ppt/slideLayouts/slideLayout1.xml" Id="Ra2d7848c541440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d7848c541440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09cb6c6cf4bbc" /><Relationship Type="http://schemas.openxmlformats.org/officeDocument/2006/relationships/image" Target="/ppt/media/image.png" Id="Re4cbd5b9721d43d4" /><Relationship Type="http://schemas.openxmlformats.org/officeDocument/2006/relationships/notesSlide" Target="/ppt/notesSlides/notesSlide1.xml" Id="Rbc76226d5eee45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d3eb85f1f49a9" /><Relationship Type="http://schemas.openxmlformats.org/officeDocument/2006/relationships/notesSlide" Target="/ppt/notesSlides/notesSlide2.xml" Id="R93b46f3133064f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9eb13ecf54854" /><Relationship Type="http://schemas.openxmlformats.org/officeDocument/2006/relationships/image" Target="/ppt/media/image2.png" Id="Rdf740b2677ee4e81" /><Relationship Type="http://schemas.openxmlformats.org/officeDocument/2006/relationships/notesSlide" Target="/ppt/notesSlides/notesSlide3.xml" Id="R1793fef0d8fe4d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a261aa48f41d7" /><Relationship Type="http://schemas.openxmlformats.org/officeDocument/2006/relationships/image" Target="/ppt/media/image3.png" Id="Re0335e33441749fd" /><Relationship Type="http://schemas.openxmlformats.org/officeDocument/2006/relationships/notesSlide" Target="/ppt/notesSlides/notesSlide4.xml" Id="R6ab74c55d0f448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1fda955cf419d" /><Relationship Type="http://schemas.openxmlformats.org/officeDocument/2006/relationships/image" Target="/ppt/media/image4.png" Id="Rd26a42d6a8a2440e" /><Relationship Type="http://schemas.openxmlformats.org/officeDocument/2006/relationships/notesSlide" Target="/ppt/notesSlides/notesSlide5.xml" Id="R3b03d2ae53b44f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21d46edbf4df4" /><Relationship Type="http://schemas.openxmlformats.org/officeDocument/2006/relationships/image" Target="/ppt/media/image5.png" Id="R3f32e545460e40fd" /><Relationship Type="http://schemas.openxmlformats.org/officeDocument/2006/relationships/image" Target="/ppt/media/image6.png" Id="Rfc3fa18410a641a9" /><Relationship Type="http://schemas.openxmlformats.org/officeDocument/2006/relationships/notesSlide" Target="/ppt/notesSlides/notesSlide6.xml" Id="Rc1177509090644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bdd72d91b4fd7" /><Relationship Type="http://schemas.openxmlformats.org/officeDocument/2006/relationships/image" Target="/ppt/media/image7.png" Id="Re7dd235da0674bad" /><Relationship Type="http://schemas.openxmlformats.org/officeDocument/2006/relationships/notesSlide" Target="/ppt/notesSlides/notesSlide7.xml" Id="R5c49008c72ad4f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e067124e147f9" /><Relationship Type="http://schemas.openxmlformats.org/officeDocument/2006/relationships/image" Target="/ppt/media/image8.png" Id="R5baa94b5e39e4261" /><Relationship Type="http://schemas.openxmlformats.org/officeDocument/2006/relationships/notesSlide" Target="/ppt/notesSlides/notesSlide8.xml" Id="R1c0faf15bb6047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b58a7bda8405d" /><Relationship Type="http://schemas.openxmlformats.org/officeDocument/2006/relationships/image" Target="/ppt/media/image9.png" Id="Rbfab832232764ce3" /><Relationship Type="http://schemas.openxmlformats.org/officeDocument/2006/relationships/notesSlide" Target="/ppt/notesSlides/notesSlide9.xml" Id="R3d59152abef649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5b105735c4b8a" /><Relationship Type="http://schemas.openxmlformats.org/officeDocument/2006/relationships/image" Target="/ppt/media/image10.png" Id="R3f256f5982e14536" /><Relationship Type="http://schemas.openxmlformats.org/officeDocument/2006/relationships/notesSlide" Target="/ppt/notesSlides/notesSlide10.xml" Id="R2075d1b806c141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3030e588c4969" /><Relationship Type="http://schemas.openxmlformats.org/officeDocument/2006/relationships/notesSlide" Target="/ppt/notesSlides/notesSlide11.xml" Id="Rd079fbb184f84f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51204bd404802" /><Relationship Type="http://schemas.openxmlformats.org/officeDocument/2006/relationships/image" Target="/ppt/media/image11.png" Id="R85a2deb89de942b9" /><Relationship Type="http://schemas.openxmlformats.org/officeDocument/2006/relationships/notesSlide" Target="/ppt/notesSlides/notesSlide12.xml" Id="Rec98fbee9c9c4d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ac9ebf1f9420e" /><Relationship Type="http://schemas.openxmlformats.org/officeDocument/2006/relationships/notesSlide" Target="/ppt/notesSlides/notesSlide13.xml" Id="Rb3ab7dd4ec4a4a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d563e3c3c4140" /><Relationship Type="http://schemas.openxmlformats.org/officeDocument/2006/relationships/notesSlide" Target="/ppt/notesSlides/notesSlide14.xml" Id="R52d09698f5454b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9c6a13c2e4bf8" /><Relationship Type="http://schemas.openxmlformats.org/officeDocument/2006/relationships/notesSlide" Target="/ppt/notesSlides/notesSlide15.xml" Id="R4761f2ab1c244c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1AC2C56-C891-41A3-BB3F-6923F671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CB13F57-FAC1-4692-82C7-C41002A6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D7A23D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D7A23D"/>
                </a:solidFill>
                <a:latin typeface="NanumGothic"/>
                <a:ea typeface="NanumGothic"/>
                <a:cs typeface="NanumGothic"/>
              </a:rPr>
              <a:t>GAME GUIDE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AC86E5D-CC00-44F4-8344-505D8DE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37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 한방(Property Shot)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B7F799-EC33-453C-914E-EB85046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1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게임 소개 및 설명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4C0760C7-624B-4426-B966-16836DCA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19484CE6-CF61-4733-B666-BE04343E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속성을 옮기고, 실패까지 다음 해법으로 바꾸는 물리 퍼즐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bd5b9721d43d4"/>
          <a:stretch xmlns:a="http://schemas.openxmlformats.org/drawingml/2006/main"/>
        </p:blipFill>
        <p:spPr>
          <a:xfrm xmlns:a="http://schemas.openxmlformats.org/drawingml/2006/main">
            <a:off x="4845900" y="5334000"/>
            <a:ext cx="1452450" cy="31432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7E0B118A-2E54-4A0F-B232-FAB5872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NAN 2026 Game × AI 해커톤 사전 과제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2026-08-10</a:t>
            </a:r>
          </a:p>
        </p:txBody>
      </p:sp>
      <p:sp>
        <p:nvSpPr>
          <p:cNvPr id="9" name="cover-page">
            <a:extLst xmlns:a="http://schemas.openxmlformats.org/drawingml/2006/main">
              <a:ext uri="{FF2B5EF4-FFF2-40B4-BE49-F238E27FC236}">
                <a16:creationId xmlns:a16="http://schemas.microsoft.com/office/drawing/2014/main" id="{49F5B7BC-7BD6-4FED-B95C-B50A4C2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96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23772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4004B4F0-5D88-41B6-8FE4-838BECE1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8FB13B-B193-4844-839B-6F0ACDED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2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91D876C-56D8-4917-8117-828F9BEE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E14B73-F822-4693-8425-84BB4CAF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문서 개요</a:t>
            </a:r>
          </a:p>
        </p:txBody>
      </p:sp>
      <p:sp>
        <p:nvSpPr>
          <p:cNvPr id="5" name="paragraph-140">
            <a:extLst xmlns:a="http://schemas.openxmlformats.org/drawingml/2006/main">
              <a:ext uri="{FF2B5EF4-FFF2-40B4-BE49-F238E27FC236}">
                <a16:creationId xmlns:a16="http://schemas.microsoft.com/office/drawing/2014/main" id="{526B785E-B64A-4E89-B244-2252E7B3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34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NAN 2026 Game × AI 해커톤 사전 과제</a:t>
            </a:r>
          </a:p>
        </p:txBody>
      </p:sp>
    </p:spTree>
    <p:extLst>
      <p:ext uri="{BB962C8B-B14F-4D97-AF65-F5344CB8AC3E}">
        <p14:creationId xmlns:p14="http://schemas.microsoft.com/office/powerpoint/2010/main" val="1886458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5255998F-0ABF-4A91-95F7-D2F2F9D3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C4D628-861A-488B-8E1C-1BE9A7B5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3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E791FED-DF9D-4F6A-BD95-31CDF95E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6D5B27-5A29-4937-9B48-AA2ECE41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1. 한눈에 보는 게임</a:t>
            </a:r>
          </a:p>
        </p:txBody>
      </p:sp>
      <p:sp>
        <p:nvSpPr>
          <p:cNvPr id="5" name="paragraph-140">
            <a:extLst xmlns:a="http://schemas.openxmlformats.org/drawingml/2006/main">
              <a:ext uri="{FF2B5EF4-FFF2-40B4-BE49-F238E27FC236}">
                <a16:creationId xmlns:a16="http://schemas.microsoft.com/office/drawing/2014/main" id="{D6867F75-15C1-4293-811B-38BB8F39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 한방은 주변 사물의 물리 속성을 공에 옮기고, 속성이 비워진 원본과 이전 샷의 공까지 다음 해법으로 활용하는 세로형 물리 퍼즐이다.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40b2677ee4e81"/>
          <a:stretch xmlns:a="http://schemas.openxmlformats.org/drawingml/2006/main"/>
        </p:blipFill>
        <p:spPr>
          <a:xfrm xmlns:a="http://schemas.openxmlformats.org/drawingml/2006/main">
            <a:off x="3055200" y="2025396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7" name="image-caption-212.64">
            <a:extLst xmlns:a="http://schemas.openxmlformats.org/drawingml/2006/main">
              <a:ext uri="{FF2B5EF4-FFF2-40B4-BE49-F238E27FC236}">
                <a16:creationId xmlns:a16="http://schemas.microsoft.com/office/drawing/2014/main" id="{AB0F5E68-7C8D-4CCB-866A-D6FBD66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25796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속성 공을 조준해 장면의 상태를 바꾸는 실제 플레이 화면</a:t>
            </a:r>
          </a:p>
        </p:txBody>
      </p:sp>
      <p:sp>
        <p:nvSpPr>
          <p:cNvPr id="8" name="table-cell-596.64-0-0">
            <a:extLst xmlns:a="http://schemas.openxmlformats.org/drawingml/2006/main">
              <a:ext uri="{FF2B5EF4-FFF2-40B4-BE49-F238E27FC236}">
                <a16:creationId xmlns:a16="http://schemas.microsoft.com/office/drawing/2014/main" id="{EB38C17E-4BA7-4E26-BD97-72028049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82996"/>
            <a:ext cx="3248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9" name="table-text-596.64-0-0">
            <a:extLst xmlns:a="http://schemas.openxmlformats.org/drawingml/2006/main">
              <a:ext uri="{FF2B5EF4-FFF2-40B4-BE49-F238E27FC236}">
                <a16:creationId xmlns:a16="http://schemas.microsoft.com/office/drawing/2014/main" id="{E6129254-E4EA-4EFF-BBE5-660C274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9671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평가 포인트</a:t>
            </a:r>
          </a:p>
        </p:txBody>
      </p:sp>
      <p:sp>
        <p:nvSpPr>
          <p:cNvPr id="10" name="table-cell-596.64-0-1">
            <a:extLst xmlns:a="http://schemas.openxmlformats.org/drawingml/2006/main">
              <a:ext uri="{FF2B5EF4-FFF2-40B4-BE49-F238E27FC236}">
                <a16:creationId xmlns:a16="http://schemas.microsoft.com/office/drawing/2014/main" id="{B7498F7D-527E-4EFF-B6C8-B54733DD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682996"/>
            <a:ext cx="3248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1" name="table-text-596.64-0-1">
            <a:extLst xmlns:a="http://schemas.openxmlformats.org/drawingml/2006/main">
              <a:ext uri="{FF2B5EF4-FFF2-40B4-BE49-F238E27FC236}">
                <a16:creationId xmlns:a16="http://schemas.microsoft.com/office/drawing/2014/main" id="{A2DE39D6-714A-49E8-9479-789C539D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749671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 한방의 답</a:t>
            </a:r>
          </a:p>
        </p:txBody>
      </p:sp>
      <p:sp>
        <p:nvSpPr>
          <p:cNvPr id="12" name="table-cell-596.64-1-0">
            <a:extLst xmlns:a="http://schemas.openxmlformats.org/drawingml/2006/main">
              <a:ext uri="{FF2B5EF4-FFF2-40B4-BE49-F238E27FC236}">
                <a16:creationId xmlns:a16="http://schemas.microsoft.com/office/drawing/2014/main" id="{DD0DF83A-8938-471D-A2CA-DEBE08A8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0196"/>
            <a:ext cx="3248025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3" name="table-text-596.64-1-0">
            <a:extLst xmlns:a="http://schemas.openxmlformats.org/drawingml/2006/main">
              <a:ext uri="{FF2B5EF4-FFF2-40B4-BE49-F238E27FC236}">
                <a16:creationId xmlns:a16="http://schemas.microsoft.com/office/drawing/2014/main" id="{4000532B-6A38-4060-A77B-85E5FF72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06871"/>
            <a:ext cx="3076575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무엇이 새로운가</a:t>
            </a:r>
          </a:p>
        </p:txBody>
      </p:sp>
      <p:sp>
        <p:nvSpPr>
          <p:cNvPr id="14" name="table-cell-596.64-1-1">
            <a:extLst xmlns:a="http://schemas.openxmlformats.org/drawingml/2006/main">
              <a:ext uri="{FF2B5EF4-FFF2-40B4-BE49-F238E27FC236}">
                <a16:creationId xmlns:a16="http://schemas.microsoft.com/office/drawing/2014/main" id="{9F2ECD11-2D90-4432-AE60-9825D16C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140196"/>
            <a:ext cx="3248025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5" name="table-text-596.64-1-1">
            <a:extLst xmlns:a="http://schemas.openxmlformats.org/drawingml/2006/main">
              <a:ext uri="{FF2B5EF4-FFF2-40B4-BE49-F238E27FC236}">
                <a16:creationId xmlns:a16="http://schemas.microsoft.com/office/drawing/2014/main" id="{3A0D9924-C944-464B-9F90-30BC3065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206871"/>
            <a:ext cx="3076575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방향과 힘뿐 아니라 ‘어떤 속성을 옮길지’와 ‘바뀐 장면을 다음 샷에 어떻게 쓸지’를 설계한다.</a:t>
            </a:r>
          </a:p>
        </p:txBody>
      </p:sp>
      <p:sp>
        <p:nvSpPr>
          <p:cNvPr id="16" name="table-cell-596.64-2-0">
            <a:extLst xmlns:a="http://schemas.openxmlformats.org/drawingml/2006/main">
              <a:ext uri="{FF2B5EF4-FFF2-40B4-BE49-F238E27FC236}">
                <a16:creationId xmlns:a16="http://schemas.microsoft.com/office/drawing/2014/main" id="{455CF783-E049-4316-BF71-F78E0915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1691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7" name="table-text-596.64-2-0">
            <a:extLst xmlns:a="http://schemas.openxmlformats.org/drawingml/2006/main">
              <a:ext uri="{FF2B5EF4-FFF2-40B4-BE49-F238E27FC236}">
                <a16:creationId xmlns:a16="http://schemas.microsoft.com/office/drawing/2014/main" id="{B5E23B92-D6B1-43D7-8B96-69613E5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738366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무엇이 재미있는가</a:t>
            </a:r>
          </a:p>
        </p:txBody>
      </p:sp>
      <p:sp>
        <p:nvSpPr>
          <p:cNvPr id="18" name="table-cell-596.64-2-1">
            <a:extLst xmlns:a="http://schemas.openxmlformats.org/drawingml/2006/main">
              <a:ext uri="{FF2B5EF4-FFF2-40B4-BE49-F238E27FC236}">
                <a16:creationId xmlns:a16="http://schemas.microsoft.com/office/drawing/2014/main" id="{190B05C0-D476-4204-95EB-BF88E96F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671691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9" name="table-text-596.64-2-1">
            <a:extLst xmlns:a="http://schemas.openxmlformats.org/drawingml/2006/main">
              <a:ext uri="{FF2B5EF4-FFF2-40B4-BE49-F238E27FC236}">
                <a16:creationId xmlns:a16="http://schemas.microsoft.com/office/drawing/2014/main" id="{1D79F597-30AF-4B09-A037-50BF3500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738366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실패한 샷도 잔류 공과 열린 문, 회전한 반사판을 남겨 다음 성공의 재료가 된다.</a:t>
            </a:r>
          </a:p>
        </p:txBody>
      </p:sp>
      <p:sp>
        <p:nvSpPr>
          <p:cNvPr id="20" name="table-cell-596.64-3-0">
            <a:extLst xmlns:a="http://schemas.openxmlformats.org/drawingml/2006/main">
              <a:ext uri="{FF2B5EF4-FFF2-40B4-BE49-F238E27FC236}">
                <a16:creationId xmlns:a16="http://schemas.microsoft.com/office/drawing/2014/main" id="{70F26B38-E560-488C-9593-0CAE3FB3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71741"/>
            <a:ext cx="3248025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1" name="table-text-596.64-3-0">
            <a:extLst xmlns:a="http://schemas.openxmlformats.org/drawingml/2006/main">
              <a:ext uri="{FF2B5EF4-FFF2-40B4-BE49-F238E27FC236}">
                <a16:creationId xmlns:a16="http://schemas.microsoft.com/office/drawing/2014/main" id="{1788B894-46CB-47F5-9CDB-4B323480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38416"/>
            <a:ext cx="3076575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얼마나 완성됐는가</a:t>
            </a:r>
          </a:p>
        </p:txBody>
      </p:sp>
      <p:sp>
        <p:nvSpPr>
          <p:cNvPr id="22" name="table-cell-596.64-3-1">
            <a:extLst xmlns:a="http://schemas.openxmlformats.org/drawingml/2006/main">
              <a:ext uri="{FF2B5EF4-FFF2-40B4-BE49-F238E27FC236}">
                <a16:creationId xmlns:a16="http://schemas.microsoft.com/office/drawing/2014/main" id="{E1CF2967-E264-4EEA-9FB3-E2A4A65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071741"/>
            <a:ext cx="3248025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3" name="table-text-596.64-3-1">
            <a:extLst xmlns:a="http://schemas.openxmlformats.org/drawingml/2006/main">
              <a:ext uri="{FF2B5EF4-FFF2-40B4-BE49-F238E27FC236}">
                <a16:creationId xmlns:a16="http://schemas.microsoft.com/office/drawing/2014/main" id="{32776DB9-CCE3-4D23-BAD0-CD13F2F9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8416"/>
            <a:ext cx="3076575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10단계 × 4패턴, 총 40개 퍼즐과 튜토리얼·힌트·난이도·보상·리플레이를 플레이할 수 있다.</a:t>
            </a:r>
          </a:p>
        </p:txBody>
      </p:sp>
      <p:sp>
        <p:nvSpPr>
          <p:cNvPr id="24" name="table-cell-596.64-4-0">
            <a:extLst xmlns:a="http://schemas.openxmlformats.org/drawingml/2006/main">
              <a:ext uri="{FF2B5EF4-FFF2-40B4-BE49-F238E27FC236}">
                <a16:creationId xmlns:a16="http://schemas.microsoft.com/office/drawing/2014/main" id="{75A82414-3D39-4259-8EFF-F9E6650E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03236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5" name="table-text-596.64-4-0">
            <a:extLst xmlns:a="http://schemas.openxmlformats.org/drawingml/2006/main">
              <a:ext uri="{FF2B5EF4-FFF2-40B4-BE49-F238E27FC236}">
                <a16:creationId xmlns:a16="http://schemas.microsoft.com/office/drawing/2014/main" id="{AEE55AE9-3559-4C3D-B822-B428A008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69911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무엇을 시연할 것인가</a:t>
            </a:r>
          </a:p>
        </p:txBody>
      </p:sp>
      <p:sp>
        <p:nvSpPr>
          <p:cNvPr id="26" name="table-cell-596.64-4-1">
            <a:extLst xmlns:a="http://schemas.openxmlformats.org/drawingml/2006/main">
              <a:ext uri="{FF2B5EF4-FFF2-40B4-BE49-F238E27FC236}">
                <a16:creationId xmlns:a16="http://schemas.microsoft.com/office/drawing/2014/main" id="{5FD4C816-F95F-4F6E-90A2-D9CA5AB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603236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7" name="table-text-596.64-4-1">
            <a:extLst xmlns:a="http://schemas.openxmlformats.org/drawingml/2006/main">
              <a:ext uri="{FF2B5EF4-FFF2-40B4-BE49-F238E27FC236}">
                <a16:creationId xmlns:a16="http://schemas.microsoft.com/office/drawing/2014/main" id="{726E53F7-CB3F-46B6-A67E-BC62FB28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69911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 이전 → 기믹 연쇄 → 장면 상태 변화 → 홀 진입의 한 사이클을 보여준다.</a:t>
            </a:r>
          </a:p>
        </p:txBody>
      </p:sp>
    </p:spTree>
    <p:extLst>
      <p:ext uri="{BB962C8B-B14F-4D97-AF65-F5344CB8AC3E}">
        <p14:creationId xmlns:p14="http://schemas.microsoft.com/office/powerpoint/2010/main" val="1956223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7637A55F-169E-4331-B32F-90623D1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59894D-3117-42AA-BFB5-20E65344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4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AF3CB86-ABC3-43FC-9C2C-1CB94B86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D1CEFE-C5E6-4B8C-A5F5-BBD27CAA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2. 플레이어가 하는 일</a:t>
            </a:r>
          </a:p>
        </p:txBody>
      </p:sp>
      <p:sp>
        <p:nvSpPr>
          <p:cNvPr id="5" name="subheading-140">
            <a:extLst xmlns:a="http://schemas.openxmlformats.org/drawingml/2006/main">
              <a:ext uri="{FF2B5EF4-FFF2-40B4-BE49-F238E27FC236}">
                <a16:creationId xmlns:a16="http://schemas.microsoft.com/office/drawing/2014/main" id="{887E1219-6CA8-42B1-A431-93B17F34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2.1 목표와 조작</a:t>
            </a:r>
          </a:p>
        </p:txBody>
      </p:sp>
      <p:sp>
        <p:nvSpPr>
          <p:cNvPr id="6" name="bullets-194">
            <a:extLst xmlns:a="http://schemas.openxmlformats.org/drawingml/2006/main">
              <a:ext uri="{FF2B5EF4-FFF2-40B4-BE49-F238E27FC236}">
                <a16:creationId xmlns:a16="http://schemas.microsoft.com/office/drawing/2014/main" id="{58EB19F9-0A09-4957-ABDC-77DD0D85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496050" cy="203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맵에서 무거움·탄성·점착·뾰족함 속성을 가진 오브젝트를 고른다.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속성을 공에 이전한다. 원본은 속성이 비워져 새로운 장면 상태가 된다.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드래그로 방향을 정하고 공을 길게 눌러 힘을 모은다.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초록 → 노랑 → 빨강 → 점멸 빨강 → 회색으로 바뀌는 게이지를 보고 발사한다.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공이 홀에 들어가면 성공한다. 실패해도 장치 상태와 잔류 공이 유지되어 다음 샷으로 이어진다.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35e33441749fd"/>
          <a:stretch xmlns:a="http://schemas.openxmlformats.org/drawingml/2006/main"/>
        </p:blipFill>
        <p:spPr>
          <a:xfrm xmlns:a="http://schemas.openxmlformats.org/drawingml/2006/main">
            <a:off x="3055200" y="3980688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image-caption-417.92">
            <a:extLst xmlns:a="http://schemas.openxmlformats.org/drawingml/2006/main">
              <a:ext uri="{FF2B5EF4-FFF2-40B4-BE49-F238E27FC236}">
                <a16:creationId xmlns:a16="http://schemas.microsoft.com/office/drawing/2014/main" id="{9D3786BB-F693-493C-8352-ABD4DEA0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81088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무거움 돌에서 속성을 이전하거나 복사하는 선택 화면</a:t>
            </a:r>
          </a:p>
        </p:txBody>
      </p:sp>
      <p:sp>
        <p:nvSpPr>
          <p:cNvPr id="9" name="subheading-801.9200000000001">
            <a:extLst xmlns:a="http://schemas.openxmlformats.org/drawingml/2006/main">
              <a:ext uri="{FF2B5EF4-FFF2-40B4-BE49-F238E27FC236}">
                <a16:creationId xmlns:a16="http://schemas.microsoft.com/office/drawing/2014/main" id="{7D1D5685-535D-43E0-A43D-B0A5B759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38288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2.2 한 번의 플레이 루프</a:t>
            </a:r>
          </a:p>
        </p:txBody>
      </p:sp>
      <p:sp>
        <p:nvSpPr>
          <p:cNvPr id="10" name="table-cell-855.9200000000001-0-0">
            <a:extLst xmlns:a="http://schemas.openxmlformats.org/drawingml/2006/main">
              <a:ext uri="{FF2B5EF4-FFF2-40B4-BE49-F238E27FC236}">
                <a16:creationId xmlns:a16="http://schemas.microsoft.com/office/drawing/2014/main" id="{236A223E-6771-491F-AC9A-3E52B682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52638"/>
            <a:ext cx="162401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1" name="table-text-855.9200000000001-0-0">
            <a:extLst xmlns:a="http://schemas.openxmlformats.org/drawingml/2006/main">
              <a:ext uri="{FF2B5EF4-FFF2-40B4-BE49-F238E27FC236}">
                <a16:creationId xmlns:a16="http://schemas.microsoft.com/office/drawing/2014/main" id="{945BFDBD-84BE-49F9-8BE4-80792C1A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219313"/>
            <a:ext cx="1452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관찰</a:t>
            </a:r>
          </a:p>
        </p:txBody>
      </p:sp>
      <p:sp>
        <p:nvSpPr>
          <p:cNvPr id="12" name="table-cell-855.9200000000001-0-1">
            <a:extLst xmlns:a="http://schemas.openxmlformats.org/drawingml/2006/main">
              <a:ext uri="{FF2B5EF4-FFF2-40B4-BE49-F238E27FC236}">
                <a16:creationId xmlns:a16="http://schemas.microsoft.com/office/drawing/2014/main" id="{53A701C2-557C-4573-90F5-F8CD537A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8152638"/>
            <a:ext cx="162401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3" name="table-text-855.9200000000001-0-1">
            <a:extLst xmlns:a="http://schemas.openxmlformats.org/drawingml/2006/main">
              <a:ext uri="{FF2B5EF4-FFF2-40B4-BE49-F238E27FC236}">
                <a16:creationId xmlns:a16="http://schemas.microsoft.com/office/drawing/2014/main" id="{EF951E84-21F2-4ADF-8950-EBC5F579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8219313"/>
            <a:ext cx="1452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선택</a:t>
            </a:r>
          </a:p>
        </p:txBody>
      </p:sp>
      <p:sp>
        <p:nvSpPr>
          <p:cNvPr id="14" name="table-cell-855.9200000000001-0-2">
            <a:extLst xmlns:a="http://schemas.openxmlformats.org/drawingml/2006/main">
              <a:ext uri="{FF2B5EF4-FFF2-40B4-BE49-F238E27FC236}">
                <a16:creationId xmlns:a16="http://schemas.microsoft.com/office/drawing/2014/main" id="{31831D5F-7883-429A-B113-D2D179FD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8152638"/>
            <a:ext cx="162401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5" name="table-text-855.9200000000001-0-2">
            <a:extLst xmlns:a="http://schemas.openxmlformats.org/drawingml/2006/main">
              <a:ext uri="{FF2B5EF4-FFF2-40B4-BE49-F238E27FC236}">
                <a16:creationId xmlns:a16="http://schemas.microsoft.com/office/drawing/2014/main" id="{DB3C4E8C-510F-497E-B602-88F531AE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219313"/>
            <a:ext cx="1452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실행</a:t>
            </a:r>
          </a:p>
        </p:txBody>
      </p:sp>
      <p:sp>
        <p:nvSpPr>
          <p:cNvPr id="16" name="table-cell-855.9200000000001-0-3">
            <a:extLst xmlns:a="http://schemas.openxmlformats.org/drawingml/2006/main">
              <a:ext uri="{FF2B5EF4-FFF2-40B4-BE49-F238E27FC236}">
                <a16:creationId xmlns:a16="http://schemas.microsoft.com/office/drawing/2014/main" id="{28F79E18-2A30-4024-A16D-7EA6860B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8152638"/>
            <a:ext cx="162401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7" name="table-text-855.9200000000001-0-3">
            <a:extLst xmlns:a="http://schemas.openxmlformats.org/drawingml/2006/main">
              <a:ext uri="{FF2B5EF4-FFF2-40B4-BE49-F238E27FC236}">
                <a16:creationId xmlns:a16="http://schemas.microsoft.com/office/drawing/2014/main" id="{7A085710-E079-4498-8FCD-B3400C36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8219313"/>
            <a:ext cx="1452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학습</a:t>
            </a:r>
          </a:p>
        </p:txBody>
      </p:sp>
      <p:sp>
        <p:nvSpPr>
          <p:cNvPr id="18" name="table-cell-855.9200000000001-1-0">
            <a:extLst xmlns:a="http://schemas.openxmlformats.org/drawingml/2006/main">
              <a:ext uri="{FF2B5EF4-FFF2-40B4-BE49-F238E27FC236}">
                <a16:creationId xmlns:a16="http://schemas.microsoft.com/office/drawing/2014/main" id="{3652E291-A706-4D36-848D-3915272C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09838"/>
            <a:ext cx="1624013" cy="505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9" name="table-text-855.9200000000001-1-0">
            <a:extLst xmlns:a="http://schemas.openxmlformats.org/drawingml/2006/main">
              <a:ext uri="{FF2B5EF4-FFF2-40B4-BE49-F238E27FC236}">
                <a16:creationId xmlns:a16="http://schemas.microsoft.com/office/drawing/2014/main" id="{A04234E2-4BE1-4936-B20A-2142656F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76513"/>
            <a:ext cx="1452563" cy="372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홀과 장애물, 속성 원본을 읽는다</a:t>
            </a:r>
          </a:p>
        </p:txBody>
      </p:sp>
      <p:sp>
        <p:nvSpPr>
          <p:cNvPr id="20" name="table-cell-855.9200000000001-1-1">
            <a:extLst xmlns:a="http://schemas.openxmlformats.org/drawingml/2006/main">
              <a:ext uri="{FF2B5EF4-FFF2-40B4-BE49-F238E27FC236}">
                <a16:creationId xmlns:a16="http://schemas.microsoft.com/office/drawing/2014/main" id="{8E5CE31B-6B80-4808-A913-D05FED7F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8609838"/>
            <a:ext cx="1624013" cy="505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1" name="table-text-855.9200000000001-1-1">
            <a:extLst xmlns:a="http://schemas.openxmlformats.org/drawingml/2006/main">
              <a:ext uri="{FF2B5EF4-FFF2-40B4-BE49-F238E27FC236}">
                <a16:creationId xmlns:a16="http://schemas.microsoft.com/office/drawing/2014/main" id="{FDBABE00-51E9-4D21-842D-11628D4C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8676513"/>
            <a:ext cx="1452563" cy="372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옮길 속성과 경로를 정한다</a:t>
            </a:r>
          </a:p>
        </p:txBody>
      </p:sp>
      <p:sp>
        <p:nvSpPr>
          <p:cNvPr id="22" name="table-cell-855.9200000000001-1-2">
            <a:extLst xmlns:a="http://schemas.openxmlformats.org/drawingml/2006/main">
              <a:ext uri="{FF2B5EF4-FFF2-40B4-BE49-F238E27FC236}">
                <a16:creationId xmlns:a16="http://schemas.microsoft.com/office/drawing/2014/main" id="{5F31C160-50A3-4BDD-AAD5-0C07FE0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8609838"/>
            <a:ext cx="1624013" cy="505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3" name="table-text-855.9200000000001-1-2">
            <a:extLst xmlns:a="http://schemas.openxmlformats.org/drawingml/2006/main">
              <a:ext uri="{FF2B5EF4-FFF2-40B4-BE49-F238E27FC236}">
                <a16:creationId xmlns:a16="http://schemas.microsoft.com/office/drawing/2014/main" id="{BE41C8C2-0C4D-4A41-BB9E-0251B283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676513"/>
            <a:ext cx="1452563" cy="372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방향·힘을 조절해 발사한다</a:t>
            </a:r>
          </a:p>
        </p:txBody>
      </p:sp>
      <p:sp>
        <p:nvSpPr>
          <p:cNvPr id="24" name="table-cell-855.9200000000001-1-3">
            <a:extLst xmlns:a="http://schemas.openxmlformats.org/drawingml/2006/main">
              <a:ext uri="{FF2B5EF4-FFF2-40B4-BE49-F238E27FC236}">
                <a16:creationId xmlns:a16="http://schemas.microsoft.com/office/drawing/2014/main" id="{13803D48-77ED-47D2-B115-9BA89EE2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8609838"/>
            <a:ext cx="1624013" cy="505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5" name="table-text-855.9200000000001-1-3">
            <a:extLst xmlns:a="http://schemas.openxmlformats.org/drawingml/2006/main">
              <a:ext uri="{FF2B5EF4-FFF2-40B4-BE49-F238E27FC236}">
                <a16:creationId xmlns:a16="http://schemas.microsoft.com/office/drawing/2014/main" id="{3F3CF27F-A7A2-4FA7-A23C-8FF9192B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8676513"/>
            <a:ext cx="1452563" cy="372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남은 공과 바뀐 장면으로 다음 해법을 만든다</a:t>
            </a:r>
          </a:p>
        </p:txBody>
      </p:sp>
      <p:sp>
        <p:nvSpPr>
          <p:cNvPr id="26" name="paragraph-973.0200000000001">
            <a:extLst xmlns:a="http://schemas.openxmlformats.org/drawingml/2006/main">
              <a:ext uri="{FF2B5EF4-FFF2-40B4-BE49-F238E27FC236}">
                <a16:creationId xmlns:a16="http://schemas.microsoft.com/office/drawing/2014/main" id="{7D5869A0-C232-42DD-9665-570C5F9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68016"/>
            <a:ext cx="6496050" cy="34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이 구조 덕분에 정답을 외우는 게임보다 ‘물리 상태를 편집하는 퍼즐’에 가깝다.</a:t>
            </a:r>
          </a:p>
        </p:txBody>
      </p:sp>
    </p:spTree>
    <p:extLst>
      <p:ext uri="{BB962C8B-B14F-4D97-AF65-F5344CB8AC3E}">
        <p14:creationId xmlns:p14="http://schemas.microsoft.com/office/powerpoint/2010/main" val="1969083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7A72AB0B-5484-40BD-B4FE-17A70425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0E0564-17A6-4B71-A0EF-8BE1F019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5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933C6B6-97EB-4BC7-9C5E-020D4810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B2A49F-E7F4-414C-B98A-BA13008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3. 핵심 기믹과 학습 곡선</a:t>
            </a:r>
          </a:p>
        </p:txBody>
      </p:sp>
      <p:sp>
        <p:nvSpPr>
          <p:cNvPr id="5" name="subheading-140">
            <a:extLst xmlns:a="http://schemas.openxmlformats.org/drawingml/2006/main">
              <a:ext uri="{FF2B5EF4-FFF2-40B4-BE49-F238E27FC236}">
                <a16:creationId xmlns:a16="http://schemas.microsoft.com/office/drawing/2014/main" id="{4134C446-B087-4272-A8A7-83998DEC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3.1 네 가지 속성</a:t>
            </a:r>
          </a:p>
        </p:txBody>
      </p:sp>
      <p:sp>
        <p:nvSpPr>
          <p:cNvPr id="6" name="table-cell-194-0-0">
            <a:extLst xmlns:a="http://schemas.openxmlformats.org/drawingml/2006/main">
              <a:ext uri="{FF2B5EF4-FFF2-40B4-BE49-F238E27FC236}">
                <a16:creationId xmlns:a16="http://schemas.microsoft.com/office/drawing/2014/main" id="{030BD85C-E9E2-4933-89A0-C4F4B00D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216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7" name="table-text-194-0-0">
            <a:extLst xmlns:a="http://schemas.openxmlformats.org/drawingml/2006/main">
              <a:ext uri="{FF2B5EF4-FFF2-40B4-BE49-F238E27FC236}">
                <a16:creationId xmlns:a16="http://schemas.microsoft.com/office/drawing/2014/main" id="{A9AD34FC-3006-4FB6-91D0-EE701833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4525"/>
            <a:ext cx="199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</a:t>
            </a:r>
          </a:p>
        </p:txBody>
      </p:sp>
      <p:sp>
        <p:nvSpPr>
          <p:cNvPr id="8" name="table-cell-194-0-1">
            <a:extLst xmlns:a="http://schemas.openxmlformats.org/drawingml/2006/main">
              <a:ext uri="{FF2B5EF4-FFF2-40B4-BE49-F238E27FC236}">
                <a16:creationId xmlns:a16="http://schemas.microsoft.com/office/drawing/2014/main" id="{13032401-AD2F-40CF-9C1A-A938A8B6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1847850"/>
            <a:ext cx="216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9" name="table-text-194-0-1">
            <a:extLst xmlns:a="http://schemas.openxmlformats.org/drawingml/2006/main">
              <a:ext uri="{FF2B5EF4-FFF2-40B4-BE49-F238E27FC236}">
                <a16:creationId xmlns:a16="http://schemas.microsoft.com/office/drawing/2014/main" id="{893CC20D-52EA-4B66-901D-CCDE8E6E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1914525"/>
            <a:ext cx="199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플레이 변화</a:t>
            </a:r>
          </a:p>
        </p:txBody>
      </p:sp>
      <p:sp>
        <p:nvSpPr>
          <p:cNvPr id="10" name="table-cell-194-0-2">
            <a:extLst xmlns:a="http://schemas.openxmlformats.org/drawingml/2006/main">
              <a:ext uri="{FF2B5EF4-FFF2-40B4-BE49-F238E27FC236}">
                <a16:creationId xmlns:a16="http://schemas.microsoft.com/office/drawing/2014/main" id="{D7C09ED8-DF5F-40B6-8912-ECD3D516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1847850"/>
            <a:ext cx="216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1" name="table-text-194-0-2">
            <a:extLst xmlns:a="http://schemas.openxmlformats.org/drawingml/2006/main">
              <a:ext uri="{FF2B5EF4-FFF2-40B4-BE49-F238E27FC236}">
                <a16:creationId xmlns:a16="http://schemas.microsoft.com/office/drawing/2014/main" id="{3C2A9BC9-7DBA-4A95-9DD8-18FEBF3D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1914525"/>
            <a:ext cx="199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대표 학습</a:t>
            </a:r>
          </a:p>
        </p:txBody>
      </p:sp>
      <p:sp>
        <p:nvSpPr>
          <p:cNvPr id="12" name="table-cell-194-1-0">
            <a:extLst xmlns:a="http://schemas.openxmlformats.org/drawingml/2006/main">
              <a:ext uri="{FF2B5EF4-FFF2-40B4-BE49-F238E27FC236}">
                <a16:creationId xmlns:a16="http://schemas.microsoft.com/office/drawing/2014/main" id="{6B5D303F-2DFC-43C7-A64F-CCC2A752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3" name="table-text-194-1-0">
            <a:extLst xmlns:a="http://schemas.openxmlformats.org/drawingml/2006/main">
              <a:ext uri="{FF2B5EF4-FFF2-40B4-BE49-F238E27FC236}">
                <a16:creationId xmlns:a16="http://schemas.microsoft.com/office/drawing/2014/main" id="{05CAEB45-FB7A-4822-9BE0-F5FFA56F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무거움</a:t>
            </a:r>
          </a:p>
        </p:txBody>
      </p:sp>
      <p:sp>
        <p:nvSpPr>
          <p:cNvPr id="14" name="table-cell-194-1-1">
            <a:extLst xmlns:a="http://schemas.openxmlformats.org/drawingml/2006/main">
              <a:ext uri="{FF2B5EF4-FFF2-40B4-BE49-F238E27FC236}">
                <a16:creationId xmlns:a16="http://schemas.microsoft.com/office/drawing/2014/main" id="{E260E81D-0BC4-4EFA-974D-1F581EA2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23050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5" name="table-text-194-1-1">
            <a:extLst xmlns:a="http://schemas.openxmlformats.org/drawingml/2006/main">
              <a:ext uri="{FF2B5EF4-FFF2-40B4-BE49-F238E27FC236}">
                <a16:creationId xmlns:a16="http://schemas.microsoft.com/office/drawing/2014/main" id="{5B489EAF-1413-466A-80DC-FCFD4558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23717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상자·스위치에 큰 운동량 전달</a:t>
            </a:r>
          </a:p>
        </p:txBody>
      </p:sp>
      <p:sp>
        <p:nvSpPr>
          <p:cNvPr id="16" name="table-cell-194-1-2">
            <a:extLst xmlns:a="http://schemas.openxmlformats.org/drawingml/2006/main">
              <a:ext uri="{FF2B5EF4-FFF2-40B4-BE49-F238E27FC236}">
                <a16:creationId xmlns:a16="http://schemas.microsoft.com/office/drawing/2014/main" id="{AF8464FB-FD8E-463C-9E1D-57C289A7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23050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7" name="table-text-194-1-2">
            <a:extLst xmlns:a="http://schemas.openxmlformats.org/drawingml/2006/main">
              <a:ext uri="{FF2B5EF4-FFF2-40B4-BE49-F238E27FC236}">
                <a16:creationId xmlns:a16="http://schemas.microsoft.com/office/drawing/2014/main" id="{8EFF4377-C4E0-4B11-9134-96109ABC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23717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힘으로 장면을 바꾸기</a:t>
            </a:r>
          </a:p>
        </p:txBody>
      </p:sp>
      <p:sp>
        <p:nvSpPr>
          <p:cNvPr id="18" name="table-cell-194-2-0">
            <a:extLst xmlns:a="http://schemas.openxmlformats.org/drawingml/2006/main">
              <a:ext uri="{FF2B5EF4-FFF2-40B4-BE49-F238E27FC236}">
                <a16:creationId xmlns:a16="http://schemas.microsoft.com/office/drawing/2014/main" id="{501C60AC-FEE2-45A9-8F97-AC19B984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9" name="table-text-194-2-0">
            <a:extLst xmlns:a="http://schemas.openxmlformats.org/drawingml/2006/main">
              <a:ext uri="{FF2B5EF4-FFF2-40B4-BE49-F238E27FC236}">
                <a16:creationId xmlns:a16="http://schemas.microsoft.com/office/drawing/2014/main" id="{542A0A4D-DF06-44FD-9F95-3609131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717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탄성</a:t>
            </a:r>
          </a:p>
        </p:txBody>
      </p:sp>
      <p:sp>
        <p:nvSpPr>
          <p:cNvPr id="20" name="table-cell-194-2-1">
            <a:extLst xmlns:a="http://schemas.openxmlformats.org/drawingml/2006/main">
              <a:ext uri="{FF2B5EF4-FFF2-40B4-BE49-F238E27FC236}">
                <a16:creationId xmlns:a16="http://schemas.microsoft.com/office/drawing/2014/main" id="{78A8614E-CE81-4CA0-9201-BCD25B7C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27051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1" name="table-text-194-2-1">
            <a:extLst xmlns:a="http://schemas.openxmlformats.org/drawingml/2006/main">
              <a:ext uri="{FF2B5EF4-FFF2-40B4-BE49-F238E27FC236}">
                <a16:creationId xmlns:a16="http://schemas.microsoft.com/office/drawing/2014/main" id="{45F0DBF2-A8F4-411E-B9BE-38A030C0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27717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벽과 범퍼에서 반사 에너지 유지</a:t>
            </a:r>
          </a:p>
        </p:txBody>
      </p:sp>
      <p:sp>
        <p:nvSpPr>
          <p:cNvPr id="22" name="table-cell-194-2-2">
            <a:extLst xmlns:a="http://schemas.openxmlformats.org/drawingml/2006/main">
              <a:ext uri="{FF2B5EF4-FFF2-40B4-BE49-F238E27FC236}">
                <a16:creationId xmlns:a16="http://schemas.microsoft.com/office/drawing/2014/main" id="{29381914-E655-4077-9DEF-30838F8C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27051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3" name="table-text-194-2-2">
            <a:extLst xmlns:a="http://schemas.openxmlformats.org/drawingml/2006/main">
              <a:ext uri="{FF2B5EF4-FFF2-40B4-BE49-F238E27FC236}">
                <a16:creationId xmlns:a16="http://schemas.microsoft.com/office/drawing/2014/main" id="{C4FA5861-3A49-401A-96FF-A230DA88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27717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직선이 아닌 경로 만들기</a:t>
            </a:r>
          </a:p>
        </p:txBody>
      </p:sp>
      <p:sp>
        <p:nvSpPr>
          <p:cNvPr id="24" name="table-cell-194-3-0">
            <a:extLst xmlns:a="http://schemas.openxmlformats.org/drawingml/2006/main">
              <a:ext uri="{FF2B5EF4-FFF2-40B4-BE49-F238E27FC236}">
                <a16:creationId xmlns:a16="http://schemas.microsoft.com/office/drawing/2014/main" id="{53854CEE-DFA6-41A9-B96F-DF282F41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5" name="table-text-194-3-0">
            <a:extLst xmlns:a="http://schemas.openxmlformats.org/drawingml/2006/main">
              <a:ext uri="{FF2B5EF4-FFF2-40B4-BE49-F238E27FC236}">
                <a16:creationId xmlns:a16="http://schemas.microsoft.com/office/drawing/2014/main" id="{3730835A-F032-46E9-BDE6-12FD6D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점착</a:t>
            </a:r>
          </a:p>
        </p:txBody>
      </p:sp>
      <p:sp>
        <p:nvSpPr>
          <p:cNvPr id="26" name="table-cell-194-3-1">
            <a:extLst xmlns:a="http://schemas.openxmlformats.org/drawingml/2006/main">
              <a:ext uri="{FF2B5EF4-FFF2-40B4-BE49-F238E27FC236}">
                <a16:creationId xmlns:a16="http://schemas.microsoft.com/office/drawing/2014/main" id="{1CB0C2C1-3A66-464C-B392-E5AA4AF5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31051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7" name="table-text-194-3-1">
            <a:extLst xmlns:a="http://schemas.openxmlformats.org/drawingml/2006/main">
              <a:ext uri="{FF2B5EF4-FFF2-40B4-BE49-F238E27FC236}">
                <a16:creationId xmlns:a16="http://schemas.microsoft.com/office/drawing/2014/main" id="{8FE2C6C5-BB1C-4A75-A47D-A03BB6D3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31718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표면에 붙어 다음 샷의 발판이 됨</a:t>
            </a:r>
          </a:p>
        </p:txBody>
      </p:sp>
      <p:sp>
        <p:nvSpPr>
          <p:cNvPr id="28" name="table-cell-194-3-2">
            <a:extLst xmlns:a="http://schemas.openxmlformats.org/drawingml/2006/main">
              <a:ext uri="{FF2B5EF4-FFF2-40B4-BE49-F238E27FC236}">
                <a16:creationId xmlns:a16="http://schemas.microsoft.com/office/drawing/2014/main" id="{B14EAC96-8366-4649-9D87-FA7C304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31051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9" name="table-text-194-3-2">
            <a:extLst xmlns:a="http://schemas.openxmlformats.org/drawingml/2006/main">
              <a:ext uri="{FF2B5EF4-FFF2-40B4-BE49-F238E27FC236}">
                <a16:creationId xmlns:a16="http://schemas.microsoft.com/office/drawing/2014/main" id="{3A29B257-0058-4158-83FE-5C90CE18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31718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첫 샷을 두 번째 샷의 도구로 사용</a:t>
            </a:r>
          </a:p>
        </p:txBody>
      </p:sp>
      <p:sp>
        <p:nvSpPr>
          <p:cNvPr id="30" name="table-cell-194-4-0">
            <a:extLst xmlns:a="http://schemas.openxmlformats.org/drawingml/2006/main">
              <a:ext uri="{FF2B5EF4-FFF2-40B4-BE49-F238E27FC236}">
                <a16:creationId xmlns:a16="http://schemas.microsoft.com/office/drawing/2014/main" id="{1FE0B6F9-3403-45FF-B270-AC6FF0F3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1" name="table-text-194-4-0">
            <a:extLst xmlns:a="http://schemas.openxmlformats.org/drawingml/2006/main">
              <a:ext uri="{FF2B5EF4-FFF2-40B4-BE49-F238E27FC236}">
                <a16:creationId xmlns:a16="http://schemas.microsoft.com/office/drawing/2014/main" id="{972187E2-6E06-4B46-854B-5418DCAD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뾰족함</a:t>
            </a:r>
          </a:p>
        </p:txBody>
      </p:sp>
      <p:sp>
        <p:nvSpPr>
          <p:cNvPr id="32" name="table-cell-194-4-1">
            <a:extLst xmlns:a="http://schemas.openxmlformats.org/drawingml/2006/main">
              <a:ext uri="{FF2B5EF4-FFF2-40B4-BE49-F238E27FC236}">
                <a16:creationId xmlns:a16="http://schemas.microsoft.com/office/drawing/2014/main" id="{02A808B9-249A-4A1F-98B4-BB77061A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35052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3" name="table-text-194-4-1">
            <a:extLst xmlns:a="http://schemas.openxmlformats.org/drawingml/2006/main">
              <a:ext uri="{FF2B5EF4-FFF2-40B4-BE49-F238E27FC236}">
                <a16:creationId xmlns:a16="http://schemas.microsoft.com/office/drawing/2014/main" id="{0BFAE4F9-F81B-4E0D-A47F-9C92A666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35718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풍선을 터뜨려 숨은 장치를 노출</a:t>
            </a:r>
          </a:p>
        </p:txBody>
      </p:sp>
      <p:sp>
        <p:nvSpPr>
          <p:cNvPr id="34" name="table-cell-194-4-2">
            <a:extLst xmlns:a="http://schemas.openxmlformats.org/drawingml/2006/main">
              <a:ext uri="{FF2B5EF4-FFF2-40B4-BE49-F238E27FC236}">
                <a16:creationId xmlns:a16="http://schemas.microsoft.com/office/drawing/2014/main" id="{681446FE-F16E-4640-A50C-6A35EA00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35052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5" name="table-text-194-4-2">
            <a:extLst xmlns:a="http://schemas.openxmlformats.org/drawingml/2006/main">
              <a:ext uri="{FF2B5EF4-FFF2-40B4-BE49-F238E27FC236}">
                <a16:creationId xmlns:a16="http://schemas.microsoft.com/office/drawing/2014/main" id="{3FEC7ED6-28C8-4005-90A1-FE246970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35718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속성 → 기물 → 문 연쇄 이해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a42d6a8a2440e"/>
          <a:stretch xmlns:a="http://schemas.openxmlformats.org/drawingml/2006/main"/>
        </p:blipFill>
        <p:spPr>
          <a:xfrm xmlns:a="http://schemas.openxmlformats.org/drawingml/2006/main">
            <a:off x="2209800" y="405765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37" name="image-caption-426">
            <a:extLst xmlns:a="http://schemas.openxmlformats.org/drawingml/2006/main">
              <a:ext uri="{FF2B5EF4-FFF2-40B4-BE49-F238E27FC236}">
                <a16:creationId xmlns:a16="http://schemas.microsoft.com/office/drawing/2014/main" id="{B853B8DE-9D25-4647-83AC-0BF06053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5805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운동량 전달을 상징하는 무거움 돌</a:t>
            </a:r>
          </a:p>
        </p:txBody>
      </p:sp>
    </p:spTree>
    <p:extLst>
      <p:ext uri="{BB962C8B-B14F-4D97-AF65-F5344CB8AC3E}">
        <p14:creationId xmlns:p14="http://schemas.microsoft.com/office/powerpoint/2010/main" val="1427323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1CC96E23-9002-45B2-9C33-86A25CB5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66F671-315A-4033-80BB-D9537F5B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6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AB9981C-3D3B-43E1-AD47-7412D568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4B1549-9A06-4470-8D04-653C1BC7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3. 핵심 기믹과 학습 곡선 · 계속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2e545460e40fd"/>
          <a:stretch xmlns:a="http://schemas.openxmlformats.org/drawingml/2006/main"/>
        </p:blipFill>
        <p:spPr>
          <a:xfrm xmlns:a="http://schemas.openxmlformats.org/drawingml/2006/main">
            <a:off x="2209800" y="13335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image-caption-140">
            <a:extLst xmlns:a="http://schemas.openxmlformats.org/drawingml/2006/main">
              <a:ext uri="{FF2B5EF4-FFF2-40B4-BE49-F238E27FC236}">
                <a16:creationId xmlns:a16="http://schemas.microsoft.com/office/drawing/2014/main" id="{7A8AF6B0-F9DB-42F9-AC05-28FB704E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벽 반사를 상징하는 탄성 젤리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fa18410a641a9"/>
          <a:stretch xmlns:a="http://schemas.openxmlformats.org/drawingml/2006/main"/>
        </p:blipFill>
        <p:spPr>
          <a:xfrm xmlns:a="http://schemas.openxmlformats.org/drawingml/2006/main">
            <a:off x="3055200" y="4991100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image-caption-524">
            <a:extLst xmlns:a="http://schemas.openxmlformats.org/drawingml/2006/main">
              <a:ext uri="{FF2B5EF4-FFF2-40B4-BE49-F238E27FC236}">
                <a16:creationId xmlns:a16="http://schemas.microsoft.com/office/drawing/2014/main" id="{97D99C9D-6A43-4DB4-BE7E-2957AF14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뾰족함 공이 풍선과 문 연쇄를 준비하는 4단계</a:t>
            </a:r>
          </a:p>
        </p:txBody>
      </p:sp>
    </p:spTree>
    <p:extLst>
      <p:ext uri="{BB962C8B-B14F-4D97-AF65-F5344CB8AC3E}">
        <p14:creationId xmlns:p14="http://schemas.microsoft.com/office/powerpoint/2010/main" val="1027107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C5D3E9E0-2B42-4FC0-8029-E44799FC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B35688-E746-442D-BC07-66A76098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7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AA70968-2327-41AF-B48D-55926107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6B0ED7-C3BD-4645-8B6E-C288F6D6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3. 핵심 기믹과 학습 곡선 · 계속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d235da0674bad"/>
          <a:stretch xmlns:a="http://schemas.openxmlformats.org/drawingml/2006/main"/>
        </p:blipFill>
        <p:spPr>
          <a:xfrm xmlns:a="http://schemas.openxmlformats.org/drawingml/2006/main">
            <a:off x="3055200" y="1333500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image-caption-140">
            <a:extLst xmlns:a="http://schemas.openxmlformats.org/drawingml/2006/main">
              <a:ext uri="{FF2B5EF4-FFF2-40B4-BE49-F238E27FC236}">
                <a16:creationId xmlns:a16="http://schemas.microsoft.com/office/drawing/2014/main" id="{28DA61E0-8443-4FFF-90C6-EAB61DB9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점착과 잔류 공 활용을 배우는 3단계의 시작 배치</a:t>
            </a:r>
          </a:p>
        </p:txBody>
      </p:sp>
      <p:sp>
        <p:nvSpPr>
          <p:cNvPr id="7" name="subheading-524">
            <a:extLst xmlns:a="http://schemas.openxmlformats.org/drawingml/2006/main">
              <a:ext uri="{FF2B5EF4-FFF2-40B4-BE49-F238E27FC236}">
                <a16:creationId xmlns:a16="http://schemas.microsoft.com/office/drawing/2014/main" id="{D38D7028-5D5F-4AE3-AE18-F7DC9FE2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3.2 10단계 진행 구조</a:t>
            </a:r>
          </a:p>
        </p:txBody>
      </p:sp>
      <p:sp>
        <p:nvSpPr>
          <p:cNvPr id="8" name="table-cell-578-0-0">
            <a:extLst xmlns:a="http://schemas.openxmlformats.org/drawingml/2006/main">
              <a:ext uri="{FF2B5EF4-FFF2-40B4-BE49-F238E27FC236}">
                <a16:creationId xmlns:a16="http://schemas.microsoft.com/office/drawing/2014/main" id="{7FC90803-283E-4B18-9485-2FEEFF99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216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9" name="table-text-578-0-0">
            <a:extLst xmlns:a="http://schemas.openxmlformats.org/drawingml/2006/main">
              <a:ext uri="{FF2B5EF4-FFF2-40B4-BE49-F238E27FC236}">
                <a16:creationId xmlns:a16="http://schemas.microsoft.com/office/drawing/2014/main" id="{745AD5EB-626A-4E9E-92FF-CEB24EEC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99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단계</a:t>
            </a:r>
          </a:p>
        </p:txBody>
      </p:sp>
      <p:sp>
        <p:nvSpPr>
          <p:cNvPr id="10" name="table-cell-578-0-1">
            <a:extLst xmlns:a="http://schemas.openxmlformats.org/drawingml/2006/main">
              <a:ext uri="{FF2B5EF4-FFF2-40B4-BE49-F238E27FC236}">
                <a16:creationId xmlns:a16="http://schemas.microsoft.com/office/drawing/2014/main" id="{78C432F0-B960-4E6D-B911-B0317B80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5505450"/>
            <a:ext cx="216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1" name="table-text-578-0-1">
            <a:extLst xmlns:a="http://schemas.openxmlformats.org/drawingml/2006/main">
              <a:ext uri="{FF2B5EF4-FFF2-40B4-BE49-F238E27FC236}">
                <a16:creationId xmlns:a16="http://schemas.microsoft.com/office/drawing/2014/main" id="{7A354FF4-166D-4491-94D0-8890E931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5572125"/>
            <a:ext cx="199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새로 배우는 규칙</a:t>
            </a:r>
          </a:p>
        </p:txBody>
      </p:sp>
      <p:sp>
        <p:nvSpPr>
          <p:cNvPr id="12" name="table-cell-578-0-2">
            <a:extLst xmlns:a="http://schemas.openxmlformats.org/drawingml/2006/main">
              <a:ext uri="{FF2B5EF4-FFF2-40B4-BE49-F238E27FC236}">
                <a16:creationId xmlns:a16="http://schemas.microsoft.com/office/drawing/2014/main" id="{EC64B187-DEEC-4DB2-B52F-89FEED0F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5505450"/>
            <a:ext cx="216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3" name="table-text-578-0-2">
            <a:extLst xmlns:a="http://schemas.openxmlformats.org/drawingml/2006/main">
              <a:ext uri="{FF2B5EF4-FFF2-40B4-BE49-F238E27FC236}">
                <a16:creationId xmlns:a16="http://schemas.microsoft.com/office/drawing/2014/main" id="{2F9EEC92-8C3D-4D13-BAF8-669F3203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5572125"/>
            <a:ext cx="199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플레이어가 만드는 변화</a:t>
            </a:r>
          </a:p>
        </p:txBody>
      </p:sp>
      <p:sp>
        <p:nvSpPr>
          <p:cNvPr id="14" name="table-cell-578-1-0">
            <a:extLst xmlns:a="http://schemas.openxmlformats.org/drawingml/2006/main">
              <a:ext uri="{FF2B5EF4-FFF2-40B4-BE49-F238E27FC236}">
                <a16:creationId xmlns:a16="http://schemas.microsoft.com/office/drawing/2014/main" id="{D676F141-24B6-46FE-9FE8-B91C3ECE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5" name="table-text-578-1-0">
            <a:extLst xmlns:a="http://schemas.openxmlformats.org/drawingml/2006/main">
              <a:ext uri="{FF2B5EF4-FFF2-40B4-BE49-F238E27FC236}">
                <a16:creationId xmlns:a16="http://schemas.microsoft.com/office/drawing/2014/main" id="{4EE80B49-9F4C-4C06-BBA8-831BCCB0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1–2</a:t>
            </a:r>
          </a:p>
        </p:txBody>
      </p:sp>
      <p:sp>
        <p:nvSpPr>
          <p:cNvPr id="16" name="table-cell-578-1-1">
            <a:extLst xmlns:a="http://schemas.openxmlformats.org/drawingml/2006/main">
              <a:ext uri="{FF2B5EF4-FFF2-40B4-BE49-F238E27FC236}">
                <a16:creationId xmlns:a16="http://schemas.microsoft.com/office/drawing/2014/main" id="{E770FCBD-938B-430C-98B2-B9CD7F4C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59626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7" name="table-text-578-1-1">
            <a:extLst xmlns:a="http://schemas.openxmlformats.org/drawingml/2006/main">
              <a:ext uri="{FF2B5EF4-FFF2-40B4-BE49-F238E27FC236}">
                <a16:creationId xmlns:a16="http://schemas.microsoft.com/office/drawing/2014/main" id="{42CD65FB-3FAA-47ED-8F5D-9B8765A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60293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무거움, 탄성</a:t>
            </a:r>
          </a:p>
        </p:txBody>
      </p:sp>
      <p:sp>
        <p:nvSpPr>
          <p:cNvPr id="18" name="table-cell-578-1-2">
            <a:extLst xmlns:a="http://schemas.openxmlformats.org/drawingml/2006/main">
              <a:ext uri="{FF2B5EF4-FFF2-40B4-BE49-F238E27FC236}">
                <a16:creationId xmlns:a16="http://schemas.microsoft.com/office/drawing/2014/main" id="{9AC07169-658F-4232-B607-EDDCE802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59626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9" name="table-text-578-1-2">
            <a:extLst xmlns:a="http://schemas.openxmlformats.org/drawingml/2006/main">
              <a:ext uri="{FF2B5EF4-FFF2-40B4-BE49-F238E27FC236}">
                <a16:creationId xmlns:a16="http://schemas.microsoft.com/office/drawing/2014/main" id="{386AF405-5BEE-4C69-82E4-5E11125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60293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상자를 밀고 벽 반사 경로를 만든다</a:t>
            </a:r>
          </a:p>
        </p:txBody>
      </p:sp>
      <p:sp>
        <p:nvSpPr>
          <p:cNvPr id="20" name="table-cell-578-2-0">
            <a:extLst xmlns:a="http://schemas.openxmlformats.org/drawingml/2006/main">
              <a:ext uri="{FF2B5EF4-FFF2-40B4-BE49-F238E27FC236}">
                <a16:creationId xmlns:a16="http://schemas.microsoft.com/office/drawing/2014/main" id="{D98CE9D8-53CB-4CDC-A8B7-6C474322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1" name="table-text-578-2-0">
            <a:extLst xmlns:a="http://schemas.openxmlformats.org/drawingml/2006/main">
              <a:ext uri="{FF2B5EF4-FFF2-40B4-BE49-F238E27FC236}">
                <a16:creationId xmlns:a16="http://schemas.microsoft.com/office/drawing/2014/main" id="{7244493A-FAF4-4DCF-A3CE-153FAC86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3–4</a:t>
            </a:r>
          </a:p>
        </p:txBody>
      </p:sp>
      <p:sp>
        <p:nvSpPr>
          <p:cNvPr id="22" name="table-cell-578-2-1">
            <a:extLst xmlns:a="http://schemas.openxmlformats.org/drawingml/2006/main">
              <a:ext uri="{FF2B5EF4-FFF2-40B4-BE49-F238E27FC236}">
                <a16:creationId xmlns:a16="http://schemas.microsoft.com/office/drawing/2014/main" id="{DBD871B9-1C5D-4623-9EE6-089A97F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63627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3" name="table-text-578-2-1">
            <a:extLst xmlns:a="http://schemas.openxmlformats.org/drawingml/2006/main">
              <a:ext uri="{FF2B5EF4-FFF2-40B4-BE49-F238E27FC236}">
                <a16:creationId xmlns:a16="http://schemas.microsoft.com/office/drawing/2014/main" id="{0301D8E5-ED00-4362-9FAC-1D048A50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64293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스위치·문, 뾰족함·풍선</a:t>
            </a:r>
          </a:p>
        </p:txBody>
      </p:sp>
      <p:sp>
        <p:nvSpPr>
          <p:cNvPr id="24" name="table-cell-578-2-2">
            <a:extLst xmlns:a="http://schemas.openxmlformats.org/drawingml/2006/main">
              <a:ext uri="{FF2B5EF4-FFF2-40B4-BE49-F238E27FC236}">
                <a16:creationId xmlns:a16="http://schemas.microsoft.com/office/drawing/2014/main" id="{9AADB9E4-1820-4567-AE6A-DC42027F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63627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5" name="table-text-578-2-2">
            <a:extLst xmlns:a="http://schemas.openxmlformats.org/drawingml/2006/main">
              <a:ext uri="{FF2B5EF4-FFF2-40B4-BE49-F238E27FC236}">
                <a16:creationId xmlns:a16="http://schemas.microsoft.com/office/drawing/2014/main" id="{EC95A6EA-EE79-4859-9015-2A54C0F4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64293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원인과 결과의 순서를 읽는다</a:t>
            </a:r>
          </a:p>
        </p:txBody>
      </p:sp>
      <p:sp>
        <p:nvSpPr>
          <p:cNvPr id="26" name="table-cell-578-3-0">
            <a:extLst xmlns:a="http://schemas.openxmlformats.org/drawingml/2006/main">
              <a:ext uri="{FF2B5EF4-FFF2-40B4-BE49-F238E27FC236}">
                <a16:creationId xmlns:a16="http://schemas.microsoft.com/office/drawing/2014/main" id="{A7239DC5-D52E-416B-ACDA-71A38804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7" name="table-text-578-3-0">
            <a:extLst xmlns:a="http://schemas.openxmlformats.org/drawingml/2006/main">
              <a:ext uri="{FF2B5EF4-FFF2-40B4-BE49-F238E27FC236}">
                <a16:creationId xmlns:a16="http://schemas.microsoft.com/office/drawing/2014/main" id="{D5C1E134-DDDA-4B2B-895C-CC31089C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294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5–6</a:t>
            </a:r>
          </a:p>
        </p:txBody>
      </p:sp>
      <p:sp>
        <p:nvSpPr>
          <p:cNvPr id="28" name="table-cell-578-3-1">
            <a:extLst xmlns:a="http://schemas.openxmlformats.org/drawingml/2006/main">
              <a:ext uri="{FF2B5EF4-FFF2-40B4-BE49-F238E27FC236}">
                <a16:creationId xmlns:a16="http://schemas.microsoft.com/office/drawing/2014/main" id="{7558D194-FB57-4CA9-8513-07AFC1A3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67627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9" name="table-text-578-3-1">
            <a:extLst xmlns:a="http://schemas.openxmlformats.org/drawingml/2006/main">
              <a:ext uri="{FF2B5EF4-FFF2-40B4-BE49-F238E27FC236}">
                <a16:creationId xmlns:a16="http://schemas.microsoft.com/office/drawing/2014/main" id="{5DB97304-03CC-4695-9F5B-41573653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68294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비워진 원본, 파워 발판</a:t>
            </a:r>
          </a:p>
        </p:txBody>
      </p:sp>
      <p:sp>
        <p:nvSpPr>
          <p:cNvPr id="30" name="table-cell-578-3-2">
            <a:extLst xmlns:a="http://schemas.openxmlformats.org/drawingml/2006/main">
              <a:ext uri="{FF2B5EF4-FFF2-40B4-BE49-F238E27FC236}">
                <a16:creationId xmlns:a16="http://schemas.microsoft.com/office/drawing/2014/main" id="{402F0A02-6966-4262-9092-DCC6A193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67627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1" name="table-text-578-3-2">
            <a:extLst xmlns:a="http://schemas.openxmlformats.org/drawingml/2006/main">
              <a:ext uri="{FF2B5EF4-FFF2-40B4-BE49-F238E27FC236}">
                <a16:creationId xmlns:a16="http://schemas.microsoft.com/office/drawing/2014/main" id="{15458443-2EFC-4304-93A7-AEED8467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68294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속도와 원본 상태를 재활용한다</a:t>
            </a:r>
          </a:p>
        </p:txBody>
      </p:sp>
      <p:sp>
        <p:nvSpPr>
          <p:cNvPr id="32" name="table-cell-578-4-0">
            <a:extLst xmlns:a="http://schemas.openxmlformats.org/drawingml/2006/main">
              <a:ext uri="{FF2B5EF4-FFF2-40B4-BE49-F238E27FC236}">
                <a16:creationId xmlns:a16="http://schemas.microsoft.com/office/drawing/2014/main" id="{82ED8EF0-17E7-4830-9D13-88B03601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628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3" name="table-text-578-4-0">
            <a:extLst xmlns:a="http://schemas.openxmlformats.org/drawingml/2006/main">
              <a:ext uri="{FF2B5EF4-FFF2-40B4-BE49-F238E27FC236}">
                <a16:creationId xmlns:a16="http://schemas.microsoft.com/office/drawing/2014/main" id="{58C9E74C-94AE-4F06-A58A-BC32240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294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7–8</a:t>
            </a:r>
          </a:p>
        </p:txBody>
      </p:sp>
      <p:sp>
        <p:nvSpPr>
          <p:cNvPr id="34" name="table-cell-578-4-1">
            <a:extLst xmlns:a="http://schemas.openxmlformats.org/drawingml/2006/main">
              <a:ext uri="{FF2B5EF4-FFF2-40B4-BE49-F238E27FC236}">
                <a16:creationId xmlns:a16="http://schemas.microsoft.com/office/drawing/2014/main" id="{707C6226-FA77-49CD-98B1-8715B93A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71628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5" name="table-text-578-4-1">
            <a:extLst xmlns:a="http://schemas.openxmlformats.org/drawingml/2006/main">
              <a:ext uri="{FF2B5EF4-FFF2-40B4-BE49-F238E27FC236}">
                <a16:creationId xmlns:a16="http://schemas.microsoft.com/office/drawing/2014/main" id="{F3419B4C-4BB3-41D8-91F5-192F2343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72294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잔류 공, 다중 연쇄</a:t>
            </a:r>
          </a:p>
        </p:txBody>
      </p:sp>
      <p:sp>
        <p:nvSpPr>
          <p:cNvPr id="36" name="table-cell-578-4-2">
            <a:extLst xmlns:a="http://schemas.openxmlformats.org/drawingml/2006/main">
              <a:ext uri="{FF2B5EF4-FFF2-40B4-BE49-F238E27FC236}">
                <a16:creationId xmlns:a16="http://schemas.microsoft.com/office/drawing/2014/main" id="{01300168-86BB-415E-9C57-A77182C2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716280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7" name="table-text-578-4-2">
            <a:extLst xmlns:a="http://schemas.openxmlformats.org/drawingml/2006/main">
              <a:ext uri="{FF2B5EF4-FFF2-40B4-BE49-F238E27FC236}">
                <a16:creationId xmlns:a16="http://schemas.microsoft.com/office/drawing/2014/main" id="{6D79A3F8-1CBA-454E-AFD8-295EFF6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722947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5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실패한 공을 다음 성공 조건으로 바꾼다</a:t>
            </a:r>
          </a:p>
        </p:txBody>
      </p:sp>
      <p:sp>
        <p:nvSpPr>
          <p:cNvPr id="38" name="table-cell-578-5-0">
            <a:extLst xmlns:a="http://schemas.openxmlformats.org/drawingml/2006/main">
              <a:ext uri="{FF2B5EF4-FFF2-40B4-BE49-F238E27FC236}">
                <a16:creationId xmlns:a16="http://schemas.microsoft.com/office/drawing/2014/main" id="{2AED3647-446E-476A-9932-19503459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628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39" name="table-text-578-5-0">
            <a:extLst xmlns:a="http://schemas.openxmlformats.org/drawingml/2006/main">
              <a:ext uri="{FF2B5EF4-FFF2-40B4-BE49-F238E27FC236}">
                <a16:creationId xmlns:a16="http://schemas.microsoft.com/office/drawing/2014/main" id="{CC4F1A74-E529-42CF-8F7E-84F50CB3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295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9–10</a:t>
            </a:r>
          </a:p>
        </p:txBody>
      </p:sp>
      <p:sp>
        <p:nvSpPr>
          <p:cNvPr id="40" name="table-cell-578-5-1">
            <a:extLst xmlns:a="http://schemas.openxmlformats.org/drawingml/2006/main">
              <a:ext uri="{FF2B5EF4-FFF2-40B4-BE49-F238E27FC236}">
                <a16:creationId xmlns:a16="http://schemas.microsoft.com/office/drawing/2014/main" id="{2A650FDC-F64E-4BA0-B6E9-2F5A1480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50" y="75628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41" name="table-text-578-5-1">
            <a:extLst xmlns:a="http://schemas.openxmlformats.org/drawingml/2006/main">
              <a:ext uri="{FF2B5EF4-FFF2-40B4-BE49-F238E27FC236}">
                <a16:creationId xmlns:a16="http://schemas.microsoft.com/office/drawing/2014/main" id="{B1CB154A-CFEB-4EF7-9B4F-F256D25C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76295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회전 반사판, 규칙 통합</a:t>
            </a:r>
          </a:p>
        </p:txBody>
      </p:sp>
      <p:sp>
        <p:nvSpPr>
          <p:cNvPr id="42" name="table-cell-578-5-2">
            <a:extLst xmlns:a="http://schemas.openxmlformats.org/drawingml/2006/main">
              <a:ext uri="{FF2B5EF4-FFF2-40B4-BE49-F238E27FC236}">
                <a16:creationId xmlns:a16="http://schemas.microsoft.com/office/drawing/2014/main" id="{53B61DED-54DB-4432-A723-E6561DCD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7562850"/>
            <a:ext cx="216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43" name="table-text-578-5-2">
            <a:extLst xmlns:a="http://schemas.openxmlformats.org/drawingml/2006/main">
              <a:ext uri="{FF2B5EF4-FFF2-40B4-BE49-F238E27FC236}">
                <a16:creationId xmlns:a16="http://schemas.microsoft.com/office/drawing/2014/main" id="{E1B92A79-DFA3-476C-A693-D6C31DDF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7629525"/>
            <a:ext cx="199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누적된 장면 상태와 복수 해법을 최적화한다</a:t>
            </a:r>
          </a:p>
        </p:txBody>
      </p:sp>
      <p:sp>
        <p:nvSpPr>
          <p:cNvPr id="44" name="paragraph-852">
            <a:extLst xmlns:a="http://schemas.openxmlformats.org/drawingml/2006/main">
              <a:ext uri="{FF2B5EF4-FFF2-40B4-BE49-F238E27FC236}">
                <a16:creationId xmlns:a16="http://schemas.microsoft.com/office/drawing/2014/main" id="{961C22FC-D082-4B25-9A47-9508558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15300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각 단계는 4개 패턴을 균등하게 순환한다. 첫 학습에서는 가장 읽기 쉬운 기준 패턴을 먼저 보여 주고, 이후에는 변형을 통해 같은 규칙을 다른 배치에서 다시 이해하게 한다.</a:t>
            </a:r>
          </a:p>
        </p:txBody>
      </p:sp>
    </p:spTree>
    <p:extLst>
      <p:ext uri="{BB962C8B-B14F-4D97-AF65-F5344CB8AC3E}">
        <p14:creationId xmlns:p14="http://schemas.microsoft.com/office/powerpoint/2010/main" val="1623050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2E6586A7-269C-4369-A893-A94A28D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F84D77-C352-4114-A41E-7EC86422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8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A8B139B-2DB4-43CF-BFF0-CDE99DA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1DED47-B73E-4B42-9A06-FDB8BE8B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4. 주요 제공 기능</a:t>
            </a:r>
          </a:p>
        </p:txBody>
      </p:sp>
      <p:sp>
        <p:nvSpPr>
          <p:cNvPr id="5" name="subheading-140">
            <a:extLst xmlns:a="http://schemas.openxmlformats.org/drawingml/2006/main">
              <a:ext uri="{FF2B5EF4-FFF2-40B4-BE49-F238E27FC236}">
                <a16:creationId xmlns:a16="http://schemas.microsoft.com/office/drawing/2014/main" id="{522E5923-E8B4-4722-B15C-6FB01DB8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4.1 난이도와 접근성</a:t>
            </a:r>
          </a:p>
        </p:txBody>
      </p:sp>
      <p:sp>
        <p:nvSpPr>
          <p:cNvPr id="6" name="bullets-194">
            <a:extLst xmlns:a="http://schemas.openxmlformats.org/drawingml/2006/main">
              <a:ext uri="{FF2B5EF4-FFF2-40B4-BE49-F238E27FC236}">
                <a16:creationId xmlns:a16="http://schemas.microsoft.com/office/drawing/2014/main" id="{D8DB5C19-8AB5-4CE7-96F2-ABF319B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496050" cy="2269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보통: 현재 조준 정보만 제공해 퍼즐 추론을 그대로 유지한다.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쉬움: 실제 판정기와 같은 계산으로 예상 첫 도착 위치를 마름모와 예상 라벨로 표시한다.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쉬움 클리어는 진행 해금에 반영되지만 보통 최고 기록을 덮지 않는다.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충전 게이지는 공 가까이에서 핵심 기물을 피하는 위치를 자동 선택하며 좌·우 선호를 설정할 수 있다.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저모션·강한 점멸 끄기·형태와 텍스트를 함께 제공해 색에만 의존하지 않는다.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a94b5e39e4261"/>
          <a:stretch xmlns:a="http://schemas.openxmlformats.org/drawingml/2006/main"/>
        </p:blipFill>
        <p:spPr>
          <a:xfrm xmlns:a="http://schemas.openxmlformats.org/drawingml/2006/main">
            <a:off x="3055200" y="4212336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image-caption-442.24">
            <a:extLst xmlns:a="http://schemas.openxmlformats.org/drawingml/2006/main">
              <a:ext uri="{FF2B5EF4-FFF2-40B4-BE49-F238E27FC236}">
                <a16:creationId xmlns:a16="http://schemas.microsoft.com/office/drawing/2014/main" id="{3E488C68-81C9-4DE6-A549-9FE150DE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12736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쉬움 모드의 예상 첫 도착 위치</a:t>
            </a:r>
          </a:p>
        </p:txBody>
      </p:sp>
      <p:sp>
        <p:nvSpPr>
          <p:cNvPr id="9" name="subheading-826.24">
            <a:extLst xmlns:a="http://schemas.openxmlformats.org/drawingml/2006/main">
              <a:ext uri="{FF2B5EF4-FFF2-40B4-BE49-F238E27FC236}">
                <a16:creationId xmlns:a16="http://schemas.microsoft.com/office/drawing/2014/main" id="{D86FBD26-A14E-4289-85BE-11A99A85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69936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4.2 구체적인 L1/L2 힌트와 열쇠</a:t>
            </a:r>
          </a:p>
        </p:txBody>
      </p:sp>
      <p:sp>
        <p:nvSpPr>
          <p:cNvPr id="10" name="paragraph-880.24">
            <a:extLst xmlns:a="http://schemas.openxmlformats.org/drawingml/2006/main">
              <a:ext uri="{FF2B5EF4-FFF2-40B4-BE49-F238E27FC236}">
                <a16:creationId xmlns:a16="http://schemas.microsoft.com/office/drawing/2014/main" id="{161CAF0C-ED22-493D-B667-27D25EC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4286"/>
            <a:ext cx="6496050" cy="104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40개 패턴마다 두 단계의 힌트가 있다. L1은 사용할 기믹과 첫 행동을, L2는 조준 위치·세기·행동 순서·예상 결과를 설명한다. 다음 단계 팁 보상을 선택하거나 스테이지의 선택형 열쇠에 공을 닿게 하면 해당 패턴의 힌트가 열린다. 열쇠는 물리와 점수를 바꾸지 않으므로 ‘도움이 필요할 때 스스로 선택하는 보조 목표’다.</a:t>
            </a:r>
          </a:p>
        </p:txBody>
      </p:sp>
    </p:spTree>
    <p:extLst>
      <p:ext uri="{BB962C8B-B14F-4D97-AF65-F5344CB8AC3E}">
        <p14:creationId xmlns:p14="http://schemas.microsoft.com/office/powerpoint/2010/main" val="2087497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F11DEC35-AA2B-4335-8B36-CCB5A41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035109-F2FE-46D5-B34C-F7F5E91B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9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EC2741F-4F85-407A-98A4-2587AAA0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B6440F-C3E2-435C-832B-153B049C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4. 주요 제공 기능 · 계속</a:t>
            </a:r>
          </a:p>
        </p:txBody>
      </p:sp>
      <p:sp>
        <p:nvSpPr>
          <p:cNvPr id="5" name="subheading-140">
            <a:extLst xmlns:a="http://schemas.openxmlformats.org/drawingml/2006/main">
              <a:ext uri="{FF2B5EF4-FFF2-40B4-BE49-F238E27FC236}">
                <a16:creationId xmlns:a16="http://schemas.microsoft.com/office/drawing/2014/main" id="{95B60FCB-0AE3-4F5F-8F27-621D7273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4.3 보상과 반복 플레이</a:t>
            </a:r>
          </a:p>
        </p:txBody>
      </p:sp>
      <p:sp>
        <p:nvSpPr>
          <p:cNvPr id="6" name="paragraph-194">
            <a:extLst xmlns:a="http://schemas.openxmlformats.org/drawingml/2006/main">
              <a:ext uri="{FF2B5EF4-FFF2-40B4-BE49-F238E27FC236}">
                <a16:creationId xmlns:a16="http://schemas.microsoft.com/office/drawing/2014/main" id="{FC9B2E95-2F91-4EFF-B353-72F0CD0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496050" cy="104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런 보상 9종은 복사·되감기·회수·안내·도전·인과·꾸미기·기록 보호·다음 스테이지 팁을 서로 다른 무료 Material 아이콘과 텍스트로 구분한다. 청록/금색 꾸미기는 링뿐 아니라 공 본체의 그라데이션·금색 외곽선·하이라이트를 바꿔 다음 스테이지에서도 즉시 식별된다.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b832232764ce3"/>
          <a:stretch xmlns:a="http://schemas.openxmlformats.org/drawingml/2006/main"/>
        </p:blipFill>
        <p:spPr>
          <a:xfrm xmlns:a="http://schemas.openxmlformats.org/drawingml/2006/main">
            <a:off x="2896002" y="3003042"/>
            <a:ext cx="1770845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image-caption-315.28">
            <a:extLst xmlns:a="http://schemas.openxmlformats.org/drawingml/2006/main">
              <a:ext uri="{FF2B5EF4-FFF2-40B4-BE49-F238E27FC236}">
                <a16:creationId xmlns:a16="http://schemas.microsoft.com/office/drawing/2014/main" id="{2F33E65E-8F69-429C-83C3-9B2AC61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03442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모바일에서도 첫 화면에 보이는 보상 선택</a:t>
            </a:r>
          </a:p>
        </p:txBody>
      </p:sp>
    </p:spTree>
    <p:extLst>
      <p:ext uri="{BB962C8B-B14F-4D97-AF65-F5344CB8AC3E}">
        <p14:creationId xmlns:p14="http://schemas.microsoft.com/office/powerpoint/2010/main" val="8811303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DAE4EE46-961B-4C1E-BD4B-5A5D9C47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4E1ECA-1034-4DAA-B919-1A4B6BA6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10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BA5D019-4776-498F-B231-B070CDD6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EA6ECB-6E50-4060-9924-8D98774A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4. 주요 제공 기능 · 계속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56f5982e14536"/>
          <a:stretch xmlns:a="http://schemas.openxmlformats.org/drawingml/2006/main"/>
        </p:blipFill>
        <p:spPr>
          <a:xfrm xmlns:a="http://schemas.openxmlformats.org/drawingml/2006/main">
            <a:off x="638175" y="1333500"/>
            <a:ext cx="62865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image-caption-140">
            <a:extLst xmlns:a="http://schemas.openxmlformats.org/drawingml/2006/main">
              <a:ext uri="{FF2B5EF4-FFF2-40B4-BE49-F238E27FC236}">
                <a16:creationId xmlns:a16="http://schemas.microsoft.com/office/drawing/2014/main" id="{9BD8721F-C8E5-4ACF-A1AD-405FC8C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기본 공과 청록·금색 공의 차이</a:t>
            </a:r>
          </a:p>
        </p:txBody>
      </p:sp>
      <p:sp>
        <p:nvSpPr>
          <p:cNvPr id="7" name="paragraph-524">
            <a:extLst xmlns:a="http://schemas.openxmlformats.org/drawingml/2006/main">
              <a:ext uri="{FF2B5EF4-FFF2-40B4-BE49-F238E27FC236}">
                <a16:creationId xmlns:a16="http://schemas.microsoft.com/office/drawing/2014/main" id="{5686AC2F-9267-4F97-9C83-31DE5BB6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6496050" cy="34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그 밖에 오늘의 도전, 리플레이, 실패 원인 안내, 기록 재도전을 제공한다.</a:t>
            </a:r>
          </a:p>
        </p:txBody>
      </p:sp>
    </p:spTree>
    <p:extLst>
      <p:ext uri="{BB962C8B-B14F-4D97-AF65-F5344CB8AC3E}">
        <p14:creationId xmlns:p14="http://schemas.microsoft.com/office/powerpoint/2010/main" val="1722792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E0E7E7B6-FD54-4753-BE5B-55824A8B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430307-3FE1-48F1-BCD2-F83154E4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11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712B85D-2804-4F7B-989D-C90B2E4B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DE197D-E614-4193-A5CB-ADA17C8D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5. 게임 설계의 차별점</a:t>
            </a:r>
          </a:p>
        </p:txBody>
      </p:sp>
      <p:sp>
        <p:nvSpPr>
          <p:cNvPr id="5" name="subheading-140">
            <a:extLst xmlns:a="http://schemas.openxmlformats.org/drawingml/2006/main">
              <a:ext uri="{FF2B5EF4-FFF2-40B4-BE49-F238E27FC236}">
                <a16:creationId xmlns:a16="http://schemas.microsoft.com/office/drawing/2014/main" id="{E541E278-63CD-4BE7-8412-9529E1FB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5.1 실패가 사라지지 않는다</a:t>
            </a:r>
          </a:p>
        </p:txBody>
      </p:sp>
      <p:sp>
        <p:nvSpPr>
          <p:cNvPr id="6" name="paragraph-194">
            <a:extLst xmlns:a="http://schemas.openxmlformats.org/drawingml/2006/main">
              <a:ext uri="{FF2B5EF4-FFF2-40B4-BE49-F238E27FC236}">
                <a16:creationId xmlns:a16="http://schemas.microsoft.com/office/drawing/2014/main" id="{A8093282-A027-4A6E-82D4-EA65E304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496050" cy="809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보통의 한 샷 퍼즐은 실패를 초기화한다. 속성 한방은 공·문·스위치·반사판의 결과를 남긴다. 플레이어는 첫 샷의 결과를 관찰하고 두 번째 샷에서 이용한다. 이 때문에 ‘정확히 쏘기’보다 ‘상태를 계획하고 수정하기’가 핵심 능력이 된다.</a:t>
            </a:r>
          </a:p>
        </p:txBody>
      </p:sp>
      <p:sp>
        <p:nvSpPr>
          <p:cNvPr id="7" name="subheading-290.96000000000004">
            <a:extLst xmlns:a="http://schemas.openxmlformats.org/drawingml/2006/main">
              <a:ext uri="{FF2B5EF4-FFF2-40B4-BE49-F238E27FC236}">
                <a16:creationId xmlns:a16="http://schemas.microsoft.com/office/drawing/2014/main" id="{4972E0D2-3307-44C0-82BB-D16DF390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394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5.2 기믹을 쓰는 편이 실제로 유리하다</a:t>
            </a:r>
          </a:p>
        </p:txBody>
      </p:sp>
      <p:sp>
        <p:nvSpPr>
          <p:cNvPr id="8" name="paragraph-344.96000000000004">
            <a:extLst xmlns:a="http://schemas.openxmlformats.org/drawingml/2006/main">
              <a:ext uri="{FF2B5EF4-FFF2-40B4-BE49-F238E27FC236}">
                <a16:creationId xmlns:a16="http://schemas.microsoft.com/office/drawing/2014/main" id="{D68C14D0-2818-4D1F-934E-A309C942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5744"/>
            <a:ext cx="6496050" cy="104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모든 10개 단계에서 기믹 경로가 우회보다 유리하도록 같은 입력 격자에서 40패턴을 전수 검증했다. 단발형 32패턴은 각 변형에서 최소 1.40배의 성공 영역 우위를 보였고, 여러 샷을 쓰는 단계는 준비 전·후를 같은 900개 입력으로 비교해 단계 합계 기준을 통과했다. 연쇄 점수 단계는 같은 홀 진입에서도 기믹 연쇄가 더 높은 점수를 만든다.</a:t>
            </a:r>
          </a:p>
        </p:txBody>
      </p:sp>
      <p:sp>
        <p:nvSpPr>
          <p:cNvPr id="9" name="paragraph-466.24">
            <a:extLst xmlns:a="http://schemas.openxmlformats.org/drawingml/2006/main">
              <a:ext uri="{FF2B5EF4-FFF2-40B4-BE49-F238E27FC236}">
                <a16:creationId xmlns:a16="http://schemas.microsoft.com/office/drawing/2014/main" id="{094C2E63-2A24-40E3-92AC-EC361A05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0936"/>
            <a:ext cx="6496050" cy="34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이는 기믹이 장식이 아니라 플레이어가 배우고 활용해야 할 핵심 규칙이라는 뜻이다.</a:t>
            </a:r>
          </a:p>
        </p:txBody>
      </p:sp>
    </p:spTree>
    <p:extLst>
      <p:ext uri="{BB962C8B-B14F-4D97-AF65-F5344CB8AC3E}">
        <p14:creationId xmlns:p14="http://schemas.microsoft.com/office/powerpoint/2010/main" val="13610368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8FB8572B-9633-4FBF-9437-B4699C27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FBEFD3-2415-4408-9C5F-9698BF8F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12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1AC8F3A-9650-44ED-A1C7-400ABCFB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DA4103-93C0-4031-BBAD-27FEC125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6. 평가 시 권장 시연 순서</a:t>
            </a:r>
          </a:p>
        </p:txBody>
      </p:sp>
      <p:sp>
        <p:nvSpPr>
          <p:cNvPr id="5" name="bullets-140">
            <a:extLst xmlns:a="http://schemas.openxmlformats.org/drawingml/2006/main">
              <a:ext uri="{FF2B5EF4-FFF2-40B4-BE49-F238E27FC236}">
                <a16:creationId xmlns:a16="http://schemas.microsoft.com/office/drawing/2014/main" id="{48561882-0234-4872-86C1-C5FCD477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1805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30초: 무거움 또는 탄성 속성을 공으로 이전한다.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60초: 벽 반사·스위치·문·풍선 중 하나의 인과 연쇄를 완성한다.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30초: 실패한 공이나 바뀐 장면을 다음 샷에서 활용한다.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30초: 쉬움 모드 예상 위치, 부유 게이지, L1/L2 힌트와 열쇠를 보여 준다.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30초: 클리어 보상과 공 꾸미기가 다음 스테이지에 유지되는 모습을 보여 준다.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2deb89de942b9"/>
          <a:stretch xmlns:a="http://schemas.openxmlformats.org/drawingml/2006/main"/>
        </p:blipFill>
        <p:spPr>
          <a:xfrm xmlns:a="http://schemas.openxmlformats.org/drawingml/2006/main">
            <a:off x="3055200" y="3234690"/>
            <a:ext cx="1452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7" name="image-caption-339.6">
            <a:extLst xmlns:a="http://schemas.openxmlformats.org/drawingml/2006/main">
              <a:ext uri="{FF2B5EF4-FFF2-40B4-BE49-F238E27FC236}">
                <a16:creationId xmlns:a16="http://schemas.microsoft.com/office/drawing/2014/main" id="{13596C96-6D17-46EE-91D5-21D391A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5090"/>
            <a:ext cx="622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뾰족함 공이 풍선을 터뜨리는 순간</a:t>
            </a:r>
          </a:p>
        </p:txBody>
      </p:sp>
    </p:spTree>
    <p:extLst>
      <p:ext uri="{BB962C8B-B14F-4D97-AF65-F5344CB8AC3E}">
        <p14:creationId xmlns:p14="http://schemas.microsoft.com/office/powerpoint/2010/main" val="14532694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8B353506-5BA5-47A4-93FA-5B1073D3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50F082-D67C-4327-8CA6-40C0A2D5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13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D6BAA2-D82E-440E-A25E-ED824B60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0B7533-75A5-4A01-9C22-52312093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7. 실행 방법</a:t>
            </a:r>
          </a:p>
        </p:txBody>
      </p:sp>
      <p:sp>
        <p:nvSpPr>
          <p:cNvPr id="5" name="subheading-140">
            <a:extLst xmlns:a="http://schemas.openxmlformats.org/drawingml/2006/main">
              <a:ext uri="{FF2B5EF4-FFF2-40B4-BE49-F238E27FC236}">
                <a16:creationId xmlns:a16="http://schemas.microsoft.com/office/drawing/2014/main" id="{5EC901EC-9502-4674-80C4-9E82D96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7.1 바로 플레이</a:t>
            </a:r>
          </a:p>
        </p:txBody>
      </p:sp>
      <p:sp>
        <p:nvSpPr>
          <p:cNvPr id="6" name="paragraph-194">
            <a:extLst xmlns:a="http://schemas.openxmlformats.org/drawingml/2006/main">
              <a:ext uri="{FF2B5EF4-FFF2-40B4-BE49-F238E27FC236}">
                <a16:creationId xmlns:a16="http://schemas.microsoft.com/office/drawing/2014/main" id="{0CA872C9-6293-4A97-B353-498AA7D0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496050" cy="34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웹에서 바로 플레이 (https://good5229.github.io/Property_shot/)</a:t>
            </a:r>
          </a:p>
        </p:txBody>
      </p:sp>
      <p:sp>
        <p:nvSpPr>
          <p:cNvPr id="7" name="paragraph-242.32">
            <a:extLst xmlns:a="http://schemas.openxmlformats.org/drawingml/2006/main">
              <a:ext uri="{FF2B5EF4-FFF2-40B4-BE49-F238E27FC236}">
                <a16:creationId xmlns:a16="http://schemas.microsoft.com/office/drawing/2014/main" id="{7A10E022-6456-4D01-B120-9DE832F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8098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모바일 세로 화면을 권장한다. Chrome, Safari, Edge의 최신 버전에서 URL을 열면 설치 없이 시작할 수 있다.</a:t>
            </a:r>
          </a:p>
        </p:txBody>
      </p:sp>
      <p:sp>
        <p:nvSpPr>
          <p:cNvPr id="8" name="subheading-314.96">
            <a:extLst xmlns:a="http://schemas.openxmlformats.org/drawingml/2006/main">
              <a:ext uri="{FF2B5EF4-FFF2-40B4-BE49-F238E27FC236}">
                <a16:creationId xmlns:a16="http://schemas.microsoft.com/office/drawing/2014/main" id="{B7E5DE7D-117D-4745-AE95-CB2EA4A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9994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7.2 Android 설치와 로컬 실행</a:t>
            </a:r>
          </a:p>
        </p:txBody>
      </p:sp>
      <p:sp>
        <p:nvSpPr>
          <p:cNvPr id="9" name="paragraph-368.96">
            <a:extLst xmlns:a="http://schemas.openxmlformats.org/drawingml/2006/main">
              <a:ext uri="{FF2B5EF4-FFF2-40B4-BE49-F238E27FC236}">
                <a16:creationId xmlns:a16="http://schemas.microsoft.com/office/drawing/2014/main" id="{275A0CA5-9C95-4B6E-A574-23F07D7E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4344"/>
            <a:ext cx="6496050" cy="57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Android에서는 프로젝트의 release APK를 기기로 옮겨 설치할 수 있다. 개발 환경에서는 Flutter SDK 설치 후 flutter pub get, flutter run -d chrome 순서로 실행한다.</a:t>
            </a:r>
          </a:p>
        </p:txBody>
      </p:sp>
      <p:sp>
        <p:nvSpPr>
          <p:cNvPr id="10" name="subheading-441.59999999999997">
            <a:extLst xmlns:a="http://schemas.openxmlformats.org/drawingml/2006/main">
              <a:ext uri="{FF2B5EF4-FFF2-40B4-BE49-F238E27FC236}">
                <a16:creationId xmlns:a16="http://schemas.microsoft.com/office/drawing/2014/main" id="{FA45B956-58F6-4AE1-8725-A4AB8052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6240"/>
            <a:ext cx="649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7.3 플레이 영상</a:t>
            </a:r>
          </a:p>
        </p:txBody>
      </p:sp>
      <p:sp>
        <p:nvSpPr>
          <p:cNvPr id="11" name="paragraph-495.59999999999997">
            <a:extLst xmlns:a="http://schemas.openxmlformats.org/drawingml/2006/main">
              <a:ext uri="{FF2B5EF4-FFF2-40B4-BE49-F238E27FC236}">
                <a16:creationId xmlns:a16="http://schemas.microsoft.com/office/drawing/2014/main" id="{470443A3-27EC-4EE5-9F72-A4AA4A1F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0590"/>
            <a:ext cx="6496050" cy="104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프로젝트 폴더의 recordings/property-shot-gameplay-60s.mov는 실제 탄성 스테이지 플레이와 주요 기능 장면을 담은 60초 H.264 영상이다. 방향 반전 없이 390×844 세로 화면으로 검증했으며, 실제 플레이 구간은 열쇠·L1/L2·탄성 이전·다중 벽 반사·비직행 클리어를 포함한다.</a:t>
            </a:r>
          </a:p>
        </p:txBody>
      </p:sp>
    </p:spTree>
    <p:extLst>
      <p:ext uri="{BB962C8B-B14F-4D97-AF65-F5344CB8AC3E}">
        <p14:creationId xmlns:p14="http://schemas.microsoft.com/office/powerpoint/2010/main" val="1065072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0FAB9CF9-AE9B-40E9-8A5C-056A26DC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D8E570-A6B6-484C-9F0C-46D6122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14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3718693-BFD0-4D7C-AA53-3C24E7B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54E657-60CA-4D39-816C-402162A8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8. 완성도와 검증</a:t>
            </a:r>
          </a:p>
        </p:txBody>
      </p:sp>
      <p:sp>
        <p:nvSpPr>
          <p:cNvPr id="5" name="table-cell-140-0-0">
            <a:extLst xmlns:a="http://schemas.openxmlformats.org/drawingml/2006/main">
              <a:ext uri="{FF2B5EF4-FFF2-40B4-BE49-F238E27FC236}">
                <a16:creationId xmlns:a16="http://schemas.microsoft.com/office/drawing/2014/main" id="{8C184392-5E12-4444-B09D-BCDFD6FD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3248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6" name="table-text-140-0-0">
            <a:extLst xmlns:a="http://schemas.openxmlformats.org/drawingml/2006/main">
              <a:ext uri="{FF2B5EF4-FFF2-40B4-BE49-F238E27FC236}">
                <a16:creationId xmlns:a16="http://schemas.microsoft.com/office/drawing/2014/main" id="{7DA50B1E-152B-4CB7-A369-1F91106D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01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평가 관점</a:t>
            </a:r>
          </a:p>
        </p:txBody>
      </p:sp>
      <p:sp>
        <p:nvSpPr>
          <p:cNvPr id="7" name="table-cell-140-0-1">
            <a:extLst xmlns:a="http://schemas.openxmlformats.org/drawingml/2006/main">
              <a:ext uri="{FF2B5EF4-FFF2-40B4-BE49-F238E27FC236}">
                <a16:creationId xmlns:a16="http://schemas.microsoft.com/office/drawing/2014/main" id="{784DEB1E-A1FC-4534-BDB1-842BF7DE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333500"/>
            <a:ext cx="3248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8" name="table-text-140-0-1">
            <a:extLst xmlns:a="http://schemas.openxmlformats.org/drawingml/2006/main">
              <a:ext uri="{FF2B5EF4-FFF2-40B4-BE49-F238E27FC236}">
                <a16:creationId xmlns:a16="http://schemas.microsoft.com/office/drawing/2014/main" id="{1CCB2295-EFFB-487B-816D-4FD9C70E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001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확인한 내용</a:t>
            </a:r>
          </a:p>
        </p:txBody>
      </p:sp>
      <p:sp>
        <p:nvSpPr>
          <p:cNvPr id="9" name="table-cell-140-1-0">
            <a:extLst xmlns:a="http://schemas.openxmlformats.org/drawingml/2006/main">
              <a:ext uri="{FF2B5EF4-FFF2-40B4-BE49-F238E27FC236}">
                <a16:creationId xmlns:a16="http://schemas.microsoft.com/office/drawing/2014/main" id="{AA66598B-25C8-4714-8DF8-8BB67200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248025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0" name="table-text-140-1-0">
            <a:extLst xmlns:a="http://schemas.openxmlformats.org/drawingml/2006/main">
              <a:ext uri="{FF2B5EF4-FFF2-40B4-BE49-F238E27FC236}">
                <a16:creationId xmlns:a16="http://schemas.microsoft.com/office/drawing/2014/main" id="{DFACD441-9968-4F5C-82A3-BEA2B5B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3076575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기능 완성도</a:t>
            </a:r>
          </a:p>
        </p:txBody>
      </p:sp>
      <p:sp>
        <p:nvSpPr>
          <p:cNvPr id="11" name="table-cell-140-1-1">
            <a:extLst xmlns:a="http://schemas.openxmlformats.org/drawingml/2006/main">
              <a:ext uri="{FF2B5EF4-FFF2-40B4-BE49-F238E27FC236}">
                <a16:creationId xmlns:a16="http://schemas.microsoft.com/office/drawing/2014/main" id="{CE91E57F-3A4A-4651-AAD3-459A2F33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90700"/>
            <a:ext cx="3248025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2" name="table-text-140-1-1">
            <a:extLst xmlns:a="http://schemas.openxmlformats.org/drawingml/2006/main">
              <a:ext uri="{FF2B5EF4-FFF2-40B4-BE49-F238E27FC236}">
                <a16:creationId xmlns:a16="http://schemas.microsoft.com/office/drawing/2014/main" id="{B9177FCB-287F-4901-B0C6-EA80E1D8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57375"/>
            <a:ext cx="3076575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10단계·40패턴, 난이도, 힌트, 열쇠, 보상, 꾸미기, 오늘의 도전, 리플레이가 연결됨</a:t>
            </a:r>
          </a:p>
        </p:txBody>
      </p:sp>
      <p:sp>
        <p:nvSpPr>
          <p:cNvPr id="13" name="table-cell-140-2-0">
            <a:extLst xmlns:a="http://schemas.openxmlformats.org/drawingml/2006/main">
              <a:ext uri="{FF2B5EF4-FFF2-40B4-BE49-F238E27FC236}">
                <a16:creationId xmlns:a16="http://schemas.microsoft.com/office/drawing/2014/main" id="{DF45E20C-CC03-488A-A64A-3CFD05A3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2195"/>
            <a:ext cx="3248025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4" name="table-text-140-2-0">
            <a:extLst xmlns:a="http://schemas.openxmlformats.org/drawingml/2006/main">
              <a:ext uri="{FF2B5EF4-FFF2-40B4-BE49-F238E27FC236}">
                <a16:creationId xmlns:a16="http://schemas.microsoft.com/office/drawing/2014/main" id="{BA569207-052A-48B1-B5A4-37384C57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8870"/>
            <a:ext cx="3076575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플레이 공정성</a:t>
            </a:r>
          </a:p>
        </p:txBody>
      </p:sp>
      <p:sp>
        <p:nvSpPr>
          <p:cNvPr id="15" name="table-cell-140-2-1">
            <a:extLst xmlns:a="http://schemas.openxmlformats.org/drawingml/2006/main">
              <a:ext uri="{FF2B5EF4-FFF2-40B4-BE49-F238E27FC236}">
                <a16:creationId xmlns:a16="http://schemas.microsoft.com/office/drawing/2014/main" id="{F35D262E-0752-46E6-99FD-56E1146B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22195"/>
            <a:ext cx="3248025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6" name="table-text-140-2-1">
            <a:extLst xmlns:a="http://schemas.openxmlformats.org/drawingml/2006/main">
              <a:ext uri="{FF2B5EF4-FFF2-40B4-BE49-F238E27FC236}">
                <a16:creationId xmlns:a16="http://schemas.microsoft.com/office/drawing/2014/main" id="{5CFA2433-B42D-42B3-805F-022AB270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8870"/>
            <a:ext cx="3076575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쉬움 기록 분리, 공식 오늘의 도전 보통 고정, 저장·재개에서도 완료 당시 난이도 유지</a:t>
            </a:r>
          </a:p>
        </p:txBody>
      </p:sp>
      <p:sp>
        <p:nvSpPr>
          <p:cNvPr id="17" name="table-cell-140-3-0">
            <a:extLst xmlns:a="http://schemas.openxmlformats.org/drawingml/2006/main">
              <a:ext uri="{FF2B5EF4-FFF2-40B4-BE49-F238E27FC236}">
                <a16:creationId xmlns:a16="http://schemas.microsoft.com/office/drawing/2014/main" id="{06FA98DC-34EA-4804-8B1B-D6CCFD74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369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8" name="table-text-140-3-0">
            <a:extLst xmlns:a="http://schemas.openxmlformats.org/drawingml/2006/main">
              <a:ext uri="{FF2B5EF4-FFF2-40B4-BE49-F238E27FC236}">
                <a16:creationId xmlns:a16="http://schemas.microsoft.com/office/drawing/2014/main" id="{C49B0869-BFED-451E-97D1-BD04EBE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036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퍼즐 품질</a:t>
            </a:r>
          </a:p>
        </p:txBody>
      </p:sp>
      <p:sp>
        <p:nvSpPr>
          <p:cNvPr id="19" name="table-cell-140-3-1">
            <a:extLst xmlns:a="http://schemas.openxmlformats.org/drawingml/2006/main">
              <a:ext uri="{FF2B5EF4-FFF2-40B4-BE49-F238E27FC236}">
                <a16:creationId xmlns:a16="http://schemas.microsoft.com/office/drawing/2014/main" id="{42AF31C3-9DEE-44AB-BFC6-49C966C7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5369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0" name="table-text-140-3-1">
            <a:extLst xmlns:a="http://schemas.openxmlformats.org/drawingml/2006/main">
              <a:ext uri="{FF2B5EF4-FFF2-40B4-BE49-F238E27FC236}">
                <a16:creationId xmlns:a16="http://schemas.microsoft.com/office/drawing/2014/main" id="{0E1C4690-ABEE-4236-A2D6-0F57ACC4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2036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4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모든 단계에서 기믹 경로 우위, 대표 해법과 근방 입력의 결정론 확인</a:t>
            </a:r>
          </a:p>
        </p:txBody>
      </p:sp>
      <p:sp>
        <p:nvSpPr>
          <p:cNvPr id="21" name="table-cell-140-4-0">
            <a:extLst xmlns:a="http://schemas.openxmlformats.org/drawingml/2006/main">
              <a:ext uri="{FF2B5EF4-FFF2-40B4-BE49-F238E27FC236}">
                <a16:creationId xmlns:a16="http://schemas.microsoft.com/office/drawing/2014/main" id="{CA885AB5-B4DD-47D8-B282-1EEC044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374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2" name="table-text-140-4-0">
            <a:extLst xmlns:a="http://schemas.openxmlformats.org/drawingml/2006/main">
              <a:ext uri="{FF2B5EF4-FFF2-40B4-BE49-F238E27FC236}">
                <a16:creationId xmlns:a16="http://schemas.microsoft.com/office/drawing/2014/main" id="{F4D38CFD-F6F3-465D-A472-475556A5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041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화면 품질</a:t>
            </a:r>
          </a:p>
        </p:txBody>
      </p:sp>
      <p:sp>
        <p:nvSpPr>
          <p:cNvPr id="23" name="table-cell-140-4-1">
            <a:extLst xmlns:a="http://schemas.openxmlformats.org/drawingml/2006/main">
              <a:ext uri="{FF2B5EF4-FFF2-40B4-BE49-F238E27FC236}">
                <a16:creationId xmlns:a16="http://schemas.microsoft.com/office/drawing/2014/main" id="{FF2DAB2E-0C35-4F05-8591-D97AA511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5374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4" name="table-text-140-4-1">
            <a:extLst xmlns:a="http://schemas.openxmlformats.org/drawingml/2006/main">
              <a:ext uri="{FF2B5EF4-FFF2-40B4-BE49-F238E27FC236}">
                <a16:creationId xmlns:a16="http://schemas.microsoft.com/office/drawing/2014/main" id="{8EDAF1E3-EF8D-4032-95DA-5CB6FF9C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2041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320×568부터 태블릿까지 Golden 화면 회귀와 SafeArea·큰 글자·저모션 확인</a:t>
            </a:r>
          </a:p>
        </p:txBody>
      </p:sp>
      <p:sp>
        <p:nvSpPr>
          <p:cNvPr id="25" name="table-cell-140-5-0">
            <a:extLst xmlns:a="http://schemas.openxmlformats.org/drawingml/2006/main">
              <a:ext uri="{FF2B5EF4-FFF2-40B4-BE49-F238E27FC236}">
                <a16:creationId xmlns:a16="http://schemas.microsoft.com/office/drawing/2014/main" id="{BCE6E177-F1A5-4870-813B-70DD49F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379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6" name="table-text-140-5-0">
            <a:extLst xmlns:a="http://schemas.openxmlformats.org/drawingml/2006/main">
              <a:ext uri="{FF2B5EF4-FFF2-40B4-BE49-F238E27FC236}">
                <a16:creationId xmlns:a16="http://schemas.microsoft.com/office/drawing/2014/main" id="{6D1C6936-CDAB-4014-8BC9-193DA3BF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046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시연 품질</a:t>
            </a:r>
          </a:p>
        </p:txBody>
      </p:sp>
      <p:sp>
        <p:nvSpPr>
          <p:cNvPr id="27" name="table-cell-140-5-1">
            <a:extLst xmlns:a="http://schemas.openxmlformats.org/drawingml/2006/main">
              <a:ext uri="{FF2B5EF4-FFF2-40B4-BE49-F238E27FC236}">
                <a16:creationId xmlns:a16="http://schemas.microsoft.com/office/drawing/2014/main" id="{C4F7CF1A-0D35-4ED7-95F1-21A72D8E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5379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8" name="table-text-140-5-1">
            <a:extLst xmlns:a="http://schemas.openxmlformats.org/drawingml/2006/main">
              <a:ext uri="{FF2B5EF4-FFF2-40B4-BE49-F238E27FC236}">
                <a16:creationId xmlns:a16="http://schemas.microsoft.com/office/drawing/2014/main" id="{2A755022-560F-48D7-8BDB-A2E79897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2046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4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60초 영상의 장면 길이·방향·실제 이벤트·콘솔 오류 여부를 자동 확인</a:t>
            </a:r>
          </a:p>
        </p:txBody>
      </p:sp>
    </p:spTree>
    <p:extLst>
      <p:ext uri="{BB962C8B-B14F-4D97-AF65-F5344CB8AC3E}">
        <p14:creationId xmlns:p14="http://schemas.microsoft.com/office/powerpoint/2010/main" val="2553217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9291A6D9-A00D-4694-9B36-DB740C6E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2C7A7B"/>
                </a:solidFill>
                <a:latin typeface="NanumGothic"/>
                <a:ea typeface="NanumGothic"/>
                <a:cs typeface="NanumGothic"/>
              </a:rPr>
              <a:t>Property Shot · Game Guide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D529DD-B7FA-408A-8988-A0495A5A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607477"/>
                </a:solidFill>
                <a:latin typeface="NanumGothic"/>
                <a:ea typeface="NanumGothic"/>
                <a:cs typeface="NanumGothic"/>
              </a:rPr>
              <a:t>15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BE45259-90ED-449A-9CE2-861E64A0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49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00959-2276-4D73-A245-0BBFBC9B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49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9. 현재 한계와 다음 검증</a:t>
            </a:r>
          </a:p>
        </p:txBody>
      </p:sp>
      <p:sp>
        <p:nvSpPr>
          <p:cNvPr id="5" name="bullets-140">
            <a:extLst xmlns:a="http://schemas.openxmlformats.org/drawingml/2006/main">
              <a:ext uri="{FF2B5EF4-FFF2-40B4-BE49-F238E27FC236}">
                <a16:creationId xmlns:a16="http://schemas.microsoft.com/office/drawing/2014/main" id="{7510B0B4-A531-4D21-A215-5890708A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496050" cy="1345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iPhone/iPad 실기기에서의 장시간 성능과 터치 체감은 추가 확인이 필요하다.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외부 초보자 대상 정식 플레이테스트로 힌트 사용률과 첫 클리어 시간을 더 측정해야 한다.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8"/>
              </a:spcAft>
              <a:buNone/>
              <a:def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defRPr>
            </a:pPr>
            <a:r>
              <a:rPr sz="1200">
                <a:solidFill>
                  <a:srgbClr val="173A3F"/>
                </a:solidFill>
                <a:latin typeface="NanumGothic"/>
                <a:ea typeface="NanumGothic"/>
                <a:cs typeface="NanumGothic"/>
              </a:rPr>
              <a:t>생성 이미지의 상업 공개 범위는 제출 전 최종 권리 검토가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2128428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2026-08-10T12:05:55.9960000Z</dcterms:created>
  <dcterms:modified xsi:type="dcterms:W3CDTF">2026-08-10T12:05:55.9960000Z</dcterms:modified>
</coreProperties>
</file>