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2366f2220a4f9b" /><Relationship Type="http://schemas.openxmlformats.org/officeDocument/2006/relationships/extended-properties" Target="/docProps/app.xml" Id="R9c19c562357c4da1" /><Relationship Type="http://schemas.openxmlformats.org/officeDocument/2006/relationships/officeDocument" Target="/ppt/presentation.xml" Id="Ref2d77e1abe742c0" /></Relationships>
</file>

<file path=ppt/presentation.xml><?xml version="1.0" encoding="utf-8"?>
<p:presentation xmlns:p="http://schemas.openxmlformats.org/presentationml/2006/main">
  <p:sldMasterIdLst>
    <p:sldMasterId xmlns:r="http://schemas.openxmlformats.org/officeDocument/2006/relationships" id="2147483648" r:id="R8e3a78da9dd847ab"/>
  </p:sldMasterIdLst>
  <p:notesMasterIdLst>
    <p:notesMasterId xmlns:r="http://schemas.openxmlformats.org/officeDocument/2006/relationships" r:id="R8643070254004183"/>
  </p:notesMasterIdLst>
  <p:sldIdLst>
    <p:sldId xmlns:r="http://schemas.openxmlformats.org/officeDocument/2006/relationships" id="256" r:id="Rbb12f7bf25214035"/>
    <p:sldId xmlns:r="http://schemas.openxmlformats.org/officeDocument/2006/relationships" id="257" r:id="R7033d0070e4d4084"/>
    <p:sldId xmlns:r="http://schemas.openxmlformats.org/officeDocument/2006/relationships" id="258" r:id="R595ed2e0fb5a473c"/>
    <p:sldId xmlns:r="http://schemas.openxmlformats.org/officeDocument/2006/relationships" id="259" r:id="R24e4ffaed78d40b5"/>
    <p:sldId xmlns:r="http://schemas.openxmlformats.org/officeDocument/2006/relationships" id="260" r:id="R09c5007941f74be0"/>
    <p:sldId xmlns:r="http://schemas.openxmlformats.org/officeDocument/2006/relationships" id="261" r:id="Rfb34df4317314b34"/>
    <p:sldId xmlns:r="http://schemas.openxmlformats.org/officeDocument/2006/relationships" id="262" r:id="Rc48d09fee8a84fea"/>
    <p:sldId xmlns:r="http://schemas.openxmlformats.org/officeDocument/2006/relationships" id="263" r:id="Rcccc0526450c4b5d"/>
    <p:sldId xmlns:r="http://schemas.openxmlformats.org/officeDocument/2006/relationships" id="264" r:id="Re7d34861cd0548f1"/>
    <p:sldId xmlns:r="http://schemas.openxmlformats.org/officeDocument/2006/relationships" id="265" r:id="R19dc3251b64a4b1c"/>
    <p:sldId xmlns:r="http://schemas.openxmlformats.org/officeDocument/2006/relationships" id="266" r:id="R2515687388ee4484"/>
    <p:sldId xmlns:r="http://schemas.openxmlformats.org/officeDocument/2006/relationships" id="267" r:id="Re316a8e5b6cf4034"/>
    <p:sldId xmlns:r="http://schemas.openxmlformats.org/officeDocument/2006/relationships" id="268" r:id="Rd2878f6c99164995"/>
    <p:sldId xmlns:r="http://schemas.openxmlformats.org/officeDocument/2006/relationships" id="269" r:id="R119b0b4aa0ce487c"/>
    <p:sldId xmlns:r="http://schemas.openxmlformats.org/officeDocument/2006/relationships" id="270" r:id="R37788a9d308b4bf5"/>
    <p:sldId xmlns:r="http://schemas.openxmlformats.org/officeDocument/2006/relationships" id="271" r:id="Re7dc4ee6f4dd4fbe"/>
    <p:sldId xmlns:r="http://schemas.openxmlformats.org/officeDocument/2006/relationships" id="272" r:id="R2f69d8e685434113"/>
    <p:sldId xmlns:r="http://schemas.openxmlformats.org/officeDocument/2006/relationships" id="273" r:id="R471727c2b00a41b6"/>
    <p:sldId xmlns:r="http://schemas.openxmlformats.org/officeDocument/2006/relationships" id="274" r:id="R7175e5e1cbc843bc"/>
  </p:sldIdLst>
  <p:sldSz cx="7562850" cy="1069657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55dad8504c547ae" /><Relationship Type="http://schemas.openxmlformats.org/officeDocument/2006/relationships/slideMaster" Target="/ppt/slideMasters/slideMaster1.xml" Id="R8e3a78da9dd847ab" /><Relationship Type="http://schemas.openxmlformats.org/officeDocument/2006/relationships/notesMaster" Target="/ppt/notesMasters/notesMaster1.xml" Id="R8643070254004183" /><Relationship Type="http://schemas.openxmlformats.org/officeDocument/2006/relationships/presProps" Target="/ppt/presProps.xml" Id="R2322ae891a994a68" /><Relationship Type="http://schemas.openxmlformats.org/officeDocument/2006/relationships/tableStyles" Target="/ppt/tableStyles.xml" Id="Ra291adeff0e1467a" /><Relationship Type="http://schemas.openxmlformats.org/officeDocument/2006/relationships/slide" Target="/ppt/slides/slide1.xml" Id="Rbb12f7bf25214035" /><Relationship Type="http://schemas.openxmlformats.org/officeDocument/2006/relationships/slide" Target="/ppt/slides/slide2.xml" Id="R7033d0070e4d4084" /><Relationship Type="http://schemas.openxmlformats.org/officeDocument/2006/relationships/slide" Target="/ppt/slides/slide3.xml" Id="R595ed2e0fb5a473c" /><Relationship Type="http://schemas.openxmlformats.org/officeDocument/2006/relationships/slide" Target="/ppt/slides/slide4.xml" Id="R24e4ffaed78d40b5" /><Relationship Type="http://schemas.openxmlformats.org/officeDocument/2006/relationships/slide" Target="/ppt/slides/slide5.xml" Id="R09c5007941f74be0" /><Relationship Type="http://schemas.openxmlformats.org/officeDocument/2006/relationships/slide" Target="/ppt/slides/slide6.xml" Id="Rfb34df4317314b34" /><Relationship Type="http://schemas.openxmlformats.org/officeDocument/2006/relationships/slide" Target="/ppt/slides/slide7.xml" Id="Rc48d09fee8a84fea" /><Relationship Type="http://schemas.openxmlformats.org/officeDocument/2006/relationships/slide" Target="/ppt/slides/slide8.xml" Id="Rcccc0526450c4b5d" /><Relationship Type="http://schemas.openxmlformats.org/officeDocument/2006/relationships/slide" Target="/ppt/slides/slide9.xml" Id="Re7d34861cd0548f1" /><Relationship Type="http://schemas.openxmlformats.org/officeDocument/2006/relationships/slide" Target="/ppt/slides/slide10.xml" Id="R19dc3251b64a4b1c" /><Relationship Type="http://schemas.openxmlformats.org/officeDocument/2006/relationships/slide" Target="/ppt/slides/slide11.xml" Id="R2515687388ee4484" /><Relationship Type="http://schemas.openxmlformats.org/officeDocument/2006/relationships/slide" Target="/ppt/slides/slide12.xml" Id="Re316a8e5b6cf4034" /><Relationship Type="http://schemas.openxmlformats.org/officeDocument/2006/relationships/slide" Target="/ppt/slides/slide13.xml" Id="Rd2878f6c99164995" /><Relationship Type="http://schemas.openxmlformats.org/officeDocument/2006/relationships/slide" Target="/ppt/slides/slide14.xml" Id="R119b0b4aa0ce487c" /><Relationship Type="http://schemas.openxmlformats.org/officeDocument/2006/relationships/slide" Target="/ppt/slides/slide15.xml" Id="R37788a9d308b4bf5" /><Relationship Type="http://schemas.openxmlformats.org/officeDocument/2006/relationships/slide" Target="/ppt/slides/slide16.xml" Id="Re7dc4ee6f4dd4fbe" /><Relationship Type="http://schemas.openxmlformats.org/officeDocument/2006/relationships/slide" Target="/ppt/slides/slide17.xml" Id="R2f69d8e685434113" /><Relationship Type="http://schemas.openxmlformats.org/officeDocument/2006/relationships/slide" Target="/ppt/slides/slide18.xml" Id="R471727c2b00a41b6" /><Relationship Type="http://schemas.openxmlformats.org/officeDocument/2006/relationships/slide" Target="/ppt/slides/slide19.xml" Id="R7175e5e1cbc843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d6a407bbaf49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9306a5ae50443a" /><Relationship Type="http://schemas.openxmlformats.org/officeDocument/2006/relationships/notesMaster" Target="/ppt/notesMasters/notesMaster1.xml" Id="Re40afab759e84d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e571d19b77493e" /><Relationship Type="http://schemas.openxmlformats.org/officeDocument/2006/relationships/notesMaster" Target="/ppt/notesMasters/notesMaster1.xml" Id="R796e2bdce73641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2305ff0f500844d7" /><Relationship Type="http://schemas.openxmlformats.org/officeDocument/2006/relationships/notesMaster" Target="/ppt/notesMasters/notesMaster1.xml" Id="Rfd92539a267444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8b13a2634e489d" /><Relationship Type="http://schemas.openxmlformats.org/officeDocument/2006/relationships/notesMaster" Target="/ppt/notesMasters/notesMaster1.xml" Id="Ref8966f5198848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7002a288c645f1" /><Relationship Type="http://schemas.openxmlformats.org/officeDocument/2006/relationships/notesMaster" Target="/ppt/notesMasters/notesMaster1.xml" Id="R25b9e29b87bd41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034c90c0a0c44d9" /><Relationship Type="http://schemas.openxmlformats.org/officeDocument/2006/relationships/notesMaster" Target="/ppt/notesMasters/notesMaster1.xml" Id="R02528d8646be440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054bd2449e44cf" /><Relationship Type="http://schemas.openxmlformats.org/officeDocument/2006/relationships/notesMaster" Target="/ppt/notesMasters/notesMaster1.xml" Id="Ra73748a9dade494d"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4125b69ddb415c" /><Relationship Type="http://schemas.openxmlformats.org/officeDocument/2006/relationships/notesMaster" Target="/ppt/notesMasters/notesMaster1.xml" Id="R796c43b4aa494b7c"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2e54b75f1f4754" /><Relationship Type="http://schemas.openxmlformats.org/officeDocument/2006/relationships/notesMaster" Target="/ppt/notesMasters/notesMaster1.xml" Id="R386dd4889d7e4b6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e1ecfe0d9ea4b18" /><Relationship Type="http://schemas.openxmlformats.org/officeDocument/2006/relationships/notesMaster" Target="/ppt/notesMasters/notesMaster1.xml" Id="Re1dbaa06dcf143d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e41d0ac97f348ef" /><Relationship Type="http://schemas.openxmlformats.org/officeDocument/2006/relationships/notesMaster" Target="/ppt/notesMasters/notesMaster1.xml" Id="R59b5ea6f0bae4e8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f4f9cf72604ddc" /><Relationship Type="http://schemas.openxmlformats.org/officeDocument/2006/relationships/notesMaster" Target="/ppt/notesMasters/notesMaster1.xml" Id="R73bd8ed22510437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525fb9be7764bae" /><Relationship Type="http://schemas.openxmlformats.org/officeDocument/2006/relationships/notesMaster" Target="/ppt/notesMasters/notesMaster1.xml" Id="Rb81b3cf00a3f4d9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6291bbec3aa4b8d" /><Relationship Type="http://schemas.openxmlformats.org/officeDocument/2006/relationships/notesMaster" Target="/ppt/notesMasters/notesMaster1.xml" Id="R0b0323a93eb34b3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98c325c21f44cff" /><Relationship Type="http://schemas.openxmlformats.org/officeDocument/2006/relationships/notesMaster" Target="/ppt/notesMasters/notesMaster1.xml" Id="R1d1d792464784d8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760bd33d8c442a6" /><Relationship Type="http://schemas.openxmlformats.org/officeDocument/2006/relationships/notesMaster" Target="/ppt/notesMasters/notesMaster1.xml" Id="Rb63f246e4f5d4ba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738422285e84a59" /><Relationship Type="http://schemas.openxmlformats.org/officeDocument/2006/relationships/notesMaster" Target="/ppt/notesMasters/notesMaster1.xml" Id="Rc6b8127804f84a8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4484a0162164570" /><Relationship Type="http://schemas.openxmlformats.org/officeDocument/2006/relationships/notesMaster" Target="/ppt/notesMasters/notesMaster1.xml" Id="Rf06721b4a267440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d4b004c642545e7" /><Relationship Type="http://schemas.openxmlformats.org/officeDocument/2006/relationships/notesMaster" Target="/ppt/notesMasters/notesMaster1.xml" Id="R620bb591810d4d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Project report source and local repository assets</a:t>
            </a:r>
          </a:p>
          <a:p xmlns:a="http://schemas.openxmlformats.org/drawingml/2006/main">
            <a:r>
              <a:t>- https://good5229.github.io/Property_shot/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report/ai_technical_report.md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report/ai_technical_report.md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report/ai_technical_report.md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report/ai_technical_report.md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report/ai_technical_report.md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report/ai_technical_report.md</a:t>
            </a:r>
          </a:p>
          <a:p xmlns:a="http://schemas.openxmlformats.org/drawingml/2006/main">
            <a:r>
              <a:t>- test/goldens/charge_gauge_stage4_warningRed_left_390x844.png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report/ai_technical_report.md</a:t>
            </a:r>
          </a:p>
          <a:p xmlns:a="http://schemas.openxmlformats.org/drawingml/2006/main">
            <a:r>
              <a:t>- test/goldens/difficulty_easy_first_arrival_768x1024.png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report/ai_technical_report.md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report/ai_technical_report.md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report/ai_technical_report.md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report/ai_technical_report.md</a:t>
            </a:r>
          </a:p>
          <a:p xmlns:a="http://schemas.openxmlformats.org/drawingml/2006/main">
            <a:r>
              <a:t>- assets/generated/stone-v2.png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report/ai_technical_report.md</a:t>
            </a:r>
          </a:p>
          <a:p xmlns:a="http://schemas.openxmlformats.org/drawingml/2006/main">
            <a:r>
              <a:t>- assets/generated/jelly-bumper-v1.png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report/ai_technical_report.md</a:t>
            </a:r>
          </a:p>
          <a:p xmlns:a="http://schemas.openxmlformats.org/drawingml/2006/main">
            <a:r>
              <a:t>- assets/generated/crate-v2.png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report/ai_technical_report.md</a:t>
            </a:r>
          </a:p>
          <a:p xmlns:a="http://schemas.openxmlformats.org/drawingml/2006/main">
            <a:r>
              <a:t>- screenshots/commercial-vertical-slice/stage4-property-ready.png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report/ai_technical_report.md</a:t>
            </a:r>
          </a:p>
          <a:p xmlns:a="http://schemas.openxmlformats.org/drawingml/2006/main">
            <a:r>
              <a:t>- https://flutter.dev/</a:t>
            </a:r>
          </a:p>
          <a:p xmlns:a="http://schemas.openxmlformats.org/drawingml/2006/main">
            <a:r>
              <a:t>- https://pub.dev/packages/flame</a:t>
            </a:r>
          </a:p>
          <a:p xmlns:a="http://schemas.openxmlformats.org/drawingml/2006/main">
            <a:r>
              <a:t>- https://pub.dev/packages/shared_preferences</a:t>
            </a:r>
          </a:p>
          <a:p xmlns:a="http://schemas.openxmlformats.org/drawingml/2006/main">
            <a:r>
              <a:t>- https://pub.dev/packages/crypto</a:t>
            </a:r>
          </a:p>
          <a:p xmlns:a="http://schemas.openxmlformats.org/drawingml/2006/main">
            <a:r>
              <a:t>- https://pub.dev/packages/audioplayers</a:t>
            </a:r>
          </a:p>
          <a:p xmlns:a="http://schemas.openxmlformats.org/drawingml/2006/main">
            <a:r>
              <a:t>- https://hangeul.naver.com/font</a:t>
            </a:r>
          </a:p>
          <a:p xmlns:a="http://schemas.openxmlformats.org/drawingml/2006/main">
            <a:r>
              <a:t>- https://api.flutter.dev/flutter/material/Icons-class.html</a:t>
            </a:r>
          </a:p>
          <a:p xmlns:a="http://schemas.openxmlformats.org/drawingml/2006/main">
            <a:r>
              <a:t>- https://github.com/google/material-design-icons</a:t>
            </a:r>
          </a:p>
          <a:p xmlns:a="http://schemas.openxmlformats.org/drawingml/2006/main">
            <a:r>
              <a:t>- https://opengameart.org/content/smooth-physics-obstacle-props</a:t>
            </a:r>
          </a:p>
          <a:p xmlns:a="http://schemas.openxmlformats.org/drawingml/2006/main">
            <a:r>
              <a:t>- https://creativecommons.org/publicdomain/zero/1.0/legalcode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report/ai_technical_report.md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report/ai_technical_report.md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report/ai_technical_report.md</a:t>
            </a:r>
          </a:p>
          <a:p xmlns:a="http://schemas.openxmlformats.org/drawingml/2006/main">
            <a:r>
              <a:t>- https://good5229.github.io/Property_shot/</a:t>
            </a:r>
          </a:p>
          <a:p xmlns:a="http://schemas.openxmlformats.org/drawingml/2006/main">
            <a:r>
              <a:t>- https://github.com/good5229/Property_shot/actions/runs/31315470165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fecb5c2bc8409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b3e86efa1f4e93" /><Relationship Type="http://schemas.openxmlformats.org/officeDocument/2006/relationships/slideLayout" Target="/ppt/slideLayouts/slideLayout1.xml" Id="R1c32db9a839442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32db9a839442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833725d7da3441a" /><Relationship Type="http://schemas.openxmlformats.org/officeDocument/2006/relationships/notesSlide" Target="/ppt/notesSlides/notesSlide1.xml" Id="R57c166162a9d474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d169bec41e24522" /><Relationship Type="http://schemas.openxmlformats.org/officeDocument/2006/relationships/notesSlide" Target="/ppt/notesSlides/notesSlide2.xml" Id="Rc0e242869285439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eb090962dbf44c2" /><Relationship Type="http://schemas.openxmlformats.org/officeDocument/2006/relationships/notesSlide" Target="/ppt/notesSlides/notesSlide3.xml" Id="R1b4f6ebc87af41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fb84459e75345ab" /><Relationship Type="http://schemas.openxmlformats.org/officeDocument/2006/relationships/notesSlide" Target="/ppt/notesSlides/notesSlide4.xml" Id="R5ce4b30c59e4470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5bffb46b402436c" /><Relationship Type="http://schemas.openxmlformats.org/officeDocument/2006/relationships/notesSlide" Target="/ppt/notesSlides/notesSlide5.xml" Id="Rfdee597c5fac4d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fe876b98f9f492d" /><Relationship Type="http://schemas.openxmlformats.org/officeDocument/2006/relationships/notesSlide" Target="/ppt/notesSlides/notesSlide6.xml" Id="Rf1dbbec7e95b4f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f3795f6f4fc45ec" /><Relationship Type="http://schemas.openxmlformats.org/officeDocument/2006/relationships/image" Target="/ppt/media/image.png" Id="Rb274803b21ca477c" /><Relationship Type="http://schemas.openxmlformats.org/officeDocument/2006/relationships/notesSlide" Target="/ppt/notesSlides/notesSlide7.xml" Id="R934c1dd35e8b4c2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19d998712bb4f60" /><Relationship Type="http://schemas.openxmlformats.org/officeDocument/2006/relationships/image" Target="/ppt/media/image2.png" Id="R337ff5bdcf434c75" /><Relationship Type="http://schemas.openxmlformats.org/officeDocument/2006/relationships/notesSlide" Target="/ppt/notesSlides/notesSlide8.xml" Id="Red4ae012052645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5c324524ee441bc" /><Relationship Type="http://schemas.openxmlformats.org/officeDocument/2006/relationships/notesSlide" Target="/ppt/notesSlides/notesSlide9.xml" Id="Re58800bb3c334e8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37060bf515f4a4f" /><Relationship Type="http://schemas.openxmlformats.org/officeDocument/2006/relationships/notesSlide" Target="/ppt/notesSlides/notesSlide10.xml" Id="Rd5ea0afdf5b9478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e4c6023e0544360" /><Relationship Type="http://schemas.openxmlformats.org/officeDocument/2006/relationships/notesSlide" Target="/ppt/notesSlides/notesSlide11.xml" Id="Rf7b89462de53477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0b55f15084349e1" /><Relationship Type="http://schemas.openxmlformats.org/officeDocument/2006/relationships/image" Target="/ppt/media/image3.png" Id="Rdc93c0e9c37244bc" /><Relationship Type="http://schemas.openxmlformats.org/officeDocument/2006/relationships/notesSlide" Target="/ppt/notesSlides/notesSlide12.xml" Id="R55a70c4ee69948e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c1bfd2861094efb" /><Relationship Type="http://schemas.openxmlformats.org/officeDocument/2006/relationships/image" Target="/ppt/media/image4.png" Id="Ra13d25d7b3e344a4" /><Relationship Type="http://schemas.openxmlformats.org/officeDocument/2006/relationships/notesSlide" Target="/ppt/notesSlides/notesSlide13.xml" Id="Rd45a5d06997f417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5fe6d05401b461f" /><Relationship Type="http://schemas.openxmlformats.org/officeDocument/2006/relationships/image" Target="/ppt/media/image5.png" Id="R5f7f7a83100c43c2" /><Relationship Type="http://schemas.openxmlformats.org/officeDocument/2006/relationships/notesSlide" Target="/ppt/notesSlides/notesSlide14.xml" Id="R892748fbc8d6468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ee40091fc784bc3" /><Relationship Type="http://schemas.openxmlformats.org/officeDocument/2006/relationships/image" Target="/ppt/media/image6.png" Id="R045aee1eb0ad4afa" /><Relationship Type="http://schemas.openxmlformats.org/officeDocument/2006/relationships/notesSlide" Target="/ppt/notesSlides/notesSlide15.xml" Id="Ra57b63931d584d0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208e2037c0e4ce1" /><Relationship Type="http://schemas.openxmlformats.org/officeDocument/2006/relationships/notesSlide" Target="/ppt/notesSlides/notesSlide16.xml" Id="R0e5bff74ef03470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85abb403df944d2" /><Relationship Type="http://schemas.openxmlformats.org/officeDocument/2006/relationships/notesSlide" Target="/ppt/notesSlides/notesSlide17.xml" Id="R3215143e182f418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2c54dd424c943c2" /><Relationship Type="http://schemas.openxmlformats.org/officeDocument/2006/relationships/notesSlide" Target="/ppt/notesSlides/notesSlide18.xml" Id="R71424e54f55d427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9683b6b409b4a36" /><Relationship Type="http://schemas.openxmlformats.org/officeDocument/2006/relationships/notesSlide" Target="/ppt/notesSlides/notesSlide19.xml" Id="Rb8b549de23e74d7f" /></Relationships>
</file>

<file path=ppt/slides/slide1.xml><?xml version="1.0" encoding="utf-8"?>
<p:sld xmlns:p="http://schemas.openxmlformats.org/presentationml/2006/main">
  <p:cSld>
    <p:bg>
      <p:bgPr>
        <a:solidFill xmlns:a="http://schemas.openxmlformats.org/drawingml/2006/main">
          <a:srgbClr val="FFF9E7"/>
        </a:solidFill>
      </p:bgPr>
    </p:bg>
    <p:spTree>
      <p:nvGrpSpPr>
        <p:cNvPr id="1" name=""/>
        <p:cNvGrpSpPr/>
        <p:nvPr/>
      </p:nvGrpSpPr>
      <p:grpSpPr>
        <a:xfrm xmlns:a="http://schemas.openxmlformats.org/drawingml/2006/main"/>
      </p:grpSpPr>
      <p:sp>
        <p:nvSpPr>
          <p:cNvPr id="9" name="cover-accent">
            <a:extLst xmlns:a="http://schemas.openxmlformats.org/drawingml/2006/main">
              <a:ext uri="{FF2B5EF4-FFF2-40B4-BE49-F238E27FC236}">
                <a16:creationId xmlns:a16="http://schemas.microsoft.com/office/drawing/2014/main" id="{C02F6F97-0D8D-4BC6-9A76-66E62975DA0C}"/>
              </a:ext>
            </a:extLst>
          </p:cNvPr>
          <p:cNvSpPr>
            <a:spLocks xmlns:a="http://schemas.openxmlformats.org/drawingml/2006/main" noGrp="1"/>
          </p:cNvSpPr>
          <p:nvPr/>
        </p:nvSpPr>
        <p:spPr>
          <a:xfrm xmlns:a="http://schemas.openxmlformats.org/drawingml/2006/main">
            <a:off x="0" y="0"/>
            <a:ext cx="171450" cy="10696575"/>
          </a:xfrm>
          <a:prstGeom xmlns:a="http://schemas.openxmlformats.org/drawingml/2006/main" prst="rect">
            <a:avLst/>
          </a:prstGeom>
          <a:solidFill xmlns:a="http://schemas.openxmlformats.org/drawingml/2006/main">
            <a:srgbClr val="F47661"/>
          </a:solidFill>
          <a:ln xmlns:a="http://schemas.openxmlformats.org/drawingml/2006/main" w="0">
            <a:noFill/>
            <a:prstDash val="solid"/>
          </a:ln>
        </p:spPr>
      </p:sp>
      <p:sp>
        <p:nvSpPr>
          <p:cNvPr id="2" name="cover-kicker">
            <a:extLst xmlns:a="http://schemas.openxmlformats.org/drawingml/2006/main">
              <a:ext uri="{FF2B5EF4-FFF2-40B4-BE49-F238E27FC236}">
                <a16:creationId xmlns:a16="http://schemas.microsoft.com/office/drawing/2014/main" id="{F995FE92-7B9B-4789-A168-CA8BA092CC34}"/>
              </a:ext>
            </a:extLst>
          </p:cNvPr>
          <p:cNvSpPr>
            <a:spLocks xmlns:a="http://schemas.openxmlformats.org/drawingml/2006/main" noGrp="1"/>
          </p:cNvSpPr>
          <p:nvPr/>
        </p:nvSpPr>
        <p:spPr>
          <a:xfrm xmlns:a="http://schemas.openxmlformats.org/drawingml/2006/main">
            <a:off x="742950" y="15240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350" b="1">
                <a:solidFill>
                  <a:srgbClr val="D7A23D"/>
                </a:solidFill>
                <a:latin typeface="NanumGothic"/>
                <a:ea typeface="NanumGothic"/>
                <a:cs typeface="NanumGothic"/>
              </a:defRPr>
            </a:pPr>
            <a:r>
              <a:rPr sz="1350" b="1">
                <a:solidFill>
                  <a:srgbClr val="D7A23D"/>
                </a:solidFill>
                <a:latin typeface="NanumGothic"/>
                <a:ea typeface="NanumGothic"/>
                <a:cs typeface="NanumGothic"/>
              </a:rPr>
              <a:t>AI TECHNICAL REPORT</a:t>
            </a:r>
          </a:p>
        </p:txBody>
      </p:sp>
      <p:sp>
        <p:nvSpPr>
          <p:cNvPr id="3" name="cover-title">
            <a:extLst xmlns:a="http://schemas.openxmlformats.org/drawingml/2006/main">
              <a:ext uri="{FF2B5EF4-FFF2-40B4-BE49-F238E27FC236}">
                <a16:creationId xmlns:a16="http://schemas.microsoft.com/office/drawing/2014/main" id="{C2E9A8CF-90DB-462C-A5FC-320445632700}"/>
              </a:ext>
            </a:extLst>
          </p:cNvPr>
          <p:cNvSpPr>
            <a:spLocks xmlns:a="http://schemas.openxmlformats.org/drawingml/2006/main" noGrp="1"/>
          </p:cNvSpPr>
          <p:nvPr/>
        </p:nvSpPr>
        <p:spPr>
          <a:xfrm xmlns:a="http://schemas.openxmlformats.org/drawingml/2006/main">
            <a:off x="742950" y="2333625"/>
            <a:ext cx="6096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750" b="1">
                <a:solidFill>
                  <a:srgbClr val="173A3F"/>
                </a:solidFill>
                <a:latin typeface="NanumGothic"/>
                <a:ea typeface="NanumGothic"/>
                <a:cs typeface="NanumGothic"/>
              </a:defRPr>
            </a:pPr>
            <a:r>
              <a:rPr sz="3750" b="1">
                <a:solidFill>
                  <a:srgbClr val="173A3F"/>
                </a:solidFill>
                <a:latin typeface="NanumGothic"/>
                <a:ea typeface="NanumGothic"/>
                <a:cs typeface="NanumGothic"/>
              </a:rPr>
              <a:t>속성 한방(Property Shot)</a:t>
            </a:r>
          </a:p>
        </p:txBody>
      </p:sp>
      <p:sp>
        <p:nvSpPr>
          <p:cNvPr id="4" name="cover-subtitle">
            <a:extLst xmlns:a="http://schemas.openxmlformats.org/drawingml/2006/main">
              <a:ext uri="{FF2B5EF4-FFF2-40B4-BE49-F238E27FC236}">
                <a16:creationId xmlns:a16="http://schemas.microsoft.com/office/drawing/2014/main" id="{07798C27-8054-40E6-9BEC-B01BB772B067}"/>
              </a:ext>
            </a:extLst>
          </p:cNvPr>
          <p:cNvSpPr>
            <a:spLocks xmlns:a="http://schemas.openxmlformats.org/drawingml/2006/main" noGrp="1"/>
          </p:cNvSpPr>
          <p:nvPr/>
        </p:nvSpPr>
        <p:spPr>
          <a:xfrm xmlns:a="http://schemas.openxmlformats.org/drawingml/2006/main">
            <a:off x="742950" y="4095750"/>
            <a:ext cx="590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2100" b="1">
                <a:solidFill>
                  <a:srgbClr val="2C7A7B"/>
                </a:solidFill>
                <a:latin typeface="NanumGothic"/>
                <a:ea typeface="NanumGothic"/>
                <a:cs typeface="NanumGothic"/>
              </a:defRPr>
            </a:pPr>
            <a:r>
              <a:rPr sz="2100" b="1">
                <a:solidFill>
                  <a:srgbClr val="2C7A7B"/>
                </a:solidFill>
                <a:latin typeface="NanumGothic"/>
                <a:ea typeface="NanumGothic"/>
                <a:cs typeface="NanumGothic"/>
              </a:rPr>
              <a:t>AI 활용 기술 문서</a:t>
            </a:r>
          </a:p>
        </p:txBody>
      </p:sp>
      <p:sp>
        <p:nvSpPr>
          <p:cNvPr id="5" name="cover-rule">
            <a:extLst xmlns:a="http://schemas.openxmlformats.org/drawingml/2006/main">
              <a:ext uri="{FF2B5EF4-FFF2-40B4-BE49-F238E27FC236}">
                <a16:creationId xmlns:a16="http://schemas.microsoft.com/office/drawing/2014/main" id="{3B8222E9-DD57-48EC-99FD-F771CCE74BF7}"/>
              </a:ext>
            </a:extLst>
          </p:cNvPr>
          <p:cNvSpPr>
            <a:spLocks xmlns:a="http://schemas.openxmlformats.org/drawingml/2006/main" noGrp="1"/>
          </p:cNvSpPr>
          <p:nvPr/>
        </p:nvSpPr>
        <p:spPr>
          <a:xfrm xmlns:a="http://schemas.openxmlformats.org/drawingml/2006/main">
            <a:off x="742950" y="5067300"/>
            <a:ext cx="1714500" cy="47625"/>
          </a:xfrm>
          <a:prstGeom xmlns:a="http://schemas.openxmlformats.org/drawingml/2006/main" prst="rect">
            <a:avLst/>
          </a:prstGeom>
          <a:solidFill xmlns:a="http://schemas.openxmlformats.org/drawingml/2006/main">
            <a:srgbClr val="D7A23D"/>
          </a:solidFill>
          <a:ln xmlns:a="http://schemas.openxmlformats.org/drawingml/2006/main" w="0">
            <a:noFill/>
            <a:prstDash val="solid"/>
          </a:ln>
        </p:spPr>
      </p:sp>
      <p:sp>
        <p:nvSpPr>
          <p:cNvPr id="6" name="cover-description">
            <a:extLst xmlns:a="http://schemas.openxmlformats.org/drawingml/2006/main">
              <a:ext uri="{FF2B5EF4-FFF2-40B4-BE49-F238E27FC236}">
                <a16:creationId xmlns:a16="http://schemas.microsoft.com/office/drawing/2014/main" id="{D0388013-7E41-417F-9740-ECD0637A4894}"/>
              </a:ext>
            </a:extLst>
          </p:cNvPr>
          <p:cNvSpPr>
            <a:spLocks xmlns:a="http://schemas.openxmlformats.org/drawingml/2006/main" noGrp="1"/>
          </p:cNvSpPr>
          <p:nvPr/>
        </p:nvSpPr>
        <p:spPr>
          <a:xfrm xmlns:a="http://schemas.openxmlformats.org/drawingml/2006/main">
            <a:off x="742950" y="5429250"/>
            <a:ext cx="5810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650" b="0">
                <a:solidFill>
                  <a:srgbClr val="607477"/>
                </a:solidFill>
                <a:latin typeface="NanumGothic"/>
                <a:ea typeface="NanumGothic"/>
                <a:cs typeface="NanumGothic"/>
              </a:defRPr>
            </a:pPr>
            <a:r>
              <a:rPr sz="1650" b="0">
                <a:solidFill>
                  <a:srgbClr val="607477"/>
                </a:solidFill>
                <a:latin typeface="NanumGothic"/>
                <a:ea typeface="NanumGothic"/>
                <a:cs typeface="NanumGothic"/>
              </a:rPr>
              <a:t>속성을 옮기고, 장면의 상태를 설계하는 세로형 물리 퍼즐</a:t>
            </a:r>
          </a:p>
        </p:txBody>
      </p:sp>
      <p:sp>
        <p:nvSpPr>
          <p:cNvPr id="7" name="cover-meta">
            <a:extLst xmlns:a="http://schemas.openxmlformats.org/drawingml/2006/main">
              <a:ext uri="{FF2B5EF4-FFF2-40B4-BE49-F238E27FC236}">
                <a16:creationId xmlns:a16="http://schemas.microsoft.com/office/drawing/2014/main" id="{288E4E9C-F173-46FD-98DB-D6D406E0D90F}"/>
              </a:ext>
            </a:extLst>
          </p:cNvPr>
          <p:cNvSpPr>
            <a:spLocks xmlns:a="http://schemas.openxmlformats.org/drawingml/2006/main" noGrp="1"/>
          </p:cNvSpPr>
          <p:nvPr/>
        </p:nvSpPr>
        <p:spPr>
          <a:xfrm xmlns:a="http://schemas.openxmlformats.org/drawingml/2006/main">
            <a:off x="742950" y="8763000"/>
            <a:ext cx="5810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30000"/>
              </a:lnSpc>
              <a:buNone/>
              <a:defRPr sz="1275" b="0">
                <a:solidFill>
                  <a:srgbClr val="173A3F"/>
                </a:solidFill>
                <a:latin typeface="NanumGothic"/>
                <a:ea typeface="NanumGothic"/>
                <a:cs typeface="NanumGothic"/>
              </a:defRPr>
            </a:pPr>
            <a:r>
              <a:rPr sz="1275" b="0">
                <a:solidFill>
                  <a:srgbClr val="173A3F"/>
                </a:solidFill>
                <a:latin typeface="NanumGothic"/>
                <a:ea typeface="NanumGothic"/>
                <a:cs typeface="NanumGothic"/>
              </a:rPr>
              <a:t>2026-08-10 KST</a:t>
            </a:r>
          </a:p>
          <a:p xmlns:a="http://schemas.openxmlformats.org/drawingml/2006/main">
            <a:pPr algn="l">
              <a:lnSpc>
                <a:spcPct val="130000"/>
              </a:lnSpc>
              <a:buNone/>
              <a:defRPr sz="1275" b="0">
                <a:solidFill>
                  <a:srgbClr val="173A3F"/>
                </a:solidFill>
                <a:latin typeface="NanumGothic"/>
                <a:ea typeface="NanumGothic"/>
                <a:cs typeface="NanumGothic"/>
              </a:defRPr>
            </a:pPr>
            <a:r>
              <a:rPr sz="1275" b="0">
                <a:solidFill>
                  <a:srgbClr val="173A3F"/>
                </a:solidFill>
                <a:latin typeface="NanumGothic"/>
                <a:ea typeface="NanumGothic"/>
                <a:cs typeface="NanumGothic"/>
              </a:rPr>
              <a:t>https://good5229.github.io/Property_shot/</a:t>
            </a:r>
          </a:p>
        </p:txBody>
      </p:sp>
      <p:sp>
        <p:nvSpPr>
          <p:cNvPr id="8" name="cover-page">
            <a:extLst xmlns:a="http://schemas.openxmlformats.org/drawingml/2006/main">
              <a:ext uri="{FF2B5EF4-FFF2-40B4-BE49-F238E27FC236}">
                <a16:creationId xmlns:a16="http://schemas.microsoft.com/office/drawing/2014/main" id="{0FE6F10B-42AB-475A-B7EA-4D12E365D50B}"/>
              </a:ext>
            </a:extLst>
          </p:cNvPr>
          <p:cNvSpPr>
            <a:spLocks xmlns:a="http://schemas.openxmlformats.org/drawingml/2006/main" noGrp="1"/>
          </p:cNvSpPr>
          <p:nvPr/>
        </p:nvSpPr>
        <p:spPr>
          <a:xfrm xmlns:a="http://schemas.openxmlformats.org/drawingml/2006/main">
            <a:off x="6705600" y="99631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20000"/>
              </a:lnSpc>
              <a:buNone/>
              <a:defRPr sz="900" b="0">
                <a:solidFill>
                  <a:srgbClr val="607477"/>
                </a:solidFill>
                <a:latin typeface="NanumGothic"/>
                <a:ea typeface="NanumGothic"/>
                <a:cs typeface="NanumGothic"/>
              </a:defRPr>
            </a:pPr>
            <a:r>
              <a:rPr sz="900" b="0">
                <a:solidFill>
                  <a:srgbClr val="607477"/>
                </a:solidFill>
                <a:latin typeface="NanumGothic"/>
                <a:ea typeface="NanumGothic"/>
                <a:cs typeface="NanumGothic"/>
              </a:rPr>
              <a:t>1</a:t>
            </a:r>
          </a:p>
        </p:txBody>
      </p:sp>
    </p:spTree>
    <p:extLst>
      <p:ext uri="{BB962C8B-B14F-4D97-AF65-F5344CB8AC3E}">
        <p14:creationId xmlns:p14="http://schemas.microsoft.com/office/powerpoint/2010/main" val="19446178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unning-label">
            <a:extLst xmlns:a="http://schemas.openxmlformats.org/drawingml/2006/main">
              <a:ext uri="{FF2B5EF4-FFF2-40B4-BE49-F238E27FC236}">
                <a16:creationId xmlns:a16="http://schemas.microsoft.com/office/drawing/2014/main" id="{093C9138-EDA5-424A-BD7F-4AA96A200F4D}"/>
              </a:ext>
            </a:extLst>
          </p:cNvPr>
          <p:cNvSpPr>
            <a:spLocks xmlns:a="http://schemas.openxmlformats.org/drawingml/2006/main" noGrp="1"/>
          </p:cNvSpPr>
          <p:nvPr/>
        </p:nvSpPr>
        <p:spPr>
          <a:xfrm xmlns:a="http://schemas.openxmlformats.org/drawingml/2006/main">
            <a:off x="533400" y="304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900" b="1">
                <a:solidFill>
                  <a:srgbClr val="2C7A7B"/>
                </a:solidFill>
                <a:latin typeface="NanumGothic"/>
                <a:ea typeface="NanumGothic"/>
                <a:cs typeface="NanumGothic"/>
              </a:defRPr>
            </a:pPr>
            <a:r>
              <a:rPr sz="900" b="1">
                <a:solidFill>
                  <a:srgbClr val="2C7A7B"/>
                </a:solidFill>
                <a:latin typeface="NanumGothic"/>
                <a:ea typeface="NanumGothic"/>
                <a:cs typeface="NanumGothic"/>
              </a:rPr>
              <a:t>Property Shot · AI Technical Report</a:t>
            </a:r>
          </a:p>
        </p:txBody>
      </p:sp>
      <p:sp>
        <p:nvSpPr>
          <p:cNvPr id="2" name="page-number">
            <a:extLst xmlns:a="http://schemas.openxmlformats.org/drawingml/2006/main">
              <a:ext uri="{FF2B5EF4-FFF2-40B4-BE49-F238E27FC236}">
                <a16:creationId xmlns:a16="http://schemas.microsoft.com/office/drawing/2014/main" id="{4CF4D730-652B-4F64-AA27-B0FAF3592927}"/>
              </a:ext>
            </a:extLst>
          </p:cNvPr>
          <p:cNvSpPr>
            <a:spLocks xmlns:a="http://schemas.openxmlformats.org/drawingml/2006/main" noGrp="1"/>
          </p:cNvSpPr>
          <p:nvPr/>
        </p:nvSpPr>
        <p:spPr>
          <a:xfrm xmlns:a="http://schemas.openxmlformats.org/drawingml/2006/main">
            <a:off x="6648450" y="3048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20000"/>
              </a:lnSpc>
              <a:buNone/>
              <a:defRPr sz="900" b="0">
                <a:solidFill>
                  <a:srgbClr val="607477"/>
                </a:solidFill>
                <a:latin typeface="NanumGothic"/>
                <a:ea typeface="NanumGothic"/>
                <a:cs typeface="NanumGothic"/>
              </a:defRPr>
            </a:pPr>
            <a:r>
              <a:rPr sz="900" b="0">
                <a:solidFill>
                  <a:srgbClr val="607477"/>
                </a:solidFill>
                <a:latin typeface="NanumGothic"/>
                <a:ea typeface="NanumGothic"/>
                <a:cs typeface="NanumGothic"/>
              </a:rPr>
              <a:t>2</a:t>
            </a:r>
          </a:p>
        </p:txBody>
      </p:sp>
      <p:sp>
        <p:nvSpPr>
          <p:cNvPr id="3" name="header-rule">
            <a:extLst xmlns:a="http://schemas.openxmlformats.org/drawingml/2006/main">
              <a:ext uri="{FF2B5EF4-FFF2-40B4-BE49-F238E27FC236}">
                <a16:creationId xmlns:a16="http://schemas.microsoft.com/office/drawing/2014/main" id="{BC12432A-7997-4F43-BF33-8F873B8AC861}"/>
              </a:ext>
            </a:extLst>
          </p:cNvPr>
          <p:cNvSpPr>
            <a:spLocks xmlns:a="http://schemas.openxmlformats.org/drawingml/2006/main" noGrp="1"/>
          </p:cNvSpPr>
          <p:nvPr/>
        </p:nvSpPr>
        <p:spPr>
          <a:xfrm xmlns:a="http://schemas.openxmlformats.org/drawingml/2006/main">
            <a:off x="533400" y="628650"/>
            <a:ext cx="6496050" cy="28575"/>
          </a:xfrm>
          <a:prstGeom xmlns:a="http://schemas.openxmlformats.org/drawingml/2006/main" prst="rect">
            <a:avLst/>
          </a:prstGeom>
          <a:solidFill xmlns:a="http://schemas.openxmlformats.org/drawingml/2006/main">
            <a:srgbClr val="D7A23D"/>
          </a:solidFill>
          <a:ln xmlns:a="http://schemas.openxmlformats.org/drawingml/2006/main" w="0">
            <a:noFill/>
            <a:prstDash val="solid"/>
          </a:ln>
        </p:spPr>
      </p:sp>
      <p:sp>
        <p:nvSpPr>
          <p:cNvPr id="4" name="slide-title">
            <a:extLst xmlns:a="http://schemas.openxmlformats.org/drawingml/2006/main">
              <a:ext uri="{FF2B5EF4-FFF2-40B4-BE49-F238E27FC236}">
                <a16:creationId xmlns:a16="http://schemas.microsoft.com/office/drawing/2014/main" id="{9E1521C3-CF72-424E-96D4-163CDB98141D}"/>
              </a:ext>
            </a:extLst>
          </p:cNvPr>
          <p:cNvSpPr>
            <a:spLocks xmlns:a="http://schemas.openxmlformats.org/drawingml/2006/main" noGrp="1"/>
          </p:cNvSpPr>
          <p:nvPr/>
        </p:nvSpPr>
        <p:spPr>
          <a:xfrm xmlns:a="http://schemas.openxmlformats.org/drawingml/2006/main">
            <a:off x="533400" y="800100"/>
            <a:ext cx="649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l">
              <a:lnSpc>
                <a:spcPct val="120000"/>
              </a:lnSpc>
              <a:buNone/>
              <a:defRPr sz="2625" b="1">
                <a:solidFill>
                  <a:srgbClr val="173A3F"/>
                </a:solidFill>
                <a:latin typeface="NanumGothic"/>
                <a:ea typeface="NanumGothic"/>
                <a:cs typeface="NanumGothic"/>
              </a:defRPr>
            </a:pPr>
            <a:r>
              <a:rPr sz="2625" b="1">
                <a:solidFill>
                  <a:srgbClr val="173A3F"/>
                </a:solidFill>
                <a:latin typeface="NanumGothic"/>
                <a:ea typeface="NanumGothic"/>
                <a:cs typeface="NanumGothic"/>
              </a:rPr>
              <a:t>문서 개요</a:t>
            </a:r>
          </a:p>
        </p:txBody>
      </p:sp>
      <p:sp>
        <p:nvSpPr>
          <p:cNvPr id="5" name="paragraph-140">
            <a:extLst xmlns:a="http://schemas.openxmlformats.org/drawingml/2006/main">
              <a:ext uri="{FF2B5EF4-FFF2-40B4-BE49-F238E27FC236}">
                <a16:creationId xmlns:a16="http://schemas.microsoft.com/office/drawing/2014/main" id="{7FAD7431-D962-4709-AE4A-4938B45544C4}"/>
              </a:ext>
            </a:extLst>
          </p:cNvPr>
          <p:cNvSpPr>
            <a:spLocks xmlns:a="http://schemas.openxmlformats.org/drawingml/2006/main" noGrp="1"/>
          </p:cNvSpPr>
          <p:nvPr/>
        </p:nvSpPr>
        <p:spPr>
          <a:xfrm xmlns:a="http://schemas.openxmlformats.org/drawingml/2006/main">
            <a:off x="533400" y="1333500"/>
            <a:ext cx="6496050" cy="577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200" b="0">
                <a:solidFill>
                  <a:srgbClr val="173A3F"/>
                </a:solidFill>
                <a:latin typeface="NanumGothic"/>
                <a:ea typeface="NanumGothic"/>
                <a:cs typeface="NanumGothic"/>
              </a:defRPr>
            </a:pPr>
            <a:r>
              <a:rPr sz="1200" b="0">
                <a:solidFill>
                  <a:srgbClr val="173A3F"/>
                </a:solidFill>
                <a:latin typeface="NanumGothic"/>
                <a:ea typeface="NanumGothic"/>
                <a:cs typeface="NanumGothic"/>
              </a:rPr>
              <a:t>작성일: 2026-08-10 KST 기능 기준: main 작업 트리 / 기반 커밋 bfb7a39734cad39b458273a6bca55a5485950d7c 제출 형식: AI 활용 기술 PDF</a:t>
            </a:r>
          </a:p>
        </p:txBody>
      </p:sp>
    </p:spTree>
    <p:extLst>
      <p:ext uri="{BB962C8B-B14F-4D97-AF65-F5344CB8AC3E}">
        <p14:creationId xmlns:p14="http://schemas.microsoft.com/office/powerpoint/2010/main" val="15839004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running-label">
            <a:extLst xmlns:a="http://schemas.openxmlformats.org/drawingml/2006/main">
              <a:ext uri="{FF2B5EF4-FFF2-40B4-BE49-F238E27FC236}">
                <a16:creationId xmlns:a16="http://schemas.microsoft.com/office/drawing/2014/main" id="{AAC80FF5-6258-4DF5-93DA-82BD44C9E503}"/>
              </a:ext>
            </a:extLst>
          </p:cNvPr>
          <p:cNvSpPr>
            <a:spLocks xmlns:a="http://schemas.openxmlformats.org/drawingml/2006/main" noGrp="1"/>
          </p:cNvSpPr>
          <p:nvPr/>
        </p:nvSpPr>
        <p:spPr>
          <a:xfrm xmlns:a="http://schemas.openxmlformats.org/drawingml/2006/main">
            <a:off x="533400" y="304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900" b="1">
                <a:solidFill>
                  <a:srgbClr val="2C7A7B"/>
                </a:solidFill>
                <a:latin typeface="NanumGothic"/>
                <a:ea typeface="NanumGothic"/>
                <a:cs typeface="NanumGothic"/>
              </a:defRPr>
            </a:pPr>
            <a:r>
              <a:rPr sz="900" b="1">
                <a:solidFill>
                  <a:srgbClr val="2C7A7B"/>
                </a:solidFill>
                <a:latin typeface="NanumGothic"/>
                <a:ea typeface="NanumGothic"/>
                <a:cs typeface="NanumGothic"/>
              </a:rPr>
              <a:t>Property Shot · AI Technical Report</a:t>
            </a:r>
          </a:p>
        </p:txBody>
      </p:sp>
      <p:sp>
        <p:nvSpPr>
          <p:cNvPr id="2" name="page-number">
            <a:extLst xmlns:a="http://schemas.openxmlformats.org/drawingml/2006/main">
              <a:ext uri="{FF2B5EF4-FFF2-40B4-BE49-F238E27FC236}">
                <a16:creationId xmlns:a16="http://schemas.microsoft.com/office/drawing/2014/main" id="{376790C4-0C53-494A-98D6-B481F7A8AB2F}"/>
              </a:ext>
            </a:extLst>
          </p:cNvPr>
          <p:cNvSpPr>
            <a:spLocks xmlns:a="http://schemas.openxmlformats.org/drawingml/2006/main" noGrp="1"/>
          </p:cNvSpPr>
          <p:nvPr/>
        </p:nvSpPr>
        <p:spPr>
          <a:xfrm xmlns:a="http://schemas.openxmlformats.org/drawingml/2006/main">
            <a:off x="6648450" y="3048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20000"/>
              </a:lnSpc>
              <a:buNone/>
              <a:defRPr sz="900" b="0">
                <a:solidFill>
                  <a:srgbClr val="607477"/>
                </a:solidFill>
                <a:latin typeface="NanumGothic"/>
                <a:ea typeface="NanumGothic"/>
                <a:cs typeface="NanumGothic"/>
              </a:defRPr>
            </a:pPr>
            <a:r>
              <a:rPr sz="900" b="0">
                <a:solidFill>
                  <a:srgbClr val="607477"/>
                </a:solidFill>
                <a:latin typeface="NanumGothic"/>
                <a:ea typeface="NanumGothic"/>
                <a:cs typeface="NanumGothic"/>
              </a:rPr>
              <a:t>3</a:t>
            </a:r>
          </a:p>
        </p:txBody>
      </p:sp>
      <p:sp>
        <p:nvSpPr>
          <p:cNvPr id="3" name="header-rule">
            <a:extLst xmlns:a="http://schemas.openxmlformats.org/drawingml/2006/main">
              <a:ext uri="{FF2B5EF4-FFF2-40B4-BE49-F238E27FC236}">
                <a16:creationId xmlns:a16="http://schemas.microsoft.com/office/drawing/2014/main" id="{4E083182-C2F6-4841-88DB-93C12D697BFC}"/>
              </a:ext>
            </a:extLst>
          </p:cNvPr>
          <p:cNvSpPr>
            <a:spLocks xmlns:a="http://schemas.openxmlformats.org/drawingml/2006/main" noGrp="1"/>
          </p:cNvSpPr>
          <p:nvPr/>
        </p:nvSpPr>
        <p:spPr>
          <a:xfrm xmlns:a="http://schemas.openxmlformats.org/drawingml/2006/main">
            <a:off x="533400" y="628650"/>
            <a:ext cx="6496050" cy="28575"/>
          </a:xfrm>
          <a:prstGeom xmlns:a="http://schemas.openxmlformats.org/drawingml/2006/main" prst="rect">
            <a:avLst/>
          </a:prstGeom>
          <a:solidFill xmlns:a="http://schemas.openxmlformats.org/drawingml/2006/main">
            <a:srgbClr val="D7A23D"/>
          </a:solidFill>
          <a:ln xmlns:a="http://schemas.openxmlformats.org/drawingml/2006/main" w="0">
            <a:noFill/>
            <a:prstDash val="solid"/>
          </a:ln>
        </p:spPr>
      </p:sp>
      <p:sp>
        <p:nvSpPr>
          <p:cNvPr id="4" name="slide-title">
            <a:extLst xmlns:a="http://schemas.openxmlformats.org/drawingml/2006/main">
              <a:ext uri="{FF2B5EF4-FFF2-40B4-BE49-F238E27FC236}">
                <a16:creationId xmlns:a16="http://schemas.microsoft.com/office/drawing/2014/main" id="{9040705E-814C-47DE-A24B-D5494DD39CBB}"/>
              </a:ext>
            </a:extLst>
          </p:cNvPr>
          <p:cNvSpPr>
            <a:spLocks xmlns:a="http://schemas.openxmlformats.org/drawingml/2006/main" noGrp="1"/>
          </p:cNvSpPr>
          <p:nvPr/>
        </p:nvSpPr>
        <p:spPr>
          <a:xfrm xmlns:a="http://schemas.openxmlformats.org/drawingml/2006/main">
            <a:off x="533400" y="800100"/>
            <a:ext cx="649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l">
              <a:lnSpc>
                <a:spcPct val="120000"/>
              </a:lnSpc>
              <a:buNone/>
              <a:defRPr sz="2625" b="1">
                <a:solidFill>
                  <a:srgbClr val="173A3F"/>
                </a:solidFill>
                <a:latin typeface="NanumGothic"/>
                <a:ea typeface="NanumGothic"/>
                <a:cs typeface="NanumGothic"/>
              </a:defRPr>
            </a:pPr>
            <a:r>
              <a:rPr sz="2625" b="1">
                <a:solidFill>
                  <a:srgbClr val="173A3F"/>
                </a:solidFill>
                <a:latin typeface="NanumGothic"/>
                <a:ea typeface="NanumGothic"/>
                <a:cs typeface="NanumGothic"/>
              </a:rPr>
              <a:t>1. AI 활용 개요</a:t>
            </a:r>
          </a:p>
        </p:txBody>
      </p:sp>
      <p:sp>
        <p:nvSpPr>
          <p:cNvPr id="5" name="paragraph-140">
            <a:extLst xmlns:a="http://schemas.openxmlformats.org/drawingml/2006/main">
              <a:ext uri="{FF2B5EF4-FFF2-40B4-BE49-F238E27FC236}">
                <a16:creationId xmlns:a16="http://schemas.microsoft.com/office/drawing/2014/main" id="{35A6A18A-7537-494E-BA0E-83442BF35B88}"/>
              </a:ext>
            </a:extLst>
          </p:cNvPr>
          <p:cNvSpPr>
            <a:spLocks xmlns:a="http://schemas.openxmlformats.org/drawingml/2006/main" noGrp="1"/>
          </p:cNvSpPr>
          <p:nvPr/>
        </p:nvSpPr>
        <p:spPr>
          <a:xfrm xmlns:a="http://schemas.openxmlformats.org/drawingml/2006/main">
            <a:off x="533400" y="1333500"/>
            <a:ext cx="6496050" cy="8092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200" b="0">
                <a:solidFill>
                  <a:srgbClr val="173A3F"/>
                </a:solidFill>
                <a:latin typeface="NanumGothic"/>
                <a:ea typeface="NanumGothic"/>
                <a:cs typeface="NanumGothic"/>
              </a:defRPr>
            </a:pPr>
            <a:r>
              <a:rPr sz="1200" b="0">
                <a:solidFill>
                  <a:srgbClr val="173A3F"/>
                </a:solidFill>
                <a:latin typeface="NanumGothic"/>
                <a:ea typeface="NanumGothic"/>
                <a:cs typeface="NanumGothic"/>
              </a:rPr>
              <a:t>속성 한방은 사람이 게임 철학·난이도 정책·출시 범위를 결정하고, Codex가 저장소 분석·구현·테스트·문서화의 반복 작업을 수행한 협업 프로젝트다. AI 결과는 바로 채택하지 않고 코드 회귀, Golden 화면, 정적 분석, 출시 빌드, 독립 감사로 검증했다.</a:t>
            </a:r>
          </a:p>
        </p:txBody>
      </p:sp>
      <p:sp>
        <p:nvSpPr>
          <p:cNvPr id="6" name="table-cell-236.96-0-0">
            <a:extLst xmlns:a="http://schemas.openxmlformats.org/drawingml/2006/main">
              <a:ext uri="{FF2B5EF4-FFF2-40B4-BE49-F238E27FC236}">
                <a16:creationId xmlns:a16="http://schemas.microsoft.com/office/drawing/2014/main" id="{99F9EC1C-3FCE-438B-B4A2-20DC7D2080ED}"/>
              </a:ext>
            </a:extLst>
          </p:cNvPr>
          <p:cNvSpPr>
            <a:spLocks xmlns:a="http://schemas.openxmlformats.org/drawingml/2006/main" noGrp="1"/>
          </p:cNvSpPr>
          <p:nvPr/>
        </p:nvSpPr>
        <p:spPr>
          <a:xfrm xmlns:a="http://schemas.openxmlformats.org/drawingml/2006/main">
            <a:off x="533400" y="2257044"/>
            <a:ext cx="3248025" cy="457200"/>
          </a:xfrm>
          <a:prstGeom xmlns:a="http://schemas.openxmlformats.org/drawingml/2006/main" prst="rect">
            <a:avLst/>
          </a:prstGeom>
          <a:solidFill xmlns:a="http://schemas.openxmlformats.org/drawingml/2006/main">
            <a:srgbClr val="E8F4F1"/>
          </a:solidFill>
          <a:ln xmlns:a="http://schemas.openxmlformats.org/drawingml/2006/main" w="9525">
            <a:solidFill>
              <a:srgbClr val="D7E1DE"/>
            </a:solidFill>
            <a:prstDash val="solid"/>
          </a:ln>
        </p:spPr>
      </p:sp>
      <p:sp>
        <p:nvSpPr>
          <p:cNvPr id="7" name="table-text-236.96-0-0">
            <a:extLst xmlns:a="http://schemas.openxmlformats.org/drawingml/2006/main">
              <a:ext uri="{FF2B5EF4-FFF2-40B4-BE49-F238E27FC236}">
                <a16:creationId xmlns:a16="http://schemas.microsoft.com/office/drawing/2014/main" id="{8511895B-A0EB-40E4-B132-F64E76D876E9}"/>
              </a:ext>
            </a:extLst>
          </p:cNvPr>
          <p:cNvSpPr>
            <a:spLocks xmlns:a="http://schemas.openxmlformats.org/drawingml/2006/main" noGrp="1"/>
          </p:cNvSpPr>
          <p:nvPr/>
        </p:nvSpPr>
        <p:spPr>
          <a:xfrm xmlns:a="http://schemas.openxmlformats.org/drawingml/2006/main">
            <a:off x="619125" y="2323719"/>
            <a:ext cx="30765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a:solidFill>
                  <a:srgbClr val="173A3F"/>
                </a:solidFill>
                <a:latin typeface="NanumGothic"/>
                <a:ea typeface="NanumGothic"/>
                <a:cs typeface="NanumGothic"/>
              </a:defRPr>
            </a:pPr>
            <a:r>
              <a:rPr sz="1050" b="1">
                <a:solidFill>
                  <a:srgbClr val="173A3F"/>
                </a:solidFill>
                <a:latin typeface="NanumGothic"/>
                <a:ea typeface="NanumGothic"/>
                <a:cs typeface="NanumGothic"/>
              </a:rPr>
              <a:t>역할</a:t>
            </a:r>
          </a:p>
        </p:txBody>
      </p:sp>
      <p:sp>
        <p:nvSpPr>
          <p:cNvPr id="8" name="table-cell-236.96-0-1">
            <a:extLst xmlns:a="http://schemas.openxmlformats.org/drawingml/2006/main">
              <a:ext uri="{FF2B5EF4-FFF2-40B4-BE49-F238E27FC236}">
                <a16:creationId xmlns:a16="http://schemas.microsoft.com/office/drawing/2014/main" id="{56463397-0ADC-46B9-9473-196EC9318442}"/>
              </a:ext>
            </a:extLst>
          </p:cNvPr>
          <p:cNvSpPr>
            <a:spLocks xmlns:a="http://schemas.openxmlformats.org/drawingml/2006/main" noGrp="1"/>
          </p:cNvSpPr>
          <p:nvPr/>
        </p:nvSpPr>
        <p:spPr>
          <a:xfrm xmlns:a="http://schemas.openxmlformats.org/drawingml/2006/main">
            <a:off x="3781425" y="2257044"/>
            <a:ext cx="3248025" cy="457200"/>
          </a:xfrm>
          <a:prstGeom xmlns:a="http://schemas.openxmlformats.org/drawingml/2006/main" prst="rect">
            <a:avLst/>
          </a:prstGeom>
          <a:solidFill xmlns:a="http://schemas.openxmlformats.org/drawingml/2006/main">
            <a:srgbClr val="E8F4F1"/>
          </a:solidFill>
          <a:ln xmlns:a="http://schemas.openxmlformats.org/drawingml/2006/main" w="9525">
            <a:solidFill>
              <a:srgbClr val="D7E1DE"/>
            </a:solidFill>
            <a:prstDash val="solid"/>
          </a:ln>
        </p:spPr>
      </p:sp>
      <p:sp>
        <p:nvSpPr>
          <p:cNvPr id="9" name="table-text-236.96-0-1">
            <a:extLst xmlns:a="http://schemas.openxmlformats.org/drawingml/2006/main">
              <a:ext uri="{FF2B5EF4-FFF2-40B4-BE49-F238E27FC236}">
                <a16:creationId xmlns:a16="http://schemas.microsoft.com/office/drawing/2014/main" id="{7F0E5D50-482B-4464-A447-3BDE81EA7C93}"/>
              </a:ext>
            </a:extLst>
          </p:cNvPr>
          <p:cNvSpPr>
            <a:spLocks xmlns:a="http://schemas.openxmlformats.org/drawingml/2006/main" noGrp="1"/>
          </p:cNvSpPr>
          <p:nvPr/>
        </p:nvSpPr>
        <p:spPr>
          <a:xfrm xmlns:a="http://schemas.openxmlformats.org/drawingml/2006/main">
            <a:off x="3867150" y="2323719"/>
            <a:ext cx="30765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a:solidFill>
                  <a:srgbClr val="173A3F"/>
                </a:solidFill>
                <a:latin typeface="NanumGothic"/>
                <a:ea typeface="NanumGothic"/>
                <a:cs typeface="NanumGothic"/>
              </a:defRPr>
            </a:pPr>
            <a:r>
              <a:rPr sz="1050" b="1">
                <a:solidFill>
                  <a:srgbClr val="173A3F"/>
                </a:solidFill>
                <a:latin typeface="NanumGothic"/>
                <a:ea typeface="NanumGothic"/>
                <a:cs typeface="NanumGothic"/>
              </a:rPr>
              <a:t>책임</a:t>
            </a:r>
          </a:p>
        </p:txBody>
      </p:sp>
      <p:sp>
        <p:nvSpPr>
          <p:cNvPr id="10" name="table-cell-236.96-1-0">
            <a:extLst xmlns:a="http://schemas.openxmlformats.org/drawingml/2006/main">
              <a:ext uri="{FF2B5EF4-FFF2-40B4-BE49-F238E27FC236}">
                <a16:creationId xmlns:a16="http://schemas.microsoft.com/office/drawing/2014/main" id="{73C4F9F0-CA80-4275-AC89-3639FF7167CC}"/>
              </a:ext>
            </a:extLst>
          </p:cNvPr>
          <p:cNvSpPr>
            <a:spLocks xmlns:a="http://schemas.openxmlformats.org/drawingml/2006/main" noGrp="1"/>
          </p:cNvSpPr>
          <p:nvPr/>
        </p:nvSpPr>
        <p:spPr>
          <a:xfrm xmlns:a="http://schemas.openxmlformats.org/drawingml/2006/main">
            <a:off x="533400" y="2714244"/>
            <a:ext cx="3248025"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11" name="table-text-236.96-1-0">
            <a:extLst xmlns:a="http://schemas.openxmlformats.org/drawingml/2006/main">
              <a:ext uri="{FF2B5EF4-FFF2-40B4-BE49-F238E27FC236}">
                <a16:creationId xmlns:a16="http://schemas.microsoft.com/office/drawing/2014/main" id="{532E0889-24EF-4C47-AA75-7364982EB092}"/>
              </a:ext>
            </a:extLst>
          </p:cNvPr>
          <p:cNvSpPr>
            <a:spLocks xmlns:a="http://schemas.openxmlformats.org/drawingml/2006/main" noGrp="1"/>
          </p:cNvSpPr>
          <p:nvPr/>
        </p:nvSpPr>
        <p:spPr>
          <a:xfrm xmlns:a="http://schemas.openxmlformats.org/drawingml/2006/main">
            <a:off x="619125" y="2780919"/>
            <a:ext cx="3076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사람</a:t>
            </a:r>
          </a:p>
        </p:txBody>
      </p:sp>
      <p:sp>
        <p:nvSpPr>
          <p:cNvPr id="12" name="table-cell-236.96-1-1">
            <a:extLst xmlns:a="http://schemas.openxmlformats.org/drawingml/2006/main">
              <a:ext uri="{FF2B5EF4-FFF2-40B4-BE49-F238E27FC236}">
                <a16:creationId xmlns:a16="http://schemas.microsoft.com/office/drawing/2014/main" id="{309C669D-F8F1-4A12-B3D8-E1614343A543}"/>
              </a:ext>
            </a:extLst>
          </p:cNvPr>
          <p:cNvSpPr>
            <a:spLocks xmlns:a="http://schemas.openxmlformats.org/drawingml/2006/main" noGrp="1"/>
          </p:cNvSpPr>
          <p:nvPr/>
        </p:nvSpPr>
        <p:spPr>
          <a:xfrm xmlns:a="http://schemas.openxmlformats.org/drawingml/2006/main">
            <a:off x="3781425" y="2714244"/>
            <a:ext cx="3248025"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13" name="table-text-236.96-1-1">
            <a:extLst xmlns:a="http://schemas.openxmlformats.org/drawingml/2006/main">
              <a:ext uri="{FF2B5EF4-FFF2-40B4-BE49-F238E27FC236}">
                <a16:creationId xmlns:a16="http://schemas.microsoft.com/office/drawing/2014/main" id="{7A1CBF47-D5B5-467C-9C7B-6DE6A9BE7640}"/>
              </a:ext>
            </a:extLst>
          </p:cNvPr>
          <p:cNvSpPr>
            <a:spLocks xmlns:a="http://schemas.openxmlformats.org/drawingml/2006/main" noGrp="1"/>
          </p:cNvSpPr>
          <p:nvPr/>
        </p:nvSpPr>
        <p:spPr>
          <a:xfrm xmlns:a="http://schemas.openxmlformats.org/drawingml/2006/main">
            <a:off x="3867150" y="2780919"/>
            <a:ext cx="3076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게임 규칙, 사용자 경험, 난이도/기록 정책, 최종 승인</a:t>
            </a:r>
          </a:p>
        </p:txBody>
      </p:sp>
      <p:sp>
        <p:nvSpPr>
          <p:cNvPr id="14" name="table-cell-236.96-2-0">
            <a:extLst xmlns:a="http://schemas.openxmlformats.org/drawingml/2006/main">
              <a:ext uri="{FF2B5EF4-FFF2-40B4-BE49-F238E27FC236}">
                <a16:creationId xmlns:a16="http://schemas.microsoft.com/office/drawing/2014/main" id="{4FC62158-A0C6-467C-9BC3-5B395270D8D7}"/>
              </a:ext>
            </a:extLst>
          </p:cNvPr>
          <p:cNvSpPr>
            <a:spLocks xmlns:a="http://schemas.openxmlformats.org/drawingml/2006/main" noGrp="1"/>
          </p:cNvSpPr>
          <p:nvPr/>
        </p:nvSpPr>
        <p:spPr>
          <a:xfrm xmlns:a="http://schemas.openxmlformats.org/drawingml/2006/main">
            <a:off x="533400" y="3114294"/>
            <a:ext cx="3248025" cy="400050"/>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15" name="table-text-236.96-2-0">
            <a:extLst xmlns:a="http://schemas.openxmlformats.org/drawingml/2006/main">
              <a:ext uri="{FF2B5EF4-FFF2-40B4-BE49-F238E27FC236}">
                <a16:creationId xmlns:a16="http://schemas.microsoft.com/office/drawing/2014/main" id="{EFC76376-7BBF-49D1-9C2E-764E32481AD2}"/>
              </a:ext>
            </a:extLst>
          </p:cNvPr>
          <p:cNvSpPr>
            <a:spLocks xmlns:a="http://schemas.openxmlformats.org/drawingml/2006/main" noGrp="1"/>
          </p:cNvSpPr>
          <p:nvPr/>
        </p:nvSpPr>
        <p:spPr>
          <a:xfrm xmlns:a="http://schemas.openxmlformats.org/drawingml/2006/main">
            <a:off x="619125" y="3180969"/>
            <a:ext cx="3076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Terra 실행 에이전트</a:t>
            </a:r>
          </a:p>
        </p:txBody>
      </p:sp>
      <p:sp>
        <p:nvSpPr>
          <p:cNvPr id="16" name="table-cell-236.96-2-1">
            <a:extLst xmlns:a="http://schemas.openxmlformats.org/drawingml/2006/main">
              <a:ext uri="{FF2B5EF4-FFF2-40B4-BE49-F238E27FC236}">
                <a16:creationId xmlns:a16="http://schemas.microsoft.com/office/drawing/2014/main" id="{B717871D-63B6-41CF-BBAE-D7656D5E1220}"/>
              </a:ext>
            </a:extLst>
          </p:cNvPr>
          <p:cNvSpPr>
            <a:spLocks xmlns:a="http://schemas.openxmlformats.org/drawingml/2006/main" noGrp="1"/>
          </p:cNvSpPr>
          <p:nvPr/>
        </p:nvSpPr>
        <p:spPr>
          <a:xfrm xmlns:a="http://schemas.openxmlformats.org/drawingml/2006/main">
            <a:off x="3781425" y="3114294"/>
            <a:ext cx="3248025" cy="400050"/>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17" name="table-text-236.96-2-1">
            <a:extLst xmlns:a="http://schemas.openxmlformats.org/drawingml/2006/main">
              <a:ext uri="{FF2B5EF4-FFF2-40B4-BE49-F238E27FC236}">
                <a16:creationId xmlns:a16="http://schemas.microsoft.com/office/drawing/2014/main" id="{D7B8C60E-4EFA-4151-8E9D-E3E0E126C077}"/>
              </a:ext>
            </a:extLst>
          </p:cNvPr>
          <p:cNvSpPr>
            <a:spLocks xmlns:a="http://schemas.openxmlformats.org/drawingml/2006/main" noGrp="1"/>
          </p:cNvSpPr>
          <p:nvPr/>
        </p:nvSpPr>
        <p:spPr>
          <a:xfrm xmlns:a="http://schemas.openxmlformats.org/drawingml/2006/main">
            <a:off x="3867150" y="3180969"/>
            <a:ext cx="3076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애셋·보고서·게이지·튜토리얼·난이도별 독립 분석과 구현</a:t>
            </a:r>
          </a:p>
        </p:txBody>
      </p:sp>
      <p:sp>
        <p:nvSpPr>
          <p:cNvPr id="18" name="table-cell-236.96-3-0">
            <a:extLst xmlns:a="http://schemas.openxmlformats.org/drawingml/2006/main">
              <a:ext uri="{FF2B5EF4-FFF2-40B4-BE49-F238E27FC236}">
                <a16:creationId xmlns:a16="http://schemas.microsoft.com/office/drawing/2014/main" id="{C7E521D1-CB83-4E20-8863-1CE93217E2BA}"/>
              </a:ext>
            </a:extLst>
          </p:cNvPr>
          <p:cNvSpPr>
            <a:spLocks xmlns:a="http://schemas.openxmlformats.org/drawingml/2006/main" noGrp="1"/>
          </p:cNvSpPr>
          <p:nvPr/>
        </p:nvSpPr>
        <p:spPr>
          <a:xfrm xmlns:a="http://schemas.openxmlformats.org/drawingml/2006/main">
            <a:off x="533400" y="3514344"/>
            <a:ext cx="3248025"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19" name="table-text-236.96-3-0">
            <a:extLst xmlns:a="http://schemas.openxmlformats.org/drawingml/2006/main">
              <a:ext uri="{FF2B5EF4-FFF2-40B4-BE49-F238E27FC236}">
                <a16:creationId xmlns:a16="http://schemas.microsoft.com/office/drawing/2014/main" id="{6B3371C4-7705-4B7E-9837-6B0DF9394EB6}"/>
              </a:ext>
            </a:extLst>
          </p:cNvPr>
          <p:cNvSpPr>
            <a:spLocks xmlns:a="http://schemas.openxmlformats.org/drawingml/2006/main" noGrp="1"/>
          </p:cNvSpPr>
          <p:nvPr/>
        </p:nvSpPr>
        <p:spPr>
          <a:xfrm xmlns:a="http://schemas.openxmlformats.org/drawingml/2006/main">
            <a:off x="619125" y="3581019"/>
            <a:ext cx="3076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Sol 총괄 검사 에이전트</a:t>
            </a:r>
          </a:p>
        </p:txBody>
      </p:sp>
      <p:sp>
        <p:nvSpPr>
          <p:cNvPr id="20" name="table-cell-236.96-3-1">
            <a:extLst xmlns:a="http://schemas.openxmlformats.org/drawingml/2006/main">
              <a:ext uri="{FF2B5EF4-FFF2-40B4-BE49-F238E27FC236}">
                <a16:creationId xmlns:a16="http://schemas.microsoft.com/office/drawing/2014/main" id="{5FA8E8CF-0F3A-401B-8F68-BDDB72C32EE6}"/>
              </a:ext>
            </a:extLst>
          </p:cNvPr>
          <p:cNvSpPr>
            <a:spLocks xmlns:a="http://schemas.openxmlformats.org/drawingml/2006/main" noGrp="1"/>
          </p:cNvSpPr>
          <p:nvPr/>
        </p:nvSpPr>
        <p:spPr>
          <a:xfrm xmlns:a="http://schemas.openxmlformats.org/drawingml/2006/main">
            <a:off x="3781425" y="3514344"/>
            <a:ext cx="3248025"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21" name="table-text-236.96-3-1">
            <a:extLst xmlns:a="http://schemas.openxmlformats.org/drawingml/2006/main">
              <a:ext uri="{FF2B5EF4-FFF2-40B4-BE49-F238E27FC236}">
                <a16:creationId xmlns:a16="http://schemas.microsoft.com/office/drawing/2014/main" id="{DB850C5A-9224-4857-AC9B-8174B1B696A8}"/>
              </a:ext>
            </a:extLst>
          </p:cNvPr>
          <p:cNvSpPr>
            <a:spLocks xmlns:a="http://schemas.openxmlformats.org/drawingml/2006/main" noGrp="1"/>
          </p:cNvSpPr>
          <p:nvPr/>
        </p:nvSpPr>
        <p:spPr>
          <a:xfrm xmlns:a="http://schemas.openxmlformats.org/drawingml/2006/main">
            <a:off x="3867150" y="3581019"/>
            <a:ext cx="3076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553"/>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설정 충돌, 결정론, 기록 공정성, 접근성, 증거 완결성의 독립 감사</a:t>
            </a:r>
          </a:p>
        </p:txBody>
      </p:sp>
      <p:sp>
        <p:nvSpPr>
          <p:cNvPr id="22" name="table-cell-236.96-4-0">
            <a:extLst xmlns:a="http://schemas.openxmlformats.org/drawingml/2006/main">
              <a:ext uri="{FF2B5EF4-FFF2-40B4-BE49-F238E27FC236}">
                <a16:creationId xmlns:a16="http://schemas.microsoft.com/office/drawing/2014/main" id="{A4527BF2-10BD-4AE2-B7C5-5A777BB5885B}"/>
              </a:ext>
            </a:extLst>
          </p:cNvPr>
          <p:cNvSpPr>
            <a:spLocks xmlns:a="http://schemas.openxmlformats.org/drawingml/2006/main" noGrp="1"/>
          </p:cNvSpPr>
          <p:nvPr/>
        </p:nvSpPr>
        <p:spPr>
          <a:xfrm xmlns:a="http://schemas.openxmlformats.org/drawingml/2006/main">
            <a:off x="533400" y="3914394"/>
            <a:ext cx="3248025" cy="400050"/>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23" name="table-text-236.96-4-0">
            <a:extLst xmlns:a="http://schemas.openxmlformats.org/drawingml/2006/main">
              <a:ext uri="{FF2B5EF4-FFF2-40B4-BE49-F238E27FC236}">
                <a16:creationId xmlns:a16="http://schemas.microsoft.com/office/drawing/2014/main" id="{070C01A9-D007-4C9D-AC19-DFDB720705E9}"/>
              </a:ext>
            </a:extLst>
          </p:cNvPr>
          <p:cNvSpPr>
            <a:spLocks xmlns:a="http://schemas.openxmlformats.org/drawingml/2006/main" noGrp="1"/>
          </p:cNvSpPr>
          <p:nvPr/>
        </p:nvSpPr>
        <p:spPr>
          <a:xfrm xmlns:a="http://schemas.openxmlformats.org/drawingml/2006/main">
            <a:off x="619125" y="3981069"/>
            <a:ext cx="3076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Codex 루트 에이전트</a:t>
            </a:r>
          </a:p>
        </p:txBody>
      </p:sp>
      <p:sp>
        <p:nvSpPr>
          <p:cNvPr id="24" name="table-cell-236.96-4-1">
            <a:extLst xmlns:a="http://schemas.openxmlformats.org/drawingml/2006/main">
              <a:ext uri="{FF2B5EF4-FFF2-40B4-BE49-F238E27FC236}">
                <a16:creationId xmlns:a16="http://schemas.microsoft.com/office/drawing/2014/main" id="{7E353828-2BB7-48D6-81A1-0EE30C045109}"/>
              </a:ext>
            </a:extLst>
          </p:cNvPr>
          <p:cNvSpPr>
            <a:spLocks xmlns:a="http://schemas.openxmlformats.org/drawingml/2006/main" noGrp="1"/>
          </p:cNvSpPr>
          <p:nvPr/>
        </p:nvSpPr>
        <p:spPr>
          <a:xfrm xmlns:a="http://schemas.openxmlformats.org/drawingml/2006/main">
            <a:off x="3781425" y="3914394"/>
            <a:ext cx="3248025" cy="400050"/>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25" name="table-text-236.96-4-1">
            <a:extLst xmlns:a="http://schemas.openxmlformats.org/drawingml/2006/main">
              <a:ext uri="{FF2B5EF4-FFF2-40B4-BE49-F238E27FC236}">
                <a16:creationId xmlns:a16="http://schemas.microsoft.com/office/drawing/2014/main" id="{8029A724-29B5-495D-BE17-380EECA6E6AE}"/>
              </a:ext>
            </a:extLst>
          </p:cNvPr>
          <p:cNvSpPr>
            <a:spLocks xmlns:a="http://schemas.openxmlformats.org/drawingml/2006/main" noGrp="1"/>
          </p:cNvSpPr>
          <p:nvPr/>
        </p:nvSpPr>
        <p:spPr>
          <a:xfrm xmlns:a="http://schemas.openxmlformats.org/drawingml/2006/main">
            <a:off x="3867150" y="3981069"/>
            <a:ext cx="3076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746"/>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작업 순서·공유 파일 충돌 제어, 통합 테스트, 빌드, 배포, 문서 산출</a:t>
            </a:r>
          </a:p>
        </p:txBody>
      </p:sp>
      <p:sp>
        <p:nvSpPr>
          <p:cNvPr id="26" name="paragraph-468.96000000000004">
            <a:extLst xmlns:a="http://schemas.openxmlformats.org/drawingml/2006/main">
              <a:ext uri="{FF2B5EF4-FFF2-40B4-BE49-F238E27FC236}">
                <a16:creationId xmlns:a16="http://schemas.microsoft.com/office/drawing/2014/main" id="{9221F352-FE06-44BC-8E04-C8C806DAF8B2}"/>
              </a:ext>
            </a:extLst>
          </p:cNvPr>
          <p:cNvSpPr>
            <a:spLocks xmlns:a="http://schemas.openxmlformats.org/drawingml/2006/main" noGrp="1"/>
          </p:cNvSpPr>
          <p:nvPr/>
        </p:nvSpPr>
        <p:spPr>
          <a:xfrm xmlns:a="http://schemas.openxmlformats.org/drawingml/2006/main">
            <a:off x="533400" y="4466844"/>
            <a:ext cx="6496050" cy="577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200" b="0">
                <a:solidFill>
                  <a:srgbClr val="173A3F"/>
                </a:solidFill>
                <a:latin typeface="NanumGothic"/>
                <a:ea typeface="NanumGothic"/>
                <a:cs typeface="NanumGothic"/>
              </a:defRPr>
            </a:pPr>
            <a:r>
              <a:rPr sz="1200" b="0">
                <a:solidFill>
                  <a:srgbClr val="173A3F"/>
                </a:solidFill>
                <a:latin typeface="NanumGothic"/>
                <a:ea typeface="NanumGothic"/>
                <a:cs typeface="NanumGothic"/>
              </a:rPr>
              <a:t>요청된 5.6 luna는 현재 환경에서 제공되지 않아 실행 담당은 gpt-5.6-terra, 총괄 검사는 요청대로 gpt-5.6-sol을 사용했다.</a:t>
            </a:r>
          </a:p>
        </p:txBody>
      </p:sp>
    </p:spTree>
    <p:extLst>
      <p:ext uri="{BB962C8B-B14F-4D97-AF65-F5344CB8AC3E}">
        <p14:creationId xmlns:p14="http://schemas.microsoft.com/office/powerpoint/2010/main" val="14515181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running-label">
            <a:extLst xmlns:a="http://schemas.openxmlformats.org/drawingml/2006/main">
              <a:ext uri="{FF2B5EF4-FFF2-40B4-BE49-F238E27FC236}">
                <a16:creationId xmlns:a16="http://schemas.microsoft.com/office/drawing/2014/main" id="{1B1C9283-6BCD-489C-8654-1D645FB3B903}"/>
              </a:ext>
            </a:extLst>
          </p:cNvPr>
          <p:cNvSpPr>
            <a:spLocks xmlns:a="http://schemas.openxmlformats.org/drawingml/2006/main" noGrp="1"/>
          </p:cNvSpPr>
          <p:nvPr/>
        </p:nvSpPr>
        <p:spPr>
          <a:xfrm xmlns:a="http://schemas.openxmlformats.org/drawingml/2006/main">
            <a:off x="533400" y="304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900" b="1">
                <a:solidFill>
                  <a:srgbClr val="2C7A7B"/>
                </a:solidFill>
                <a:latin typeface="NanumGothic"/>
                <a:ea typeface="NanumGothic"/>
                <a:cs typeface="NanumGothic"/>
              </a:defRPr>
            </a:pPr>
            <a:r>
              <a:rPr sz="900" b="1">
                <a:solidFill>
                  <a:srgbClr val="2C7A7B"/>
                </a:solidFill>
                <a:latin typeface="NanumGothic"/>
                <a:ea typeface="NanumGothic"/>
                <a:cs typeface="NanumGothic"/>
              </a:rPr>
              <a:t>Property Shot · AI Technical Report</a:t>
            </a:r>
          </a:p>
        </p:txBody>
      </p:sp>
      <p:sp>
        <p:nvSpPr>
          <p:cNvPr id="2" name="page-number">
            <a:extLst xmlns:a="http://schemas.openxmlformats.org/drawingml/2006/main">
              <a:ext uri="{FF2B5EF4-FFF2-40B4-BE49-F238E27FC236}">
                <a16:creationId xmlns:a16="http://schemas.microsoft.com/office/drawing/2014/main" id="{2F99303E-4C9B-4421-947A-0575EFDB04EF}"/>
              </a:ext>
            </a:extLst>
          </p:cNvPr>
          <p:cNvSpPr>
            <a:spLocks xmlns:a="http://schemas.openxmlformats.org/drawingml/2006/main" noGrp="1"/>
          </p:cNvSpPr>
          <p:nvPr/>
        </p:nvSpPr>
        <p:spPr>
          <a:xfrm xmlns:a="http://schemas.openxmlformats.org/drawingml/2006/main">
            <a:off x="6648450" y="3048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20000"/>
              </a:lnSpc>
              <a:buNone/>
              <a:defRPr sz="900" b="0">
                <a:solidFill>
                  <a:srgbClr val="607477"/>
                </a:solidFill>
                <a:latin typeface="NanumGothic"/>
                <a:ea typeface="NanumGothic"/>
                <a:cs typeface="NanumGothic"/>
              </a:defRPr>
            </a:pPr>
            <a:r>
              <a:rPr sz="900" b="0">
                <a:solidFill>
                  <a:srgbClr val="607477"/>
                </a:solidFill>
                <a:latin typeface="NanumGothic"/>
                <a:ea typeface="NanumGothic"/>
                <a:cs typeface="NanumGothic"/>
              </a:rPr>
              <a:t>4</a:t>
            </a:r>
          </a:p>
        </p:txBody>
      </p:sp>
      <p:sp>
        <p:nvSpPr>
          <p:cNvPr id="3" name="header-rule">
            <a:extLst xmlns:a="http://schemas.openxmlformats.org/drawingml/2006/main">
              <a:ext uri="{FF2B5EF4-FFF2-40B4-BE49-F238E27FC236}">
                <a16:creationId xmlns:a16="http://schemas.microsoft.com/office/drawing/2014/main" id="{6BF54B5C-468B-4440-A0BC-65098914BF75}"/>
              </a:ext>
            </a:extLst>
          </p:cNvPr>
          <p:cNvSpPr>
            <a:spLocks xmlns:a="http://schemas.openxmlformats.org/drawingml/2006/main" noGrp="1"/>
          </p:cNvSpPr>
          <p:nvPr/>
        </p:nvSpPr>
        <p:spPr>
          <a:xfrm xmlns:a="http://schemas.openxmlformats.org/drawingml/2006/main">
            <a:off x="533400" y="628650"/>
            <a:ext cx="6496050" cy="28575"/>
          </a:xfrm>
          <a:prstGeom xmlns:a="http://schemas.openxmlformats.org/drawingml/2006/main" prst="rect">
            <a:avLst/>
          </a:prstGeom>
          <a:solidFill xmlns:a="http://schemas.openxmlformats.org/drawingml/2006/main">
            <a:srgbClr val="D7A23D"/>
          </a:solidFill>
          <a:ln xmlns:a="http://schemas.openxmlformats.org/drawingml/2006/main" w="0">
            <a:noFill/>
            <a:prstDash val="solid"/>
          </a:ln>
        </p:spPr>
      </p:sp>
      <p:sp>
        <p:nvSpPr>
          <p:cNvPr id="4" name="slide-title">
            <a:extLst xmlns:a="http://schemas.openxmlformats.org/drawingml/2006/main">
              <a:ext uri="{FF2B5EF4-FFF2-40B4-BE49-F238E27FC236}">
                <a16:creationId xmlns:a16="http://schemas.microsoft.com/office/drawing/2014/main" id="{58BE5946-7EC1-4C10-A264-EE74C5A37060}"/>
              </a:ext>
            </a:extLst>
          </p:cNvPr>
          <p:cNvSpPr>
            <a:spLocks xmlns:a="http://schemas.openxmlformats.org/drawingml/2006/main" noGrp="1"/>
          </p:cNvSpPr>
          <p:nvPr/>
        </p:nvSpPr>
        <p:spPr>
          <a:xfrm xmlns:a="http://schemas.openxmlformats.org/drawingml/2006/main">
            <a:off x="533400" y="800100"/>
            <a:ext cx="649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l">
              <a:lnSpc>
                <a:spcPct val="120000"/>
              </a:lnSpc>
              <a:buNone/>
              <a:defRPr sz="2625" b="1">
                <a:solidFill>
                  <a:srgbClr val="173A3F"/>
                </a:solidFill>
                <a:latin typeface="NanumGothic"/>
                <a:ea typeface="NanumGothic"/>
                <a:cs typeface="NanumGothic"/>
              </a:defRPr>
            </a:pPr>
            <a:r>
              <a:rPr sz="2625" b="1">
                <a:solidFill>
                  <a:srgbClr val="173A3F"/>
                </a:solidFill>
                <a:latin typeface="NanumGothic"/>
                <a:ea typeface="NanumGothic"/>
                <a:cs typeface="NanumGothic"/>
              </a:rPr>
              <a:t>2. 개발 구조와 AI 적용 지점</a:t>
            </a:r>
          </a:p>
        </p:txBody>
      </p:sp>
      <p:sp>
        <p:nvSpPr>
          <p:cNvPr id="5" name="table-cell-140-0-0">
            <a:extLst xmlns:a="http://schemas.openxmlformats.org/drawingml/2006/main">
              <a:ext uri="{FF2B5EF4-FFF2-40B4-BE49-F238E27FC236}">
                <a16:creationId xmlns:a16="http://schemas.microsoft.com/office/drawing/2014/main" id="{EAF9A3E2-D567-46D7-BE61-F9FE4967A97F}"/>
              </a:ext>
            </a:extLst>
          </p:cNvPr>
          <p:cNvSpPr>
            <a:spLocks xmlns:a="http://schemas.openxmlformats.org/drawingml/2006/main" noGrp="1"/>
          </p:cNvSpPr>
          <p:nvPr/>
        </p:nvSpPr>
        <p:spPr>
          <a:xfrm xmlns:a="http://schemas.openxmlformats.org/drawingml/2006/main">
            <a:off x="533400" y="1333500"/>
            <a:ext cx="2165350" cy="457200"/>
          </a:xfrm>
          <a:prstGeom xmlns:a="http://schemas.openxmlformats.org/drawingml/2006/main" prst="rect">
            <a:avLst/>
          </a:prstGeom>
          <a:solidFill xmlns:a="http://schemas.openxmlformats.org/drawingml/2006/main">
            <a:srgbClr val="E8F4F1"/>
          </a:solidFill>
          <a:ln xmlns:a="http://schemas.openxmlformats.org/drawingml/2006/main" w="9525">
            <a:solidFill>
              <a:srgbClr val="D7E1DE"/>
            </a:solidFill>
            <a:prstDash val="solid"/>
          </a:ln>
        </p:spPr>
      </p:sp>
      <p:sp>
        <p:nvSpPr>
          <p:cNvPr id="6" name="table-text-140-0-0">
            <a:extLst xmlns:a="http://schemas.openxmlformats.org/drawingml/2006/main">
              <a:ext uri="{FF2B5EF4-FFF2-40B4-BE49-F238E27FC236}">
                <a16:creationId xmlns:a16="http://schemas.microsoft.com/office/drawing/2014/main" id="{F7BD56D9-22E6-457B-95BC-34AA055A65F0}"/>
              </a:ext>
            </a:extLst>
          </p:cNvPr>
          <p:cNvSpPr>
            <a:spLocks xmlns:a="http://schemas.openxmlformats.org/drawingml/2006/main" noGrp="1"/>
          </p:cNvSpPr>
          <p:nvPr/>
        </p:nvSpPr>
        <p:spPr>
          <a:xfrm xmlns:a="http://schemas.openxmlformats.org/drawingml/2006/main">
            <a:off x="619125" y="1400175"/>
            <a:ext cx="199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a:solidFill>
                  <a:srgbClr val="173A3F"/>
                </a:solidFill>
                <a:latin typeface="NanumGothic"/>
                <a:ea typeface="NanumGothic"/>
                <a:cs typeface="NanumGothic"/>
              </a:defRPr>
            </a:pPr>
            <a:r>
              <a:rPr sz="1050" b="1">
                <a:solidFill>
                  <a:srgbClr val="173A3F"/>
                </a:solidFill>
                <a:latin typeface="NanumGothic"/>
                <a:ea typeface="NanumGothic"/>
                <a:cs typeface="NanumGothic"/>
              </a:rPr>
              <a:t>계층</a:t>
            </a:r>
          </a:p>
        </p:txBody>
      </p:sp>
      <p:sp>
        <p:nvSpPr>
          <p:cNvPr id="7" name="table-cell-140-0-1">
            <a:extLst xmlns:a="http://schemas.openxmlformats.org/drawingml/2006/main">
              <a:ext uri="{FF2B5EF4-FFF2-40B4-BE49-F238E27FC236}">
                <a16:creationId xmlns:a16="http://schemas.microsoft.com/office/drawing/2014/main" id="{42EF8D78-BB13-449E-8169-4744F0B5922F}"/>
              </a:ext>
            </a:extLst>
          </p:cNvPr>
          <p:cNvSpPr>
            <a:spLocks xmlns:a="http://schemas.openxmlformats.org/drawingml/2006/main" noGrp="1"/>
          </p:cNvSpPr>
          <p:nvPr/>
        </p:nvSpPr>
        <p:spPr>
          <a:xfrm xmlns:a="http://schemas.openxmlformats.org/drawingml/2006/main">
            <a:off x="2698750" y="1333500"/>
            <a:ext cx="2165350" cy="457200"/>
          </a:xfrm>
          <a:prstGeom xmlns:a="http://schemas.openxmlformats.org/drawingml/2006/main" prst="rect">
            <a:avLst/>
          </a:prstGeom>
          <a:solidFill xmlns:a="http://schemas.openxmlformats.org/drawingml/2006/main">
            <a:srgbClr val="E8F4F1"/>
          </a:solidFill>
          <a:ln xmlns:a="http://schemas.openxmlformats.org/drawingml/2006/main" w="9525">
            <a:solidFill>
              <a:srgbClr val="D7E1DE"/>
            </a:solidFill>
            <a:prstDash val="solid"/>
          </a:ln>
        </p:spPr>
      </p:sp>
      <p:sp>
        <p:nvSpPr>
          <p:cNvPr id="8" name="table-text-140-0-1">
            <a:extLst xmlns:a="http://schemas.openxmlformats.org/drawingml/2006/main">
              <a:ext uri="{FF2B5EF4-FFF2-40B4-BE49-F238E27FC236}">
                <a16:creationId xmlns:a16="http://schemas.microsoft.com/office/drawing/2014/main" id="{F2042EDC-D308-4315-89B1-82E6D19495B6}"/>
              </a:ext>
            </a:extLst>
          </p:cNvPr>
          <p:cNvSpPr>
            <a:spLocks xmlns:a="http://schemas.openxmlformats.org/drawingml/2006/main" noGrp="1"/>
          </p:cNvSpPr>
          <p:nvPr/>
        </p:nvSpPr>
        <p:spPr>
          <a:xfrm xmlns:a="http://schemas.openxmlformats.org/drawingml/2006/main">
            <a:off x="2784475" y="1400175"/>
            <a:ext cx="199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a:solidFill>
                  <a:srgbClr val="173A3F"/>
                </a:solidFill>
                <a:latin typeface="NanumGothic"/>
                <a:ea typeface="NanumGothic"/>
                <a:cs typeface="NanumGothic"/>
              </a:defRPr>
            </a:pPr>
            <a:r>
              <a:rPr sz="1050" b="1">
                <a:solidFill>
                  <a:srgbClr val="173A3F"/>
                </a:solidFill>
                <a:latin typeface="NanumGothic"/>
                <a:ea typeface="NanumGothic"/>
                <a:cs typeface="NanumGothic"/>
              </a:rPr>
              <a:t>주요 파일</a:t>
            </a:r>
          </a:p>
        </p:txBody>
      </p:sp>
      <p:sp>
        <p:nvSpPr>
          <p:cNvPr id="9" name="table-cell-140-0-2">
            <a:extLst xmlns:a="http://schemas.openxmlformats.org/drawingml/2006/main">
              <a:ext uri="{FF2B5EF4-FFF2-40B4-BE49-F238E27FC236}">
                <a16:creationId xmlns:a16="http://schemas.microsoft.com/office/drawing/2014/main" id="{2E7812E7-836D-4B92-97D8-FF388757A98D}"/>
              </a:ext>
            </a:extLst>
          </p:cNvPr>
          <p:cNvSpPr>
            <a:spLocks xmlns:a="http://schemas.openxmlformats.org/drawingml/2006/main" noGrp="1"/>
          </p:cNvSpPr>
          <p:nvPr/>
        </p:nvSpPr>
        <p:spPr>
          <a:xfrm xmlns:a="http://schemas.openxmlformats.org/drawingml/2006/main">
            <a:off x="4864100" y="1333500"/>
            <a:ext cx="2165350" cy="457200"/>
          </a:xfrm>
          <a:prstGeom xmlns:a="http://schemas.openxmlformats.org/drawingml/2006/main" prst="rect">
            <a:avLst/>
          </a:prstGeom>
          <a:solidFill xmlns:a="http://schemas.openxmlformats.org/drawingml/2006/main">
            <a:srgbClr val="E8F4F1"/>
          </a:solidFill>
          <a:ln xmlns:a="http://schemas.openxmlformats.org/drawingml/2006/main" w="9525">
            <a:solidFill>
              <a:srgbClr val="D7E1DE"/>
            </a:solidFill>
            <a:prstDash val="solid"/>
          </a:ln>
        </p:spPr>
      </p:sp>
      <p:sp>
        <p:nvSpPr>
          <p:cNvPr id="10" name="table-text-140-0-2">
            <a:extLst xmlns:a="http://schemas.openxmlformats.org/drawingml/2006/main">
              <a:ext uri="{FF2B5EF4-FFF2-40B4-BE49-F238E27FC236}">
                <a16:creationId xmlns:a16="http://schemas.microsoft.com/office/drawing/2014/main" id="{C9EBFB8B-3733-4C29-8165-6C18670D2577}"/>
              </a:ext>
            </a:extLst>
          </p:cNvPr>
          <p:cNvSpPr>
            <a:spLocks xmlns:a="http://schemas.openxmlformats.org/drawingml/2006/main" noGrp="1"/>
          </p:cNvSpPr>
          <p:nvPr/>
        </p:nvSpPr>
        <p:spPr>
          <a:xfrm xmlns:a="http://schemas.openxmlformats.org/drawingml/2006/main">
            <a:off x="4949825" y="1400175"/>
            <a:ext cx="199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a:solidFill>
                  <a:srgbClr val="173A3F"/>
                </a:solidFill>
                <a:latin typeface="NanumGothic"/>
                <a:ea typeface="NanumGothic"/>
                <a:cs typeface="NanumGothic"/>
              </a:defRPr>
            </a:pPr>
            <a:r>
              <a:rPr sz="1050" b="1">
                <a:solidFill>
                  <a:srgbClr val="173A3F"/>
                </a:solidFill>
                <a:latin typeface="NanumGothic"/>
                <a:ea typeface="NanumGothic"/>
                <a:cs typeface="NanumGothic"/>
              </a:rPr>
              <a:t>AI 활용 내용</a:t>
            </a:r>
          </a:p>
        </p:txBody>
      </p:sp>
      <p:sp>
        <p:nvSpPr>
          <p:cNvPr id="11" name="table-cell-140-1-0">
            <a:extLst xmlns:a="http://schemas.openxmlformats.org/drawingml/2006/main">
              <a:ext uri="{FF2B5EF4-FFF2-40B4-BE49-F238E27FC236}">
                <a16:creationId xmlns:a16="http://schemas.microsoft.com/office/drawing/2014/main" id="{0CE5EAF5-F8F2-4327-86F6-7D7564A38AB9}"/>
              </a:ext>
            </a:extLst>
          </p:cNvPr>
          <p:cNvSpPr>
            <a:spLocks xmlns:a="http://schemas.openxmlformats.org/drawingml/2006/main" noGrp="1"/>
          </p:cNvSpPr>
          <p:nvPr/>
        </p:nvSpPr>
        <p:spPr>
          <a:xfrm xmlns:a="http://schemas.openxmlformats.org/drawingml/2006/main">
            <a:off x="533400" y="1790700"/>
            <a:ext cx="2165350" cy="531495"/>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12" name="table-text-140-1-0">
            <a:extLst xmlns:a="http://schemas.openxmlformats.org/drawingml/2006/main">
              <a:ext uri="{FF2B5EF4-FFF2-40B4-BE49-F238E27FC236}">
                <a16:creationId xmlns:a16="http://schemas.microsoft.com/office/drawing/2014/main" id="{EEC6CADE-407E-4CC6-8BD2-5E2D1F99D783}"/>
              </a:ext>
            </a:extLst>
          </p:cNvPr>
          <p:cNvSpPr>
            <a:spLocks xmlns:a="http://schemas.openxmlformats.org/drawingml/2006/main" noGrp="1"/>
          </p:cNvSpPr>
          <p:nvPr/>
        </p:nvSpPr>
        <p:spPr>
          <a:xfrm xmlns:a="http://schemas.openxmlformats.org/drawingml/2006/main">
            <a:off x="619125" y="1857375"/>
            <a:ext cx="1993900"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도메인/물리</a:t>
            </a:r>
          </a:p>
        </p:txBody>
      </p:sp>
      <p:sp>
        <p:nvSpPr>
          <p:cNvPr id="13" name="table-cell-140-1-1">
            <a:extLst xmlns:a="http://schemas.openxmlformats.org/drawingml/2006/main">
              <a:ext uri="{FF2B5EF4-FFF2-40B4-BE49-F238E27FC236}">
                <a16:creationId xmlns:a16="http://schemas.microsoft.com/office/drawing/2014/main" id="{D79D9C29-0367-49CD-A2C4-9B138F00FBD4}"/>
              </a:ext>
            </a:extLst>
          </p:cNvPr>
          <p:cNvSpPr>
            <a:spLocks xmlns:a="http://schemas.openxmlformats.org/drawingml/2006/main" noGrp="1"/>
          </p:cNvSpPr>
          <p:nvPr/>
        </p:nvSpPr>
        <p:spPr>
          <a:xfrm xmlns:a="http://schemas.openxmlformats.org/drawingml/2006/main">
            <a:off x="2698750" y="1790700"/>
            <a:ext cx="2165350" cy="531495"/>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14" name="table-text-140-1-1">
            <a:extLst xmlns:a="http://schemas.openxmlformats.org/drawingml/2006/main">
              <a:ext uri="{FF2B5EF4-FFF2-40B4-BE49-F238E27FC236}">
                <a16:creationId xmlns:a16="http://schemas.microsoft.com/office/drawing/2014/main" id="{14D401EF-44E6-4409-A45D-88197BBF5397}"/>
              </a:ext>
            </a:extLst>
          </p:cNvPr>
          <p:cNvSpPr>
            <a:spLocks xmlns:a="http://schemas.openxmlformats.org/drawingml/2006/main" noGrp="1"/>
          </p:cNvSpPr>
          <p:nvPr/>
        </p:nvSpPr>
        <p:spPr>
          <a:xfrm xmlns:a="http://schemas.openxmlformats.org/drawingml/2006/main">
            <a:off x="2784475" y="1857375"/>
            <a:ext cx="1993900"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lib/game/simulation/shot_resolver.dart</a:t>
            </a:r>
          </a:p>
        </p:txBody>
      </p:sp>
      <p:sp>
        <p:nvSpPr>
          <p:cNvPr id="15" name="table-cell-140-1-2">
            <a:extLst xmlns:a="http://schemas.openxmlformats.org/drawingml/2006/main">
              <a:ext uri="{FF2B5EF4-FFF2-40B4-BE49-F238E27FC236}">
                <a16:creationId xmlns:a16="http://schemas.microsoft.com/office/drawing/2014/main" id="{374409C0-1FD3-49BF-A1C6-D735B29B11A1}"/>
              </a:ext>
            </a:extLst>
          </p:cNvPr>
          <p:cNvSpPr>
            <a:spLocks xmlns:a="http://schemas.openxmlformats.org/drawingml/2006/main" noGrp="1"/>
          </p:cNvSpPr>
          <p:nvPr/>
        </p:nvSpPr>
        <p:spPr>
          <a:xfrm xmlns:a="http://schemas.openxmlformats.org/drawingml/2006/main">
            <a:off x="4864100" y="1790700"/>
            <a:ext cx="2165350" cy="531495"/>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16" name="table-text-140-1-2">
            <a:extLst xmlns:a="http://schemas.openxmlformats.org/drawingml/2006/main">
              <a:ext uri="{FF2B5EF4-FFF2-40B4-BE49-F238E27FC236}">
                <a16:creationId xmlns:a16="http://schemas.microsoft.com/office/drawing/2014/main" id="{EA9AD904-7051-46F7-AF81-DD81EE7257A6}"/>
              </a:ext>
            </a:extLst>
          </p:cNvPr>
          <p:cNvSpPr>
            <a:spLocks xmlns:a="http://schemas.openxmlformats.org/drawingml/2006/main" noGrp="1"/>
          </p:cNvSpPr>
          <p:nvPr/>
        </p:nvSpPr>
        <p:spPr>
          <a:xfrm xmlns:a="http://schemas.openxmlformats.org/drawingml/2006/main">
            <a:off x="4949825" y="1857375"/>
            <a:ext cx="1993900"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결정론적 충돌 판정, 쉬움 모드 첫 도착 read-only preview</a:t>
            </a:r>
          </a:p>
        </p:txBody>
      </p:sp>
      <p:sp>
        <p:nvSpPr>
          <p:cNvPr id="17" name="table-cell-140-2-0">
            <a:extLst xmlns:a="http://schemas.openxmlformats.org/drawingml/2006/main">
              <a:ext uri="{FF2B5EF4-FFF2-40B4-BE49-F238E27FC236}">
                <a16:creationId xmlns:a16="http://schemas.microsoft.com/office/drawing/2014/main" id="{63A03D0E-EB9D-4094-A8D8-8EB0DB343A83}"/>
              </a:ext>
            </a:extLst>
          </p:cNvPr>
          <p:cNvSpPr>
            <a:spLocks xmlns:a="http://schemas.openxmlformats.org/drawingml/2006/main" noGrp="1"/>
          </p:cNvSpPr>
          <p:nvPr/>
        </p:nvSpPr>
        <p:spPr>
          <a:xfrm xmlns:a="http://schemas.openxmlformats.org/drawingml/2006/main">
            <a:off x="533400" y="2322195"/>
            <a:ext cx="2165350" cy="711518"/>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18" name="table-text-140-2-0">
            <a:extLst xmlns:a="http://schemas.openxmlformats.org/drawingml/2006/main">
              <a:ext uri="{FF2B5EF4-FFF2-40B4-BE49-F238E27FC236}">
                <a16:creationId xmlns:a16="http://schemas.microsoft.com/office/drawing/2014/main" id="{D2EDC48D-F12D-4094-8D10-E03CD7FF1ED5}"/>
              </a:ext>
            </a:extLst>
          </p:cNvPr>
          <p:cNvSpPr>
            <a:spLocks xmlns:a="http://schemas.openxmlformats.org/drawingml/2006/main" noGrp="1"/>
          </p:cNvSpPr>
          <p:nvPr/>
        </p:nvSpPr>
        <p:spPr>
          <a:xfrm xmlns:a="http://schemas.openxmlformats.org/drawingml/2006/main">
            <a:off x="619125" y="2388870"/>
            <a:ext cx="1993900" cy="5781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캠페인 진행</a:t>
            </a:r>
          </a:p>
        </p:txBody>
      </p:sp>
      <p:sp>
        <p:nvSpPr>
          <p:cNvPr id="19" name="table-cell-140-2-1">
            <a:extLst xmlns:a="http://schemas.openxmlformats.org/drawingml/2006/main">
              <a:ext uri="{FF2B5EF4-FFF2-40B4-BE49-F238E27FC236}">
                <a16:creationId xmlns:a16="http://schemas.microsoft.com/office/drawing/2014/main" id="{D9E3F5DC-ADA6-422A-B509-467A263EA608}"/>
              </a:ext>
            </a:extLst>
          </p:cNvPr>
          <p:cNvSpPr>
            <a:spLocks xmlns:a="http://schemas.openxmlformats.org/drawingml/2006/main" noGrp="1"/>
          </p:cNvSpPr>
          <p:nvPr/>
        </p:nvSpPr>
        <p:spPr>
          <a:xfrm xmlns:a="http://schemas.openxmlformats.org/drawingml/2006/main">
            <a:off x="2698750" y="2322195"/>
            <a:ext cx="2165350" cy="711518"/>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20" name="table-text-140-2-1">
            <a:extLst xmlns:a="http://schemas.openxmlformats.org/drawingml/2006/main">
              <a:ext uri="{FF2B5EF4-FFF2-40B4-BE49-F238E27FC236}">
                <a16:creationId xmlns:a16="http://schemas.microsoft.com/office/drawing/2014/main" id="{9357FE2E-DE5E-4817-B211-06450C41ABE0}"/>
              </a:ext>
            </a:extLst>
          </p:cNvPr>
          <p:cNvSpPr>
            <a:spLocks xmlns:a="http://schemas.openxmlformats.org/drawingml/2006/main" noGrp="1"/>
          </p:cNvSpPr>
          <p:nvPr/>
        </p:nvSpPr>
        <p:spPr>
          <a:xfrm xmlns:a="http://schemas.openxmlformats.org/drawingml/2006/main">
            <a:off x="2784475" y="2388870"/>
            <a:ext cx="1993900" cy="5781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161"/>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lib/game/run/stage_pattern_session.dart, campaign_stage_selection.dart, run_hint_state.dart</a:t>
            </a:r>
          </a:p>
        </p:txBody>
      </p:sp>
      <p:sp>
        <p:nvSpPr>
          <p:cNvPr id="21" name="table-cell-140-2-2">
            <a:extLst xmlns:a="http://schemas.openxmlformats.org/drawingml/2006/main">
              <a:ext uri="{FF2B5EF4-FFF2-40B4-BE49-F238E27FC236}">
                <a16:creationId xmlns:a16="http://schemas.microsoft.com/office/drawing/2014/main" id="{31E414E3-23F9-474E-9B10-42F137D1CEF2}"/>
              </a:ext>
            </a:extLst>
          </p:cNvPr>
          <p:cNvSpPr>
            <a:spLocks xmlns:a="http://schemas.openxmlformats.org/drawingml/2006/main" noGrp="1"/>
          </p:cNvSpPr>
          <p:nvPr/>
        </p:nvSpPr>
        <p:spPr>
          <a:xfrm xmlns:a="http://schemas.openxmlformats.org/drawingml/2006/main">
            <a:off x="4864100" y="2322195"/>
            <a:ext cx="2165350" cy="711518"/>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22" name="table-text-140-2-2">
            <a:extLst xmlns:a="http://schemas.openxmlformats.org/drawingml/2006/main">
              <a:ext uri="{FF2B5EF4-FFF2-40B4-BE49-F238E27FC236}">
                <a16:creationId xmlns:a16="http://schemas.microsoft.com/office/drawing/2014/main" id="{3A878CA5-CFFC-4074-A5A5-37C442A4053F}"/>
              </a:ext>
            </a:extLst>
          </p:cNvPr>
          <p:cNvSpPr>
            <a:spLocks xmlns:a="http://schemas.openxmlformats.org/drawingml/2006/main" noGrp="1"/>
          </p:cNvSpPr>
          <p:nvPr/>
        </p:nvSpPr>
        <p:spPr>
          <a:xfrm xmlns:a="http://schemas.openxmlformats.org/drawingml/2006/main">
            <a:off x="4949825" y="2388870"/>
            <a:ext cx="1993900" cy="5781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최초 학습 기준 패턴 정책, RunState v3 힌트 권한·열쇠·저장 큐</a:t>
            </a:r>
          </a:p>
        </p:txBody>
      </p:sp>
      <p:sp>
        <p:nvSpPr>
          <p:cNvPr id="23" name="table-cell-140-3-0">
            <a:extLst xmlns:a="http://schemas.openxmlformats.org/drawingml/2006/main">
              <a:ext uri="{FF2B5EF4-FFF2-40B4-BE49-F238E27FC236}">
                <a16:creationId xmlns:a16="http://schemas.microsoft.com/office/drawing/2014/main" id="{909B67F5-7B67-4C99-9CB8-244B8808A6FE}"/>
              </a:ext>
            </a:extLst>
          </p:cNvPr>
          <p:cNvSpPr>
            <a:spLocks xmlns:a="http://schemas.openxmlformats.org/drawingml/2006/main" noGrp="1"/>
          </p:cNvSpPr>
          <p:nvPr/>
        </p:nvSpPr>
        <p:spPr>
          <a:xfrm xmlns:a="http://schemas.openxmlformats.org/drawingml/2006/main">
            <a:off x="533400" y="3033713"/>
            <a:ext cx="2165350" cy="531495"/>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24" name="table-text-140-3-0">
            <a:extLst xmlns:a="http://schemas.openxmlformats.org/drawingml/2006/main">
              <a:ext uri="{FF2B5EF4-FFF2-40B4-BE49-F238E27FC236}">
                <a16:creationId xmlns:a16="http://schemas.microsoft.com/office/drawing/2014/main" id="{10BA6B9A-464B-4623-BB8A-E22FFA3EAE7C}"/>
              </a:ext>
            </a:extLst>
          </p:cNvPr>
          <p:cNvSpPr>
            <a:spLocks xmlns:a="http://schemas.openxmlformats.org/drawingml/2006/main" noGrp="1"/>
          </p:cNvSpPr>
          <p:nvPr/>
        </p:nvSpPr>
        <p:spPr>
          <a:xfrm xmlns:a="http://schemas.openxmlformats.org/drawingml/2006/main">
            <a:off x="619125" y="3100388"/>
            <a:ext cx="1993900"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힌트 데이터</a:t>
            </a:r>
          </a:p>
        </p:txBody>
      </p:sp>
      <p:sp>
        <p:nvSpPr>
          <p:cNvPr id="25" name="table-cell-140-3-1">
            <a:extLst xmlns:a="http://schemas.openxmlformats.org/drawingml/2006/main">
              <a:ext uri="{FF2B5EF4-FFF2-40B4-BE49-F238E27FC236}">
                <a16:creationId xmlns:a16="http://schemas.microsoft.com/office/drawing/2014/main" id="{BD09F33E-628F-4701-8C31-1DC1E109E7D9}"/>
              </a:ext>
            </a:extLst>
          </p:cNvPr>
          <p:cNvSpPr>
            <a:spLocks xmlns:a="http://schemas.openxmlformats.org/drawingml/2006/main" noGrp="1"/>
          </p:cNvSpPr>
          <p:nvPr/>
        </p:nvSpPr>
        <p:spPr>
          <a:xfrm xmlns:a="http://schemas.openxmlformats.org/drawingml/2006/main">
            <a:off x="2698750" y="3033713"/>
            <a:ext cx="2165350" cy="531495"/>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26" name="table-text-140-3-1">
            <a:extLst xmlns:a="http://schemas.openxmlformats.org/drawingml/2006/main">
              <a:ext uri="{FF2B5EF4-FFF2-40B4-BE49-F238E27FC236}">
                <a16:creationId xmlns:a16="http://schemas.microsoft.com/office/drawing/2014/main" id="{A9823B3F-CE96-4A23-806A-CF95C0E40B52}"/>
              </a:ext>
            </a:extLst>
          </p:cNvPr>
          <p:cNvSpPr>
            <a:spLocks xmlns:a="http://schemas.openxmlformats.org/drawingml/2006/main" noGrp="1"/>
          </p:cNvSpPr>
          <p:nvPr/>
        </p:nvSpPr>
        <p:spPr>
          <a:xfrm xmlns:a="http://schemas.openxmlformats.org/drawingml/2006/main">
            <a:off x="2784475" y="3100388"/>
            <a:ext cx="1993900"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lib/game/hint/*, assets/stages/hints_v1.json</a:t>
            </a:r>
          </a:p>
        </p:txBody>
      </p:sp>
      <p:sp>
        <p:nvSpPr>
          <p:cNvPr id="27" name="table-cell-140-3-2">
            <a:extLst xmlns:a="http://schemas.openxmlformats.org/drawingml/2006/main">
              <a:ext uri="{FF2B5EF4-FFF2-40B4-BE49-F238E27FC236}">
                <a16:creationId xmlns:a16="http://schemas.microsoft.com/office/drawing/2014/main" id="{A8AA99DD-9BED-4D0C-AE59-DC246940935C}"/>
              </a:ext>
            </a:extLst>
          </p:cNvPr>
          <p:cNvSpPr>
            <a:spLocks xmlns:a="http://schemas.openxmlformats.org/drawingml/2006/main" noGrp="1"/>
          </p:cNvSpPr>
          <p:nvPr/>
        </p:nvSpPr>
        <p:spPr>
          <a:xfrm xmlns:a="http://schemas.openxmlformats.org/drawingml/2006/main">
            <a:off x="4864100" y="3033713"/>
            <a:ext cx="2165350" cy="531495"/>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28" name="table-text-140-3-2">
            <a:extLst xmlns:a="http://schemas.openxmlformats.org/drawingml/2006/main">
              <a:ext uri="{FF2B5EF4-FFF2-40B4-BE49-F238E27FC236}">
                <a16:creationId xmlns:a16="http://schemas.microsoft.com/office/drawing/2014/main" id="{9C60A644-796A-40E5-A474-C6ACAA918815}"/>
              </a:ext>
            </a:extLst>
          </p:cNvPr>
          <p:cNvSpPr>
            <a:spLocks xmlns:a="http://schemas.openxmlformats.org/drawingml/2006/main" noGrp="1"/>
          </p:cNvSpPr>
          <p:nvPr/>
        </p:nvSpPr>
        <p:spPr>
          <a:xfrm xmlns:a="http://schemas.openxmlformats.org/drawingml/2006/main">
            <a:off x="4949825" y="3100388"/>
            <a:ext cx="1993900"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40패턴 L1/L2, 비물리 열쇠, 시연 계약, 생성기·Validator</a:t>
            </a:r>
          </a:p>
        </p:txBody>
      </p:sp>
      <p:sp>
        <p:nvSpPr>
          <p:cNvPr id="29" name="table-cell-140-4-0">
            <a:extLst xmlns:a="http://schemas.openxmlformats.org/drawingml/2006/main">
              <a:ext uri="{FF2B5EF4-FFF2-40B4-BE49-F238E27FC236}">
                <a16:creationId xmlns:a16="http://schemas.microsoft.com/office/drawing/2014/main" id="{C811C980-0072-41E7-940A-FC2EB2BCF21C}"/>
              </a:ext>
            </a:extLst>
          </p:cNvPr>
          <p:cNvSpPr>
            <a:spLocks xmlns:a="http://schemas.openxmlformats.org/drawingml/2006/main" noGrp="1"/>
          </p:cNvSpPr>
          <p:nvPr/>
        </p:nvSpPr>
        <p:spPr>
          <a:xfrm xmlns:a="http://schemas.openxmlformats.org/drawingml/2006/main">
            <a:off x="533400" y="3565208"/>
            <a:ext cx="2165350" cy="531495"/>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30" name="table-text-140-4-0">
            <a:extLst xmlns:a="http://schemas.openxmlformats.org/drawingml/2006/main">
              <a:ext uri="{FF2B5EF4-FFF2-40B4-BE49-F238E27FC236}">
                <a16:creationId xmlns:a16="http://schemas.microsoft.com/office/drawing/2014/main" id="{F904CFF2-7A62-47D7-95A6-3615EDDDA8C5}"/>
              </a:ext>
            </a:extLst>
          </p:cNvPr>
          <p:cNvSpPr>
            <a:spLocks xmlns:a="http://schemas.openxmlformats.org/drawingml/2006/main" noGrp="1"/>
          </p:cNvSpPr>
          <p:nvPr/>
        </p:nvSpPr>
        <p:spPr>
          <a:xfrm xmlns:a="http://schemas.openxmlformats.org/drawingml/2006/main">
            <a:off x="619125" y="3631883"/>
            <a:ext cx="1993900"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입력/UI</a:t>
            </a:r>
          </a:p>
        </p:txBody>
      </p:sp>
      <p:sp>
        <p:nvSpPr>
          <p:cNvPr id="31" name="table-cell-140-4-1">
            <a:extLst xmlns:a="http://schemas.openxmlformats.org/drawingml/2006/main">
              <a:ext uri="{FF2B5EF4-FFF2-40B4-BE49-F238E27FC236}">
                <a16:creationId xmlns:a16="http://schemas.microsoft.com/office/drawing/2014/main" id="{6070638C-92F0-48AE-8D43-D4C21FAACB01}"/>
              </a:ext>
            </a:extLst>
          </p:cNvPr>
          <p:cNvSpPr>
            <a:spLocks xmlns:a="http://schemas.openxmlformats.org/drawingml/2006/main" noGrp="1"/>
          </p:cNvSpPr>
          <p:nvPr/>
        </p:nvSpPr>
        <p:spPr>
          <a:xfrm xmlns:a="http://schemas.openxmlformats.org/drawingml/2006/main">
            <a:off x="2698750" y="3565208"/>
            <a:ext cx="2165350" cy="531495"/>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32" name="table-text-140-4-1">
            <a:extLst xmlns:a="http://schemas.openxmlformats.org/drawingml/2006/main">
              <a:ext uri="{FF2B5EF4-FFF2-40B4-BE49-F238E27FC236}">
                <a16:creationId xmlns:a16="http://schemas.microsoft.com/office/drawing/2014/main" id="{6D2BE476-4665-4172-B674-FA10E98C5782}"/>
              </a:ext>
            </a:extLst>
          </p:cNvPr>
          <p:cNvSpPr>
            <a:spLocks xmlns:a="http://schemas.openxmlformats.org/drawingml/2006/main" noGrp="1"/>
          </p:cNvSpPr>
          <p:nvPr/>
        </p:nvSpPr>
        <p:spPr>
          <a:xfrm xmlns:a="http://schemas.openxmlformats.org/drawingml/2006/main">
            <a:off x="2784475" y="3631883"/>
            <a:ext cx="1993900"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lib/ui/game_screen.dart, launch_input_session.dart</a:t>
            </a:r>
          </a:p>
        </p:txBody>
      </p:sp>
      <p:sp>
        <p:nvSpPr>
          <p:cNvPr id="33" name="table-cell-140-4-2">
            <a:extLst xmlns:a="http://schemas.openxmlformats.org/drawingml/2006/main">
              <a:ext uri="{FF2B5EF4-FFF2-40B4-BE49-F238E27FC236}">
                <a16:creationId xmlns:a16="http://schemas.microsoft.com/office/drawing/2014/main" id="{C539DF56-8D47-419A-BC43-AA2E76A8ABC0}"/>
              </a:ext>
            </a:extLst>
          </p:cNvPr>
          <p:cNvSpPr>
            <a:spLocks xmlns:a="http://schemas.openxmlformats.org/drawingml/2006/main" noGrp="1"/>
          </p:cNvSpPr>
          <p:nvPr/>
        </p:nvSpPr>
        <p:spPr>
          <a:xfrm xmlns:a="http://schemas.openxmlformats.org/drawingml/2006/main">
            <a:off x="4864100" y="3565208"/>
            <a:ext cx="2165350" cy="531495"/>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34" name="table-text-140-4-2">
            <a:extLst xmlns:a="http://schemas.openxmlformats.org/drawingml/2006/main">
              <a:ext uri="{FF2B5EF4-FFF2-40B4-BE49-F238E27FC236}">
                <a16:creationId xmlns:a16="http://schemas.microsoft.com/office/drawing/2014/main" id="{151E67DA-B862-411E-B035-1423E39EA42E}"/>
              </a:ext>
            </a:extLst>
          </p:cNvPr>
          <p:cNvSpPr>
            <a:spLocks xmlns:a="http://schemas.openxmlformats.org/drawingml/2006/main" noGrp="1"/>
          </p:cNvSpPr>
          <p:nvPr/>
        </p:nvSpPr>
        <p:spPr>
          <a:xfrm xmlns:a="http://schemas.openxmlformats.org/drawingml/2006/main">
            <a:off x="4949825" y="3631883"/>
            <a:ext cx="1993900"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직선 게이지, 상태/접근성, 예상 위치 표시</a:t>
            </a:r>
          </a:p>
        </p:txBody>
      </p:sp>
      <p:sp>
        <p:nvSpPr>
          <p:cNvPr id="35" name="table-cell-140-5-0">
            <a:extLst xmlns:a="http://schemas.openxmlformats.org/drawingml/2006/main">
              <a:ext uri="{FF2B5EF4-FFF2-40B4-BE49-F238E27FC236}">
                <a16:creationId xmlns:a16="http://schemas.microsoft.com/office/drawing/2014/main" id="{1AB2D071-3055-4E68-B580-E9D3E3899C4C}"/>
              </a:ext>
            </a:extLst>
          </p:cNvPr>
          <p:cNvSpPr>
            <a:spLocks xmlns:a="http://schemas.openxmlformats.org/drawingml/2006/main" noGrp="1"/>
          </p:cNvSpPr>
          <p:nvPr/>
        </p:nvSpPr>
        <p:spPr>
          <a:xfrm xmlns:a="http://schemas.openxmlformats.org/drawingml/2006/main">
            <a:off x="533400" y="4096703"/>
            <a:ext cx="2165350" cy="531495"/>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36" name="table-text-140-5-0">
            <a:extLst xmlns:a="http://schemas.openxmlformats.org/drawingml/2006/main">
              <a:ext uri="{FF2B5EF4-FFF2-40B4-BE49-F238E27FC236}">
                <a16:creationId xmlns:a16="http://schemas.microsoft.com/office/drawing/2014/main" id="{95E7ED51-3AA6-4919-B3E1-0C5EFD364406}"/>
              </a:ext>
            </a:extLst>
          </p:cNvPr>
          <p:cNvSpPr>
            <a:spLocks xmlns:a="http://schemas.openxmlformats.org/drawingml/2006/main" noGrp="1"/>
          </p:cNvSpPr>
          <p:nvPr/>
        </p:nvSpPr>
        <p:spPr>
          <a:xfrm xmlns:a="http://schemas.openxmlformats.org/drawingml/2006/main">
            <a:off x="619125" y="4163378"/>
            <a:ext cx="1993900"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기록 공정성</a:t>
            </a:r>
          </a:p>
        </p:txBody>
      </p:sp>
      <p:sp>
        <p:nvSpPr>
          <p:cNvPr id="37" name="table-cell-140-5-1">
            <a:extLst xmlns:a="http://schemas.openxmlformats.org/drawingml/2006/main">
              <a:ext uri="{FF2B5EF4-FFF2-40B4-BE49-F238E27FC236}">
                <a16:creationId xmlns:a16="http://schemas.microsoft.com/office/drawing/2014/main" id="{DA8EFD95-F782-4C6B-8302-ED42058A7430}"/>
              </a:ext>
            </a:extLst>
          </p:cNvPr>
          <p:cNvSpPr>
            <a:spLocks xmlns:a="http://schemas.openxmlformats.org/drawingml/2006/main" noGrp="1"/>
          </p:cNvSpPr>
          <p:nvPr/>
        </p:nvSpPr>
        <p:spPr>
          <a:xfrm xmlns:a="http://schemas.openxmlformats.org/drawingml/2006/main">
            <a:off x="2698750" y="4096703"/>
            <a:ext cx="2165350" cy="531495"/>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38" name="table-text-140-5-1">
            <a:extLst xmlns:a="http://schemas.openxmlformats.org/drawingml/2006/main">
              <a:ext uri="{FF2B5EF4-FFF2-40B4-BE49-F238E27FC236}">
                <a16:creationId xmlns:a16="http://schemas.microsoft.com/office/drawing/2014/main" id="{D2B63981-F101-4795-9D41-418E9B3BC540}"/>
              </a:ext>
            </a:extLst>
          </p:cNvPr>
          <p:cNvSpPr>
            <a:spLocks xmlns:a="http://schemas.openxmlformats.org/drawingml/2006/main" noGrp="1"/>
          </p:cNvSpPr>
          <p:nvPr/>
        </p:nvSpPr>
        <p:spPr>
          <a:xfrm xmlns:a="http://schemas.openxmlformats.org/drawingml/2006/main">
            <a:off x="2784475" y="4163378"/>
            <a:ext cx="1993900"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run_difficulty_attribution_store.dart</a:t>
            </a:r>
          </a:p>
        </p:txBody>
      </p:sp>
      <p:sp>
        <p:nvSpPr>
          <p:cNvPr id="39" name="table-cell-140-5-2">
            <a:extLst xmlns:a="http://schemas.openxmlformats.org/drawingml/2006/main">
              <a:ext uri="{FF2B5EF4-FFF2-40B4-BE49-F238E27FC236}">
                <a16:creationId xmlns:a16="http://schemas.microsoft.com/office/drawing/2014/main" id="{C55D13F8-ECE6-42BD-B814-24D60845FA26}"/>
              </a:ext>
            </a:extLst>
          </p:cNvPr>
          <p:cNvSpPr>
            <a:spLocks xmlns:a="http://schemas.openxmlformats.org/drawingml/2006/main" noGrp="1"/>
          </p:cNvSpPr>
          <p:nvPr/>
        </p:nvSpPr>
        <p:spPr>
          <a:xfrm xmlns:a="http://schemas.openxmlformats.org/drawingml/2006/main">
            <a:off x="4864100" y="4096703"/>
            <a:ext cx="2165350" cy="531495"/>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40" name="table-text-140-5-2">
            <a:extLst xmlns:a="http://schemas.openxmlformats.org/drawingml/2006/main">
              <a:ext uri="{FF2B5EF4-FFF2-40B4-BE49-F238E27FC236}">
                <a16:creationId xmlns:a16="http://schemas.microsoft.com/office/drawing/2014/main" id="{82909429-DBF0-4387-9314-B0AAED491EAB}"/>
              </a:ext>
            </a:extLst>
          </p:cNvPr>
          <p:cNvSpPr>
            <a:spLocks xmlns:a="http://schemas.openxmlformats.org/drawingml/2006/main" noGrp="1"/>
          </p:cNvSpPr>
          <p:nvPr/>
        </p:nvSpPr>
        <p:spPr>
          <a:xfrm xmlns:a="http://schemas.openxmlformats.org/drawingml/2006/main">
            <a:off x="4949825" y="4163378"/>
            <a:ext cx="1993900"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완료 당시 난이도를 sidecar로 귀속해 Normal 기록 보호</a:t>
            </a:r>
          </a:p>
        </p:txBody>
      </p:sp>
      <p:sp>
        <p:nvSpPr>
          <p:cNvPr id="41" name="table-cell-140-6-0">
            <a:extLst xmlns:a="http://schemas.openxmlformats.org/drawingml/2006/main">
              <a:ext uri="{FF2B5EF4-FFF2-40B4-BE49-F238E27FC236}">
                <a16:creationId xmlns:a16="http://schemas.microsoft.com/office/drawing/2014/main" id="{04228BD3-3CE5-4150-B51E-90827E12FFDF}"/>
              </a:ext>
            </a:extLst>
          </p:cNvPr>
          <p:cNvSpPr>
            <a:spLocks xmlns:a="http://schemas.openxmlformats.org/drawingml/2006/main" noGrp="1"/>
          </p:cNvSpPr>
          <p:nvPr/>
        </p:nvSpPr>
        <p:spPr>
          <a:xfrm xmlns:a="http://schemas.openxmlformats.org/drawingml/2006/main">
            <a:off x="533400" y="4628198"/>
            <a:ext cx="2165350" cy="531495"/>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42" name="table-text-140-6-0">
            <a:extLst xmlns:a="http://schemas.openxmlformats.org/drawingml/2006/main">
              <a:ext uri="{FF2B5EF4-FFF2-40B4-BE49-F238E27FC236}">
                <a16:creationId xmlns:a16="http://schemas.microsoft.com/office/drawing/2014/main" id="{2FF64F56-6E83-4B77-A1D5-5ADBABD26342}"/>
              </a:ext>
            </a:extLst>
          </p:cNvPr>
          <p:cNvSpPr>
            <a:spLocks xmlns:a="http://schemas.openxmlformats.org/drawingml/2006/main" noGrp="1"/>
          </p:cNvSpPr>
          <p:nvPr/>
        </p:nvSpPr>
        <p:spPr>
          <a:xfrm xmlns:a="http://schemas.openxmlformats.org/drawingml/2006/main">
            <a:off x="619125" y="4694873"/>
            <a:ext cx="1993900"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설정</a:t>
            </a:r>
          </a:p>
        </p:txBody>
      </p:sp>
      <p:sp>
        <p:nvSpPr>
          <p:cNvPr id="43" name="table-cell-140-6-1">
            <a:extLst xmlns:a="http://schemas.openxmlformats.org/drawingml/2006/main">
              <a:ext uri="{FF2B5EF4-FFF2-40B4-BE49-F238E27FC236}">
                <a16:creationId xmlns:a16="http://schemas.microsoft.com/office/drawing/2014/main" id="{16781A6B-4489-404C-A4CF-FBC0C3DD958F}"/>
              </a:ext>
            </a:extLst>
          </p:cNvPr>
          <p:cNvSpPr>
            <a:spLocks xmlns:a="http://schemas.openxmlformats.org/drawingml/2006/main" noGrp="1"/>
          </p:cNvSpPr>
          <p:nvPr/>
        </p:nvSpPr>
        <p:spPr>
          <a:xfrm xmlns:a="http://schemas.openxmlformats.org/drawingml/2006/main">
            <a:off x="2698750" y="4628198"/>
            <a:ext cx="2165350" cy="531495"/>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44" name="table-text-140-6-1">
            <a:extLst xmlns:a="http://schemas.openxmlformats.org/drawingml/2006/main">
              <a:ext uri="{FF2B5EF4-FFF2-40B4-BE49-F238E27FC236}">
                <a16:creationId xmlns:a16="http://schemas.microsoft.com/office/drawing/2014/main" id="{3D4C7907-F988-478D-927D-B19657C8A72E}"/>
              </a:ext>
            </a:extLst>
          </p:cNvPr>
          <p:cNvSpPr>
            <a:spLocks xmlns:a="http://schemas.openxmlformats.org/drawingml/2006/main" noGrp="1"/>
          </p:cNvSpPr>
          <p:nvPr/>
        </p:nvSpPr>
        <p:spPr>
          <a:xfrm xmlns:a="http://schemas.openxmlformats.org/drawingml/2006/main">
            <a:off x="2784475" y="4694873"/>
            <a:ext cx="1993900"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lib/ui/game_feedback.dart, lib/main.dart</a:t>
            </a:r>
          </a:p>
        </p:txBody>
      </p:sp>
      <p:sp>
        <p:nvSpPr>
          <p:cNvPr id="45" name="table-cell-140-6-2">
            <a:extLst xmlns:a="http://schemas.openxmlformats.org/drawingml/2006/main">
              <a:ext uri="{FF2B5EF4-FFF2-40B4-BE49-F238E27FC236}">
                <a16:creationId xmlns:a16="http://schemas.microsoft.com/office/drawing/2014/main" id="{2853DD45-0BE9-4657-9E8F-743D4A8CBE1C}"/>
              </a:ext>
            </a:extLst>
          </p:cNvPr>
          <p:cNvSpPr>
            <a:spLocks xmlns:a="http://schemas.openxmlformats.org/drawingml/2006/main" noGrp="1"/>
          </p:cNvSpPr>
          <p:nvPr/>
        </p:nvSpPr>
        <p:spPr>
          <a:xfrm xmlns:a="http://schemas.openxmlformats.org/drawingml/2006/main">
            <a:off x="4864100" y="4628198"/>
            <a:ext cx="2165350" cy="531495"/>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46" name="table-text-140-6-2">
            <a:extLst xmlns:a="http://schemas.openxmlformats.org/drawingml/2006/main">
              <a:ext uri="{FF2B5EF4-FFF2-40B4-BE49-F238E27FC236}">
                <a16:creationId xmlns:a16="http://schemas.microsoft.com/office/drawing/2014/main" id="{FB6CBC5C-DA7B-4CBE-A8ED-CCF85009E1EF}"/>
              </a:ext>
            </a:extLst>
          </p:cNvPr>
          <p:cNvSpPr>
            <a:spLocks xmlns:a="http://schemas.openxmlformats.org/drawingml/2006/main" noGrp="1"/>
          </p:cNvSpPr>
          <p:nvPr/>
        </p:nvSpPr>
        <p:spPr>
          <a:xfrm xmlns:a="http://schemas.openxmlformats.org/drawingml/2006/main">
            <a:off x="4949825" y="4694873"/>
            <a:ext cx="1993900"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schema 4에서 게이지 위치·난이도를 한 번에 마이그레이션</a:t>
            </a:r>
          </a:p>
        </p:txBody>
      </p:sp>
      <p:sp>
        <p:nvSpPr>
          <p:cNvPr id="47" name="table-cell-140-7-0">
            <a:extLst xmlns:a="http://schemas.openxmlformats.org/drawingml/2006/main">
              <a:ext uri="{FF2B5EF4-FFF2-40B4-BE49-F238E27FC236}">
                <a16:creationId xmlns:a16="http://schemas.microsoft.com/office/drawing/2014/main" id="{74B085E2-FBA0-421A-B28B-E8BC2F23F10F}"/>
              </a:ext>
            </a:extLst>
          </p:cNvPr>
          <p:cNvSpPr>
            <a:spLocks xmlns:a="http://schemas.openxmlformats.org/drawingml/2006/main" noGrp="1"/>
          </p:cNvSpPr>
          <p:nvPr/>
        </p:nvSpPr>
        <p:spPr>
          <a:xfrm xmlns:a="http://schemas.openxmlformats.org/drawingml/2006/main">
            <a:off x="533400" y="5159693"/>
            <a:ext cx="216535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48" name="table-text-140-7-0">
            <a:extLst xmlns:a="http://schemas.openxmlformats.org/drawingml/2006/main">
              <a:ext uri="{FF2B5EF4-FFF2-40B4-BE49-F238E27FC236}">
                <a16:creationId xmlns:a16="http://schemas.microsoft.com/office/drawing/2014/main" id="{9C07789E-F6A9-4C17-97CD-671CD72C41BF}"/>
              </a:ext>
            </a:extLst>
          </p:cNvPr>
          <p:cNvSpPr>
            <a:spLocks xmlns:a="http://schemas.openxmlformats.org/drawingml/2006/main" noGrp="1"/>
          </p:cNvSpPr>
          <p:nvPr/>
        </p:nvSpPr>
        <p:spPr>
          <a:xfrm xmlns:a="http://schemas.openxmlformats.org/drawingml/2006/main">
            <a:off x="619125" y="5226368"/>
            <a:ext cx="199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검증</a:t>
            </a:r>
          </a:p>
        </p:txBody>
      </p:sp>
      <p:sp>
        <p:nvSpPr>
          <p:cNvPr id="49" name="table-cell-140-7-1">
            <a:extLst xmlns:a="http://schemas.openxmlformats.org/drawingml/2006/main">
              <a:ext uri="{FF2B5EF4-FFF2-40B4-BE49-F238E27FC236}">
                <a16:creationId xmlns:a16="http://schemas.microsoft.com/office/drawing/2014/main" id="{45AD2E71-9666-4036-827D-00261EFBAE6B}"/>
              </a:ext>
            </a:extLst>
          </p:cNvPr>
          <p:cNvSpPr>
            <a:spLocks xmlns:a="http://schemas.openxmlformats.org/drawingml/2006/main" noGrp="1"/>
          </p:cNvSpPr>
          <p:nvPr/>
        </p:nvSpPr>
        <p:spPr>
          <a:xfrm xmlns:a="http://schemas.openxmlformats.org/drawingml/2006/main">
            <a:off x="2698750" y="5159693"/>
            <a:ext cx="216535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50" name="table-text-140-7-1">
            <a:extLst xmlns:a="http://schemas.openxmlformats.org/drawingml/2006/main">
              <a:ext uri="{FF2B5EF4-FFF2-40B4-BE49-F238E27FC236}">
                <a16:creationId xmlns:a16="http://schemas.microsoft.com/office/drawing/2014/main" id="{58A6A92A-5AD6-4550-91ED-9F963D0B7335}"/>
              </a:ext>
            </a:extLst>
          </p:cNvPr>
          <p:cNvSpPr>
            <a:spLocks xmlns:a="http://schemas.openxmlformats.org/drawingml/2006/main" noGrp="1"/>
          </p:cNvSpPr>
          <p:nvPr/>
        </p:nvSpPr>
        <p:spPr>
          <a:xfrm xmlns:a="http://schemas.openxmlformats.org/drawingml/2006/main">
            <a:off x="2784475" y="5226368"/>
            <a:ext cx="199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test/, test/goldens/</a:t>
            </a:r>
          </a:p>
        </p:txBody>
      </p:sp>
      <p:sp>
        <p:nvSpPr>
          <p:cNvPr id="51" name="table-cell-140-7-2">
            <a:extLst xmlns:a="http://schemas.openxmlformats.org/drawingml/2006/main">
              <a:ext uri="{FF2B5EF4-FFF2-40B4-BE49-F238E27FC236}">
                <a16:creationId xmlns:a16="http://schemas.microsoft.com/office/drawing/2014/main" id="{66DD2BDD-0E59-4970-829A-6E6A02E5BAB8}"/>
              </a:ext>
            </a:extLst>
          </p:cNvPr>
          <p:cNvSpPr>
            <a:spLocks xmlns:a="http://schemas.openxmlformats.org/drawingml/2006/main" noGrp="1"/>
          </p:cNvSpPr>
          <p:nvPr/>
        </p:nvSpPr>
        <p:spPr>
          <a:xfrm xmlns:a="http://schemas.openxmlformats.org/drawingml/2006/main">
            <a:off x="4864100" y="5159693"/>
            <a:ext cx="216535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52" name="table-text-140-7-2">
            <a:extLst xmlns:a="http://schemas.openxmlformats.org/drawingml/2006/main">
              <a:ext uri="{FF2B5EF4-FFF2-40B4-BE49-F238E27FC236}">
                <a16:creationId xmlns:a16="http://schemas.microsoft.com/office/drawing/2014/main" id="{B6DEE657-434B-43C7-869F-A2A8B6C9855E}"/>
              </a:ext>
            </a:extLst>
          </p:cNvPr>
          <p:cNvSpPr>
            <a:spLocks xmlns:a="http://schemas.openxmlformats.org/drawingml/2006/main" noGrp="1"/>
          </p:cNvSpPr>
          <p:nvPr/>
        </p:nvSpPr>
        <p:spPr>
          <a:xfrm xmlns:a="http://schemas.openxmlformats.org/drawingml/2006/main">
            <a:off x="4949825" y="5226368"/>
            <a:ext cx="199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489"/>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결정론·복구·접근성·viewport·픽셀 회귀 자동화</a:t>
            </a:r>
          </a:p>
        </p:txBody>
      </p:sp>
      <p:sp>
        <p:nvSpPr>
          <p:cNvPr id="53" name="subheading-599.7">
            <a:extLst xmlns:a="http://schemas.openxmlformats.org/drawingml/2006/main">
              <a:ext uri="{FF2B5EF4-FFF2-40B4-BE49-F238E27FC236}">
                <a16:creationId xmlns:a16="http://schemas.microsoft.com/office/drawing/2014/main" id="{C1B186F3-8EAD-4DFD-8363-4B8132993F40}"/>
              </a:ext>
            </a:extLst>
          </p:cNvPr>
          <p:cNvSpPr>
            <a:spLocks xmlns:a="http://schemas.openxmlformats.org/drawingml/2006/main" noGrp="1"/>
          </p:cNvSpPr>
          <p:nvPr/>
        </p:nvSpPr>
        <p:spPr>
          <a:xfrm xmlns:a="http://schemas.openxmlformats.org/drawingml/2006/main">
            <a:off x="533400" y="5712143"/>
            <a:ext cx="649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800" b="1">
                <a:solidFill>
                  <a:srgbClr val="2C7A7B"/>
                </a:solidFill>
                <a:latin typeface="NanumGothic"/>
                <a:ea typeface="NanumGothic"/>
                <a:cs typeface="NanumGothic"/>
              </a:defRPr>
            </a:pPr>
            <a:r>
              <a:rPr sz="1800" b="1">
                <a:solidFill>
                  <a:srgbClr val="2C7A7B"/>
                </a:solidFill>
                <a:latin typeface="NanumGothic"/>
                <a:ea typeface="NanumGothic"/>
                <a:cs typeface="NanumGothic"/>
              </a:rPr>
              <a:t>2.1 증거 기반 반복 흐름</a:t>
            </a:r>
          </a:p>
        </p:txBody>
      </p:sp>
      <p:sp>
        <p:nvSpPr>
          <p:cNvPr id="54" name="bullets-653.7">
            <a:extLst xmlns:a="http://schemas.openxmlformats.org/drawingml/2006/main">
              <a:ext uri="{FF2B5EF4-FFF2-40B4-BE49-F238E27FC236}">
                <a16:creationId xmlns:a16="http://schemas.microsoft.com/office/drawing/2014/main" id="{E2A5B197-CB38-4D28-AE03-D87E0547F9B6}"/>
              </a:ext>
            </a:extLst>
          </p:cNvPr>
          <p:cNvSpPr>
            <a:spLocks xmlns:a="http://schemas.openxmlformats.org/drawingml/2006/main" noGrp="1"/>
          </p:cNvSpPr>
          <p:nvPr/>
        </p:nvSpPr>
        <p:spPr>
          <a:xfrm xmlns:a="http://schemas.openxmlformats.org/drawingml/2006/main">
            <a:off x="533400" y="6226493"/>
            <a:ext cx="6496050" cy="18059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사용자 요구를 기능 계약과 모호점으로 분해한다.</a:t>
            </a:r>
          </a:p>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실행 에이전트가 관련 코드·테스트·권리 문서를 읽고 설계안을 낸다.</a:t>
            </a:r>
          </a:p>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공유 설정/저장/렌더 파일의 편집 순서를 직렬화한다.</a:t>
            </a:r>
          </a:p>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기능 구현 뒤 집중 테스트와 Golden을 실행한다.</a:t>
            </a:r>
          </a:p>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Sol 검사 에이전트가 파일을 수정하지 않고 P0/P1/P2를 판정한다.</a:t>
            </a:r>
          </a:p>
        </p:txBody>
      </p:sp>
      <p:sp>
        <p:nvSpPr>
          <p:cNvPr id="55" name="bullets-853.3000000000001">
            <a:extLst xmlns:a="http://schemas.openxmlformats.org/drawingml/2006/main">
              <a:ext uri="{FF2B5EF4-FFF2-40B4-BE49-F238E27FC236}">
                <a16:creationId xmlns:a16="http://schemas.microsoft.com/office/drawing/2014/main" id="{1395C8AB-2310-453B-B4FF-89303F80FC9F}"/>
              </a:ext>
            </a:extLst>
          </p:cNvPr>
          <p:cNvSpPr>
            <a:spLocks xmlns:a="http://schemas.openxmlformats.org/drawingml/2006/main" noGrp="1"/>
          </p:cNvSpPr>
          <p:nvPr/>
        </p:nvSpPr>
        <p:spPr>
          <a:xfrm xmlns:a="http://schemas.openxmlformats.org/drawingml/2006/main">
            <a:off x="533400" y="8127683"/>
            <a:ext cx="6496050" cy="7680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P1이 있으면 같은 담당자에게 되돌려 수정·재감사한다.</a:t>
            </a:r>
          </a:p>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전체 테스트, 정적 분석, Web/APK 빌드와 공개 배포를 최종 게이트로 사용한다.</a:t>
            </a:r>
          </a:p>
        </p:txBody>
      </p:sp>
    </p:spTree>
    <p:extLst>
      <p:ext uri="{BB962C8B-B14F-4D97-AF65-F5344CB8AC3E}">
        <p14:creationId xmlns:p14="http://schemas.microsoft.com/office/powerpoint/2010/main" val="20057866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unning-label">
            <a:extLst xmlns:a="http://schemas.openxmlformats.org/drawingml/2006/main">
              <a:ext uri="{FF2B5EF4-FFF2-40B4-BE49-F238E27FC236}">
                <a16:creationId xmlns:a16="http://schemas.microsoft.com/office/drawing/2014/main" id="{C2A0E375-E5CD-41FD-864F-367804B6AC9A}"/>
              </a:ext>
            </a:extLst>
          </p:cNvPr>
          <p:cNvSpPr>
            <a:spLocks xmlns:a="http://schemas.openxmlformats.org/drawingml/2006/main" noGrp="1"/>
          </p:cNvSpPr>
          <p:nvPr/>
        </p:nvSpPr>
        <p:spPr>
          <a:xfrm xmlns:a="http://schemas.openxmlformats.org/drawingml/2006/main">
            <a:off x="533400" y="304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900" b="1">
                <a:solidFill>
                  <a:srgbClr val="2C7A7B"/>
                </a:solidFill>
                <a:latin typeface="NanumGothic"/>
                <a:ea typeface="NanumGothic"/>
                <a:cs typeface="NanumGothic"/>
              </a:defRPr>
            </a:pPr>
            <a:r>
              <a:rPr sz="900" b="1">
                <a:solidFill>
                  <a:srgbClr val="2C7A7B"/>
                </a:solidFill>
                <a:latin typeface="NanumGothic"/>
                <a:ea typeface="NanumGothic"/>
                <a:cs typeface="NanumGothic"/>
              </a:rPr>
              <a:t>Property Shot · AI Technical Report</a:t>
            </a:r>
          </a:p>
        </p:txBody>
      </p:sp>
      <p:sp>
        <p:nvSpPr>
          <p:cNvPr id="2" name="page-number">
            <a:extLst xmlns:a="http://schemas.openxmlformats.org/drawingml/2006/main">
              <a:ext uri="{FF2B5EF4-FFF2-40B4-BE49-F238E27FC236}">
                <a16:creationId xmlns:a16="http://schemas.microsoft.com/office/drawing/2014/main" id="{586087C9-71BA-4E95-B863-233680082769}"/>
              </a:ext>
            </a:extLst>
          </p:cNvPr>
          <p:cNvSpPr>
            <a:spLocks xmlns:a="http://schemas.openxmlformats.org/drawingml/2006/main" noGrp="1"/>
          </p:cNvSpPr>
          <p:nvPr/>
        </p:nvSpPr>
        <p:spPr>
          <a:xfrm xmlns:a="http://schemas.openxmlformats.org/drawingml/2006/main">
            <a:off x="6648450" y="3048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20000"/>
              </a:lnSpc>
              <a:buNone/>
              <a:defRPr sz="900" b="0">
                <a:solidFill>
                  <a:srgbClr val="607477"/>
                </a:solidFill>
                <a:latin typeface="NanumGothic"/>
                <a:ea typeface="NanumGothic"/>
                <a:cs typeface="NanumGothic"/>
              </a:defRPr>
            </a:pPr>
            <a:r>
              <a:rPr sz="900" b="0">
                <a:solidFill>
                  <a:srgbClr val="607477"/>
                </a:solidFill>
                <a:latin typeface="NanumGothic"/>
                <a:ea typeface="NanumGothic"/>
                <a:cs typeface="NanumGothic"/>
              </a:rPr>
              <a:t>5</a:t>
            </a:r>
          </a:p>
        </p:txBody>
      </p:sp>
      <p:sp>
        <p:nvSpPr>
          <p:cNvPr id="3" name="header-rule">
            <a:extLst xmlns:a="http://schemas.openxmlformats.org/drawingml/2006/main">
              <a:ext uri="{FF2B5EF4-FFF2-40B4-BE49-F238E27FC236}">
                <a16:creationId xmlns:a16="http://schemas.microsoft.com/office/drawing/2014/main" id="{9D5D5477-F3D9-4D56-93AE-F31E014CB1DE}"/>
              </a:ext>
            </a:extLst>
          </p:cNvPr>
          <p:cNvSpPr>
            <a:spLocks xmlns:a="http://schemas.openxmlformats.org/drawingml/2006/main" noGrp="1"/>
          </p:cNvSpPr>
          <p:nvPr/>
        </p:nvSpPr>
        <p:spPr>
          <a:xfrm xmlns:a="http://schemas.openxmlformats.org/drawingml/2006/main">
            <a:off x="533400" y="628650"/>
            <a:ext cx="6496050" cy="28575"/>
          </a:xfrm>
          <a:prstGeom xmlns:a="http://schemas.openxmlformats.org/drawingml/2006/main" prst="rect">
            <a:avLst/>
          </a:prstGeom>
          <a:solidFill xmlns:a="http://schemas.openxmlformats.org/drawingml/2006/main">
            <a:srgbClr val="D7A23D"/>
          </a:solidFill>
          <a:ln xmlns:a="http://schemas.openxmlformats.org/drawingml/2006/main" w="0">
            <a:noFill/>
            <a:prstDash val="solid"/>
          </a:ln>
        </p:spPr>
      </p:sp>
      <p:sp>
        <p:nvSpPr>
          <p:cNvPr id="4" name="slide-title">
            <a:extLst xmlns:a="http://schemas.openxmlformats.org/drawingml/2006/main">
              <a:ext uri="{FF2B5EF4-FFF2-40B4-BE49-F238E27FC236}">
                <a16:creationId xmlns:a16="http://schemas.microsoft.com/office/drawing/2014/main" id="{FC2B13F6-9009-42AF-A9CE-2E1E75B771CE}"/>
              </a:ext>
            </a:extLst>
          </p:cNvPr>
          <p:cNvSpPr>
            <a:spLocks xmlns:a="http://schemas.openxmlformats.org/drawingml/2006/main" noGrp="1"/>
          </p:cNvSpPr>
          <p:nvPr/>
        </p:nvSpPr>
        <p:spPr>
          <a:xfrm xmlns:a="http://schemas.openxmlformats.org/drawingml/2006/main">
            <a:off x="533400" y="800100"/>
            <a:ext cx="649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l">
              <a:lnSpc>
                <a:spcPct val="120000"/>
              </a:lnSpc>
              <a:buNone/>
              <a:defRPr sz="2625" b="1">
                <a:solidFill>
                  <a:srgbClr val="173A3F"/>
                </a:solidFill>
                <a:latin typeface="NanumGothic"/>
                <a:ea typeface="NanumGothic"/>
                <a:cs typeface="NanumGothic"/>
              </a:defRPr>
            </a:pPr>
            <a:r>
              <a:rPr sz="2625" b="1">
                <a:solidFill>
                  <a:srgbClr val="173A3F"/>
                </a:solidFill>
                <a:latin typeface="NanumGothic"/>
                <a:ea typeface="NanumGothic"/>
                <a:cs typeface="NanumGothic"/>
              </a:rPr>
              <a:t>3. 주요 프롬프트와 지시 사항</a:t>
            </a:r>
          </a:p>
        </p:txBody>
      </p:sp>
      <p:sp>
        <p:nvSpPr>
          <p:cNvPr id="5" name="subheading-140">
            <a:extLst xmlns:a="http://schemas.openxmlformats.org/drawingml/2006/main">
              <a:ext uri="{FF2B5EF4-FFF2-40B4-BE49-F238E27FC236}">
                <a16:creationId xmlns:a16="http://schemas.microsoft.com/office/drawing/2014/main" id="{DEF14980-51BD-4AE2-9259-D03A07429689}"/>
              </a:ext>
            </a:extLst>
          </p:cNvPr>
          <p:cNvSpPr>
            <a:spLocks xmlns:a="http://schemas.openxmlformats.org/drawingml/2006/main" noGrp="1"/>
          </p:cNvSpPr>
          <p:nvPr/>
        </p:nvSpPr>
        <p:spPr>
          <a:xfrm xmlns:a="http://schemas.openxmlformats.org/drawingml/2006/main">
            <a:off x="533400" y="1333500"/>
            <a:ext cx="649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800" b="1">
                <a:solidFill>
                  <a:srgbClr val="2C7A7B"/>
                </a:solidFill>
                <a:latin typeface="NanumGothic"/>
                <a:ea typeface="NanumGothic"/>
                <a:cs typeface="NanumGothic"/>
              </a:defRPr>
            </a:pPr>
            <a:r>
              <a:rPr sz="1800" b="1">
                <a:solidFill>
                  <a:srgbClr val="2C7A7B"/>
                </a:solidFill>
                <a:latin typeface="NanumGothic"/>
                <a:ea typeface="NanumGothic"/>
                <a:cs typeface="NanumGothic"/>
              </a:rPr>
              <a:t>3.1 원 프로젝트 고도화 지시</a:t>
            </a:r>
          </a:p>
        </p:txBody>
      </p:sp>
      <p:sp>
        <p:nvSpPr>
          <p:cNvPr id="6" name="paragraph-194">
            <a:extLst xmlns:a="http://schemas.openxmlformats.org/drawingml/2006/main">
              <a:ext uri="{FF2B5EF4-FFF2-40B4-BE49-F238E27FC236}">
                <a16:creationId xmlns:a16="http://schemas.microsoft.com/office/drawing/2014/main" id="{DBBB4A54-5977-4CB3-8430-B1DEB17214B4}"/>
              </a:ext>
            </a:extLst>
          </p:cNvPr>
          <p:cNvSpPr>
            <a:spLocks xmlns:a="http://schemas.openxmlformats.org/drawingml/2006/main" noGrp="1"/>
          </p:cNvSpPr>
          <p:nvPr/>
        </p:nvSpPr>
        <p:spPr>
          <a:xfrm xmlns:a="http://schemas.openxmlformats.org/drawingml/2006/main">
            <a:off x="533400" y="1847850"/>
            <a:ext cx="6496050" cy="577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200" b="0">
                <a:solidFill>
                  <a:srgbClr val="173A3F"/>
                </a:solidFill>
                <a:latin typeface="NanumGothic"/>
                <a:ea typeface="NanumGothic"/>
                <a:cs typeface="NanumGothic"/>
              </a:defRPr>
            </a:pPr>
            <a:r>
              <a:rPr sz="1200" b="0">
                <a:solidFill>
                  <a:srgbClr val="173A3F"/>
                </a:solidFill>
                <a:latin typeface="NanumGothic"/>
                <a:ea typeface="NanumGothic"/>
                <a:cs typeface="NanumGothic"/>
              </a:rPr>
              <a:t>목적: 기존 물리·저장·리플레이를 보존하면서 여러 전문 역할이 독립 분석 후 교차 검증하도록 한다.</a:t>
            </a:r>
          </a:p>
        </p:txBody>
      </p:sp>
      <p:sp>
        <p:nvSpPr>
          <p:cNvPr id="7" name="paragraph-266.64">
            <a:extLst xmlns:a="http://schemas.openxmlformats.org/drawingml/2006/main">
              <a:ext uri="{FF2B5EF4-FFF2-40B4-BE49-F238E27FC236}">
                <a16:creationId xmlns:a16="http://schemas.microsoft.com/office/drawing/2014/main" id="{989894A4-667A-4870-80A5-673063609836}"/>
              </a:ext>
            </a:extLst>
          </p:cNvPr>
          <p:cNvSpPr>
            <a:spLocks xmlns:a="http://schemas.openxmlformats.org/drawingml/2006/main" noGrp="1"/>
          </p:cNvSpPr>
          <p:nvPr/>
        </p:nvSpPr>
        <p:spPr>
          <a:xfrm xmlns:a="http://schemas.openxmlformats.org/drawingml/2006/main">
            <a:off x="533400" y="2539746"/>
            <a:ext cx="6496050" cy="3459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200" b="0">
                <a:solidFill>
                  <a:srgbClr val="173A3F"/>
                </a:solidFill>
                <a:latin typeface="NanumGothic"/>
                <a:ea typeface="NanumGothic"/>
                <a:cs typeface="NanumGothic"/>
              </a:defRPr>
            </a:pPr>
            <a:r>
              <a:rPr sz="1200" b="0">
                <a:solidFill>
                  <a:srgbClr val="173A3F"/>
                </a:solidFill>
                <a:latin typeface="NanumGothic"/>
                <a:ea typeface="NanumGothic"/>
                <a:cs typeface="NanumGothic"/>
              </a:rPr>
              <a:t>대표 지시 요약:</a:t>
            </a:r>
          </a:p>
        </p:txBody>
      </p:sp>
      <p:sp>
        <p:nvSpPr>
          <p:cNvPr id="8" name="paragraph-314.96">
            <a:extLst xmlns:a="http://schemas.openxmlformats.org/drawingml/2006/main">
              <a:ext uri="{FF2B5EF4-FFF2-40B4-BE49-F238E27FC236}">
                <a16:creationId xmlns:a16="http://schemas.microsoft.com/office/drawing/2014/main" id="{A7DD76F8-527C-4C6C-BE46-B4AC32AC4006}"/>
              </a:ext>
            </a:extLst>
          </p:cNvPr>
          <p:cNvSpPr>
            <a:spLocks xmlns:a="http://schemas.openxmlformats.org/drawingml/2006/main" noGrp="1"/>
          </p:cNvSpPr>
          <p:nvPr/>
        </p:nvSpPr>
        <p:spPr>
          <a:xfrm xmlns:a="http://schemas.openxmlformats.org/drawingml/2006/main">
            <a:off x="533400" y="2999994"/>
            <a:ext cx="6496050" cy="8092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200" b="0">
                <a:solidFill>
                  <a:srgbClr val="173A3F"/>
                </a:solidFill>
                <a:latin typeface="NanumGothic"/>
                <a:ea typeface="NanumGothic"/>
                <a:cs typeface="NanumGothic"/>
              </a:defRPr>
            </a:pPr>
            <a:r>
              <a:rPr sz="1200" b="0">
                <a:solidFill>
                  <a:srgbClr val="173A3F"/>
                </a:solidFill>
                <a:latin typeface="NanumGothic"/>
                <a:ea typeface="NanumGothic"/>
                <a:cs typeface="NanumGothic"/>
              </a:rPr>
              <a:t>기존 코드를 보존하고 역할별 에이전트가 고속 충돌, 결정론, 연쇄 애니메이션, 튜토리얼, QA 위험을 분석한다. 제안은 문제-증거-구현-테스트 경로로만 반영하고, 최종 근거는 실행 로그와 저장소 증거로 남긴다.</a:t>
            </a:r>
          </a:p>
        </p:txBody>
      </p:sp>
      <p:sp>
        <p:nvSpPr>
          <p:cNvPr id="9" name="paragraph-411.91999999999996">
            <a:extLst xmlns:a="http://schemas.openxmlformats.org/drawingml/2006/main">
              <a:ext uri="{FF2B5EF4-FFF2-40B4-BE49-F238E27FC236}">
                <a16:creationId xmlns:a16="http://schemas.microsoft.com/office/drawing/2014/main" id="{C7599DB3-76B7-4316-9A60-4DBEE45E1C9C}"/>
              </a:ext>
            </a:extLst>
          </p:cNvPr>
          <p:cNvSpPr>
            <a:spLocks xmlns:a="http://schemas.openxmlformats.org/drawingml/2006/main" noGrp="1"/>
          </p:cNvSpPr>
          <p:nvPr/>
        </p:nvSpPr>
        <p:spPr>
          <a:xfrm xmlns:a="http://schemas.openxmlformats.org/drawingml/2006/main">
            <a:off x="533400" y="3923538"/>
            <a:ext cx="6496050" cy="577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200" b="0">
                <a:solidFill>
                  <a:srgbClr val="173A3F"/>
                </a:solidFill>
                <a:latin typeface="NanumGothic"/>
                <a:ea typeface="NanumGothic"/>
                <a:cs typeface="NanumGothic"/>
              </a:defRPr>
            </a:pPr>
            <a:r>
              <a:rPr sz="1200" b="0">
                <a:solidFill>
                  <a:srgbClr val="173A3F"/>
                </a:solidFill>
                <a:latin typeface="NanumGothic"/>
                <a:ea typeface="NanumGothic"/>
                <a:cs typeface="NanumGothic"/>
              </a:rPr>
              <a:t>출처: harness_docs/prompts/current_goal.md, harness_docs/prompts/agent_prompts.md</a:t>
            </a:r>
          </a:p>
        </p:txBody>
      </p:sp>
      <p:sp>
        <p:nvSpPr>
          <p:cNvPr id="10" name="subheading-484.55999999999995">
            <a:extLst xmlns:a="http://schemas.openxmlformats.org/drawingml/2006/main">
              <a:ext uri="{FF2B5EF4-FFF2-40B4-BE49-F238E27FC236}">
                <a16:creationId xmlns:a16="http://schemas.microsoft.com/office/drawing/2014/main" id="{AE982AC3-A618-4BA6-9DEF-1CF638E613C9}"/>
              </a:ext>
            </a:extLst>
          </p:cNvPr>
          <p:cNvSpPr>
            <a:spLocks xmlns:a="http://schemas.openxmlformats.org/drawingml/2006/main" noGrp="1"/>
          </p:cNvSpPr>
          <p:nvPr/>
        </p:nvSpPr>
        <p:spPr>
          <a:xfrm xmlns:a="http://schemas.openxmlformats.org/drawingml/2006/main">
            <a:off x="533400" y="4615434"/>
            <a:ext cx="649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800" b="1">
                <a:solidFill>
                  <a:srgbClr val="2C7A7B"/>
                </a:solidFill>
                <a:latin typeface="NanumGothic"/>
                <a:ea typeface="NanumGothic"/>
                <a:cs typeface="NanumGothic"/>
              </a:defRPr>
            </a:pPr>
            <a:r>
              <a:rPr sz="1800" b="1">
                <a:solidFill>
                  <a:srgbClr val="2C7A7B"/>
                </a:solidFill>
                <a:latin typeface="NanumGothic"/>
                <a:ea typeface="NanumGothic"/>
                <a:cs typeface="NanumGothic"/>
              </a:rPr>
              <a:t>3.2 이번 접근성·난이도 개선 지시</a:t>
            </a:r>
          </a:p>
        </p:txBody>
      </p:sp>
      <p:sp>
        <p:nvSpPr>
          <p:cNvPr id="11" name="paragraph-538.56">
            <a:extLst xmlns:a="http://schemas.openxmlformats.org/drawingml/2006/main">
              <a:ext uri="{FF2B5EF4-FFF2-40B4-BE49-F238E27FC236}">
                <a16:creationId xmlns:a16="http://schemas.microsoft.com/office/drawing/2014/main" id="{B7B5D6BF-8693-45AB-BDEE-0BF4351C4FBC}"/>
              </a:ext>
            </a:extLst>
          </p:cNvPr>
          <p:cNvSpPr>
            <a:spLocks xmlns:a="http://schemas.openxmlformats.org/drawingml/2006/main" noGrp="1"/>
          </p:cNvSpPr>
          <p:nvPr/>
        </p:nvSpPr>
        <p:spPr>
          <a:xfrm xmlns:a="http://schemas.openxmlformats.org/drawingml/2006/main">
            <a:off x="533400" y="5129784"/>
            <a:ext cx="6496050" cy="3459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200" b="0">
                <a:solidFill>
                  <a:srgbClr val="173A3F"/>
                </a:solidFill>
                <a:latin typeface="NanumGothic"/>
                <a:ea typeface="NanumGothic"/>
                <a:cs typeface="NanumGothic"/>
              </a:defRPr>
            </a:pPr>
            <a:r>
              <a:rPr sz="1200" b="0">
                <a:solidFill>
                  <a:srgbClr val="173A3F"/>
                </a:solidFill>
                <a:latin typeface="NanumGothic"/>
                <a:ea typeface="NanumGothic"/>
                <a:cs typeface="NanumGothic"/>
              </a:rPr>
              <a:t>사용자 요구 요약:</a:t>
            </a:r>
          </a:p>
        </p:txBody>
      </p:sp>
      <p:sp>
        <p:nvSpPr>
          <p:cNvPr id="12" name="bullets-586.88">
            <a:extLst xmlns:a="http://schemas.openxmlformats.org/drawingml/2006/main">
              <a:ext uri="{FF2B5EF4-FFF2-40B4-BE49-F238E27FC236}">
                <a16:creationId xmlns:a16="http://schemas.microsoft.com/office/drawing/2014/main" id="{6EE1C662-19D0-4DDB-91CB-98279AFF5546}"/>
              </a:ext>
            </a:extLst>
          </p:cNvPr>
          <p:cNvSpPr>
            <a:spLocks xmlns:a="http://schemas.openxmlformats.org/drawingml/2006/main" noGrp="1"/>
          </p:cNvSpPr>
          <p:nvPr/>
        </p:nvSpPr>
        <p:spPr>
          <a:xfrm xmlns:a="http://schemas.openxmlformats.org/drawingml/2006/main">
            <a:off x="533400" y="5590032"/>
            <a:ext cx="6496050" cy="22692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공을 누른 손가락이 게이지를 가리므로 기본 오른쪽·설정 왼쪽의 직선 게이지로 바꾼다.</a:t>
            </a:r>
          </a:p>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색 단계는 초록→노랑→빨강→점멸 빨강→회색으로 유지한다.</a:t>
            </a:r>
          </a:p>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튜토리얼을 조금 쉽게 하고, 쉬움/보통 난이도를 제공한다.</a:t>
            </a:r>
          </a:p>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쉬움은 발사선의 예상 1차 도착 위치를 표시하고 보통은 현행을 유지한다.</a:t>
            </a:r>
          </a:p>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게임 소개 PDF와 AI 활용 기술 PDF를 분리하고, 실제 애셋·영상·Pages 배포까지 검증한다.</a:t>
            </a:r>
          </a:p>
        </p:txBody>
      </p:sp>
      <p:sp>
        <p:nvSpPr>
          <p:cNvPr id="13" name="paragraph-835.12">
            <a:extLst xmlns:a="http://schemas.openxmlformats.org/drawingml/2006/main">
              <a:ext uri="{FF2B5EF4-FFF2-40B4-BE49-F238E27FC236}">
                <a16:creationId xmlns:a16="http://schemas.microsoft.com/office/drawing/2014/main" id="{4649EA8C-D618-4327-ADE8-1B7B0DC2BA82}"/>
              </a:ext>
            </a:extLst>
          </p:cNvPr>
          <p:cNvSpPr>
            <a:spLocks xmlns:a="http://schemas.openxmlformats.org/drawingml/2006/main" noGrp="1"/>
          </p:cNvSpPr>
          <p:nvPr/>
        </p:nvSpPr>
        <p:spPr>
          <a:xfrm xmlns:a="http://schemas.openxmlformats.org/drawingml/2006/main">
            <a:off x="533400" y="7954518"/>
            <a:ext cx="6496050" cy="3459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200" b="0">
                <a:solidFill>
                  <a:srgbClr val="173A3F"/>
                </a:solidFill>
                <a:latin typeface="NanumGothic"/>
                <a:ea typeface="NanumGothic"/>
                <a:cs typeface="NanumGothic"/>
              </a:defRPr>
            </a:pPr>
            <a:r>
              <a:rPr sz="1200" b="0">
                <a:solidFill>
                  <a:srgbClr val="173A3F"/>
                </a:solidFill>
                <a:latin typeface="NanumGothic"/>
                <a:ea typeface="NanumGothic"/>
                <a:cs typeface="NanumGothic"/>
              </a:rPr>
              <a:t>총괄 제약:</a:t>
            </a:r>
          </a:p>
        </p:txBody>
      </p:sp>
    </p:spTree>
    <p:extLst>
      <p:ext uri="{BB962C8B-B14F-4D97-AF65-F5344CB8AC3E}">
        <p14:creationId xmlns:p14="http://schemas.microsoft.com/office/powerpoint/2010/main" val="178548996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unning-label">
            <a:extLst xmlns:a="http://schemas.openxmlformats.org/drawingml/2006/main">
              <a:ext uri="{FF2B5EF4-FFF2-40B4-BE49-F238E27FC236}">
                <a16:creationId xmlns:a16="http://schemas.microsoft.com/office/drawing/2014/main" id="{21032DB8-9267-4F6C-A209-F9D0EA637910}"/>
              </a:ext>
            </a:extLst>
          </p:cNvPr>
          <p:cNvSpPr>
            <a:spLocks xmlns:a="http://schemas.openxmlformats.org/drawingml/2006/main" noGrp="1"/>
          </p:cNvSpPr>
          <p:nvPr/>
        </p:nvSpPr>
        <p:spPr>
          <a:xfrm xmlns:a="http://schemas.openxmlformats.org/drawingml/2006/main">
            <a:off x="533400" y="304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900" b="1">
                <a:solidFill>
                  <a:srgbClr val="2C7A7B"/>
                </a:solidFill>
                <a:latin typeface="NanumGothic"/>
                <a:ea typeface="NanumGothic"/>
                <a:cs typeface="NanumGothic"/>
              </a:defRPr>
            </a:pPr>
            <a:r>
              <a:rPr sz="900" b="1">
                <a:solidFill>
                  <a:srgbClr val="2C7A7B"/>
                </a:solidFill>
                <a:latin typeface="NanumGothic"/>
                <a:ea typeface="NanumGothic"/>
                <a:cs typeface="NanumGothic"/>
              </a:rPr>
              <a:t>Property Shot · AI Technical Report</a:t>
            </a:r>
          </a:p>
        </p:txBody>
      </p:sp>
      <p:sp>
        <p:nvSpPr>
          <p:cNvPr id="2" name="page-number">
            <a:extLst xmlns:a="http://schemas.openxmlformats.org/drawingml/2006/main">
              <a:ext uri="{FF2B5EF4-FFF2-40B4-BE49-F238E27FC236}">
                <a16:creationId xmlns:a16="http://schemas.microsoft.com/office/drawing/2014/main" id="{718AFF4A-2967-4F16-8BE1-4EA7A4571038}"/>
              </a:ext>
            </a:extLst>
          </p:cNvPr>
          <p:cNvSpPr>
            <a:spLocks xmlns:a="http://schemas.openxmlformats.org/drawingml/2006/main" noGrp="1"/>
          </p:cNvSpPr>
          <p:nvPr/>
        </p:nvSpPr>
        <p:spPr>
          <a:xfrm xmlns:a="http://schemas.openxmlformats.org/drawingml/2006/main">
            <a:off x="6648450" y="3048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20000"/>
              </a:lnSpc>
              <a:buNone/>
              <a:defRPr sz="900" b="0">
                <a:solidFill>
                  <a:srgbClr val="607477"/>
                </a:solidFill>
                <a:latin typeface="NanumGothic"/>
                <a:ea typeface="NanumGothic"/>
                <a:cs typeface="NanumGothic"/>
              </a:defRPr>
            </a:pPr>
            <a:r>
              <a:rPr sz="900" b="0">
                <a:solidFill>
                  <a:srgbClr val="607477"/>
                </a:solidFill>
                <a:latin typeface="NanumGothic"/>
                <a:ea typeface="NanumGothic"/>
                <a:cs typeface="NanumGothic"/>
              </a:rPr>
              <a:t>6</a:t>
            </a:r>
          </a:p>
        </p:txBody>
      </p:sp>
      <p:sp>
        <p:nvSpPr>
          <p:cNvPr id="3" name="header-rule">
            <a:extLst xmlns:a="http://schemas.openxmlformats.org/drawingml/2006/main">
              <a:ext uri="{FF2B5EF4-FFF2-40B4-BE49-F238E27FC236}">
                <a16:creationId xmlns:a16="http://schemas.microsoft.com/office/drawing/2014/main" id="{513A1FD8-536D-4704-8876-C64520B34626}"/>
              </a:ext>
            </a:extLst>
          </p:cNvPr>
          <p:cNvSpPr>
            <a:spLocks xmlns:a="http://schemas.openxmlformats.org/drawingml/2006/main" noGrp="1"/>
          </p:cNvSpPr>
          <p:nvPr/>
        </p:nvSpPr>
        <p:spPr>
          <a:xfrm xmlns:a="http://schemas.openxmlformats.org/drawingml/2006/main">
            <a:off x="533400" y="628650"/>
            <a:ext cx="6496050" cy="28575"/>
          </a:xfrm>
          <a:prstGeom xmlns:a="http://schemas.openxmlformats.org/drawingml/2006/main" prst="rect">
            <a:avLst/>
          </a:prstGeom>
          <a:solidFill xmlns:a="http://schemas.openxmlformats.org/drawingml/2006/main">
            <a:srgbClr val="D7A23D"/>
          </a:solidFill>
          <a:ln xmlns:a="http://schemas.openxmlformats.org/drawingml/2006/main" w="0">
            <a:noFill/>
            <a:prstDash val="solid"/>
          </a:ln>
        </p:spPr>
      </p:sp>
      <p:sp>
        <p:nvSpPr>
          <p:cNvPr id="4" name="slide-title">
            <a:extLst xmlns:a="http://schemas.openxmlformats.org/drawingml/2006/main">
              <a:ext uri="{FF2B5EF4-FFF2-40B4-BE49-F238E27FC236}">
                <a16:creationId xmlns:a16="http://schemas.microsoft.com/office/drawing/2014/main" id="{8FB64288-1C33-4186-A27B-1315E4958526}"/>
              </a:ext>
            </a:extLst>
          </p:cNvPr>
          <p:cNvSpPr>
            <a:spLocks xmlns:a="http://schemas.openxmlformats.org/drawingml/2006/main" noGrp="1"/>
          </p:cNvSpPr>
          <p:nvPr/>
        </p:nvSpPr>
        <p:spPr>
          <a:xfrm xmlns:a="http://schemas.openxmlformats.org/drawingml/2006/main">
            <a:off x="533400" y="800100"/>
            <a:ext cx="649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l">
              <a:lnSpc>
                <a:spcPct val="120000"/>
              </a:lnSpc>
              <a:buNone/>
              <a:defRPr sz="2625" b="1">
                <a:solidFill>
                  <a:srgbClr val="173A3F"/>
                </a:solidFill>
                <a:latin typeface="NanumGothic"/>
                <a:ea typeface="NanumGothic"/>
                <a:cs typeface="NanumGothic"/>
              </a:defRPr>
            </a:pPr>
            <a:r>
              <a:rPr sz="2625" b="1">
                <a:solidFill>
                  <a:srgbClr val="173A3F"/>
                </a:solidFill>
                <a:latin typeface="NanumGothic"/>
                <a:ea typeface="NanumGothic"/>
                <a:cs typeface="NanumGothic"/>
              </a:rPr>
              <a:t>3. 주요 프롬프트와 지시 사항 · 계속</a:t>
            </a:r>
          </a:p>
        </p:txBody>
      </p:sp>
      <p:sp>
        <p:nvSpPr>
          <p:cNvPr id="5" name="bullets-140">
            <a:extLst xmlns:a="http://schemas.openxmlformats.org/drawingml/2006/main">
              <a:ext uri="{FF2B5EF4-FFF2-40B4-BE49-F238E27FC236}">
                <a16:creationId xmlns:a16="http://schemas.microsoft.com/office/drawing/2014/main" id="{40D649E4-A296-41F7-89BA-5A2495FF82D6}"/>
              </a:ext>
            </a:extLst>
          </p:cNvPr>
          <p:cNvSpPr>
            <a:spLocks xmlns:a="http://schemas.openxmlformats.org/drawingml/2006/main" noGrp="1"/>
          </p:cNvSpPr>
          <p:nvPr/>
        </p:nvSpPr>
        <p:spPr>
          <a:xfrm xmlns:a="http://schemas.openxmlformats.org/drawingml/2006/main">
            <a:off x="533400" y="1333500"/>
            <a:ext cx="6496050" cy="2037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설정 schema는 게이지 위치와 난이도를 한 번에 올린다.</a:t>
            </a:r>
          </a:p>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_01 우선은 캠페인 1–4단계 첫 학습에만 적용하고 오늘의 도전·리플레이와 격리한다.</a:t>
            </a:r>
          </a:p>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쉬움은 진행 해금만 공유하며 보통 최고 기록을 덮지 않는다.</a:t>
            </a:r>
          </a:p>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공식 오늘의 도전은 보통으로 고정한다.</a:t>
            </a:r>
          </a:p>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PDF는 기능·테스트·캡처가 끝난 뒤 생성한다.</a:t>
            </a:r>
          </a:p>
        </p:txBody>
      </p:sp>
    </p:spTree>
    <p:extLst>
      <p:ext uri="{BB962C8B-B14F-4D97-AF65-F5344CB8AC3E}">
        <p14:creationId xmlns:p14="http://schemas.microsoft.com/office/powerpoint/2010/main" val="15076435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unning-label">
            <a:extLst xmlns:a="http://schemas.openxmlformats.org/drawingml/2006/main">
              <a:ext uri="{FF2B5EF4-FFF2-40B4-BE49-F238E27FC236}">
                <a16:creationId xmlns:a16="http://schemas.microsoft.com/office/drawing/2014/main" id="{FC080EF1-F850-41B3-83BC-E10FEE8F24AA}"/>
              </a:ext>
            </a:extLst>
          </p:cNvPr>
          <p:cNvSpPr>
            <a:spLocks xmlns:a="http://schemas.openxmlformats.org/drawingml/2006/main" noGrp="1"/>
          </p:cNvSpPr>
          <p:nvPr/>
        </p:nvSpPr>
        <p:spPr>
          <a:xfrm xmlns:a="http://schemas.openxmlformats.org/drawingml/2006/main">
            <a:off x="533400" y="304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900" b="1">
                <a:solidFill>
                  <a:srgbClr val="2C7A7B"/>
                </a:solidFill>
                <a:latin typeface="NanumGothic"/>
                <a:ea typeface="NanumGothic"/>
                <a:cs typeface="NanumGothic"/>
              </a:defRPr>
            </a:pPr>
            <a:r>
              <a:rPr sz="900" b="1">
                <a:solidFill>
                  <a:srgbClr val="2C7A7B"/>
                </a:solidFill>
                <a:latin typeface="NanumGothic"/>
                <a:ea typeface="NanumGothic"/>
                <a:cs typeface="NanumGothic"/>
              </a:rPr>
              <a:t>Property Shot · AI Technical Report</a:t>
            </a:r>
          </a:p>
        </p:txBody>
      </p:sp>
      <p:sp>
        <p:nvSpPr>
          <p:cNvPr id="2" name="page-number">
            <a:extLst xmlns:a="http://schemas.openxmlformats.org/drawingml/2006/main">
              <a:ext uri="{FF2B5EF4-FFF2-40B4-BE49-F238E27FC236}">
                <a16:creationId xmlns:a16="http://schemas.microsoft.com/office/drawing/2014/main" id="{7730D0A1-290C-4669-BDA3-AC4372938865}"/>
              </a:ext>
            </a:extLst>
          </p:cNvPr>
          <p:cNvSpPr>
            <a:spLocks xmlns:a="http://schemas.openxmlformats.org/drawingml/2006/main" noGrp="1"/>
          </p:cNvSpPr>
          <p:nvPr/>
        </p:nvSpPr>
        <p:spPr>
          <a:xfrm xmlns:a="http://schemas.openxmlformats.org/drawingml/2006/main">
            <a:off x="6648450" y="3048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20000"/>
              </a:lnSpc>
              <a:buNone/>
              <a:defRPr sz="900" b="0">
                <a:solidFill>
                  <a:srgbClr val="607477"/>
                </a:solidFill>
                <a:latin typeface="NanumGothic"/>
                <a:ea typeface="NanumGothic"/>
                <a:cs typeface="NanumGothic"/>
              </a:defRPr>
            </a:pPr>
            <a:r>
              <a:rPr sz="900" b="0">
                <a:solidFill>
                  <a:srgbClr val="607477"/>
                </a:solidFill>
                <a:latin typeface="NanumGothic"/>
                <a:ea typeface="NanumGothic"/>
                <a:cs typeface="NanumGothic"/>
              </a:rPr>
              <a:t>7</a:t>
            </a:r>
          </a:p>
        </p:txBody>
      </p:sp>
      <p:sp>
        <p:nvSpPr>
          <p:cNvPr id="3" name="header-rule">
            <a:extLst xmlns:a="http://schemas.openxmlformats.org/drawingml/2006/main">
              <a:ext uri="{FF2B5EF4-FFF2-40B4-BE49-F238E27FC236}">
                <a16:creationId xmlns:a16="http://schemas.microsoft.com/office/drawing/2014/main" id="{99109EA6-C074-4AE8-BA46-2B06B91BCAAD}"/>
              </a:ext>
            </a:extLst>
          </p:cNvPr>
          <p:cNvSpPr>
            <a:spLocks xmlns:a="http://schemas.openxmlformats.org/drawingml/2006/main" noGrp="1"/>
          </p:cNvSpPr>
          <p:nvPr/>
        </p:nvSpPr>
        <p:spPr>
          <a:xfrm xmlns:a="http://schemas.openxmlformats.org/drawingml/2006/main">
            <a:off x="533400" y="628650"/>
            <a:ext cx="6496050" cy="28575"/>
          </a:xfrm>
          <a:prstGeom xmlns:a="http://schemas.openxmlformats.org/drawingml/2006/main" prst="rect">
            <a:avLst/>
          </a:prstGeom>
          <a:solidFill xmlns:a="http://schemas.openxmlformats.org/drawingml/2006/main">
            <a:srgbClr val="D7A23D"/>
          </a:solidFill>
          <a:ln xmlns:a="http://schemas.openxmlformats.org/drawingml/2006/main" w="0">
            <a:noFill/>
            <a:prstDash val="solid"/>
          </a:ln>
        </p:spPr>
      </p:sp>
      <p:sp>
        <p:nvSpPr>
          <p:cNvPr id="4" name="slide-title">
            <a:extLst xmlns:a="http://schemas.openxmlformats.org/drawingml/2006/main">
              <a:ext uri="{FF2B5EF4-FFF2-40B4-BE49-F238E27FC236}">
                <a16:creationId xmlns:a16="http://schemas.microsoft.com/office/drawing/2014/main" id="{CC517E27-1987-4734-B869-A64942A0F60E}"/>
              </a:ext>
            </a:extLst>
          </p:cNvPr>
          <p:cNvSpPr>
            <a:spLocks xmlns:a="http://schemas.openxmlformats.org/drawingml/2006/main" noGrp="1"/>
          </p:cNvSpPr>
          <p:nvPr/>
        </p:nvSpPr>
        <p:spPr>
          <a:xfrm xmlns:a="http://schemas.openxmlformats.org/drawingml/2006/main">
            <a:off x="533400" y="800100"/>
            <a:ext cx="649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l">
              <a:lnSpc>
                <a:spcPct val="120000"/>
              </a:lnSpc>
              <a:buNone/>
              <a:defRPr sz="2625" b="1">
                <a:solidFill>
                  <a:srgbClr val="173A3F"/>
                </a:solidFill>
                <a:latin typeface="NanumGothic"/>
                <a:ea typeface="NanumGothic"/>
                <a:cs typeface="NanumGothic"/>
              </a:defRPr>
            </a:pPr>
            <a:r>
              <a:rPr sz="2625" b="1">
                <a:solidFill>
                  <a:srgbClr val="173A3F"/>
                </a:solidFill>
                <a:latin typeface="NanumGothic"/>
                <a:ea typeface="NanumGothic"/>
                <a:cs typeface="NanumGothic"/>
              </a:rPr>
              <a:t>4. AI 지원 구현 사례</a:t>
            </a:r>
          </a:p>
        </p:txBody>
      </p:sp>
      <p:sp>
        <p:nvSpPr>
          <p:cNvPr id="5" name="subheading-140">
            <a:extLst xmlns:a="http://schemas.openxmlformats.org/drawingml/2006/main">
              <a:ext uri="{FF2B5EF4-FFF2-40B4-BE49-F238E27FC236}">
                <a16:creationId xmlns:a16="http://schemas.microsoft.com/office/drawing/2014/main" id="{1AB7E47C-135C-499D-894C-A20B42951782}"/>
              </a:ext>
            </a:extLst>
          </p:cNvPr>
          <p:cNvSpPr>
            <a:spLocks xmlns:a="http://schemas.openxmlformats.org/drawingml/2006/main" noGrp="1"/>
          </p:cNvSpPr>
          <p:nvPr/>
        </p:nvSpPr>
        <p:spPr>
          <a:xfrm xmlns:a="http://schemas.openxmlformats.org/drawingml/2006/main">
            <a:off x="533400" y="1333500"/>
            <a:ext cx="649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800" b="1">
                <a:solidFill>
                  <a:srgbClr val="2C7A7B"/>
                </a:solidFill>
                <a:latin typeface="NanumGothic"/>
                <a:ea typeface="NanumGothic"/>
                <a:cs typeface="NanumGothic"/>
              </a:defRPr>
            </a:pPr>
            <a:r>
              <a:rPr sz="1800" b="1">
                <a:solidFill>
                  <a:srgbClr val="2C7A7B"/>
                </a:solidFill>
                <a:latin typeface="NanumGothic"/>
                <a:ea typeface="NanumGothic"/>
                <a:cs typeface="NanumGothic"/>
              </a:rPr>
              <a:t>4.1 중앙 편향 부유 충전 게이지</a:t>
            </a:r>
          </a:p>
        </p:txBody>
      </p:sp>
      <p:sp>
        <p:nvSpPr>
          <p:cNvPr id="6" name="paragraph-194">
            <a:extLst xmlns:a="http://schemas.openxmlformats.org/drawingml/2006/main">
              <a:ext uri="{FF2B5EF4-FFF2-40B4-BE49-F238E27FC236}">
                <a16:creationId xmlns:a16="http://schemas.microsoft.com/office/drawing/2014/main" id="{0FA4B29D-E9EE-49C9-B963-9D609AAC4982}"/>
              </a:ext>
            </a:extLst>
          </p:cNvPr>
          <p:cNvSpPr>
            <a:spLocks xmlns:a="http://schemas.openxmlformats.org/drawingml/2006/main" noGrp="1"/>
          </p:cNvSpPr>
          <p:nvPr/>
        </p:nvSpPr>
        <p:spPr>
          <a:xfrm xmlns:a="http://schemas.openxmlformats.org/drawingml/2006/main">
            <a:off x="533400" y="1847850"/>
            <a:ext cx="6496050" cy="10408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200" b="0">
                <a:solidFill>
                  <a:srgbClr val="173A3F"/>
                </a:solidFill>
                <a:latin typeface="NanumGothic"/>
                <a:ea typeface="NanumGothic"/>
                <a:cs typeface="NanumGothic"/>
              </a:defRPr>
            </a:pPr>
            <a:r>
              <a:rPr sz="1200" b="0">
                <a:solidFill>
                  <a:srgbClr val="173A3F"/>
                </a:solidFill>
                <a:latin typeface="NanumGothic"/>
                <a:ea typeface="NanumGothic"/>
                <a:cs typeface="NanumGothic"/>
              </a:rPr>
              <a:t>기존 LaunchInputSession의 450ms 활성화, 0.40/0.70/0.90 경계, 1680ms 과충전 계약은 바꾸지 않았다. 공 주변 원형 링을 제거하고 공 가까이에서 홀·풍선·파워 슬라이더·열쇠 등 핵심 기물을 피하는 34px 부유 rail로 옮겼다. 오른손/왼손 설정은 공 반대쪽 후보의 우선순위를 바꾸며, 실제 겹침 검사가 최종 위치를 정한다.</a:t>
            </a:r>
          </a:p>
        </p:txBody>
      </p:sp>
      <p:sp>
        <p:nvSpPr>
          <p:cNvPr id="7" name="paragraph-315.28">
            <a:extLst xmlns:a="http://schemas.openxmlformats.org/drawingml/2006/main">
              <a:ext uri="{FF2B5EF4-FFF2-40B4-BE49-F238E27FC236}">
                <a16:creationId xmlns:a16="http://schemas.microsoft.com/office/drawing/2014/main" id="{8E3E9DA2-D590-44A0-8162-19B2102EFAD8}"/>
              </a:ext>
            </a:extLst>
          </p:cNvPr>
          <p:cNvSpPr>
            <a:spLocks xmlns:a="http://schemas.openxmlformats.org/drawingml/2006/main" noGrp="1"/>
          </p:cNvSpPr>
          <p:nvPr/>
        </p:nvSpPr>
        <p:spPr>
          <a:xfrm xmlns:a="http://schemas.openxmlformats.org/drawingml/2006/main">
            <a:off x="533400" y="3003042"/>
            <a:ext cx="6496050" cy="8092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200" b="0">
                <a:solidFill>
                  <a:srgbClr val="173A3F"/>
                </a:solidFill>
                <a:latin typeface="NanumGothic"/>
                <a:ea typeface="NanumGothic"/>
                <a:cs typeface="NanumGothic"/>
              </a:defRPr>
            </a:pPr>
            <a:r>
              <a:rPr sz="1200" b="0">
                <a:solidFill>
                  <a:srgbClr val="173A3F"/>
                </a:solidFill>
                <a:latin typeface="NanumGothic"/>
                <a:ea typeface="NanumGothic"/>
                <a:cs typeface="NanumGothic"/>
              </a:rPr>
              <a:t>접근성 감사에서 퍼센트를 80ms마다 liveRegion으로 읽는 문제와 450ms 전 50%가 보이는 문제가 발견됐다. 상태 전이만 live로 읽고 퍼센트는 non-live로 분리했으며, 실제 충전 시작 전에는 레일을 숨겼다.</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274803b21ca477c"/>
          <a:stretch xmlns:a="http://schemas.openxmlformats.org/drawingml/2006/main"/>
        </p:blipFill>
        <p:spPr>
          <a:xfrm xmlns:a="http://schemas.openxmlformats.org/drawingml/2006/main">
            <a:off x="3055200" y="3926586"/>
            <a:ext cx="1452450" cy="3143250"/>
          </a:xfrm>
          <a:prstGeom xmlns:a="http://schemas.openxmlformats.org/drawingml/2006/main" prst="roundRect">
            <a:avLst>
              <a:gd name="adj" fmla="val 3636"/>
            </a:avLst>
          </a:prstGeom>
        </p:spPr>
      </p:pic>
      <p:sp>
        <p:nvSpPr>
          <p:cNvPr id="9" name="image-caption-412.24">
            <a:extLst xmlns:a="http://schemas.openxmlformats.org/drawingml/2006/main">
              <a:ext uri="{FF2B5EF4-FFF2-40B4-BE49-F238E27FC236}">
                <a16:creationId xmlns:a16="http://schemas.microsoft.com/office/drawing/2014/main" id="{7D635752-79E7-4874-B8AD-15016430917B}"/>
              </a:ext>
            </a:extLst>
          </p:cNvPr>
          <p:cNvSpPr>
            <a:spLocks xmlns:a="http://schemas.openxmlformats.org/drawingml/2006/main" noGrp="1"/>
          </p:cNvSpPr>
          <p:nvPr/>
        </p:nvSpPr>
        <p:spPr>
          <a:xfrm xmlns:a="http://schemas.openxmlformats.org/drawingml/2006/main">
            <a:off x="666750" y="7126986"/>
            <a:ext cx="6229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20000"/>
              </a:lnSpc>
              <a:buNone/>
              <a:defRPr sz="1050" b="0">
                <a:solidFill>
                  <a:srgbClr val="607477"/>
                </a:solidFill>
                <a:latin typeface="NanumGothic"/>
                <a:ea typeface="NanumGothic"/>
                <a:cs typeface="NanumGothic"/>
              </a:defRPr>
            </a:pPr>
            <a:r>
              <a:rPr sz="1050" b="0">
                <a:solidFill>
                  <a:srgbClr val="607477"/>
                </a:solidFill>
                <a:latin typeface="NanumGothic"/>
                <a:ea typeface="NanumGothic"/>
                <a:cs typeface="NanumGothic"/>
              </a:rPr>
              <a:t>4단계 게임판 왼쪽 가장자리에서 느낌표와 빨강 경고 상태를 표시하는 충전 게이지</a:t>
            </a:r>
          </a:p>
        </p:txBody>
      </p:sp>
      <p:sp>
        <p:nvSpPr>
          <p:cNvPr id="10" name="subheading-796.24">
            <a:extLst xmlns:a="http://schemas.openxmlformats.org/drawingml/2006/main">
              <a:ext uri="{FF2B5EF4-FFF2-40B4-BE49-F238E27FC236}">
                <a16:creationId xmlns:a16="http://schemas.microsoft.com/office/drawing/2014/main" id="{6D028675-47A6-432A-9223-BAAE9EEEAB17}"/>
              </a:ext>
            </a:extLst>
          </p:cNvPr>
          <p:cNvSpPr>
            <a:spLocks xmlns:a="http://schemas.openxmlformats.org/drawingml/2006/main" noGrp="1"/>
          </p:cNvSpPr>
          <p:nvPr/>
        </p:nvSpPr>
        <p:spPr>
          <a:xfrm xmlns:a="http://schemas.openxmlformats.org/drawingml/2006/main">
            <a:off x="533400" y="7584186"/>
            <a:ext cx="649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800" b="1">
                <a:solidFill>
                  <a:srgbClr val="2C7A7B"/>
                </a:solidFill>
                <a:latin typeface="NanumGothic"/>
                <a:ea typeface="NanumGothic"/>
                <a:cs typeface="NanumGothic"/>
              </a:defRPr>
            </a:pPr>
            <a:r>
              <a:rPr sz="1800" b="1">
                <a:solidFill>
                  <a:srgbClr val="2C7A7B"/>
                </a:solidFill>
                <a:latin typeface="NanumGothic"/>
                <a:ea typeface="NanumGothic"/>
                <a:cs typeface="NanumGothic"/>
              </a:rPr>
              <a:t>4.2 튜토리얼 완화</a:t>
            </a:r>
          </a:p>
        </p:txBody>
      </p:sp>
      <p:sp>
        <p:nvSpPr>
          <p:cNvPr id="11" name="paragraph-850.24">
            <a:extLst xmlns:a="http://schemas.openxmlformats.org/drawingml/2006/main">
              <a:ext uri="{FF2B5EF4-FFF2-40B4-BE49-F238E27FC236}">
                <a16:creationId xmlns:a16="http://schemas.microsoft.com/office/drawing/2014/main" id="{1C38E800-122B-4F88-B406-B9A690CBCD1F}"/>
              </a:ext>
            </a:extLst>
          </p:cNvPr>
          <p:cNvSpPr>
            <a:spLocks xmlns:a="http://schemas.openxmlformats.org/drawingml/2006/main" noGrp="1"/>
          </p:cNvSpPr>
          <p:nvPr/>
        </p:nvSpPr>
        <p:spPr>
          <a:xfrm xmlns:a="http://schemas.openxmlformats.org/drawingml/2006/main">
            <a:off x="533400" y="8098536"/>
            <a:ext cx="6496050" cy="8092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200" b="0">
                <a:solidFill>
                  <a:srgbClr val="173A3F"/>
                </a:solidFill>
                <a:latin typeface="NanumGothic"/>
                <a:ea typeface="NanumGothic"/>
                <a:cs typeface="NanumGothic"/>
              </a:defRPr>
            </a:pPr>
            <a:r>
              <a:rPr sz="1200" b="0">
                <a:solidFill>
                  <a:srgbClr val="173A3F"/>
                </a:solidFill>
                <a:latin typeface="NanumGothic"/>
                <a:ea typeface="NanumGothic"/>
                <a:cs typeface="NanumGothic"/>
              </a:rPr>
              <a:t>공용 StageShuffleBag을 수정하지 않고 캠페인 선택 정책에서 fresh cycle의 첫 항목과 metadata baseline만 교환했다. 재시도·저장 재개는 현재 pattern/seed를 먼저 복원하고, 클리어 뒤에는 기존 셔플을 계속 소비한다.</a:t>
            </a:r>
          </a:p>
        </p:txBody>
      </p:sp>
      <p:sp>
        <p:nvSpPr>
          <p:cNvPr id="12" name="paragraph-947.2">
            <a:extLst xmlns:a="http://schemas.openxmlformats.org/drawingml/2006/main">
              <a:ext uri="{FF2B5EF4-FFF2-40B4-BE49-F238E27FC236}">
                <a16:creationId xmlns:a16="http://schemas.microsoft.com/office/drawing/2014/main" id="{D173229D-6671-4A6C-AAF5-7F2B290DEDB3}"/>
              </a:ext>
            </a:extLst>
          </p:cNvPr>
          <p:cNvSpPr>
            <a:spLocks xmlns:a="http://schemas.openxmlformats.org/drawingml/2006/main" noGrp="1"/>
          </p:cNvSpPr>
          <p:nvPr/>
        </p:nvSpPr>
        <p:spPr>
          <a:xfrm xmlns:a="http://schemas.openxmlformats.org/drawingml/2006/main">
            <a:off x="533400" y="9022080"/>
            <a:ext cx="6496050" cy="577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200" b="0">
                <a:solidFill>
                  <a:srgbClr val="173A3F"/>
                </a:solidFill>
                <a:latin typeface="NanumGothic"/>
                <a:ea typeface="NanumGothic"/>
                <a:cs typeface="NanumGothic"/>
              </a:defRPr>
            </a:pPr>
            <a:r>
              <a:rPr sz="1200" b="0">
                <a:solidFill>
                  <a:srgbClr val="173A3F"/>
                </a:solidFill>
                <a:latin typeface="NanumGothic"/>
                <a:ea typeface="NanumGothic"/>
                <a:cs typeface="NanumGothic"/>
              </a:rPr>
              <a:t>실패 도움말은 정답 각도와 힘 대신 기믹의 인과만 보여준다. 3단계 2회 실패 카드는 접근성 중복 낭독과 작은 화면 말줄임까지 별도 감사했다.</a:t>
            </a:r>
          </a:p>
        </p:txBody>
      </p:sp>
    </p:spTree>
    <p:extLst>
      <p:ext uri="{BB962C8B-B14F-4D97-AF65-F5344CB8AC3E}">
        <p14:creationId xmlns:p14="http://schemas.microsoft.com/office/powerpoint/2010/main" val="119169559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unning-label">
            <a:extLst xmlns:a="http://schemas.openxmlformats.org/drawingml/2006/main">
              <a:ext uri="{FF2B5EF4-FFF2-40B4-BE49-F238E27FC236}">
                <a16:creationId xmlns:a16="http://schemas.microsoft.com/office/drawing/2014/main" id="{DC7C895E-32B6-40A6-820D-83109FD9DEE6}"/>
              </a:ext>
            </a:extLst>
          </p:cNvPr>
          <p:cNvSpPr>
            <a:spLocks xmlns:a="http://schemas.openxmlformats.org/drawingml/2006/main" noGrp="1"/>
          </p:cNvSpPr>
          <p:nvPr/>
        </p:nvSpPr>
        <p:spPr>
          <a:xfrm xmlns:a="http://schemas.openxmlformats.org/drawingml/2006/main">
            <a:off x="533400" y="304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900" b="1">
                <a:solidFill>
                  <a:srgbClr val="2C7A7B"/>
                </a:solidFill>
                <a:latin typeface="NanumGothic"/>
                <a:ea typeface="NanumGothic"/>
                <a:cs typeface="NanumGothic"/>
              </a:defRPr>
            </a:pPr>
            <a:r>
              <a:rPr sz="900" b="1">
                <a:solidFill>
                  <a:srgbClr val="2C7A7B"/>
                </a:solidFill>
                <a:latin typeface="NanumGothic"/>
                <a:ea typeface="NanumGothic"/>
                <a:cs typeface="NanumGothic"/>
              </a:rPr>
              <a:t>Property Shot · AI Technical Report</a:t>
            </a:r>
          </a:p>
        </p:txBody>
      </p:sp>
      <p:sp>
        <p:nvSpPr>
          <p:cNvPr id="2" name="page-number">
            <a:extLst xmlns:a="http://schemas.openxmlformats.org/drawingml/2006/main">
              <a:ext uri="{FF2B5EF4-FFF2-40B4-BE49-F238E27FC236}">
                <a16:creationId xmlns:a16="http://schemas.microsoft.com/office/drawing/2014/main" id="{E6ADD981-7E75-480E-9779-CA4C998C4504}"/>
              </a:ext>
            </a:extLst>
          </p:cNvPr>
          <p:cNvSpPr>
            <a:spLocks xmlns:a="http://schemas.openxmlformats.org/drawingml/2006/main" noGrp="1"/>
          </p:cNvSpPr>
          <p:nvPr/>
        </p:nvSpPr>
        <p:spPr>
          <a:xfrm xmlns:a="http://schemas.openxmlformats.org/drawingml/2006/main">
            <a:off x="6648450" y="3048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20000"/>
              </a:lnSpc>
              <a:buNone/>
              <a:defRPr sz="900" b="0">
                <a:solidFill>
                  <a:srgbClr val="607477"/>
                </a:solidFill>
                <a:latin typeface="NanumGothic"/>
                <a:ea typeface="NanumGothic"/>
                <a:cs typeface="NanumGothic"/>
              </a:defRPr>
            </a:pPr>
            <a:r>
              <a:rPr sz="900" b="0">
                <a:solidFill>
                  <a:srgbClr val="607477"/>
                </a:solidFill>
                <a:latin typeface="NanumGothic"/>
                <a:ea typeface="NanumGothic"/>
                <a:cs typeface="NanumGothic"/>
              </a:rPr>
              <a:t>8</a:t>
            </a:r>
          </a:p>
        </p:txBody>
      </p:sp>
      <p:sp>
        <p:nvSpPr>
          <p:cNvPr id="3" name="header-rule">
            <a:extLst xmlns:a="http://schemas.openxmlformats.org/drawingml/2006/main">
              <a:ext uri="{FF2B5EF4-FFF2-40B4-BE49-F238E27FC236}">
                <a16:creationId xmlns:a16="http://schemas.microsoft.com/office/drawing/2014/main" id="{50518D29-4AA5-495E-83F4-DB824B455A74}"/>
              </a:ext>
            </a:extLst>
          </p:cNvPr>
          <p:cNvSpPr>
            <a:spLocks xmlns:a="http://schemas.openxmlformats.org/drawingml/2006/main" noGrp="1"/>
          </p:cNvSpPr>
          <p:nvPr/>
        </p:nvSpPr>
        <p:spPr>
          <a:xfrm xmlns:a="http://schemas.openxmlformats.org/drawingml/2006/main">
            <a:off x="533400" y="628650"/>
            <a:ext cx="6496050" cy="28575"/>
          </a:xfrm>
          <a:prstGeom xmlns:a="http://schemas.openxmlformats.org/drawingml/2006/main" prst="rect">
            <a:avLst/>
          </a:prstGeom>
          <a:solidFill xmlns:a="http://schemas.openxmlformats.org/drawingml/2006/main">
            <a:srgbClr val="D7A23D"/>
          </a:solidFill>
          <a:ln xmlns:a="http://schemas.openxmlformats.org/drawingml/2006/main" w="0">
            <a:noFill/>
            <a:prstDash val="solid"/>
          </a:ln>
        </p:spPr>
      </p:sp>
      <p:sp>
        <p:nvSpPr>
          <p:cNvPr id="4" name="slide-title">
            <a:extLst xmlns:a="http://schemas.openxmlformats.org/drawingml/2006/main">
              <a:ext uri="{FF2B5EF4-FFF2-40B4-BE49-F238E27FC236}">
                <a16:creationId xmlns:a16="http://schemas.microsoft.com/office/drawing/2014/main" id="{D603E2FB-AD90-46FF-A6E6-B5AAFAEBD7C9}"/>
              </a:ext>
            </a:extLst>
          </p:cNvPr>
          <p:cNvSpPr>
            <a:spLocks xmlns:a="http://schemas.openxmlformats.org/drawingml/2006/main" noGrp="1"/>
          </p:cNvSpPr>
          <p:nvPr/>
        </p:nvSpPr>
        <p:spPr>
          <a:xfrm xmlns:a="http://schemas.openxmlformats.org/drawingml/2006/main">
            <a:off x="533400" y="800100"/>
            <a:ext cx="649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l">
              <a:lnSpc>
                <a:spcPct val="120000"/>
              </a:lnSpc>
              <a:buNone/>
              <a:defRPr sz="2625" b="1">
                <a:solidFill>
                  <a:srgbClr val="173A3F"/>
                </a:solidFill>
                <a:latin typeface="NanumGothic"/>
                <a:ea typeface="NanumGothic"/>
                <a:cs typeface="NanumGothic"/>
              </a:defRPr>
            </a:pPr>
            <a:r>
              <a:rPr sz="2625" b="1">
                <a:solidFill>
                  <a:srgbClr val="173A3F"/>
                </a:solidFill>
                <a:latin typeface="NanumGothic"/>
                <a:ea typeface="NanumGothic"/>
                <a:cs typeface="NanumGothic"/>
              </a:rPr>
              <a:t>4. AI 지원 구현 사례 · 계속</a:t>
            </a:r>
          </a:p>
        </p:txBody>
      </p:sp>
      <p:sp>
        <p:nvSpPr>
          <p:cNvPr id="5" name="subheading-140">
            <a:extLst xmlns:a="http://schemas.openxmlformats.org/drawingml/2006/main">
              <a:ext uri="{FF2B5EF4-FFF2-40B4-BE49-F238E27FC236}">
                <a16:creationId xmlns:a16="http://schemas.microsoft.com/office/drawing/2014/main" id="{C6DBF29A-BBC7-4E7B-AF67-0A334B86F761}"/>
              </a:ext>
            </a:extLst>
          </p:cNvPr>
          <p:cNvSpPr>
            <a:spLocks xmlns:a="http://schemas.openxmlformats.org/drawingml/2006/main" noGrp="1"/>
          </p:cNvSpPr>
          <p:nvPr/>
        </p:nvSpPr>
        <p:spPr>
          <a:xfrm xmlns:a="http://schemas.openxmlformats.org/drawingml/2006/main">
            <a:off x="533400" y="1333500"/>
            <a:ext cx="649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800" b="1">
                <a:solidFill>
                  <a:srgbClr val="2C7A7B"/>
                </a:solidFill>
                <a:latin typeface="NanumGothic"/>
                <a:ea typeface="NanumGothic"/>
                <a:cs typeface="NanumGothic"/>
              </a:defRPr>
            </a:pPr>
            <a:r>
              <a:rPr sz="1800" b="1">
                <a:solidFill>
                  <a:srgbClr val="2C7A7B"/>
                </a:solidFill>
                <a:latin typeface="NanumGothic"/>
                <a:ea typeface="NanumGothic"/>
                <a:cs typeface="NanumGothic"/>
              </a:rPr>
              <a:t>4.3 쉬움 모드 예상 첫 도착</a:t>
            </a:r>
          </a:p>
        </p:txBody>
      </p:sp>
      <p:sp>
        <p:nvSpPr>
          <p:cNvPr id="6" name="paragraph-194">
            <a:extLst xmlns:a="http://schemas.openxmlformats.org/drawingml/2006/main">
              <a:ext uri="{FF2B5EF4-FFF2-40B4-BE49-F238E27FC236}">
                <a16:creationId xmlns:a16="http://schemas.microsoft.com/office/drawing/2014/main" id="{C9E6CA87-AB9B-4462-91A7-8B8355A7523F}"/>
              </a:ext>
            </a:extLst>
          </p:cNvPr>
          <p:cNvSpPr>
            <a:spLocks xmlns:a="http://schemas.openxmlformats.org/drawingml/2006/main" noGrp="1"/>
          </p:cNvSpPr>
          <p:nvPr/>
        </p:nvSpPr>
        <p:spPr>
          <a:xfrm xmlns:a="http://schemas.openxmlformats.org/drawingml/2006/main">
            <a:off x="533400" y="1847850"/>
            <a:ext cx="6496050" cy="10408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200" b="0">
                <a:solidFill>
                  <a:srgbClr val="173A3F"/>
                </a:solidFill>
                <a:latin typeface="NanumGothic"/>
                <a:ea typeface="NanumGothic"/>
                <a:cs typeface="NanumGothic"/>
              </a:defRPr>
            </a:pPr>
            <a:r>
              <a:rPr sz="1200" b="0">
                <a:solidFill>
                  <a:srgbClr val="173A3F"/>
                </a:solidFill>
                <a:latin typeface="NanumGothic"/>
                <a:ea typeface="NanumGothic"/>
                <a:cs typeface="NanumGothic"/>
              </a:rPr>
              <a:t>별도 근사 물리를 만들지 않고 실제 ShotResolver.resolve() 결과에서 경로상 가장 이른 impact·hole·power slider를 고른다. 사건이 없으면 range end를 사용한다. 캐시 키만 1도/1%로 양자화하고, 미리보기와 실제 발사는 동일한 정확한 방향·힘 snapshot을 공유한다.</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337ff5bdcf434c75"/>
          <a:stretch xmlns:a="http://schemas.openxmlformats.org/drawingml/2006/main"/>
        </p:blipFill>
        <p:spPr>
          <a:xfrm xmlns:a="http://schemas.openxmlformats.org/drawingml/2006/main">
            <a:off x="2602706" y="3003042"/>
            <a:ext cx="2357438" cy="3143250"/>
          </a:xfrm>
          <a:prstGeom xmlns:a="http://schemas.openxmlformats.org/drawingml/2006/main" prst="roundRect">
            <a:avLst>
              <a:gd name="adj" fmla="val 3636"/>
            </a:avLst>
          </a:prstGeom>
        </p:spPr>
      </p:pic>
      <p:sp>
        <p:nvSpPr>
          <p:cNvPr id="8" name="image-caption-315.28">
            <a:extLst xmlns:a="http://schemas.openxmlformats.org/drawingml/2006/main">
              <a:ext uri="{FF2B5EF4-FFF2-40B4-BE49-F238E27FC236}">
                <a16:creationId xmlns:a16="http://schemas.microsoft.com/office/drawing/2014/main" id="{32F3AB75-730B-4A5D-A1B8-557E07996B22}"/>
              </a:ext>
            </a:extLst>
          </p:cNvPr>
          <p:cNvSpPr>
            <a:spLocks xmlns:a="http://schemas.openxmlformats.org/drawingml/2006/main" noGrp="1"/>
          </p:cNvSpPr>
          <p:nvPr/>
        </p:nvSpPr>
        <p:spPr>
          <a:xfrm xmlns:a="http://schemas.openxmlformats.org/drawingml/2006/main">
            <a:off x="666750" y="6203442"/>
            <a:ext cx="6229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20000"/>
              </a:lnSpc>
              <a:buNone/>
              <a:defRPr sz="1050" b="0">
                <a:solidFill>
                  <a:srgbClr val="607477"/>
                </a:solidFill>
                <a:latin typeface="NanumGothic"/>
                <a:ea typeface="NanumGothic"/>
                <a:cs typeface="NanumGothic"/>
              </a:defRPr>
            </a:pPr>
            <a:r>
              <a:rPr sz="1050" b="0">
                <a:solidFill>
                  <a:srgbClr val="607477"/>
                </a:solidFill>
                <a:latin typeface="NanumGothic"/>
                <a:ea typeface="NanumGothic"/>
                <a:cs typeface="NanumGothic"/>
              </a:rPr>
              <a:t>태블릿 쉬움 모드에서 마름모와 예상 라벨로 첫 충돌 위치를 표시한 화면</a:t>
            </a:r>
          </a:p>
        </p:txBody>
      </p:sp>
      <p:sp>
        <p:nvSpPr>
          <p:cNvPr id="9" name="subheading-699.28">
            <a:extLst xmlns:a="http://schemas.openxmlformats.org/drawingml/2006/main">
              <a:ext uri="{FF2B5EF4-FFF2-40B4-BE49-F238E27FC236}">
                <a16:creationId xmlns:a16="http://schemas.microsoft.com/office/drawing/2014/main" id="{8A9519B3-214F-4FE3-B2D7-7F78D85F6A83}"/>
              </a:ext>
            </a:extLst>
          </p:cNvPr>
          <p:cNvSpPr>
            <a:spLocks xmlns:a="http://schemas.openxmlformats.org/drawingml/2006/main" noGrp="1"/>
          </p:cNvSpPr>
          <p:nvPr/>
        </p:nvSpPr>
        <p:spPr>
          <a:xfrm xmlns:a="http://schemas.openxmlformats.org/drawingml/2006/main">
            <a:off x="533400" y="6660642"/>
            <a:ext cx="649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800" b="1">
                <a:solidFill>
                  <a:srgbClr val="2C7A7B"/>
                </a:solidFill>
                <a:latin typeface="NanumGothic"/>
                <a:ea typeface="NanumGothic"/>
                <a:cs typeface="NanumGothic"/>
              </a:defRPr>
            </a:pPr>
            <a:r>
              <a:rPr sz="1800" b="1">
                <a:solidFill>
                  <a:srgbClr val="2C7A7B"/>
                </a:solidFill>
                <a:latin typeface="NanumGothic"/>
                <a:ea typeface="NanumGothic"/>
                <a:cs typeface="NanumGothic"/>
              </a:rPr>
              <a:t>4.4 난이도별 기록 귀속</a:t>
            </a:r>
          </a:p>
        </p:txBody>
      </p:sp>
      <p:sp>
        <p:nvSpPr>
          <p:cNvPr id="10" name="paragraph-753.28">
            <a:extLst xmlns:a="http://schemas.openxmlformats.org/drawingml/2006/main">
              <a:ext uri="{FF2B5EF4-FFF2-40B4-BE49-F238E27FC236}">
                <a16:creationId xmlns:a16="http://schemas.microsoft.com/office/drawing/2014/main" id="{38FAA248-7AC4-47EC-96F8-B46B0ACF6BB9}"/>
              </a:ext>
            </a:extLst>
          </p:cNvPr>
          <p:cNvSpPr>
            <a:spLocks xmlns:a="http://schemas.openxmlformats.org/drawingml/2006/main" noGrp="1"/>
          </p:cNvSpPr>
          <p:nvPr/>
        </p:nvSpPr>
        <p:spPr>
          <a:xfrm xmlns:a="http://schemas.openxmlformats.org/drawingml/2006/main">
            <a:off x="533400" y="7174992"/>
            <a:ext cx="6496050" cy="10408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200" b="0">
                <a:solidFill>
                  <a:srgbClr val="173A3F"/>
                </a:solidFill>
                <a:latin typeface="NanumGothic"/>
                <a:ea typeface="NanumGothic"/>
                <a:cs typeface="NanumGothic"/>
              </a:defRPr>
            </a:pPr>
            <a:r>
              <a:rPr sz="1200" b="0">
                <a:solidFill>
                  <a:srgbClr val="173A3F"/>
                </a:solidFill>
                <a:latin typeface="NanumGothic"/>
                <a:ea typeface="NanumGothic"/>
                <a:cs typeface="NanumGothic"/>
              </a:rPr>
              <a:t>AI 감사에서 앱 재개 중 현재 설정이 완료 당시 난이도를 덮을 수 있는 위험을 세 차례 발견했다. 최종 구현은 runId + stage + pattern + seed identity의 sidecar를 first-write-wins로 저장하고, 정상 완료·완료 상태 복구·성공 샷 직후 크래시 복구가 동일 귀속을 사용한다.</a:t>
            </a:r>
          </a:p>
        </p:txBody>
      </p:sp>
      <p:sp>
        <p:nvSpPr>
          <p:cNvPr id="11" name="paragraph-874.56">
            <a:extLst xmlns:a="http://schemas.openxmlformats.org/drawingml/2006/main">
              <a:ext uri="{FF2B5EF4-FFF2-40B4-BE49-F238E27FC236}">
                <a16:creationId xmlns:a16="http://schemas.microsoft.com/office/drawing/2014/main" id="{385D4343-6254-4708-90EE-AAAEE2010049}"/>
              </a:ext>
            </a:extLst>
          </p:cNvPr>
          <p:cNvSpPr>
            <a:spLocks xmlns:a="http://schemas.openxmlformats.org/drawingml/2006/main" noGrp="1"/>
          </p:cNvSpPr>
          <p:nvPr/>
        </p:nvSpPr>
        <p:spPr>
          <a:xfrm xmlns:a="http://schemas.openxmlformats.org/drawingml/2006/main">
            <a:off x="533400" y="8330184"/>
            <a:ext cx="6496050" cy="577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200" b="0">
                <a:solidFill>
                  <a:srgbClr val="173A3F"/>
                </a:solidFill>
                <a:latin typeface="NanumGothic"/>
                <a:ea typeface="NanumGothic"/>
                <a:cs typeface="NanumGothic"/>
              </a:defRPr>
            </a:pPr>
            <a:r>
              <a:rPr sz="1200" b="0">
                <a:solidFill>
                  <a:srgbClr val="173A3F"/>
                </a:solidFill>
                <a:latin typeface="NanumGothic"/>
                <a:ea typeface="NanumGothic"/>
                <a:cs typeface="NanumGothic"/>
              </a:rPr>
              <a:t>Normal/Easy/metadata 없음 × 3개 완료 경로의 9개 조합에서 진행 해금은 항상 공유하고, Normal만 최고 기록·보너스를 갱신하며, 성공 트랜잭션 뒤 sidecar 삭제를 검증했다.</a:t>
            </a:r>
          </a:p>
        </p:txBody>
      </p:sp>
      <p:sp>
        <p:nvSpPr>
          <p:cNvPr id="12" name="subheading-947.1999999999999">
            <a:extLst xmlns:a="http://schemas.openxmlformats.org/drawingml/2006/main">
              <a:ext uri="{FF2B5EF4-FFF2-40B4-BE49-F238E27FC236}">
                <a16:creationId xmlns:a16="http://schemas.microsoft.com/office/drawing/2014/main" id="{6392D9FC-9C50-4997-BC35-00061CFDB233}"/>
              </a:ext>
            </a:extLst>
          </p:cNvPr>
          <p:cNvSpPr>
            <a:spLocks xmlns:a="http://schemas.openxmlformats.org/drawingml/2006/main" noGrp="1"/>
          </p:cNvSpPr>
          <p:nvPr/>
        </p:nvSpPr>
        <p:spPr>
          <a:xfrm xmlns:a="http://schemas.openxmlformats.org/drawingml/2006/main">
            <a:off x="533400" y="9022080"/>
            <a:ext cx="649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800" b="1">
                <a:solidFill>
                  <a:srgbClr val="2C7A7B"/>
                </a:solidFill>
                <a:latin typeface="NanumGothic"/>
                <a:ea typeface="NanumGothic"/>
                <a:cs typeface="NanumGothic"/>
              </a:defRPr>
            </a:pPr>
            <a:r>
              <a:rPr sz="1800" b="1">
                <a:solidFill>
                  <a:srgbClr val="2C7A7B"/>
                </a:solidFill>
                <a:latin typeface="NanumGothic"/>
                <a:ea typeface="NanumGothic"/>
                <a:cs typeface="NanumGothic"/>
              </a:rPr>
              <a:t>4.5 기믹 우위·보상 시각 언어</a:t>
            </a:r>
          </a:p>
        </p:txBody>
      </p:sp>
    </p:spTree>
    <p:extLst>
      <p:ext uri="{BB962C8B-B14F-4D97-AF65-F5344CB8AC3E}">
        <p14:creationId xmlns:p14="http://schemas.microsoft.com/office/powerpoint/2010/main" val="85836322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unning-label">
            <a:extLst xmlns:a="http://schemas.openxmlformats.org/drawingml/2006/main">
              <a:ext uri="{FF2B5EF4-FFF2-40B4-BE49-F238E27FC236}">
                <a16:creationId xmlns:a16="http://schemas.microsoft.com/office/drawing/2014/main" id="{DD9C2566-6127-49DE-9B8F-69AC3F4CA294}"/>
              </a:ext>
            </a:extLst>
          </p:cNvPr>
          <p:cNvSpPr>
            <a:spLocks xmlns:a="http://schemas.openxmlformats.org/drawingml/2006/main" noGrp="1"/>
          </p:cNvSpPr>
          <p:nvPr/>
        </p:nvSpPr>
        <p:spPr>
          <a:xfrm xmlns:a="http://schemas.openxmlformats.org/drawingml/2006/main">
            <a:off x="533400" y="304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900" b="1">
                <a:solidFill>
                  <a:srgbClr val="2C7A7B"/>
                </a:solidFill>
                <a:latin typeface="NanumGothic"/>
                <a:ea typeface="NanumGothic"/>
                <a:cs typeface="NanumGothic"/>
              </a:defRPr>
            </a:pPr>
            <a:r>
              <a:rPr sz="900" b="1">
                <a:solidFill>
                  <a:srgbClr val="2C7A7B"/>
                </a:solidFill>
                <a:latin typeface="NanumGothic"/>
                <a:ea typeface="NanumGothic"/>
                <a:cs typeface="NanumGothic"/>
              </a:rPr>
              <a:t>Property Shot · AI Technical Report</a:t>
            </a:r>
          </a:p>
        </p:txBody>
      </p:sp>
      <p:sp>
        <p:nvSpPr>
          <p:cNvPr id="2" name="page-number">
            <a:extLst xmlns:a="http://schemas.openxmlformats.org/drawingml/2006/main">
              <a:ext uri="{FF2B5EF4-FFF2-40B4-BE49-F238E27FC236}">
                <a16:creationId xmlns:a16="http://schemas.microsoft.com/office/drawing/2014/main" id="{7668919E-AE95-4F1C-9FF1-71C2CE1E1C55}"/>
              </a:ext>
            </a:extLst>
          </p:cNvPr>
          <p:cNvSpPr>
            <a:spLocks xmlns:a="http://schemas.openxmlformats.org/drawingml/2006/main" noGrp="1"/>
          </p:cNvSpPr>
          <p:nvPr/>
        </p:nvSpPr>
        <p:spPr>
          <a:xfrm xmlns:a="http://schemas.openxmlformats.org/drawingml/2006/main">
            <a:off x="6648450" y="3048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20000"/>
              </a:lnSpc>
              <a:buNone/>
              <a:defRPr sz="900" b="0">
                <a:solidFill>
                  <a:srgbClr val="607477"/>
                </a:solidFill>
                <a:latin typeface="NanumGothic"/>
                <a:ea typeface="NanumGothic"/>
                <a:cs typeface="NanumGothic"/>
              </a:defRPr>
            </a:pPr>
            <a:r>
              <a:rPr sz="900" b="0">
                <a:solidFill>
                  <a:srgbClr val="607477"/>
                </a:solidFill>
                <a:latin typeface="NanumGothic"/>
                <a:ea typeface="NanumGothic"/>
                <a:cs typeface="NanumGothic"/>
              </a:rPr>
              <a:t>9</a:t>
            </a:r>
          </a:p>
        </p:txBody>
      </p:sp>
      <p:sp>
        <p:nvSpPr>
          <p:cNvPr id="3" name="header-rule">
            <a:extLst xmlns:a="http://schemas.openxmlformats.org/drawingml/2006/main">
              <a:ext uri="{FF2B5EF4-FFF2-40B4-BE49-F238E27FC236}">
                <a16:creationId xmlns:a16="http://schemas.microsoft.com/office/drawing/2014/main" id="{207081DE-E30B-4BDC-ADA8-2A7F84E92355}"/>
              </a:ext>
            </a:extLst>
          </p:cNvPr>
          <p:cNvSpPr>
            <a:spLocks xmlns:a="http://schemas.openxmlformats.org/drawingml/2006/main" noGrp="1"/>
          </p:cNvSpPr>
          <p:nvPr/>
        </p:nvSpPr>
        <p:spPr>
          <a:xfrm xmlns:a="http://schemas.openxmlformats.org/drawingml/2006/main">
            <a:off x="533400" y="628650"/>
            <a:ext cx="6496050" cy="28575"/>
          </a:xfrm>
          <a:prstGeom xmlns:a="http://schemas.openxmlformats.org/drawingml/2006/main" prst="rect">
            <a:avLst/>
          </a:prstGeom>
          <a:solidFill xmlns:a="http://schemas.openxmlformats.org/drawingml/2006/main">
            <a:srgbClr val="D7A23D"/>
          </a:solidFill>
          <a:ln xmlns:a="http://schemas.openxmlformats.org/drawingml/2006/main" w="0">
            <a:noFill/>
            <a:prstDash val="solid"/>
          </a:ln>
        </p:spPr>
      </p:sp>
      <p:sp>
        <p:nvSpPr>
          <p:cNvPr id="4" name="slide-title">
            <a:extLst xmlns:a="http://schemas.openxmlformats.org/drawingml/2006/main">
              <a:ext uri="{FF2B5EF4-FFF2-40B4-BE49-F238E27FC236}">
                <a16:creationId xmlns:a16="http://schemas.microsoft.com/office/drawing/2014/main" id="{30DE78DD-93BD-4CCA-848C-FCDECC80A391}"/>
              </a:ext>
            </a:extLst>
          </p:cNvPr>
          <p:cNvSpPr>
            <a:spLocks xmlns:a="http://schemas.openxmlformats.org/drawingml/2006/main" noGrp="1"/>
          </p:cNvSpPr>
          <p:nvPr/>
        </p:nvSpPr>
        <p:spPr>
          <a:xfrm xmlns:a="http://schemas.openxmlformats.org/drawingml/2006/main">
            <a:off x="533400" y="800100"/>
            <a:ext cx="649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l">
              <a:lnSpc>
                <a:spcPct val="120000"/>
              </a:lnSpc>
              <a:buNone/>
              <a:defRPr sz="2625" b="1">
                <a:solidFill>
                  <a:srgbClr val="173A3F"/>
                </a:solidFill>
                <a:latin typeface="NanumGothic"/>
                <a:ea typeface="NanumGothic"/>
                <a:cs typeface="NanumGothic"/>
              </a:defRPr>
            </a:pPr>
            <a:r>
              <a:rPr sz="2625" b="1">
                <a:solidFill>
                  <a:srgbClr val="173A3F"/>
                </a:solidFill>
                <a:latin typeface="NanumGothic"/>
                <a:ea typeface="NanumGothic"/>
                <a:cs typeface="NanumGothic"/>
              </a:rPr>
              <a:t>4. AI 지원 구현 사례 · 계속</a:t>
            </a:r>
          </a:p>
        </p:txBody>
      </p:sp>
      <p:sp>
        <p:nvSpPr>
          <p:cNvPr id="5" name="paragraph-140">
            <a:extLst xmlns:a="http://schemas.openxmlformats.org/drawingml/2006/main">
              <a:ext uri="{FF2B5EF4-FFF2-40B4-BE49-F238E27FC236}">
                <a16:creationId xmlns:a16="http://schemas.microsoft.com/office/drawing/2014/main" id="{90AD0490-D331-4D18-8B9E-749C89DC72B2}"/>
              </a:ext>
            </a:extLst>
          </p:cNvPr>
          <p:cNvSpPr>
            <a:spLocks xmlns:a="http://schemas.openxmlformats.org/drawingml/2006/main" noGrp="1"/>
          </p:cNvSpPr>
          <p:nvPr/>
        </p:nvSpPr>
        <p:spPr>
          <a:xfrm xmlns:a="http://schemas.openxmlformats.org/drawingml/2006/main">
            <a:off x="533400" y="1333500"/>
            <a:ext cx="6496050" cy="1504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200" b="0">
                <a:solidFill>
                  <a:srgbClr val="173A3F"/>
                </a:solidFill>
                <a:latin typeface="NanumGothic"/>
                <a:ea typeface="NanumGothic"/>
                <a:cs typeface="NanumGothic"/>
              </a:defRPr>
            </a:pPr>
            <a:r>
              <a:rPr sz="1200" b="0">
                <a:solidFill>
                  <a:srgbClr val="173A3F"/>
                </a:solidFill>
                <a:latin typeface="NanumGothic"/>
                <a:ea typeface="NanumGothic"/>
                <a:cs typeface="NanumGothic"/>
              </a:rPr>
              <a:t>사용자 캡처에서 드러난 직행 우회를 막기 위해 기준·변형 패턴의 홀·벽·문·스위치 배치를 조정했다. 자동 검증은 40개 생산 패턴을 모두 순회한다. 단발 32패턴은 기믹 성공 영역이 무기믹 우회보다 개별 1.40배 이상이어야 한다. 7·10단계는 같은 900개 최종 입력을 준비 상태와 초기 상태에 각각 적용해 표본 분모를 같게 하고, typed 준비 사건·문 상태 변화·같은 최종 입력 실패를 먼저 증명한다. 8단계는 같은 홀 진입에서 연쇄 점수 1.45배 이상을 요구한다.</a:t>
            </a:r>
          </a:p>
        </p:txBody>
      </p:sp>
      <p:sp>
        <p:nvSpPr>
          <p:cNvPr id="6" name="paragraph-309.92">
            <a:extLst xmlns:a="http://schemas.openxmlformats.org/drawingml/2006/main">
              <a:ext uri="{FF2B5EF4-FFF2-40B4-BE49-F238E27FC236}">
                <a16:creationId xmlns:a16="http://schemas.microsoft.com/office/drawing/2014/main" id="{6EDBFB50-AA12-4D60-955F-E667CE79B39D}"/>
              </a:ext>
            </a:extLst>
          </p:cNvPr>
          <p:cNvSpPr>
            <a:spLocks xmlns:a="http://schemas.openxmlformats.org/drawingml/2006/main" noGrp="1"/>
          </p:cNvSpPr>
          <p:nvPr/>
        </p:nvSpPr>
        <p:spPr>
          <a:xfrm xmlns:a="http://schemas.openxmlformats.org/drawingml/2006/main">
            <a:off x="533400" y="2951988"/>
            <a:ext cx="6496050" cy="10408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200" b="0">
                <a:solidFill>
                  <a:srgbClr val="173A3F"/>
                </a:solidFill>
                <a:latin typeface="NanumGothic"/>
                <a:ea typeface="NanumGothic"/>
                <a:cs typeface="NanumGothic"/>
              </a:defRPr>
            </a:pPr>
            <a:r>
              <a:rPr sz="1200" b="0">
                <a:solidFill>
                  <a:srgbClr val="173A3F"/>
                </a:solidFill>
                <a:latin typeface="NanumGothic"/>
                <a:ea typeface="NanumGothic"/>
                <a:cs typeface="NanumGothic"/>
              </a:rPr>
              <a:t>기존 런 보상 8종과 다음 스테이지 팁 1종, 총 9종은 Flutter의 무료 Material Icons에서 기능별 아이콘을 매핑했다. 청록/금색 꾸미기는 공 본체의 채움·테두리·하이라이트를 함께 바꿔 다음 스테이지에서도 변화가 식별되도록 했고, 비교 Golden과 실제 단계 Golden을 추가했다.</a:t>
            </a:r>
          </a:p>
        </p:txBody>
      </p:sp>
      <p:sp>
        <p:nvSpPr>
          <p:cNvPr id="7" name="subheading-431.20000000000005">
            <a:extLst xmlns:a="http://schemas.openxmlformats.org/drawingml/2006/main">
              <a:ext uri="{FF2B5EF4-FFF2-40B4-BE49-F238E27FC236}">
                <a16:creationId xmlns:a16="http://schemas.microsoft.com/office/drawing/2014/main" id="{40F545A7-105F-4A41-80BA-C31A7E75826E}"/>
              </a:ext>
            </a:extLst>
          </p:cNvPr>
          <p:cNvSpPr>
            <a:spLocks xmlns:a="http://schemas.openxmlformats.org/drawingml/2006/main" noGrp="1"/>
          </p:cNvSpPr>
          <p:nvPr/>
        </p:nvSpPr>
        <p:spPr>
          <a:xfrm xmlns:a="http://schemas.openxmlformats.org/drawingml/2006/main">
            <a:off x="533400" y="4107180"/>
            <a:ext cx="649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800" b="1">
                <a:solidFill>
                  <a:srgbClr val="2C7A7B"/>
                </a:solidFill>
                <a:latin typeface="NanumGothic"/>
                <a:ea typeface="NanumGothic"/>
                <a:cs typeface="NanumGothic"/>
              </a:defRPr>
            </a:pPr>
            <a:r>
              <a:rPr sz="1800" b="1">
                <a:solidFill>
                  <a:srgbClr val="2C7A7B"/>
                </a:solidFill>
                <a:latin typeface="NanumGothic"/>
                <a:ea typeface="NanumGothic"/>
                <a:cs typeface="NanumGothic"/>
              </a:rPr>
              <a:t>4.6 패턴 힌트·비물리 열쇠·저장 복구</a:t>
            </a:r>
          </a:p>
        </p:txBody>
      </p:sp>
      <p:sp>
        <p:nvSpPr>
          <p:cNvPr id="8" name="paragraph-485.20000000000005">
            <a:extLst xmlns:a="http://schemas.openxmlformats.org/drawingml/2006/main">
              <a:ext uri="{FF2B5EF4-FFF2-40B4-BE49-F238E27FC236}">
                <a16:creationId xmlns:a16="http://schemas.microsoft.com/office/drawing/2014/main" id="{63B37BB0-E0BE-42CA-A989-1CC1E55EE80C}"/>
              </a:ext>
            </a:extLst>
          </p:cNvPr>
          <p:cNvSpPr>
            <a:spLocks xmlns:a="http://schemas.openxmlformats.org/drawingml/2006/main" noGrp="1"/>
          </p:cNvSpPr>
          <p:nvPr/>
        </p:nvSpPr>
        <p:spPr>
          <a:xfrm xmlns:a="http://schemas.openxmlformats.org/drawingml/2006/main">
            <a:off x="533400" y="4621530"/>
            <a:ext cx="6496050" cy="10408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200" b="0">
                <a:solidFill>
                  <a:srgbClr val="173A3F"/>
                </a:solidFill>
                <a:latin typeface="NanumGothic"/>
                <a:ea typeface="NanumGothic"/>
                <a:cs typeface="NanumGothic"/>
              </a:defRPr>
            </a:pPr>
            <a:r>
              <a:rPr sz="1200" b="0">
                <a:solidFill>
                  <a:srgbClr val="173A3F"/>
                </a:solidFill>
                <a:latin typeface="NanumGothic"/>
                <a:ea typeface="NanumGothic"/>
                <a:cs typeface="NanumGothic"/>
              </a:rPr>
              <a:t>HintCatalog v1은 40개 생산 패턴 각각에 정확히 L1·L2를 제공한다. Validator는 잘못된 패턴/기물 참조, 누락·중복·L3, 숫자 정답과 추상 문장을 거부한다. 다음 단계 팁 보상은 이미 선추첨된 다음 패턴 정체성에 결속하고, 일일 도전에서는 사용할 수 없는 후보를 제외한다.</a:t>
            </a:r>
          </a:p>
        </p:txBody>
      </p:sp>
      <p:sp>
        <p:nvSpPr>
          <p:cNvPr id="9" name="paragraph-606.48">
            <a:extLst xmlns:a="http://schemas.openxmlformats.org/drawingml/2006/main">
              <a:ext uri="{FF2B5EF4-FFF2-40B4-BE49-F238E27FC236}">
                <a16:creationId xmlns:a16="http://schemas.microsoft.com/office/drawing/2014/main" id="{61F58765-DDF5-4535-A125-80555109289D}"/>
              </a:ext>
            </a:extLst>
          </p:cNvPr>
          <p:cNvSpPr>
            <a:spLocks xmlns:a="http://schemas.openxmlformats.org/drawingml/2006/main" noGrp="1"/>
          </p:cNvSpPr>
          <p:nvPr/>
        </p:nvSpPr>
        <p:spPr>
          <a:xfrm xmlns:a="http://schemas.openxmlformats.org/drawingml/2006/main">
            <a:off x="533400" y="5776722"/>
            <a:ext cx="6496050" cy="12725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200" b="0">
                <a:solidFill>
                  <a:srgbClr val="173A3F"/>
                </a:solidFill>
                <a:latin typeface="NanumGothic"/>
                <a:ea typeface="NanumGothic"/>
                <a:cs typeface="NanumGothic"/>
              </a:defRPr>
            </a:pPr>
            <a:r>
              <a:rPr sz="1200" b="0">
                <a:solidFill>
                  <a:srgbClr val="173A3F"/>
                </a:solidFill>
                <a:latin typeface="NanumGothic"/>
                <a:ea typeface="NanumGothic"/>
                <a:cs typeface="NanumGothic"/>
              </a:rPr>
              <a:t>열쇠 판정은 ShotResolver 물리에 엔티티를 추가하지 않고, 확정된 현재 공·과거 공 경로의 모든 접촉 후보를 시간순으로 정렬해 열쇠별 첫 직접 접촉만 채택한다. 느린 저장 중에도 샷 애니메이션은 바로 진행되고, 저장 성공 뒤에만 열쇠 제거·VFX·힌트 버튼을 반영한다. RunState v3는 v1/v2 마이그레이션, L3→L2 clamp, 실패 전후 기준값과 권한 불변식을 검증한다.</a:t>
            </a:r>
          </a:p>
        </p:txBody>
      </p:sp>
    </p:spTree>
    <p:extLst>
      <p:ext uri="{BB962C8B-B14F-4D97-AF65-F5344CB8AC3E}">
        <p14:creationId xmlns:p14="http://schemas.microsoft.com/office/powerpoint/2010/main" val="99239798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running-label">
            <a:extLst xmlns:a="http://schemas.openxmlformats.org/drawingml/2006/main">
              <a:ext uri="{FF2B5EF4-FFF2-40B4-BE49-F238E27FC236}">
                <a16:creationId xmlns:a16="http://schemas.microsoft.com/office/drawing/2014/main" id="{B150F821-439B-40BC-A35D-873563FE51ED}"/>
              </a:ext>
            </a:extLst>
          </p:cNvPr>
          <p:cNvSpPr>
            <a:spLocks xmlns:a="http://schemas.openxmlformats.org/drawingml/2006/main" noGrp="1"/>
          </p:cNvSpPr>
          <p:nvPr/>
        </p:nvSpPr>
        <p:spPr>
          <a:xfrm xmlns:a="http://schemas.openxmlformats.org/drawingml/2006/main">
            <a:off x="533400" y="304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900" b="1">
                <a:solidFill>
                  <a:srgbClr val="2C7A7B"/>
                </a:solidFill>
                <a:latin typeface="NanumGothic"/>
                <a:ea typeface="NanumGothic"/>
                <a:cs typeface="NanumGothic"/>
              </a:defRPr>
            </a:pPr>
            <a:r>
              <a:rPr sz="900" b="1">
                <a:solidFill>
                  <a:srgbClr val="2C7A7B"/>
                </a:solidFill>
                <a:latin typeface="NanumGothic"/>
                <a:ea typeface="NanumGothic"/>
                <a:cs typeface="NanumGothic"/>
              </a:rPr>
              <a:t>Property Shot · AI Technical Report</a:t>
            </a:r>
          </a:p>
        </p:txBody>
      </p:sp>
      <p:sp>
        <p:nvSpPr>
          <p:cNvPr id="2" name="page-number">
            <a:extLst xmlns:a="http://schemas.openxmlformats.org/drawingml/2006/main">
              <a:ext uri="{FF2B5EF4-FFF2-40B4-BE49-F238E27FC236}">
                <a16:creationId xmlns:a16="http://schemas.microsoft.com/office/drawing/2014/main" id="{AC3C04FD-7137-41EC-B9E8-4763E90A71CE}"/>
              </a:ext>
            </a:extLst>
          </p:cNvPr>
          <p:cNvSpPr>
            <a:spLocks xmlns:a="http://schemas.openxmlformats.org/drawingml/2006/main" noGrp="1"/>
          </p:cNvSpPr>
          <p:nvPr/>
        </p:nvSpPr>
        <p:spPr>
          <a:xfrm xmlns:a="http://schemas.openxmlformats.org/drawingml/2006/main">
            <a:off x="6648450" y="3048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20000"/>
              </a:lnSpc>
              <a:buNone/>
              <a:defRPr sz="900" b="0">
                <a:solidFill>
                  <a:srgbClr val="607477"/>
                </a:solidFill>
                <a:latin typeface="NanumGothic"/>
                <a:ea typeface="NanumGothic"/>
                <a:cs typeface="NanumGothic"/>
              </a:defRPr>
            </a:pPr>
            <a:r>
              <a:rPr sz="900" b="0">
                <a:solidFill>
                  <a:srgbClr val="607477"/>
                </a:solidFill>
                <a:latin typeface="NanumGothic"/>
                <a:ea typeface="NanumGothic"/>
                <a:cs typeface="NanumGothic"/>
              </a:rPr>
              <a:t>10</a:t>
            </a:r>
          </a:p>
        </p:txBody>
      </p:sp>
      <p:sp>
        <p:nvSpPr>
          <p:cNvPr id="3" name="header-rule">
            <a:extLst xmlns:a="http://schemas.openxmlformats.org/drawingml/2006/main">
              <a:ext uri="{FF2B5EF4-FFF2-40B4-BE49-F238E27FC236}">
                <a16:creationId xmlns:a16="http://schemas.microsoft.com/office/drawing/2014/main" id="{76D8F72D-1168-4DD2-92AA-5574388E3F39}"/>
              </a:ext>
            </a:extLst>
          </p:cNvPr>
          <p:cNvSpPr>
            <a:spLocks xmlns:a="http://schemas.openxmlformats.org/drawingml/2006/main" noGrp="1"/>
          </p:cNvSpPr>
          <p:nvPr/>
        </p:nvSpPr>
        <p:spPr>
          <a:xfrm xmlns:a="http://schemas.openxmlformats.org/drawingml/2006/main">
            <a:off x="533400" y="628650"/>
            <a:ext cx="6496050" cy="28575"/>
          </a:xfrm>
          <a:prstGeom xmlns:a="http://schemas.openxmlformats.org/drawingml/2006/main" prst="rect">
            <a:avLst/>
          </a:prstGeom>
          <a:solidFill xmlns:a="http://schemas.openxmlformats.org/drawingml/2006/main">
            <a:srgbClr val="D7A23D"/>
          </a:solidFill>
          <a:ln xmlns:a="http://schemas.openxmlformats.org/drawingml/2006/main" w="0">
            <a:noFill/>
            <a:prstDash val="solid"/>
          </a:ln>
        </p:spPr>
      </p:sp>
      <p:sp>
        <p:nvSpPr>
          <p:cNvPr id="4" name="slide-title">
            <a:extLst xmlns:a="http://schemas.openxmlformats.org/drawingml/2006/main">
              <a:ext uri="{FF2B5EF4-FFF2-40B4-BE49-F238E27FC236}">
                <a16:creationId xmlns:a16="http://schemas.microsoft.com/office/drawing/2014/main" id="{00FCC38E-58E3-4D8F-8AB2-995F26EFD0C3}"/>
              </a:ext>
            </a:extLst>
          </p:cNvPr>
          <p:cNvSpPr>
            <a:spLocks xmlns:a="http://schemas.openxmlformats.org/drawingml/2006/main" noGrp="1"/>
          </p:cNvSpPr>
          <p:nvPr/>
        </p:nvSpPr>
        <p:spPr>
          <a:xfrm xmlns:a="http://schemas.openxmlformats.org/drawingml/2006/main">
            <a:off x="533400" y="800100"/>
            <a:ext cx="649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l">
              <a:lnSpc>
                <a:spcPct val="120000"/>
              </a:lnSpc>
              <a:buNone/>
              <a:defRPr sz="2625" b="1">
                <a:solidFill>
                  <a:srgbClr val="173A3F"/>
                </a:solidFill>
                <a:latin typeface="NanumGothic"/>
                <a:ea typeface="NanumGothic"/>
                <a:cs typeface="NanumGothic"/>
              </a:defRPr>
            </a:pPr>
            <a:r>
              <a:rPr sz="2625" b="1">
                <a:solidFill>
                  <a:srgbClr val="173A3F"/>
                </a:solidFill>
                <a:latin typeface="NanumGothic"/>
                <a:ea typeface="NanumGothic"/>
                <a:cs typeface="NanumGothic"/>
              </a:rPr>
              <a:t>5. 검증 및 AI 결과 채택 기준</a:t>
            </a:r>
          </a:p>
        </p:txBody>
      </p:sp>
      <p:sp>
        <p:nvSpPr>
          <p:cNvPr id="5" name="table-cell-140-0-0">
            <a:extLst xmlns:a="http://schemas.openxmlformats.org/drawingml/2006/main">
              <a:ext uri="{FF2B5EF4-FFF2-40B4-BE49-F238E27FC236}">
                <a16:creationId xmlns:a16="http://schemas.microsoft.com/office/drawing/2014/main" id="{BE866893-7B4A-449A-AC7F-A8E19C30C090}"/>
              </a:ext>
            </a:extLst>
          </p:cNvPr>
          <p:cNvSpPr>
            <a:spLocks xmlns:a="http://schemas.openxmlformats.org/drawingml/2006/main" noGrp="1"/>
          </p:cNvSpPr>
          <p:nvPr/>
        </p:nvSpPr>
        <p:spPr>
          <a:xfrm xmlns:a="http://schemas.openxmlformats.org/drawingml/2006/main">
            <a:off x="533400" y="1333500"/>
            <a:ext cx="3248025" cy="457200"/>
          </a:xfrm>
          <a:prstGeom xmlns:a="http://schemas.openxmlformats.org/drawingml/2006/main" prst="rect">
            <a:avLst/>
          </a:prstGeom>
          <a:solidFill xmlns:a="http://schemas.openxmlformats.org/drawingml/2006/main">
            <a:srgbClr val="E8F4F1"/>
          </a:solidFill>
          <a:ln xmlns:a="http://schemas.openxmlformats.org/drawingml/2006/main" w="9525">
            <a:solidFill>
              <a:srgbClr val="D7E1DE"/>
            </a:solidFill>
            <a:prstDash val="solid"/>
          </a:ln>
        </p:spPr>
      </p:sp>
      <p:sp>
        <p:nvSpPr>
          <p:cNvPr id="6" name="table-text-140-0-0">
            <a:extLst xmlns:a="http://schemas.openxmlformats.org/drawingml/2006/main">
              <a:ext uri="{FF2B5EF4-FFF2-40B4-BE49-F238E27FC236}">
                <a16:creationId xmlns:a16="http://schemas.microsoft.com/office/drawing/2014/main" id="{D73B7BA0-5916-4985-A930-77B9FF1D8065}"/>
              </a:ext>
            </a:extLst>
          </p:cNvPr>
          <p:cNvSpPr>
            <a:spLocks xmlns:a="http://schemas.openxmlformats.org/drawingml/2006/main" noGrp="1"/>
          </p:cNvSpPr>
          <p:nvPr/>
        </p:nvSpPr>
        <p:spPr>
          <a:xfrm xmlns:a="http://schemas.openxmlformats.org/drawingml/2006/main">
            <a:off x="619125" y="1400175"/>
            <a:ext cx="30765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a:solidFill>
                  <a:srgbClr val="173A3F"/>
                </a:solidFill>
                <a:latin typeface="NanumGothic"/>
                <a:ea typeface="NanumGothic"/>
                <a:cs typeface="NanumGothic"/>
              </a:defRPr>
            </a:pPr>
            <a:r>
              <a:rPr sz="1050" b="1">
                <a:solidFill>
                  <a:srgbClr val="173A3F"/>
                </a:solidFill>
                <a:latin typeface="NanumGothic"/>
                <a:ea typeface="NanumGothic"/>
                <a:cs typeface="NanumGothic"/>
              </a:rPr>
              <a:t>검증</a:t>
            </a:r>
          </a:p>
        </p:txBody>
      </p:sp>
      <p:sp>
        <p:nvSpPr>
          <p:cNvPr id="7" name="table-cell-140-0-1">
            <a:extLst xmlns:a="http://schemas.openxmlformats.org/drawingml/2006/main">
              <a:ext uri="{FF2B5EF4-FFF2-40B4-BE49-F238E27FC236}">
                <a16:creationId xmlns:a16="http://schemas.microsoft.com/office/drawing/2014/main" id="{7610158A-30EB-4BD3-A3A1-9B3CC266ACC1}"/>
              </a:ext>
            </a:extLst>
          </p:cNvPr>
          <p:cNvSpPr>
            <a:spLocks xmlns:a="http://schemas.openxmlformats.org/drawingml/2006/main" noGrp="1"/>
          </p:cNvSpPr>
          <p:nvPr/>
        </p:nvSpPr>
        <p:spPr>
          <a:xfrm xmlns:a="http://schemas.openxmlformats.org/drawingml/2006/main">
            <a:off x="3781425" y="1333500"/>
            <a:ext cx="3248025" cy="457200"/>
          </a:xfrm>
          <a:prstGeom xmlns:a="http://schemas.openxmlformats.org/drawingml/2006/main" prst="rect">
            <a:avLst/>
          </a:prstGeom>
          <a:solidFill xmlns:a="http://schemas.openxmlformats.org/drawingml/2006/main">
            <a:srgbClr val="E8F4F1"/>
          </a:solidFill>
          <a:ln xmlns:a="http://schemas.openxmlformats.org/drawingml/2006/main" w="9525">
            <a:solidFill>
              <a:srgbClr val="D7E1DE"/>
            </a:solidFill>
            <a:prstDash val="solid"/>
          </a:ln>
        </p:spPr>
      </p:sp>
      <p:sp>
        <p:nvSpPr>
          <p:cNvPr id="8" name="table-text-140-0-1">
            <a:extLst xmlns:a="http://schemas.openxmlformats.org/drawingml/2006/main">
              <a:ext uri="{FF2B5EF4-FFF2-40B4-BE49-F238E27FC236}">
                <a16:creationId xmlns:a16="http://schemas.microsoft.com/office/drawing/2014/main" id="{5F9DA99F-5105-4777-9592-23A1A6147BE2}"/>
              </a:ext>
            </a:extLst>
          </p:cNvPr>
          <p:cNvSpPr>
            <a:spLocks xmlns:a="http://schemas.openxmlformats.org/drawingml/2006/main" noGrp="1"/>
          </p:cNvSpPr>
          <p:nvPr/>
        </p:nvSpPr>
        <p:spPr>
          <a:xfrm xmlns:a="http://schemas.openxmlformats.org/drawingml/2006/main">
            <a:off x="3867150" y="1400175"/>
            <a:ext cx="30765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a:solidFill>
                  <a:srgbClr val="173A3F"/>
                </a:solidFill>
                <a:latin typeface="NanumGothic"/>
                <a:ea typeface="NanumGothic"/>
                <a:cs typeface="NanumGothic"/>
              </a:defRPr>
            </a:pPr>
            <a:r>
              <a:rPr sz="1050" b="1">
                <a:solidFill>
                  <a:srgbClr val="173A3F"/>
                </a:solidFill>
                <a:latin typeface="NanumGothic"/>
                <a:ea typeface="NanumGothic"/>
                <a:cs typeface="NanumGothic"/>
              </a:rPr>
              <a:t>최종 결과</a:t>
            </a:r>
          </a:p>
        </p:txBody>
      </p:sp>
      <p:sp>
        <p:nvSpPr>
          <p:cNvPr id="9" name="table-cell-140-1-0">
            <a:extLst xmlns:a="http://schemas.openxmlformats.org/drawingml/2006/main">
              <a:ext uri="{FF2B5EF4-FFF2-40B4-BE49-F238E27FC236}">
                <a16:creationId xmlns:a16="http://schemas.microsoft.com/office/drawing/2014/main" id="{04631DD4-D2F2-463D-9655-8FA0B52685B1}"/>
              </a:ext>
            </a:extLst>
          </p:cNvPr>
          <p:cNvSpPr>
            <a:spLocks xmlns:a="http://schemas.openxmlformats.org/drawingml/2006/main" noGrp="1"/>
          </p:cNvSpPr>
          <p:nvPr/>
        </p:nvSpPr>
        <p:spPr>
          <a:xfrm xmlns:a="http://schemas.openxmlformats.org/drawingml/2006/main">
            <a:off x="533400" y="1790700"/>
            <a:ext cx="3248025" cy="711518"/>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10" name="table-text-140-1-0">
            <a:extLst xmlns:a="http://schemas.openxmlformats.org/drawingml/2006/main">
              <a:ext uri="{FF2B5EF4-FFF2-40B4-BE49-F238E27FC236}">
                <a16:creationId xmlns:a16="http://schemas.microsoft.com/office/drawing/2014/main" id="{52834E67-CCDA-4690-8C99-2DEEB9B6DCA8}"/>
              </a:ext>
            </a:extLst>
          </p:cNvPr>
          <p:cNvSpPr>
            <a:spLocks xmlns:a="http://schemas.openxmlformats.org/drawingml/2006/main" noGrp="1"/>
          </p:cNvSpPr>
          <p:nvPr/>
        </p:nvSpPr>
        <p:spPr>
          <a:xfrm xmlns:a="http://schemas.openxmlformats.org/drawingml/2006/main">
            <a:off x="619125" y="1857375"/>
            <a:ext cx="3076575" cy="5781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전체 회귀</a:t>
            </a:r>
          </a:p>
        </p:txBody>
      </p:sp>
      <p:sp>
        <p:nvSpPr>
          <p:cNvPr id="11" name="table-cell-140-1-1">
            <a:extLst xmlns:a="http://schemas.openxmlformats.org/drawingml/2006/main">
              <a:ext uri="{FF2B5EF4-FFF2-40B4-BE49-F238E27FC236}">
                <a16:creationId xmlns:a16="http://schemas.microsoft.com/office/drawing/2014/main" id="{6F1FCFC6-BFE3-4D8C-92FC-C1F3038DE165}"/>
              </a:ext>
            </a:extLst>
          </p:cNvPr>
          <p:cNvSpPr>
            <a:spLocks xmlns:a="http://schemas.openxmlformats.org/drawingml/2006/main" noGrp="1"/>
          </p:cNvSpPr>
          <p:nvPr/>
        </p:nvSpPr>
        <p:spPr>
          <a:xfrm xmlns:a="http://schemas.openxmlformats.org/drawingml/2006/main">
            <a:off x="3781425" y="1790700"/>
            <a:ext cx="3248025" cy="711518"/>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12" name="table-text-140-1-1">
            <a:extLst xmlns:a="http://schemas.openxmlformats.org/drawingml/2006/main">
              <a:ext uri="{FF2B5EF4-FFF2-40B4-BE49-F238E27FC236}">
                <a16:creationId xmlns:a16="http://schemas.microsoft.com/office/drawing/2014/main" id="{6E7D88AE-20A2-485D-B6E8-1BE9547BE575}"/>
              </a:ext>
            </a:extLst>
          </p:cNvPr>
          <p:cNvSpPr>
            <a:spLocks xmlns:a="http://schemas.openxmlformats.org/drawingml/2006/main" noGrp="1"/>
          </p:cNvSpPr>
          <p:nvPr/>
        </p:nvSpPr>
        <p:spPr>
          <a:xfrm xmlns:a="http://schemas.openxmlformats.org/drawingml/2006/main">
            <a:off x="3867150" y="1857375"/>
            <a:ext cx="3076575" cy="5781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636"/>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단 한 번의 직렬 실행 1,062건 중 997건 통과·65건 실패. stale Golden 61장과 레벨 7·10 replay fixture를 실제 결과에 맞춰 검토한 뒤 Golden 67/67, replay·결정론 9/9, 핵심 변경 239/239를 표적 재검증</a:t>
            </a:r>
          </a:p>
        </p:txBody>
      </p:sp>
      <p:sp>
        <p:nvSpPr>
          <p:cNvPr id="13" name="table-cell-140-2-0">
            <a:extLst xmlns:a="http://schemas.openxmlformats.org/drawingml/2006/main">
              <a:ext uri="{FF2B5EF4-FFF2-40B4-BE49-F238E27FC236}">
                <a16:creationId xmlns:a16="http://schemas.microsoft.com/office/drawing/2014/main" id="{DFB3D07C-606B-4FB3-A4D2-76C440CB8FC2}"/>
              </a:ext>
            </a:extLst>
          </p:cNvPr>
          <p:cNvSpPr>
            <a:spLocks xmlns:a="http://schemas.openxmlformats.org/drawingml/2006/main" noGrp="1"/>
          </p:cNvSpPr>
          <p:nvPr/>
        </p:nvSpPr>
        <p:spPr>
          <a:xfrm xmlns:a="http://schemas.openxmlformats.org/drawingml/2006/main">
            <a:off x="533400" y="2502218"/>
            <a:ext cx="3248025" cy="400050"/>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14" name="table-text-140-2-0">
            <a:extLst xmlns:a="http://schemas.openxmlformats.org/drawingml/2006/main">
              <a:ext uri="{FF2B5EF4-FFF2-40B4-BE49-F238E27FC236}">
                <a16:creationId xmlns:a16="http://schemas.microsoft.com/office/drawing/2014/main" id="{613396C9-7B56-4D23-8162-EAE362DCD76A}"/>
              </a:ext>
            </a:extLst>
          </p:cNvPr>
          <p:cNvSpPr>
            <a:spLocks xmlns:a="http://schemas.openxmlformats.org/drawingml/2006/main" noGrp="1"/>
          </p:cNvSpPr>
          <p:nvPr/>
        </p:nvSpPr>
        <p:spPr>
          <a:xfrm xmlns:a="http://schemas.openxmlformats.org/drawingml/2006/main">
            <a:off x="619125" y="2568893"/>
            <a:ext cx="3076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정적 분석</a:t>
            </a:r>
          </a:p>
        </p:txBody>
      </p:sp>
      <p:sp>
        <p:nvSpPr>
          <p:cNvPr id="15" name="table-cell-140-2-1">
            <a:extLst xmlns:a="http://schemas.openxmlformats.org/drawingml/2006/main">
              <a:ext uri="{FF2B5EF4-FFF2-40B4-BE49-F238E27FC236}">
                <a16:creationId xmlns:a16="http://schemas.microsoft.com/office/drawing/2014/main" id="{ACB36727-CF35-4084-8F82-2A9676676DB2}"/>
              </a:ext>
            </a:extLst>
          </p:cNvPr>
          <p:cNvSpPr>
            <a:spLocks xmlns:a="http://schemas.openxmlformats.org/drawingml/2006/main" noGrp="1"/>
          </p:cNvSpPr>
          <p:nvPr/>
        </p:nvSpPr>
        <p:spPr>
          <a:xfrm xmlns:a="http://schemas.openxmlformats.org/drawingml/2006/main">
            <a:off x="3781425" y="2502218"/>
            <a:ext cx="3248025" cy="400050"/>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16" name="table-text-140-2-1">
            <a:extLst xmlns:a="http://schemas.openxmlformats.org/drawingml/2006/main">
              <a:ext uri="{FF2B5EF4-FFF2-40B4-BE49-F238E27FC236}">
                <a16:creationId xmlns:a16="http://schemas.microsoft.com/office/drawing/2014/main" id="{C7366D67-6E52-496C-A4FA-638B1239D89F}"/>
              </a:ext>
            </a:extLst>
          </p:cNvPr>
          <p:cNvSpPr>
            <a:spLocks xmlns:a="http://schemas.openxmlformats.org/drawingml/2006/main" noGrp="1"/>
          </p:cNvSpPr>
          <p:nvPr/>
        </p:nvSpPr>
        <p:spPr>
          <a:xfrm xmlns:a="http://schemas.openxmlformats.org/drawingml/2006/main">
            <a:off x="3867150" y="2568893"/>
            <a:ext cx="3076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문제 0건</a:t>
            </a:r>
          </a:p>
        </p:txBody>
      </p:sp>
      <p:sp>
        <p:nvSpPr>
          <p:cNvPr id="17" name="table-cell-140-3-0">
            <a:extLst xmlns:a="http://schemas.openxmlformats.org/drawingml/2006/main">
              <a:ext uri="{FF2B5EF4-FFF2-40B4-BE49-F238E27FC236}">
                <a16:creationId xmlns:a16="http://schemas.microsoft.com/office/drawing/2014/main" id="{75D47656-80BA-43F9-9E63-7F3333E56B76}"/>
              </a:ext>
            </a:extLst>
          </p:cNvPr>
          <p:cNvSpPr>
            <a:spLocks xmlns:a="http://schemas.openxmlformats.org/drawingml/2006/main" noGrp="1"/>
          </p:cNvSpPr>
          <p:nvPr/>
        </p:nvSpPr>
        <p:spPr>
          <a:xfrm xmlns:a="http://schemas.openxmlformats.org/drawingml/2006/main">
            <a:off x="533400" y="2902268"/>
            <a:ext cx="3248025" cy="531495"/>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18" name="table-text-140-3-0">
            <a:extLst xmlns:a="http://schemas.openxmlformats.org/drawingml/2006/main">
              <a:ext uri="{FF2B5EF4-FFF2-40B4-BE49-F238E27FC236}">
                <a16:creationId xmlns:a16="http://schemas.microsoft.com/office/drawing/2014/main" id="{B9DEED2D-85AB-439F-8914-525E1D21B27B}"/>
              </a:ext>
            </a:extLst>
          </p:cNvPr>
          <p:cNvSpPr>
            <a:spLocks xmlns:a="http://schemas.openxmlformats.org/drawingml/2006/main" noGrp="1"/>
          </p:cNvSpPr>
          <p:nvPr/>
        </p:nvSpPr>
        <p:spPr>
          <a:xfrm xmlns:a="http://schemas.openxmlformats.org/drawingml/2006/main">
            <a:off x="619125" y="2968943"/>
            <a:ext cx="3076575"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보통 모드 화면</a:t>
            </a:r>
          </a:p>
        </p:txBody>
      </p:sp>
      <p:sp>
        <p:nvSpPr>
          <p:cNvPr id="19" name="table-cell-140-3-1">
            <a:extLst xmlns:a="http://schemas.openxmlformats.org/drawingml/2006/main">
              <a:ext uri="{FF2B5EF4-FFF2-40B4-BE49-F238E27FC236}">
                <a16:creationId xmlns:a16="http://schemas.microsoft.com/office/drawing/2014/main" id="{D41970DA-2935-451F-868A-990CD3156A08}"/>
              </a:ext>
            </a:extLst>
          </p:cNvPr>
          <p:cNvSpPr>
            <a:spLocks xmlns:a="http://schemas.openxmlformats.org/drawingml/2006/main" noGrp="1"/>
          </p:cNvSpPr>
          <p:nvPr/>
        </p:nvSpPr>
        <p:spPr>
          <a:xfrm xmlns:a="http://schemas.openxmlformats.org/drawingml/2006/main">
            <a:off x="3781425" y="2902268"/>
            <a:ext cx="3248025" cy="531495"/>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20" name="table-text-140-3-1">
            <a:extLst xmlns:a="http://schemas.openxmlformats.org/drawingml/2006/main">
              <a:ext uri="{FF2B5EF4-FFF2-40B4-BE49-F238E27FC236}">
                <a16:creationId xmlns:a16="http://schemas.microsoft.com/office/drawing/2014/main" id="{410335A6-C545-40E0-8729-52EA3E2EB07A}"/>
              </a:ext>
            </a:extLst>
          </p:cNvPr>
          <p:cNvSpPr>
            <a:spLocks xmlns:a="http://schemas.openxmlformats.org/drawingml/2006/main" noGrp="1"/>
          </p:cNvSpPr>
          <p:nvPr/>
        </p:nvSpPr>
        <p:spPr>
          <a:xfrm xmlns:a="http://schemas.openxmlformats.org/drawingml/2006/main">
            <a:off x="3867150" y="2968943"/>
            <a:ext cx="3076575"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320×568·375×812를 포함한 화면 기준과 최종 하단 문구 변경 영향권 Golden 표적 통과</a:t>
            </a:r>
          </a:p>
        </p:txBody>
      </p:sp>
      <p:sp>
        <p:nvSpPr>
          <p:cNvPr id="21" name="table-cell-140-4-0">
            <a:extLst xmlns:a="http://schemas.openxmlformats.org/drawingml/2006/main">
              <a:ext uri="{FF2B5EF4-FFF2-40B4-BE49-F238E27FC236}">
                <a16:creationId xmlns:a16="http://schemas.microsoft.com/office/drawing/2014/main" id="{78BC8328-8A3D-4230-BF83-A1DFC4B30B04}"/>
              </a:ext>
            </a:extLst>
          </p:cNvPr>
          <p:cNvSpPr>
            <a:spLocks xmlns:a="http://schemas.openxmlformats.org/drawingml/2006/main" noGrp="1"/>
          </p:cNvSpPr>
          <p:nvPr/>
        </p:nvSpPr>
        <p:spPr>
          <a:xfrm xmlns:a="http://schemas.openxmlformats.org/drawingml/2006/main">
            <a:off x="533400" y="3433763"/>
            <a:ext cx="3248025" cy="400050"/>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22" name="table-text-140-4-0">
            <a:extLst xmlns:a="http://schemas.openxmlformats.org/drawingml/2006/main">
              <a:ext uri="{FF2B5EF4-FFF2-40B4-BE49-F238E27FC236}">
                <a16:creationId xmlns:a16="http://schemas.microsoft.com/office/drawing/2014/main" id="{0892851F-C22C-415B-A849-F0AF6A3E835E}"/>
              </a:ext>
            </a:extLst>
          </p:cNvPr>
          <p:cNvSpPr>
            <a:spLocks xmlns:a="http://schemas.openxmlformats.org/drawingml/2006/main" noGrp="1"/>
          </p:cNvSpPr>
          <p:nvPr/>
        </p:nvSpPr>
        <p:spPr>
          <a:xfrm xmlns:a="http://schemas.openxmlformats.org/drawingml/2006/main">
            <a:off x="619125" y="3500438"/>
            <a:ext cx="3076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신규 게이지</a:t>
            </a:r>
          </a:p>
        </p:txBody>
      </p:sp>
      <p:sp>
        <p:nvSpPr>
          <p:cNvPr id="23" name="table-cell-140-4-1">
            <a:extLst xmlns:a="http://schemas.openxmlformats.org/drawingml/2006/main">
              <a:ext uri="{FF2B5EF4-FFF2-40B4-BE49-F238E27FC236}">
                <a16:creationId xmlns:a16="http://schemas.microsoft.com/office/drawing/2014/main" id="{8E73FAF8-5B14-4944-A886-91AEA4C6E96F}"/>
              </a:ext>
            </a:extLst>
          </p:cNvPr>
          <p:cNvSpPr>
            <a:spLocks xmlns:a="http://schemas.openxmlformats.org/drawingml/2006/main" noGrp="1"/>
          </p:cNvSpPr>
          <p:nvPr/>
        </p:nvSpPr>
        <p:spPr>
          <a:xfrm xmlns:a="http://schemas.openxmlformats.org/drawingml/2006/main">
            <a:off x="3781425" y="3433763"/>
            <a:ext cx="3248025" cy="400050"/>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24" name="table-text-140-4-1">
            <a:extLst xmlns:a="http://schemas.openxmlformats.org/drawingml/2006/main">
              <a:ext uri="{FF2B5EF4-FFF2-40B4-BE49-F238E27FC236}">
                <a16:creationId xmlns:a16="http://schemas.microsoft.com/office/drawing/2014/main" id="{C4E0EA23-8071-4BF7-AA76-FE450C00F0F0}"/>
              </a:ext>
            </a:extLst>
          </p:cNvPr>
          <p:cNvSpPr>
            <a:spLocks xmlns:a="http://schemas.openxmlformats.org/drawingml/2006/main" noGrp="1"/>
          </p:cNvSpPr>
          <p:nvPr/>
        </p:nvSpPr>
        <p:spPr>
          <a:xfrm xmlns:a="http://schemas.openxmlformats.org/drawingml/2006/main">
            <a:off x="3867150" y="3500438"/>
            <a:ext cx="3076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439"/>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좌/우 × 5상태, 모바일/태블릿, 저모션·점멸 끄기 Golden/위젯 통과</a:t>
            </a:r>
          </a:p>
        </p:txBody>
      </p:sp>
      <p:sp>
        <p:nvSpPr>
          <p:cNvPr id="25" name="table-cell-140-5-0">
            <a:extLst xmlns:a="http://schemas.openxmlformats.org/drawingml/2006/main">
              <a:ext uri="{FF2B5EF4-FFF2-40B4-BE49-F238E27FC236}">
                <a16:creationId xmlns:a16="http://schemas.microsoft.com/office/drawing/2014/main" id="{EC35CD7C-3D99-43C4-92BF-5908D03579FC}"/>
              </a:ext>
            </a:extLst>
          </p:cNvPr>
          <p:cNvSpPr>
            <a:spLocks xmlns:a="http://schemas.openxmlformats.org/drawingml/2006/main" noGrp="1"/>
          </p:cNvSpPr>
          <p:nvPr/>
        </p:nvSpPr>
        <p:spPr>
          <a:xfrm xmlns:a="http://schemas.openxmlformats.org/drawingml/2006/main">
            <a:off x="533400" y="3833813"/>
            <a:ext cx="3248025"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26" name="table-text-140-5-0">
            <a:extLst xmlns:a="http://schemas.openxmlformats.org/drawingml/2006/main">
              <a:ext uri="{FF2B5EF4-FFF2-40B4-BE49-F238E27FC236}">
                <a16:creationId xmlns:a16="http://schemas.microsoft.com/office/drawing/2014/main" id="{67704026-5680-41D5-95D1-F9CC6A6A8B11}"/>
              </a:ext>
            </a:extLst>
          </p:cNvPr>
          <p:cNvSpPr>
            <a:spLocks xmlns:a="http://schemas.openxmlformats.org/drawingml/2006/main" noGrp="1"/>
          </p:cNvSpPr>
          <p:nvPr/>
        </p:nvSpPr>
        <p:spPr>
          <a:xfrm xmlns:a="http://schemas.openxmlformats.org/drawingml/2006/main">
            <a:off x="619125" y="3900488"/>
            <a:ext cx="3076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쉬움 모드</a:t>
            </a:r>
          </a:p>
        </p:txBody>
      </p:sp>
      <p:sp>
        <p:nvSpPr>
          <p:cNvPr id="27" name="table-cell-140-5-1">
            <a:extLst xmlns:a="http://schemas.openxmlformats.org/drawingml/2006/main">
              <a:ext uri="{FF2B5EF4-FFF2-40B4-BE49-F238E27FC236}">
                <a16:creationId xmlns:a16="http://schemas.microsoft.com/office/drawing/2014/main" id="{B0C98211-709E-4FF4-BCA5-7168A45F6F9D}"/>
              </a:ext>
            </a:extLst>
          </p:cNvPr>
          <p:cNvSpPr>
            <a:spLocks xmlns:a="http://schemas.openxmlformats.org/drawingml/2006/main" noGrp="1"/>
          </p:cNvSpPr>
          <p:nvPr/>
        </p:nvSpPr>
        <p:spPr>
          <a:xfrm xmlns:a="http://schemas.openxmlformats.org/drawingml/2006/main">
            <a:off x="3781425" y="3833813"/>
            <a:ext cx="3248025"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28" name="table-text-140-5-1">
            <a:extLst xmlns:a="http://schemas.openxmlformats.org/drawingml/2006/main">
              <a:ext uri="{FF2B5EF4-FFF2-40B4-BE49-F238E27FC236}">
                <a16:creationId xmlns:a16="http://schemas.microsoft.com/office/drawing/2014/main" id="{021272D0-B226-4FD2-B59F-F09D9B51A833}"/>
              </a:ext>
            </a:extLst>
          </p:cNvPr>
          <p:cNvSpPr>
            <a:spLocks xmlns:a="http://schemas.openxmlformats.org/drawingml/2006/main" noGrp="1"/>
          </p:cNvSpPr>
          <p:nvPr/>
        </p:nvSpPr>
        <p:spPr>
          <a:xfrm xmlns:a="http://schemas.openxmlformats.org/drawingml/2006/main">
            <a:off x="3867150" y="3900488"/>
            <a:ext cx="3076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첫 도착 단위·위젯·390/768 Golden 통과</a:t>
            </a:r>
          </a:p>
        </p:txBody>
      </p:sp>
      <p:sp>
        <p:nvSpPr>
          <p:cNvPr id="29" name="table-cell-140-6-0">
            <a:extLst xmlns:a="http://schemas.openxmlformats.org/drawingml/2006/main">
              <a:ext uri="{FF2B5EF4-FFF2-40B4-BE49-F238E27FC236}">
                <a16:creationId xmlns:a16="http://schemas.microsoft.com/office/drawing/2014/main" id="{DE63D5DA-0013-44A7-8769-A5135817B1AD}"/>
              </a:ext>
            </a:extLst>
          </p:cNvPr>
          <p:cNvSpPr>
            <a:spLocks xmlns:a="http://schemas.openxmlformats.org/drawingml/2006/main" noGrp="1"/>
          </p:cNvSpPr>
          <p:nvPr/>
        </p:nvSpPr>
        <p:spPr>
          <a:xfrm xmlns:a="http://schemas.openxmlformats.org/drawingml/2006/main">
            <a:off x="533400" y="4233863"/>
            <a:ext cx="3248025" cy="400050"/>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30" name="table-text-140-6-0">
            <a:extLst xmlns:a="http://schemas.openxmlformats.org/drawingml/2006/main">
              <a:ext uri="{FF2B5EF4-FFF2-40B4-BE49-F238E27FC236}">
                <a16:creationId xmlns:a16="http://schemas.microsoft.com/office/drawing/2014/main" id="{2C85EEDF-FB0A-4EA0-A91C-01AC59BFC491}"/>
              </a:ext>
            </a:extLst>
          </p:cNvPr>
          <p:cNvSpPr>
            <a:spLocks xmlns:a="http://schemas.openxmlformats.org/drawingml/2006/main" noGrp="1"/>
          </p:cNvSpPr>
          <p:nvPr/>
        </p:nvSpPr>
        <p:spPr>
          <a:xfrm xmlns:a="http://schemas.openxmlformats.org/drawingml/2006/main">
            <a:off x="619125" y="4300538"/>
            <a:ext cx="3076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복구/공정성</a:t>
            </a:r>
          </a:p>
        </p:txBody>
      </p:sp>
      <p:sp>
        <p:nvSpPr>
          <p:cNvPr id="31" name="table-cell-140-6-1">
            <a:extLst xmlns:a="http://schemas.openxmlformats.org/drawingml/2006/main">
              <a:ext uri="{FF2B5EF4-FFF2-40B4-BE49-F238E27FC236}">
                <a16:creationId xmlns:a16="http://schemas.microsoft.com/office/drawing/2014/main" id="{B24125B0-906F-40B7-9F3D-BAA3CEDFD332}"/>
              </a:ext>
            </a:extLst>
          </p:cNvPr>
          <p:cNvSpPr>
            <a:spLocks xmlns:a="http://schemas.openxmlformats.org/drawingml/2006/main" noGrp="1"/>
          </p:cNvSpPr>
          <p:nvPr/>
        </p:nvSpPr>
        <p:spPr>
          <a:xfrm xmlns:a="http://schemas.openxmlformats.org/drawingml/2006/main">
            <a:off x="3781425" y="4233863"/>
            <a:ext cx="3248025" cy="400050"/>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32" name="table-text-140-6-1">
            <a:extLst xmlns:a="http://schemas.openxmlformats.org/drawingml/2006/main">
              <a:ext uri="{FF2B5EF4-FFF2-40B4-BE49-F238E27FC236}">
                <a16:creationId xmlns:a16="http://schemas.microsoft.com/office/drawing/2014/main" id="{4C87076F-1197-4F87-A141-226AD31569F5}"/>
              </a:ext>
            </a:extLst>
          </p:cNvPr>
          <p:cNvSpPr>
            <a:spLocks xmlns:a="http://schemas.openxmlformats.org/drawingml/2006/main" noGrp="1"/>
          </p:cNvSpPr>
          <p:nvPr/>
        </p:nvSpPr>
        <p:spPr>
          <a:xfrm xmlns:a="http://schemas.openxmlformats.org/drawingml/2006/main">
            <a:off x="3867150" y="4300538"/>
            <a:ext cx="3076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632"/>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direct·stageCompleted·shot-success crash × 3귀속 행렬 통과</a:t>
            </a:r>
          </a:p>
        </p:txBody>
      </p:sp>
      <p:sp>
        <p:nvSpPr>
          <p:cNvPr id="33" name="table-cell-140-7-0">
            <a:extLst xmlns:a="http://schemas.openxmlformats.org/drawingml/2006/main">
              <a:ext uri="{FF2B5EF4-FFF2-40B4-BE49-F238E27FC236}">
                <a16:creationId xmlns:a16="http://schemas.microsoft.com/office/drawing/2014/main" id="{D2C4144C-3341-4EEC-9FE2-0CE34D9C243B}"/>
              </a:ext>
            </a:extLst>
          </p:cNvPr>
          <p:cNvSpPr>
            <a:spLocks xmlns:a="http://schemas.openxmlformats.org/drawingml/2006/main" noGrp="1"/>
          </p:cNvSpPr>
          <p:nvPr/>
        </p:nvSpPr>
        <p:spPr>
          <a:xfrm xmlns:a="http://schemas.openxmlformats.org/drawingml/2006/main">
            <a:off x="533400" y="4633913"/>
            <a:ext cx="3248025" cy="531495"/>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34" name="table-text-140-7-0">
            <a:extLst xmlns:a="http://schemas.openxmlformats.org/drawingml/2006/main">
              <a:ext uri="{FF2B5EF4-FFF2-40B4-BE49-F238E27FC236}">
                <a16:creationId xmlns:a16="http://schemas.microsoft.com/office/drawing/2014/main" id="{551026A1-6933-436A-B7DD-0D9C78239CD2}"/>
              </a:ext>
            </a:extLst>
          </p:cNvPr>
          <p:cNvSpPr>
            <a:spLocks xmlns:a="http://schemas.openxmlformats.org/drawingml/2006/main" noGrp="1"/>
          </p:cNvSpPr>
          <p:nvPr/>
        </p:nvSpPr>
        <p:spPr>
          <a:xfrm xmlns:a="http://schemas.openxmlformats.org/drawingml/2006/main">
            <a:off x="619125" y="4700588"/>
            <a:ext cx="3076575"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기믹 우위</a:t>
            </a:r>
          </a:p>
        </p:txBody>
      </p:sp>
      <p:sp>
        <p:nvSpPr>
          <p:cNvPr id="35" name="table-cell-140-7-1">
            <a:extLst xmlns:a="http://schemas.openxmlformats.org/drawingml/2006/main">
              <a:ext uri="{FF2B5EF4-FFF2-40B4-BE49-F238E27FC236}">
                <a16:creationId xmlns:a16="http://schemas.microsoft.com/office/drawing/2014/main" id="{2CC57728-693B-4697-B542-23A83338180B}"/>
              </a:ext>
            </a:extLst>
          </p:cNvPr>
          <p:cNvSpPr>
            <a:spLocks xmlns:a="http://schemas.openxmlformats.org/drawingml/2006/main" noGrp="1"/>
          </p:cNvSpPr>
          <p:nvPr/>
        </p:nvSpPr>
        <p:spPr>
          <a:xfrm xmlns:a="http://schemas.openxmlformats.org/drawingml/2006/main">
            <a:off x="3781425" y="4633913"/>
            <a:ext cx="3248025" cy="531495"/>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36" name="table-text-140-7-1">
            <a:extLst xmlns:a="http://schemas.openxmlformats.org/drawingml/2006/main">
              <a:ext uri="{FF2B5EF4-FFF2-40B4-BE49-F238E27FC236}">
                <a16:creationId xmlns:a16="http://schemas.microsoft.com/office/drawing/2014/main" id="{60329524-EF18-440B-B769-CE511AEA1007}"/>
              </a:ext>
            </a:extLst>
          </p:cNvPr>
          <p:cNvSpPr>
            <a:spLocks xmlns:a="http://schemas.openxmlformats.org/drawingml/2006/main" noGrp="1"/>
          </p:cNvSpPr>
          <p:nvPr/>
        </p:nvSpPr>
        <p:spPr>
          <a:xfrm xmlns:a="http://schemas.openxmlformats.org/drawingml/2006/main">
            <a:off x="3867150" y="4700588"/>
            <a:ext cx="3076575"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10단계 × 4패턴 전수 검증, 단계 합계 최소 1.4배 또는 후반 인과·점수 게이트 통과</a:t>
            </a:r>
          </a:p>
        </p:txBody>
      </p:sp>
      <p:sp>
        <p:nvSpPr>
          <p:cNvPr id="37" name="table-cell-140-8-0">
            <a:extLst xmlns:a="http://schemas.openxmlformats.org/drawingml/2006/main">
              <a:ext uri="{FF2B5EF4-FFF2-40B4-BE49-F238E27FC236}">
                <a16:creationId xmlns:a16="http://schemas.microsoft.com/office/drawing/2014/main" id="{FFD5713F-E291-4020-820F-ACEFB09BA164}"/>
              </a:ext>
            </a:extLst>
          </p:cNvPr>
          <p:cNvSpPr>
            <a:spLocks xmlns:a="http://schemas.openxmlformats.org/drawingml/2006/main" noGrp="1"/>
          </p:cNvSpPr>
          <p:nvPr/>
        </p:nvSpPr>
        <p:spPr>
          <a:xfrm xmlns:a="http://schemas.openxmlformats.org/drawingml/2006/main">
            <a:off x="533400" y="5165408"/>
            <a:ext cx="3248025" cy="531495"/>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38" name="table-text-140-8-0">
            <a:extLst xmlns:a="http://schemas.openxmlformats.org/drawingml/2006/main">
              <a:ext uri="{FF2B5EF4-FFF2-40B4-BE49-F238E27FC236}">
                <a16:creationId xmlns:a16="http://schemas.microsoft.com/office/drawing/2014/main" id="{C7CC3F0E-8D3A-4AD1-BFDA-B9907C40CBBE}"/>
              </a:ext>
            </a:extLst>
          </p:cNvPr>
          <p:cNvSpPr>
            <a:spLocks xmlns:a="http://schemas.openxmlformats.org/drawingml/2006/main" noGrp="1"/>
          </p:cNvSpPr>
          <p:nvPr/>
        </p:nvSpPr>
        <p:spPr>
          <a:xfrm xmlns:a="http://schemas.openxmlformats.org/drawingml/2006/main">
            <a:off x="619125" y="5232083"/>
            <a:ext cx="3076575"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보상·꾸미기</a:t>
            </a:r>
          </a:p>
        </p:txBody>
      </p:sp>
      <p:sp>
        <p:nvSpPr>
          <p:cNvPr id="39" name="table-cell-140-8-1">
            <a:extLst xmlns:a="http://schemas.openxmlformats.org/drawingml/2006/main">
              <a:ext uri="{FF2B5EF4-FFF2-40B4-BE49-F238E27FC236}">
                <a16:creationId xmlns:a16="http://schemas.microsoft.com/office/drawing/2014/main" id="{F90AF771-5D52-4731-9891-0B6736998F98}"/>
              </a:ext>
            </a:extLst>
          </p:cNvPr>
          <p:cNvSpPr>
            <a:spLocks xmlns:a="http://schemas.openxmlformats.org/drawingml/2006/main" noGrp="1"/>
          </p:cNvSpPr>
          <p:nvPr/>
        </p:nvSpPr>
        <p:spPr>
          <a:xfrm xmlns:a="http://schemas.openxmlformats.org/drawingml/2006/main">
            <a:off x="3781425" y="5165408"/>
            <a:ext cx="3248025" cy="531495"/>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40" name="table-text-140-8-1">
            <a:extLst xmlns:a="http://schemas.openxmlformats.org/drawingml/2006/main">
              <a:ext uri="{FF2B5EF4-FFF2-40B4-BE49-F238E27FC236}">
                <a16:creationId xmlns:a16="http://schemas.microsoft.com/office/drawing/2014/main" id="{F9C2756D-54DB-45C7-9639-9ED41102E1FD}"/>
              </a:ext>
            </a:extLst>
          </p:cNvPr>
          <p:cNvSpPr>
            <a:spLocks xmlns:a="http://schemas.openxmlformats.org/drawingml/2006/main" noGrp="1"/>
          </p:cNvSpPr>
          <p:nvPr/>
        </p:nvSpPr>
        <p:spPr>
          <a:xfrm xmlns:a="http://schemas.openxmlformats.org/drawingml/2006/main">
            <a:off x="3867150" y="5232083"/>
            <a:ext cx="3076575"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기존 8종+다음 스테이지 팁 1종의 고유 아이콘과 청록/금색 본체 변화 Widget/Golden 통과</a:t>
            </a:r>
          </a:p>
        </p:txBody>
      </p:sp>
      <p:sp>
        <p:nvSpPr>
          <p:cNvPr id="41" name="table-cell-140-9-0">
            <a:extLst xmlns:a="http://schemas.openxmlformats.org/drawingml/2006/main">
              <a:ext uri="{FF2B5EF4-FFF2-40B4-BE49-F238E27FC236}">
                <a16:creationId xmlns:a16="http://schemas.microsoft.com/office/drawing/2014/main" id="{C9C49059-80E5-4AFF-84A1-89F8D13CF967}"/>
              </a:ext>
            </a:extLst>
          </p:cNvPr>
          <p:cNvSpPr>
            <a:spLocks xmlns:a="http://schemas.openxmlformats.org/drawingml/2006/main" noGrp="1"/>
          </p:cNvSpPr>
          <p:nvPr/>
        </p:nvSpPr>
        <p:spPr>
          <a:xfrm xmlns:a="http://schemas.openxmlformats.org/drawingml/2006/main">
            <a:off x="533400" y="5696902"/>
            <a:ext cx="3248025" cy="531495"/>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42" name="table-text-140-9-0">
            <a:extLst xmlns:a="http://schemas.openxmlformats.org/drawingml/2006/main">
              <a:ext uri="{FF2B5EF4-FFF2-40B4-BE49-F238E27FC236}">
                <a16:creationId xmlns:a16="http://schemas.microsoft.com/office/drawing/2014/main" id="{23E53FE7-9C1D-43C6-BD4E-DC5E2426D635}"/>
              </a:ext>
            </a:extLst>
          </p:cNvPr>
          <p:cNvSpPr>
            <a:spLocks xmlns:a="http://schemas.openxmlformats.org/drawingml/2006/main" noGrp="1"/>
          </p:cNvSpPr>
          <p:nvPr/>
        </p:nvSpPr>
        <p:spPr>
          <a:xfrm xmlns:a="http://schemas.openxmlformats.org/drawingml/2006/main">
            <a:off x="619125" y="5763577"/>
            <a:ext cx="3076575"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출시 빌드</a:t>
            </a:r>
          </a:p>
        </p:txBody>
      </p:sp>
      <p:sp>
        <p:nvSpPr>
          <p:cNvPr id="43" name="table-cell-140-9-1">
            <a:extLst xmlns:a="http://schemas.openxmlformats.org/drawingml/2006/main">
              <a:ext uri="{FF2B5EF4-FFF2-40B4-BE49-F238E27FC236}">
                <a16:creationId xmlns:a16="http://schemas.microsoft.com/office/drawing/2014/main" id="{751D45F1-C02A-4B13-B736-BA29EAA539EE}"/>
              </a:ext>
            </a:extLst>
          </p:cNvPr>
          <p:cNvSpPr>
            <a:spLocks xmlns:a="http://schemas.openxmlformats.org/drawingml/2006/main" noGrp="1"/>
          </p:cNvSpPr>
          <p:nvPr/>
        </p:nvSpPr>
        <p:spPr>
          <a:xfrm xmlns:a="http://schemas.openxmlformats.org/drawingml/2006/main">
            <a:off x="3781425" y="5696902"/>
            <a:ext cx="3248025" cy="531495"/>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44" name="table-text-140-9-1">
            <a:extLst xmlns:a="http://schemas.openxmlformats.org/drawingml/2006/main">
              <a:ext uri="{FF2B5EF4-FFF2-40B4-BE49-F238E27FC236}">
                <a16:creationId xmlns:a16="http://schemas.microsoft.com/office/drawing/2014/main" id="{09862116-D319-4723-9E07-9BF177FB7487}"/>
              </a:ext>
            </a:extLst>
          </p:cNvPr>
          <p:cNvSpPr>
            <a:spLocks xmlns:a="http://schemas.openxmlformats.org/drawingml/2006/main" noGrp="1"/>
          </p:cNvSpPr>
          <p:nvPr/>
        </p:nvSpPr>
        <p:spPr>
          <a:xfrm xmlns:a="http://schemas.openxmlformats.org/drawingml/2006/main">
            <a:off x="3867150" y="5763577"/>
            <a:ext cx="3076575"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6793"/>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Web release 통과(main.dart.js 3,709,343바이트, SHA-256 cb95f03f...cc537f), Android release APK 63,261,407바이트·SHA-256 f2a12703...146674 통과</a:t>
            </a:r>
          </a:p>
        </p:txBody>
      </p:sp>
      <p:sp>
        <p:nvSpPr>
          <p:cNvPr id="45" name="table-cell-140-10-0">
            <a:extLst xmlns:a="http://schemas.openxmlformats.org/drawingml/2006/main">
              <a:ext uri="{FF2B5EF4-FFF2-40B4-BE49-F238E27FC236}">
                <a16:creationId xmlns:a16="http://schemas.microsoft.com/office/drawing/2014/main" id="{C1009246-86C2-44A0-A60B-9AC5F208F2A4}"/>
              </a:ext>
            </a:extLst>
          </p:cNvPr>
          <p:cNvSpPr>
            <a:spLocks xmlns:a="http://schemas.openxmlformats.org/drawingml/2006/main" noGrp="1"/>
          </p:cNvSpPr>
          <p:nvPr/>
        </p:nvSpPr>
        <p:spPr>
          <a:xfrm xmlns:a="http://schemas.openxmlformats.org/drawingml/2006/main">
            <a:off x="533400" y="6228397"/>
            <a:ext cx="3248025" cy="711518"/>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46" name="table-text-140-10-0">
            <a:extLst xmlns:a="http://schemas.openxmlformats.org/drawingml/2006/main">
              <a:ext uri="{FF2B5EF4-FFF2-40B4-BE49-F238E27FC236}">
                <a16:creationId xmlns:a16="http://schemas.microsoft.com/office/drawing/2014/main" id="{69D0ADC7-96F0-4477-B3E6-B0DA924043BA}"/>
              </a:ext>
            </a:extLst>
          </p:cNvPr>
          <p:cNvSpPr>
            <a:spLocks xmlns:a="http://schemas.openxmlformats.org/drawingml/2006/main" noGrp="1"/>
          </p:cNvSpPr>
          <p:nvPr/>
        </p:nvSpPr>
        <p:spPr>
          <a:xfrm xmlns:a="http://schemas.openxmlformats.org/drawingml/2006/main">
            <a:off x="619125" y="6295072"/>
            <a:ext cx="3076575" cy="5781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영상·배포</a:t>
            </a:r>
          </a:p>
        </p:txBody>
      </p:sp>
      <p:sp>
        <p:nvSpPr>
          <p:cNvPr id="47" name="table-cell-140-10-1">
            <a:extLst xmlns:a="http://schemas.openxmlformats.org/drawingml/2006/main">
              <a:ext uri="{FF2B5EF4-FFF2-40B4-BE49-F238E27FC236}">
                <a16:creationId xmlns:a16="http://schemas.microsoft.com/office/drawing/2014/main" id="{6A346BB2-9B5B-43FA-9A19-1B42A376DB64}"/>
              </a:ext>
            </a:extLst>
          </p:cNvPr>
          <p:cNvSpPr>
            <a:spLocks xmlns:a="http://schemas.openxmlformats.org/drawingml/2006/main" noGrp="1"/>
          </p:cNvSpPr>
          <p:nvPr/>
        </p:nvSpPr>
        <p:spPr>
          <a:xfrm xmlns:a="http://schemas.openxmlformats.org/drawingml/2006/main">
            <a:off x="3781425" y="6228397"/>
            <a:ext cx="3248025" cy="711518"/>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48" name="table-text-140-10-1">
            <a:extLst xmlns:a="http://schemas.openxmlformats.org/drawingml/2006/main">
              <a:ext uri="{FF2B5EF4-FFF2-40B4-BE49-F238E27FC236}">
                <a16:creationId xmlns:a16="http://schemas.microsoft.com/office/drawing/2014/main" id="{A54BC7C9-FDCE-412C-8FD1-90A86C690CBF}"/>
              </a:ext>
            </a:extLst>
          </p:cNvPr>
          <p:cNvSpPr>
            <a:spLocks xmlns:a="http://schemas.openxmlformats.org/drawingml/2006/main" noGrp="1"/>
          </p:cNvSpPr>
          <p:nvPr/>
        </p:nvSpPr>
        <p:spPr>
          <a:xfrm xmlns:a="http://schemas.openxmlformats.org/drawingml/2006/main">
            <a:off x="3867150" y="6295072"/>
            <a:ext cx="3076575" cy="5781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311"/>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19소스 Golden 68건·freshness·실제 telemetry attestation·60.000초 H.264/avc1 MOV·identity transform·대표 27프레임 시각 검사 통과. Pages 재배포는 문서 재생성 뒤 수행</a:t>
            </a:r>
          </a:p>
        </p:txBody>
      </p:sp>
      <p:sp>
        <p:nvSpPr>
          <p:cNvPr id="49" name="table-cell-140-11-0">
            <a:extLst xmlns:a="http://schemas.openxmlformats.org/drawingml/2006/main">
              <a:ext uri="{FF2B5EF4-FFF2-40B4-BE49-F238E27FC236}">
                <a16:creationId xmlns:a16="http://schemas.microsoft.com/office/drawing/2014/main" id="{1EE1B67C-5144-43B5-ACA2-A3EE68B09050}"/>
              </a:ext>
            </a:extLst>
          </p:cNvPr>
          <p:cNvSpPr>
            <a:spLocks xmlns:a="http://schemas.openxmlformats.org/drawingml/2006/main" noGrp="1"/>
          </p:cNvSpPr>
          <p:nvPr/>
        </p:nvSpPr>
        <p:spPr>
          <a:xfrm xmlns:a="http://schemas.openxmlformats.org/drawingml/2006/main">
            <a:off x="533400" y="6939915"/>
            <a:ext cx="3248025" cy="531495"/>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50" name="table-text-140-11-0">
            <a:extLst xmlns:a="http://schemas.openxmlformats.org/drawingml/2006/main">
              <a:ext uri="{FF2B5EF4-FFF2-40B4-BE49-F238E27FC236}">
                <a16:creationId xmlns:a16="http://schemas.microsoft.com/office/drawing/2014/main" id="{27B097F3-1C8A-4C84-81FD-B1D5BC538E5D}"/>
              </a:ext>
            </a:extLst>
          </p:cNvPr>
          <p:cNvSpPr>
            <a:spLocks xmlns:a="http://schemas.openxmlformats.org/drawingml/2006/main" noGrp="1"/>
          </p:cNvSpPr>
          <p:nvPr/>
        </p:nvSpPr>
        <p:spPr>
          <a:xfrm xmlns:a="http://schemas.openxmlformats.org/drawingml/2006/main">
            <a:off x="619125" y="7006590"/>
            <a:ext cx="3076575"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독립 감사</a:t>
            </a:r>
          </a:p>
        </p:txBody>
      </p:sp>
      <p:sp>
        <p:nvSpPr>
          <p:cNvPr id="51" name="table-cell-140-11-1">
            <a:extLst xmlns:a="http://schemas.openxmlformats.org/drawingml/2006/main">
              <a:ext uri="{FF2B5EF4-FFF2-40B4-BE49-F238E27FC236}">
                <a16:creationId xmlns:a16="http://schemas.microsoft.com/office/drawing/2014/main" id="{C6A44366-6CD3-43C7-BE3F-FF633CCC5A81}"/>
              </a:ext>
            </a:extLst>
          </p:cNvPr>
          <p:cNvSpPr>
            <a:spLocks xmlns:a="http://schemas.openxmlformats.org/drawingml/2006/main" noGrp="1"/>
          </p:cNvSpPr>
          <p:nvPr/>
        </p:nvSpPr>
        <p:spPr>
          <a:xfrm xmlns:a="http://schemas.openxmlformats.org/drawingml/2006/main">
            <a:off x="3781425" y="6939915"/>
            <a:ext cx="3248025" cy="531495"/>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52" name="table-text-140-11-1">
            <a:extLst xmlns:a="http://schemas.openxmlformats.org/drawingml/2006/main">
              <a:ext uri="{FF2B5EF4-FFF2-40B4-BE49-F238E27FC236}">
                <a16:creationId xmlns:a16="http://schemas.microsoft.com/office/drawing/2014/main" id="{BABF7543-CAB3-46F8-8AFF-BD4FFA518A99}"/>
              </a:ext>
            </a:extLst>
          </p:cNvPr>
          <p:cNvSpPr>
            <a:spLocks xmlns:a="http://schemas.openxmlformats.org/drawingml/2006/main" noGrp="1"/>
          </p:cNvSpPr>
          <p:nvPr/>
        </p:nvSpPr>
        <p:spPr>
          <a:xfrm xmlns:a="http://schemas.openxmlformats.org/drawingml/2006/main">
            <a:off x="3867150" y="7006590"/>
            <a:ext cx="3076575"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a:solidFill>
                  <a:srgbClr val="173A3F"/>
                </a:solidFill>
                <a:latin typeface="NanumGothic"/>
                <a:ea typeface="NanumGothic"/>
                <a:cs typeface="NanumGothic"/>
              </a:defRPr>
            </a:pPr>
            <a:r>
              <a:rPr sz="1050" b="0">
                <a:solidFill>
                  <a:srgbClr val="173A3F"/>
                </a:solidFill>
                <a:latin typeface="NanumGothic"/>
                <a:ea typeface="NanumGothic"/>
                <a:cs typeface="NanumGothic"/>
              </a:rPr>
              <a:t>코드·레벨·영상 핵심 감사 통과. 최종 문서·배포 감사는 최신 산출물·Pages 확인 뒤 확정</a:t>
            </a:r>
          </a:p>
        </p:txBody>
      </p:sp>
      <p:sp>
        <p:nvSpPr>
          <p:cNvPr id="53" name="paragraph-800.4">
            <a:extLst xmlns:a="http://schemas.openxmlformats.org/drawingml/2006/main">
              <a:ext uri="{FF2B5EF4-FFF2-40B4-BE49-F238E27FC236}">
                <a16:creationId xmlns:a16="http://schemas.microsoft.com/office/drawing/2014/main" id="{50B8EBD2-6F13-41B1-AE1D-CE3B42F50D5F}"/>
              </a:ext>
            </a:extLst>
          </p:cNvPr>
          <p:cNvSpPr>
            <a:spLocks xmlns:a="http://schemas.openxmlformats.org/drawingml/2006/main" noGrp="1"/>
          </p:cNvSpPr>
          <p:nvPr/>
        </p:nvSpPr>
        <p:spPr>
          <a:xfrm xmlns:a="http://schemas.openxmlformats.org/drawingml/2006/main">
            <a:off x="533400" y="7623810"/>
            <a:ext cx="6496050" cy="8092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200" b="0">
                <a:solidFill>
                  <a:srgbClr val="173A3F"/>
                </a:solidFill>
                <a:latin typeface="NanumGothic"/>
                <a:ea typeface="NanumGothic"/>
                <a:cs typeface="NanumGothic"/>
              </a:defRPr>
            </a:pPr>
            <a:r>
              <a:rPr sz="1200" b="0">
                <a:solidFill>
                  <a:srgbClr val="173A3F"/>
                </a:solidFill>
                <a:latin typeface="NanumGothic"/>
                <a:ea typeface="NanumGothic"/>
                <a:cs typeface="NanumGothic"/>
              </a:rPr>
              <a:t>이번 단일 전체 실행에서 실패한 Golden 61개는 실제 렌더를 직접 비교했다. 차이는 모두 하단 조작 안내를 물체를 눌러 속성 고르기로 단축해 한 줄로 만든 영역에 국한됐고, 해당 6개 Golden 파일 묶음의 67개 테스트가 갱신 후 재통과했다.</a:t>
            </a:r>
          </a:p>
        </p:txBody>
      </p:sp>
      <p:sp>
        <p:nvSpPr>
          <p:cNvPr id="54" name="subheading-897.36">
            <a:extLst xmlns:a="http://schemas.openxmlformats.org/drawingml/2006/main">
              <a:ext uri="{FF2B5EF4-FFF2-40B4-BE49-F238E27FC236}">
                <a16:creationId xmlns:a16="http://schemas.microsoft.com/office/drawing/2014/main" id="{52BB75E3-EB70-4EEC-AD38-DBCEBF24505A}"/>
              </a:ext>
            </a:extLst>
          </p:cNvPr>
          <p:cNvSpPr>
            <a:spLocks xmlns:a="http://schemas.openxmlformats.org/drawingml/2006/main" noGrp="1"/>
          </p:cNvSpPr>
          <p:nvPr/>
        </p:nvSpPr>
        <p:spPr>
          <a:xfrm xmlns:a="http://schemas.openxmlformats.org/drawingml/2006/main">
            <a:off x="533400" y="8547354"/>
            <a:ext cx="649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800" b="1">
                <a:solidFill>
                  <a:srgbClr val="2C7A7B"/>
                </a:solidFill>
                <a:latin typeface="NanumGothic"/>
                <a:ea typeface="NanumGothic"/>
                <a:cs typeface="NanumGothic"/>
              </a:defRPr>
            </a:pPr>
            <a:r>
              <a:rPr sz="1800" b="1">
                <a:solidFill>
                  <a:srgbClr val="2C7A7B"/>
                </a:solidFill>
                <a:latin typeface="NanumGothic"/>
                <a:ea typeface="NanumGothic"/>
                <a:cs typeface="NanumGothic"/>
              </a:rPr>
              <a:t>5.1 Web 성능 증거의 범위</a:t>
            </a:r>
          </a:p>
        </p:txBody>
      </p:sp>
    </p:spTree>
    <p:extLst>
      <p:ext uri="{BB962C8B-B14F-4D97-AF65-F5344CB8AC3E}">
        <p14:creationId xmlns:p14="http://schemas.microsoft.com/office/powerpoint/2010/main" val="183363962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unning-label">
            <a:extLst xmlns:a="http://schemas.openxmlformats.org/drawingml/2006/main">
              <a:ext uri="{FF2B5EF4-FFF2-40B4-BE49-F238E27FC236}">
                <a16:creationId xmlns:a16="http://schemas.microsoft.com/office/drawing/2014/main" id="{1FF77271-8E7E-4AB9-9713-31A9B942D378}"/>
              </a:ext>
            </a:extLst>
          </p:cNvPr>
          <p:cNvSpPr>
            <a:spLocks xmlns:a="http://schemas.openxmlformats.org/drawingml/2006/main" noGrp="1"/>
          </p:cNvSpPr>
          <p:nvPr/>
        </p:nvSpPr>
        <p:spPr>
          <a:xfrm xmlns:a="http://schemas.openxmlformats.org/drawingml/2006/main">
            <a:off x="533400" y="304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900" b="1">
                <a:solidFill>
                  <a:srgbClr val="2C7A7B"/>
                </a:solidFill>
                <a:latin typeface="NanumGothic"/>
                <a:ea typeface="NanumGothic"/>
                <a:cs typeface="NanumGothic"/>
              </a:defRPr>
            </a:pPr>
            <a:r>
              <a:rPr sz="900" b="1">
                <a:solidFill>
                  <a:srgbClr val="2C7A7B"/>
                </a:solidFill>
                <a:latin typeface="NanumGothic"/>
                <a:ea typeface="NanumGothic"/>
                <a:cs typeface="NanumGothic"/>
              </a:rPr>
              <a:t>Property Shot · AI Technical Report</a:t>
            </a:r>
          </a:p>
        </p:txBody>
      </p:sp>
      <p:sp>
        <p:nvSpPr>
          <p:cNvPr id="2" name="page-number">
            <a:extLst xmlns:a="http://schemas.openxmlformats.org/drawingml/2006/main">
              <a:ext uri="{FF2B5EF4-FFF2-40B4-BE49-F238E27FC236}">
                <a16:creationId xmlns:a16="http://schemas.microsoft.com/office/drawing/2014/main" id="{EDA4014F-81F2-4314-A2AA-BC19F74FA90E}"/>
              </a:ext>
            </a:extLst>
          </p:cNvPr>
          <p:cNvSpPr>
            <a:spLocks xmlns:a="http://schemas.openxmlformats.org/drawingml/2006/main" noGrp="1"/>
          </p:cNvSpPr>
          <p:nvPr/>
        </p:nvSpPr>
        <p:spPr>
          <a:xfrm xmlns:a="http://schemas.openxmlformats.org/drawingml/2006/main">
            <a:off x="6648450" y="3048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20000"/>
              </a:lnSpc>
              <a:buNone/>
              <a:defRPr sz="900" b="0">
                <a:solidFill>
                  <a:srgbClr val="607477"/>
                </a:solidFill>
                <a:latin typeface="NanumGothic"/>
                <a:ea typeface="NanumGothic"/>
                <a:cs typeface="NanumGothic"/>
              </a:defRPr>
            </a:pPr>
            <a:r>
              <a:rPr sz="900" b="0">
                <a:solidFill>
                  <a:srgbClr val="607477"/>
                </a:solidFill>
                <a:latin typeface="NanumGothic"/>
                <a:ea typeface="NanumGothic"/>
                <a:cs typeface="NanumGothic"/>
              </a:rPr>
              <a:t>11</a:t>
            </a:r>
          </a:p>
        </p:txBody>
      </p:sp>
      <p:sp>
        <p:nvSpPr>
          <p:cNvPr id="3" name="header-rule">
            <a:extLst xmlns:a="http://schemas.openxmlformats.org/drawingml/2006/main">
              <a:ext uri="{FF2B5EF4-FFF2-40B4-BE49-F238E27FC236}">
                <a16:creationId xmlns:a16="http://schemas.microsoft.com/office/drawing/2014/main" id="{9CE76609-A206-4D79-B957-B874334CFD38}"/>
              </a:ext>
            </a:extLst>
          </p:cNvPr>
          <p:cNvSpPr>
            <a:spLocks xmlns:a="http://schemas.openxmlformats.org/drawingml/2006/main" noGrp="1"/>
          </p:cNvSpPr>
          <p:nvPr/>
        </p:nvSpPr>
        <p:spPr>
          <a:xfrm xmlns:a="http://schemas.openxmlformats.org/drawingml/2006/main">
            <a:off x="533400" y="628650"/>
            <a:ext cx="6496050" cy="28575"/>
          </a:xfrm>
          <a:prstGeom xmlns:a="http://schemas.openxmlformats.org/drawingml/2006/main" prst="rect">
            <a:avLst/>
          </a:prstGeom>
          <a:solidFill xmlns:a="http://schemas.openxmlformats.org/drawingml/2006/main">
            <a:srgbClr val="D7A23D"/>
          </a:solidFill>
          <a:ln xmlns:a="http://schemas.openxmlformats.org/drawingml/2006/main" w="0">
            <a:noFill/>
            <a:prstDash val="solid"/>
          </a:ln>
        </p:spPr>
      </p:sp>
      <p:sp>
        <p:nvSpPr>
          <p:cNvPr id="4" name="slide-title">
            <a:extLst xmlns:a="http://schemas.openxmlformats.org/drawingml/2006/main">
              <a:ext uri="{FF2B5EF4-FFF2-40B4-BE49-F238E27FC236}">
                <a16:creationId xmlns:a16="http://schemas.microsoft.com/office/drawing/2014/main" id="{0E7A9BB7-374C-4298-A4B2-E3DE19A8297F}"/>
              </a:ext>
            </a:extLst>
          </p:cNvPr>
          <p:cNvSpPr>
            <a:spLocks xmlns:a="http://schemas.openxmlformats.org/drawingml/2006/main" noGrp="1"/>
          </p:cNvSpPr>
          <p:nvPr/>
        </p:nvSpPr>
        <p:spPr>
          <a:xfrm xmlns:a="http://schemas.openxmlformats.org/drawingml/2006/main">
            <a:off x="533400" y="800100"/>
            <a:ext cx="649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l">
              <a:lnSpc>
                <a:spcPct val="120000"/>
              </a:lnSpc>
              <a:buNone/>
              <a:defRPr sz="2625" b="1">
                <a:solidFill>
                  <a:srgbClr val="173A3F"/>
                </a:solidFill>
                <a:latin typeface="NanumGothic"/>
                <a:ea typeface="NanumGothic"/>
                <a:cs typeface="NanumGothic"/>
              </a:defRPr>
            </a:pPr>
            <a:r>
              <a:rPr sz="2625" b="1">
                <a:solidFill>
                  <a:srgbClr val="173A3F"/>
                </a:solidFill>
                <a:latin typeface="NanumGothic"/>
                <a:ea typeface="NanumGothic"/>
                <a:cs typeface="NanumGothic"/>
              </a:rPr>
              <a:t>5. 검증 및 AI 결과 채택 기준 · 계속</a:t>
            </a:r>
          </a:p>
        </p:txBody>
      </p:sp>
      <p:sp>
        <p:nvSpPr>
          <p:cNvPr id="5" name="paragraph-140">
            <a:extLst xmlns:a="http://schemas.openxmlformats.org/drawingml/2006/main">
              <a:ext uri="{FF2B5EF4-FFF2-40B4-BE49-F238E27FC236}">
                <a16:creationId xmlns:a16="http://schemas.microsoft.com/office/drawing/2014/main" id="{FFB79BEC-0592-4597-B4BD-4A2FD18FF508}"/>
              </a:ext>
            </a:extLst>
          </p:cNvPr>
          <p:cNvSpPr>
            <a:spLocks xmlns:a="http://schemas.openxmlformats.org/drawingml/2006/main" noGrp="1"/>
          </p:cNvSpPr>
          <p:nvPr/>
        </p:nvSpPr>
        <p:spPr>
          <a:xfrm xmlns:a="http://schemas.openxmlformats.org/drawingml/2006/main">
            <a:off x="533400" y="1333500"/>
            <a:ext cx="6496050" cy="12725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200" b="0">
                <a:solidFill>
                  <a:srgbClr val="173A3F"/>
                </a:solidFill>
                <a:latin typeface="NanumGothic"/>
                <a:ea typeface="NanumGothic"/>
                <a:cs typeface="NanumGothic"/>
              </a:defRPr>
            </a:pPr>
            <a:r>
              <a:rPr sz="1200" b="0">
                <a:solidFill>
                  <a:srgbClr val="173A3F"/>
                </a:solidFill>
                <a:latin typeface="NanumGothic"/>
                <a:ea typeface="NanumGothic"/>
                <a:cs typeface="NanumGothic"/>
              </a:rPr>
              <a:t>2026-08-10 최신 Web Release를 에이전트·빌드 작업이 없는 상태에서 뷰포트별 3회 다시 측정했다. 390×844와 768×1024 모두 발사 구간 rAF p90 17.2ms, p99 17.6ms, 누락·50ms 초과·Long Task·콘솔 오류 0건이었다. 평균은 16.664–16.666ms였으며 과거 자원 경합 회차의 급등은 재현되지 않았다. 16.7ms p90 목표는 0.5ms 초과했으므로 엄격 목표 통과로 과장하지 않고, 브라우저 rAF 대리값을 실제 기기 성능으로 확대하지 않는다.</a:t>
            </a:r>
          </a:p>
        </p:txBody>
      </p:sp>
    </p:spTree>
    <p:extLst>
      <p:ext uri="{BB962C8B-B14F-4D97-AF65-F5344CB8AC3E}">
        <p14:creationId xmlns:p14="http://schemas.microsoft.com/office/powerpoint/2010/main" val="94736149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running-label">
            <a:extLst xmlns:a="http://schemas.openxmlformats.org/drawingml/2006/main">
              <a:ext uri="{FF2B5EF4-FFF2-40B4-BE49-F238E27FC236}">
                <a16:creationId xmlns:a16="http://schemas.microsoft.com/office/drawing/2014/main" id="{DEE2F3F3-71D9-4A81-BDC6-4F795ED9BA66}"/>
              </a:ext>
            </a:extLst>
          </p:cNvPr>
          <p:cNvSpPr>
            <a:spLocks xmlns:a="http://schemas.openxmlformats.org/drawingml/2006/main" noGrp="1"/>
          </p:cNvSpPr>
          <p:nvPr/>
        </p:nvSpPr>
        <p:spPr>
          <a:xfrm xmlns:a="http://schemas.openxmlformats.org/drawingml/2006/main">
            <a:off x="533400" y="304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900" b="1">
                <a:solidFill>
                  <a:srgbClr val="2C7A7B"/>
                </a:solidFill>
                <a:latin typeface="NanumGothic"/>
                <a:ea typeface="NanumGothic"/>
                <a:cs typeface="NanumGothic"/>
              </a:defRPr>
            </a:pPr>
            <a:r>
              <a:rPr sz="900" b="1">
                <a:solidFill>
                  <a:srgbClr val="2C7A7B"/>
                </a:solidFill>
                <a:latin typeface="NanumGothic"/>
                <a:ea typeface="NanumGothic"/>
                <a:cs typeface="NanumGothic"/>
              </a:rPr>
              <a:t>Property Shot · AI Technical Report</a:t>
            </a:r>
          </a:p>
        </p:txBody>
      </p:sp>
      <p:sp>
        <p:nvSpPr>
          <p:cNvPr id="2" name="page-number">
            <a:extLst xmlns:a="http://schemas.openxmlformats.org/drawingml/2006/main">
              <a:ext uri="{FF2B5EF4-FFF2-40B4-BE49-F238E27FC236}">
                <a16:creationId xmlns:a16="http://schemas.microsoft.com/office/drawing/2014/main" id="{65016393-CEC4-4BBE-8484-7B57BCD80AD2}"/>
              </a:ext>
            </a:extLst>
          </p:cNvPr>
          <p:cNvSpPr>
            <a:spLocks xmlns:a="http://schemas.openxmlformats.org/drawingml/2006/main" noGrp="1"/>
          </p:cNvSpPr>
          <p:nvPr/>
        </p:nvSpPr>
        <p:spPr>
          <a:xfrm xmlns:a="http://schemas.openxmlformats.org/drawingml/2006/main">
            <a:off x="6648450" y="3048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20000"/>
              </a:lnSpc>
              <a:buNone/>
              <a:defRPr sz="900" b="0">
                <a:solidFill>
                  <a:srgbClr val="607477"/>
                </a:solidFill>
                <a:latin typeface="NanumGothic"/>
                <a:ea typeface="NanumGothic"/>
                <a:cs typeface="NanumGothic"/>
              </a:defRPr>
            </a:pPr>
            <a:r>
              <a:rPr sz="900" b="0">
                <a:solidFill>
                  <a:srgbClr val="607477"/>
                </a:solidFill>
                <a:latin typeface="NanumGothic"/>
                <a:ea typeface="NanumGothic"/>
                <a:cs typeface="NanumGothic"/>
              </a:rPr>
              <a:t>12</a:t>
            </a:r>
          </a:p>
        </p:txBody>
      </p:sp>
      <p:sp>
        <p:nvSpPr>
          <p:cNvPr id="3" name="header-rule">
            <a:extLst xmlns:a="http://schemas.openxmlformats.org/drawingml/2006/main">
              <a:ext uri="{FF2B5EF4-FFF2-40B4-BE49-F238E27FC236}">
                <a16:creationId xmlns:a16="http://schemas.microsoft.com/office/drawing/2014/main" id="{464CCB86-DA8B-4232-BC3C-86DE4E984259}"/>
              </a:ext>
            </a:extLst>
          </p:cNvPr>
          <p:cNvSpPr>
            <a:spLocks xmlns:a="http://schemas.openxmlformats.org/drawingml/2006/main" noGrp="1"/>
          </p:cNvSpPr>
          <p:nvPr/>
        </p:nvSpPr>
        <p:spPr>
          <a:xfrm xmlns:a="http://schemas.openxmlformats.org/drawingml/2006/main">
            <a:off x="533400" y="628650"/>
            <a:ext cx="6496050" cy="28575"/>
          </a:xfrm>
          <a:prstGeom xmlns:a="http://schemas.openxmlformats.org/drawingml/2006/main" prst="rect">
            <a:avLst/>
          </a:prstGeom>
          <a:solidFill xmlns:a="http://schemas.openxmlformats.org/drawingml/2006/main">
            <a:srgbClr val="D7A23D"/>
          </a:solidFill>
          <a:ln xmlns:a="http://schemas.openxmlformats.org/drawingml/2006/main" w="0">
            <a:noFill/>
            <a:prstDash val="solid"/>
          </a:ln>
        </p:spPr>
      </p:sp>
      <p:sp>
        <p:nvSpPr>
          <p:cNvPr id="4" name="slide-title">
            <a:extLst xmlns:a="http://schemas.openxmlformats.org/drawingml/2006/main">
              <a:ext uri="{FF2B5EF4-FFF2-40B4-BE49-F238E27FC236}">
                <a16:creationId xmlns:a16="http://schemas.microsoft.com/office/drawing/2014/main" id="{05B7ED4B-F126-46E7-B4EA-15DA7FBC8636}"/>
              </a:ext>
            </a:extLst>
          </p:cNvPr>
          <p:cNvSpPr>
            <a:spLocks xmlns:a="http://schemas.openxmlformats.org/drawingml/2006/main" noGrp="1"/>
          </p:cNvSpPr>
          <p:nvPr/>
        </p:nvSpPr>
        <p:spPr>
          <a:xfrm xmlns:a="http://schemas.openxmlformats.org/drawingml/2006/main">
            <a:off x="533400" y="800100"/>
            <a:ext cx="649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l">
              <a:lnSpc>
                <a:spcPct val="120000"/>
              </a:lnSpc>
              <a:buNone/>
              <a:defRPr sz="2625" b="1">
                <a:solidFill>
                  <a:srgbClr val="173A3F"/>
                </a:solidFill>
                <a:latin typeface="NanumGothic"/>
                <a:ea typeface="NanumGothic"/>
                <a:cs typeface="NanumGothic"/>
              </a:defRPr>
            </a:pPr>
            <a:r>
              <a:rPr sz="2625" b="1">
                <a:solidFill>
                  <a:srgbClr val="173A3F"/>
                </a:solidFill>
                <a:latin typeface="NanumGothic"/>
                <a:ea typeface="NanumGothic"/>
                <a:cs typeface="NanumGothic"/>
              </a:rPr>
              <a:t>6. AI 생성 이미지 애셋</a:t>
            </a:r>
          </a:p>
        </p:txBody>
      </p:sp>
      <p:sp>
        <p:nvSpPr>
          <p:cNvPr id="5" name="paragraph-140">
            <a:extLst xmlns:a="http://schemas.openxmlformats.org/drawingml/2006/main">
              <a:ext uri="{FF2B5EF4-FFF2-40B4-BE49-F238E27FC236}">
                <a16:creationId xmlns:a16="http://schemas.microsoft.com/office/drawing/2014/main" id="{3ABBB89F-EBEF-4DEA-8CC3-E2D666974805}"/>
              </a:ext>
            </a:extLst>
          </p:cNvPr>
          <p:cNvSpPr>
            <a:spLocks xmlns:a="http://schemas.openxmlformats.org/drawingml/2006/main" noGrp="1"/>
          </p:cNvSpPr>
          <p:nvPr/>
        </p:nvSpPr>
        <p:spPr>
          <a:xfrm xmlns:a="http://schemas.openxmlformats.org/drawingml/2006/main">
            <a:off x="533400" y="1333500"/>
            <a:ext cx="6496050" cy="577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200" b="0">
                <a:solidFill>
                  <a:srgbClr val="173A3F"/>
                </a:solidFill>
                <a:latin typeface="NanumGothic"/>
                <a:ea typeface="NanumGothic"/>
                <a:cs typeface="NanumGothic"/>
              </a:defRPr>
            </a:pPr>
            <a:r>
              <a:rPr sz="1200" b="0">
                <a:solidFill>
                  <a:srgbClr val="173A3F"/>
                </a:solidFill>
                <a:latin typeface="NanumGothic"/>
                <a:ea typeface="NanumGothic"/>
                <a:cs typeface="NanumGothic"/>
              </a:rPr>
              <a:t>아래 세 PNG는 실제 앱 bundle에서 런타임에 사용한다. 원본 1254×1254 이미지를 게임 로딩 시 256px로 decode한다.</a:t>
            </a:r>
          </a:p>
        </p:txBody>
      </p:sp>
      <p:sp>
        <p:nvSpPr>
          <p:cNvPr id="6" name="subheading-212.64">
            <a:extLst xmlns:a="http://schemas.openxmlformats.org/drawingml/2006/main">
              <a:ext uri="{FF2B5EF4-FFF2-40B4-BE49-F238E27FC236}">
                <a16:creationId xmlns:a16="http://schemas.microsoft.com/office/drawing/2014/main" id="{9525CC19-A93D-40A9-93BD-BD832EEEC904}"/>
              </a:ext>
            </a:extLst>
          </p:cNvPr>
          <p:cNvSpPr>
            <a:spLocks xmlns:a="http://schemas.openxmlformats.org/drawingml/2006/main" noGrp="1"/>
          </p:cNvSpPr>
          <p:nvPr/>
        </p:nvSpPr>
        <p:spPr>
          <a:xfrm xmlns:a="http://schemas.openxmlformats.org/drawingml/2006/main">
            <a:off x="533400" y="2025396"/>
            <a:ext cx="649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800" b="1">
                <a:solidFill>
                  <a:srgbClr val="2C7A7B"/>
                </a:solidFill>
                <a:latin typeface="NanumGothic"/>
                <a:ea typeface="NanumGothic"/>
                <a:cs typeface="NanumGothic"/>
              </a:defRPr>
            </a:pPr>
            <a:r>
              <a:rPr sz="1800" b="1">
                <a:solidFill>
                  <a:srgbClr val="2C7A7B"/>
                </a:solidFill>
                <a:latin typeface="NanumGothic"/>
                <a:ea typeface="NanumGothic"/>
                <a:cs typeface="NanumGothic"/>
              </a:rPr>
              <a:t>6.1 무거움 돌</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c93c0e9c37244bc"/>
          <a:stretch xmlns:a="http://schemas.openxmlformats.org/drawingml/2006/main"/>
        </p:blipFill>
        <p:spPr>
          <a:xfrm xmlns:a="http://schemas.openxmlformats.org/drawingml/2006/main">
            <a:off x="2209800" y="2539746"/>
            <a:ext cx="3143250" cy="3143250"/>
          </a:xfrm>
          <a:prstGeom xmlns:a="http://schemas.openxmlformats.org/drawingml/2006/main" prst="roundRect">
            <a:avLst>
              <a:gd name="adj" fmla="val 3636"/>
            </a:avLst>
          </a:prstGeom>
        </p:spPr>
      </p:pic>
      <p:sp>
        <p:nvSpPr>
          <p:cNvPr id="8" name="image-caption-266.64">
            <a:extLst xmlns:a="http://schemas.openxmlformats.org/drawingml/2006/main">
              <a:ext uri="{FF2B5EF4-FFF2-40B4-BE49-F238E27FC236}">
                <a16:creationId xmlns:a16="http://schemas.microsoft.com/office/drawing/2014/main" id="{7C523128-F7CF-492C-B644-63A4B9A2740D}"/>
              </a:ext>
            </a:extLst>
          </p:cNvPr>
          <p:cNvSpPr>
            <a:spLocks xmlns:a="http://schemas.openxmlformats.org/drawingml/2006/main" noGrp="1"/>
          </p:cNvSpPr>
          <p:nvPr/>
        </p:nvSpPr>
        <p:spPr>
          <a:xfrm xmlns:a="http://schemas.openxmlformats.org/drawingml/2006/main">
            <a:off x="666750" y="5740146"/>
            <a:ext cx="6229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20000"/>
              </a:lnSpc>
              <a:buNone/>
              <a:defRPr sz="1050" b="0">
                <a:solidFill>
                  <a:srgbClr val="607477"/>
                </a:solidFill>
                <a:latin typeface="NanumGothic"/>
                <a:ea typeface="NanumGothic"/>
                <a:cs typeface="NanumGothic"/>
              </a:defRPr>
            </a:pPr>
            <a:r>
              <a:rPr sz="1050" b="0">
                <a:solidFill>
                  <a:srgbClr val="607477"/>
                </a:solidFill>
                <a:latin typeface="NanumGothic"/>
                <a:ea typeface="NanumGothic"/>
                <a:cs typeface="NanumGothic"/>
              </a:rPr>
              <a:t>AI 생성 후 투명화한 짙은 회색 무거움 돌의 최종 런타임 애셋</a:t>
            </a:r>
          </a:p>
        </p:txBody>
      </p:sp>
      <p:sp>
        <p:nvSpPr>
          <p:cNvPr id="9" name="bullets-650.64">
            <a:extLst xmlns:a="http://schemas.openxmlformats.org/drawingml/2006/main">
              <a:ext uri="{FF2B5EF4-FFF2-40B4-BE49-F238E27FC236}">
                <a16:creationId xmlns:a16="http://schemas.microsoft.com/office/drawing/2014/main" id="{5182C661-34F0-4B9D-96AC-77D603BF4D56}"/>
              </a:ext>
            </a:extLst>
          </p:cNvPr>
          <p:cNvSpPr>
            <a:spLocks xmlns:a="http://schemas.openxmlformats.org/drawingml/2006/main" noGrp="1"/>
          </p:cNvSpPr>
          <p:nvPr/>
        </p:nvSpPr>
        <p:spPr>
          <a:xfrm xmlns:a="http://schemas.openxmlformats.org/drawingml/2006/main">
            <a:off x="533400" y="6197346"/>
            <a:ext cx="6496050" cy="13456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경로: assets/generated/stone-v2.png</a:t>
            </a:r>
          </a:p>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SHA-256: d821a5e2dbedb4e4a69bed54c5c3b2d613d9cba9b8d316055f158d07068b7251</a:t>
            </a:r>
          </a:p>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생성: Codex 이미지 생성 후 배경 키 제거·투명화</a:t>
            </a:r>
          </a:p>
        </p:txBody>
      </p:sp>
      <p:sp>
        <p:nvSpPr>
          <p:cNvPr id="10" name="subheading-801.92">
            <a:extLst xmlns:a="http://schemas.openxmlformats.org/drawingml/2006/main">
              <a:ext uri="{FF2B5EF4-FFF2-40B4-BE49-F238E27FC236}">
                <a16:creationId xmlns:a16="http://schemas.microsoft.com/office/drawing/2014/main" id="{577E7712-728C-4107-811A-CFB795504DC9}"/>
              </a:ext>
            </a:extLst>
          </p:cNvPr>
          <p:cNvSpPr>
            <a:spLocks xmlns:a="http://schemas.openxmlformats.org/drawingml/2006/main" noGrp="1"/>
          </p:cNvSpPr>
          <p:nvPr/>
        </p:nvSpPr>
        <p:spPr>
          <a:xfrm xmlns:a="http://schemas.openxmlformats.org/drawingml/2006/main">
            <a:off x="533400" y="7638288"/>
            <a:ext cx="649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800" b="1">
                <a:solidFill>
                  <a:srgbClr val="2C7A7B"/>
                </a:solidFill>
                <a:latin typeface="NanumGothic"/>
                <a:ea typeface="NanumGothic"/>
                <a:cs typeface="NanumGothic"/>
              </a:defRPr>
            </a:pPr>
            <a:r>
              <a:rPr sz="1800" b="1">
                <a:solidFill>
                  <a:srgbClr val="2C7A7B"/>
                </a:solidFill>
                <a:latin typeface="NanumGothic"/>
                <a:ea typeface="NanumGothic"/>
                <a:cs typeface="NanumGothic"/>
              </a:rPr>
              <a:t>6.2 탄성 젤리</a:t>
            </a:r>
          </a:p>
        </p:txBody>
      </p:sp>
    </p:spTree>
    <p:extLst>
      <p:ext uri="{BB962C8B-B14F-4D97-AF65-F5344CB8AC3E}">
        <p14:creationId xmlns:p14="http://schemas.microsoft.com/office/powerpoint/2010/main" val="194747526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unning-label">
            <a:extLst xmlns:a="http://schemas.openxmlformats.org/drawingml/2006/main">
              <a:ext uri="{FF2B5EF4-FFF2-40B4-BE49-F238E27FC236}">
                <a16:creationId xmlns:a16="http://schemas.microsoft.com/office/drawing/2014/main" id="{A7C45D5B-93FB-4969-A916-834B19F737CA}"/>
              </a:ext>
            </a:extLst>
          </p:cNvPr>
          <p:cNvSpPr>
            <a:spLocks xmlns:a="http://schemas.openxmlformats.org/drawingml/2006/main" noGrp="1"/>
          </p:cNvSpPr>
          <p:nvPr/>
        </p:nvSpPr>
        <p:spPr>
          <a:xfrm xmlns:a="http://schemas.openxmlformats.org/drawingml/2006/main">
            <a:off x="533400" y="304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900" b="1">
                <a:solidFill>
                  <a:srgbClr val="2C7A7B"/>
                </a:solidFill>
                <a:latin typeface="NanumGothic"/>
                <a:ea typeface="NanumGothic"/>
                <a:cs typeface="NanumGothic"/>
              </a:defRPr>
            </a:pPr>
            <a:r>
              <a:rPr sz="900" b="1">
                <a:solidFill>
                  <a:srgbClr val="2C7A7B"/>
                </a:solidFill>
                <a:latin typeface="NanumGothic"/>
                <a:ea typeface="NanumGothic"/>
                <a:cs typeface="NanumGothic"/>
              </a:rPr>
              <a:t>Property Shot · AI Technical Report</a:t>
            </a:r>
          </a:p>
        </p:txBody>
      </p:sp>
      <p:sp>
        <p:nvSpPr>
          <p:cNvPr id="2" name="page-number">
            <a:extLst xmlns:a="http://schemas.openxmlformats.org/drawingml/2006/main">
              <a:ext uri="{FF2B5EF4-FFF2-40B4-BE49-F238E27FC236}">
                <a16:creationId xmlns:a16="http://schemas.microsoft.com/office/drawing/2014/main" id="{CBF714F0-FC12-47E4-95DB-5929DC168F18}"/>
              </a:ext>
            </a:extLst>
          </p:cNvPr>
          <p:cNvSpPr>
            <a:spLocks xmlns:a="http://schemas.openxmlformats.org/drawingml/2006/main" noGrp="1"/>
          </p:cNvSpPr>
          <p:nvPr/>
        </p:nvSpPr>
        <p:spPr>
          <a:xfrm xmlns:a="http://schemas.openxmlformats.org/drawingml/2006/main">
            <a:off x="6648450" y="3048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20000"/>
              </a:lnSpc>
              <a:buNone/>
              <a:defRPr sz="900" b="0">
                <a:solidFill>
                  <a:srgbClr val="607477"/>
                </a:solidFill>
                <a:latin typeface="NanumGothic"/>
                <a:ea typeface="NanumGothic"/>
                <a:cs typeface="NanumGothic"/>
              </a:defRPr>
            </a:pPr>
            <a:r>
              <a:rPr sz="900" b="0">
                <a:solidFill>
                  <a:srgbClr val="607477"/>
                </a:solidFill>
                <a:latin typeface="NanumGothic"/>
                <a:ea typeface="NanumGothic"/>
                <a:cs typeface="NanumGothic"/>
              </a:rPr>
              <a:t>13</a:t>
            </a:r>
          </a:p>
        </p:txBody>
      </p:sp>
      <p:sp>
        <p:nvSpPr>
          <p:cNvPr id="3" name="header-rule">
            <a:extLst xmlns:a="http://schemas.openxmlformats.org/drawingml/2006/main">
              <a:ext uri="{FF2B5EF4-FFF2-40B4-BE49-F238E27FC236}">
                <a16:creationId xmlns:a16="http://schemas.microsoft.com/office/drawing/2014/main" id="{615A0687-1DEF-4F86-8D2F-1FBCBE25A8DD}"/>
              </a:ext>
            </a:extLst>
          </p:cNvPr>
          <p:cNvSpPr>
            <a:spLocks xmlns:a="http://schemas.openxmlformats.org/drawingml/2006/main" noGrp="1"/>
          </p:cNvSpPr>
          <p:nvPr/>
        </p:nvSpPr>
        <p:spPr>
          <a:xfrm xmlns:a="http://schemas.openxmlformats.org/drawingml/2006/main">
            <a:off x="533400" y="628650"/>
            <a:ext cx="6496050" cy="28575"/>
          </a:xfrm>
          <a:prstGeom xmlns:a="http://schemas.openxmlformats.org/drawingml/2006/main" prst="rect">
            <a:avLst/>
          </a:prstGeom>
          <a:solidFill xmlns:a="http://schemas.openxmlformats.org/drawingml/2006/main">
            <a:srgbClr val="D7A23D"/>
          </a:solidFill>
          <a:ln xmlns:a="http://schemas.openxmlformats.org/drawingml/2006/main" w="0">
            <a:noFill/>
            <a:prstDash val="solid"/>
          </a:ln>
        </p:spPr>
      </p:sp>
      <p:sp>
        <p:nvSpPr>
          <p:cNvPr id="4" name="slide-title">
            <a:extLst xmlns:a="http://schemas.openxmlformats.org/drawingml/2006/main">
              <a:ext uri="{FF2B5EF4-FFF2-40B4-BE49-F238E27FC236}">
                <a16:creationId xmlns:a16="http://schemas.microsoft.com/office/drawing/2014/main" id="{7753480A-CE4A-4479-8396-AFC5A4008C6F}"/>
              </a:ext>
            </a:extLst>
          </p:cNvPr>
          <p:cNvSpPr>
            <a:spLocks xmlns:a="http://schemas.openxmlformats.org/drawingml/2006/main" noGrp="1"/>
          </p:cNvSpPr>
          <p:nvPr/>
        </p:nvSpPr>
        <p:spPr>
          <a:xfrm xmlns:a="http://schemas.openxmlformats.org/drawingml/2006/main">
            <a:off x="533400" y="800100"/>
            <a:ext cx="649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l">
              <a:lnSpc>
                <a:spcPct val="120000"/>
              </a:lnSpc>
              <a:buNone/>
              <a:defRPr sz="2625" b="1">
                <a:solidFill>
                  <a:srgbClr val="173A3F"/>
                </a:solidFill>
                <a:latin typeface="NanumGothic"/>
                <a:ea typeface="NanumGothic"/>
                <a:cs typeface="NanumGothic"/>
              </a:defRPr>
            </a:pPr>
            <a:r>
              <a:rPr sz="2625" b="1">
                <a:solidFill>
                  <a:srgbClr val="173A3F"/>
                </a:solidFill>
                <a:latin typeface="NanumGothic"/>
                <a:ea typeface="NanumGothic"/>
                <a:cs typeface="NanumGothic"/>
              </a:rPr>
              <a:t>6. AI 생성 이미지 애셋 · 계속</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13d25d7b3e344a4"/>
          <a:stretch xmlns:a="http://schemas.openxmlformats.org/drawingml/2006/main"/>
        </p:blipFill>
        <p:spPr>
          <a:xfrm xmlns:a="http://schemas.openxmlformats.org/drawingml/2006/main">
            <a:off x="2209800" y="1333500"/>
            <a:ext cx="3143250" cy="3143250"/>
          </a:xfrm>
          <a:prstGeom xmlns:a="http://schemas.openxmlformats.org/drawingml/2006/main" prst="roundRect">
            <a:avLst>
              <a:gd name="adj" fmla="val 3636"/>
            </a:avLst>
          </a:prstGeom>
        </p:spPr>
      </p:pic>
      <p:sp>
        <p:nvSpPr>
          <p:cNvPr id="6" name="image-caption-140">
            <a:extLst xmlns:a="http://schemas.openxmlformats.org/drawingml/2006/main">
              <a:ext uri="{FF2B5EF4-FFF2-40B4-BE49-F238E27FC236}">
                <a16:creationId xmlns:a16="http://schemas.microsoft.com/office/drawing/2014/main" id="{EBD0ED78-D182-4895-931B-FE782A213662}"/>
              </a:ext>
            </a:extLst>
          </p:cNvPr>
          <p:cNvSpPr>
            <a:spLocks xmlns:a="http://schemas.openxmlformats.org/drawingml/2006/main" noGrp="1"/>
          </p:cNvSpPr>
          <p:nvPr/>
        </p:nvSpPr>
        <p:spPr>
          <a:xfrm xmlns:a="http://schemas.openxmlformats.org/drawingml/2006/main">
            <a:off x="666750" y="4533900"/>
            <a:ext cx="6229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20000"/>
              </a:lnSpc>
              <a:buNone/>
              <a:defRPr sz="1050" b="0">
                <a:solidFill>
                  <a:srgbClr val="607477"/>
                </a:solidFill>
                <a:latin typeface="NanumGothic"/>
                <a:ea typeface="NanumGothic"/>
                <a:cs typeface="NanumGothic"/>
              </a:defRPr>
            </a:pPr>
            <a:r>
              <a:rPr sz="1050" b="0">
                <a:solidFill>
                  <a:srgbClr val="607477"/>
                </a:solidFill>
                <a:latin typeface="NanumGothic"/>
                <a:ea typeface="NanumGothic"/>
                <a:cs typeface="NanumGothic"/>
              </a:rPr>
              <a:t>AI 생성과 알파 보정을 거친 분홍색 탄성 젤리의 최종 런타임 애셋</a:t>
            </a:r>
          </a:p>
        </p:txBody>
      </p:sp>
      <p:sp>
        <p:nvSpPr>
          <p:cNvPr id="7" name="bullets-524">
            <a:extLst xmlns:a="http://schemas.openxmlformats.org/drawingml/2006/main">
              <a:ext uri="{FF2B5EF4-FFF2-40B4-BE49-F238E27FC236}">
                <a16:creationId xmlns:a16="http://schemas.microsoft.com/office/drawing/2014/main" id="{032E5DE7-B1F1-44ED-9F4D-0798CD70A924}"/>
              </a:ext>
            </a:extLst>
          </p:cNvPr>
          <p:cNvSpPr>
            <a:spLocks xmlns:a="http://schemas.openxmlformats.org/drawingml/2006/main" noGrp="1"/>
          </p:cNvSpPr>
          <p:nvPr/>
        </p:nvSpPr>
        <p:spPr>
          <a:xfrm xmlns:a="http://schemas.openxmlformats.org/drawingml/2006/main">
            <a:off x="533400" y="4991100"/>
            <a:ext cx="6496050" cy="13456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경로: assets/generated/jelly-bumper-v1.png</a:t>
            </a:r>
          </a:p>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SHA-256: bc8434b0a386724008557d5e7c67a4e9129c7ae8d371877fd4222943a848a30c</a:t>
            </a:r>
          </a:p>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생성: AI 생성 후 알파 수축 보정</a:t>
            </a:r>
          </a:p>
        </p:txBody>
      </p:sp>
      <p:sp>
        <p:nvSpPr>
          <p:cNvPr id="8" name="subheading-675.28">
            <a:extLst xmlns:a="http://schemas.openxmlformats.org/drawingml/2006/main">
              <a:ext uri="{FF2B5EF4-FFF2-40B4-BE49-F238E27FC236}">
                <a16:creationId xmlns:a16="http://schemas.microsoft.com/office/drawing/2014/main" id="{51E09111-81D3-40B0-9EE7-AB0DC1ABAD89}"/>
              </a:ext>
            </a:extLst>
          </p:cNvPr>
          <p:cNvSpPr>
            <a:spLocks xmlns:a="http://schemas.openxmlformats.org/drawingml/2006/main" noGrp="1"/>
          </p:cNvSpPr>
          <p:nvPr/>
        </p:nvSpPr>
        <p:spPr>
          <a:xfrm xmlns:a="http://schemas.openxmlformats.org/drawingml/2006/main">
            <a:off x="533400" y="6432042"/>
            <a:ext cx="649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800" b="1">
                <a:solidFill>
                  <a:srgbClr val="2C7A7B"/>
                </a:solidFill>
                <a:latin typeface="NanumGothic"/>
                <a:ea typeface="NanumGothic"/>
                <a:cs typeface="NanumGothic"/>
              </a:defRPr>
            </a:pPr>
            <a:r>
              <a:rPr sz="1800" b="1">
                <a:solidFill>
                  <a:srgbClr val="2C7A7B"/>
                </a:solidFill>
                <a:latin typeface="NanumGothic"/>
                <a:ea typeface="NanumGothic"/>
                <a:cs typeface="NanumGothic"/>
              </a:rPr>
              <a:t>6.3 상자</a:t>
            </a:r>
          </a:p>
        </p:txBody>
      </p:sp>
    </p:spTree>
    <p:extLst>
      <p:ext uri="{BB962C8B-B14F-4D97-AF65-F5344CB8AC3E}">
        <p14:creationId xmlns:p14="http://schemas.microsoft.com/office/powerpoint/2010/main" val="65452155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unning-label">
            <a:extLst xmlns:a="http://schemas.openxmlformats.org/drawingml/2006/main">
              <a:ext uri="{FF2B5EF4-FFF2-40B4-BE49-F238E27FC236}">
                <a16:creationId xmlns:a16="http://schemas.microsoft.com/office/drawing/2014/main" id="{C4A0F6AF-F30D-4D2A-8AA0-8EB593D4CC46}"/>
              </a:ext>
            </a:extLst>
          </p:cNvPr>
          <p:cNvSpPr>
            <a:spLocks xmlns:a="http://schemas.openxmlformats.org/drawingml/2006/main" noGrp="1"/>
          </p:cNvSpPr>
          <p:nvPr/>
        </p:nvSpPr>
        <p:spPr>
          <a:xfrm xmlns:a="http://schemas.openxmlformats.org/drawingml/2006/main">
            <a:off x="533400" y="304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900" b="1">
                <a:solidFill>
                  <a:srgbClr val="2C7A7B"/>
                </a:solidFill>
                <a:latin typeface="NanumGothic"/>
                <a:ea typeface="NanumGothic"/>
                <a:cs typeface="NanumGothic"/>
              </a:defRPr>
            </a:pPr>
            <a:r>
              <a:rPr sz="900" b="1">
                <a:solidFill>
                  <a:srgbClr val="2C7A7B"/>
                </a:solidFill>
                <a:latin typeface="NanumGothic"/>
                <a:ea typeface="NanumGothic"/>
                <a:cs typeface="NanumGothic"/>
              </a:rPr>
              <a:t>Property Shot · AI Technical Report</a:t>
            </a:r>
          </a:p>
        </p:txBody>
      </p:sp>
      <p:sp>
        <p:nvSpPr>
          <p:cNvPr id="2" name="page-number">
            <a:extLst xmlns:a="http://schemas.openxmlformats.org/drawingml/2006/main">
              <a:ext uri="{FF2B5EF4-FFF2-40B4-BE49-F238E27FC236}">
                <a16:creationId xmlns:a16="http://schemas.microsoft.com/office/drawing/2014/main" id="{FA3DF8CE-3AE2-4B63-8881-98EEB276BC15}"/>
              </a:ext>
            </a:extLst>
          </p:cNvPr>
          <p:cNvSpPr>
            <a:spLocks xmlns:a="http://schemas.openxmlformats.org/drawingml/2006/main" noGrp="1"/>
          </p:cNvSpPr>
          <p:nvPr/>
        </p:nvSpPr>
        <p:spPr>
          <a:xfrm xmlns:a="http://schemas.openxmlformats.org/drawingml/2006/main">
            <a:off x="6648450" y="3048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20000"/>
              </a:lnSpc>
              <a:buNone/>
              <a:defRPr sz="900" b="0">
                <a:solidFill>
                  <a:srgbClr val="607477"/>
                </a:solidFill>
                <a:latin typeface="NanumGothic"/>
                <a:ea typeface="NanumGothic"/>
                <a:cs typeface="NanumGothic"/>
              </a:defRPr>
            </a:pPr>
            <a:r>
              <a:rPr sz="900" b="0">
                <a:solidFill>
                  <a:srgbClr val="607477"/>
                </a:solidFill>
                <a:latin typeface="NanumGothic"/>
                <a:ea typeface="NanumGothic"/>
                <a:cs typeface="NanumGothic"/>
              </a:rPr>
              <a:t>14</a:t>
            </a:r>
          </a:p>
        </p:txBody>
      </p:sp>
      <p:sp>
        <p:nvSpPr>
          <p:cNvPr id="3" name="header-rule">
            <a:extLst xmlns:a="http://schemas.openxmlformats.org/drawingml/2006/main">
              <a:ext uri="{FF2B5EF4-FFF2-40B4-BE49-F238E27FC236}">
                <a16:creationId xmlns:a16="http://schemas.microsoft.com/office/drawing/2014/main" id="{E2185E88-D5C8-4400-95C2-CEBACF27E125}"/>
              </a:ext>
            </a:extLst>
          </p:cNvPr>
          <p:cNvSpPr>
            <a:spLocks xmlns:a="http://schemas.openxmlformats.org/drawingml/2006/main" noGrp="1"/>
          </p:cNvSpPr>
          <p:nvPr/>
        </p:nvSpPr>
        <p:spPr>
          <a:xfrm xmlns:a="http://schemas.openxmlformats.org/drawingml/2006/main">
            <a:off x="533400" y="628650"/>
            <a:ext cx="6496050" cy="28575"/>
          </a:xfrm>
          <a:prstGeom xmlns:a="http://schemas.openxmlformats.org/drawingml/2006/main" prst="rect">
            <a:avLst/>
          </a:prstGeom>
          <a:solidFill xmlns:a="http://schemas.openxmlformats.org/drawingml/2006/main">
            <a:srgbClr val="D7A23D"/>
          </a:solidFill>
          <a:ln xmlns:a="http://schemas.openxmlformats.org/drawingml/2006/main" w="0">
            <a:noFill/>
            <a:prstDash val="solid"/>
          </a:ln>
        </p:spPr>
      </p:sp>
      <p:sp>
        <p:nvSpPr>
          <p:cNvPr id="4" name="slide-title">
            <a:extLst xmlns:a="http://schemas.openxmlformats.org/drawingml/2006/main">
              <a:ext uri="{FF2B5EF4-FFF2-40B4-BE49-F238E27FC236}">
                <a16:creationId xmlns:a16="http://schemas.microsoft.com/office/drawing/2014/main" id="{BE452F96-66BB-4343-B4ED-8C875E48E8B5}"/>
              </a:ext>
            </a:extLst>
          </p:cNvPr>
          <p:cNvSpPr>
            <a:spLocks xmlns:a="http://schemas.openxmlformats.org/drawingml/2006/main" noGrp="1"/>
          </p:cNvSpPr>
          <p:nvPr/>
        </p:nvSpPr>
        <p:spPr>
          <a:xfrm xmlns:a="http://schemas.openxmlformats.org/drawingml/2006/main">
            <a:off x="533400" y="800100"/>
            <a:ext cx="649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l">
              <a:lnSpc>
                <a:spcPct val="120000"/>
              </a:lnSpc>
              <a:buNone/>
              <a:defRPr sz="2625" b="1">
                <a:solidFill>
                  <a:srgbClr val="173A3F"/>
                </a:solidFill>
                <a:latin typeface="NanumGothic"/>
                <a:ea typeface="NanumGothic"/>
                <a:cs typeface="NanumGothic"/>
              </a:defRPr>
            </a:pPr>
            <a:r>
              <a:rPr sz="2625" b="1">
                <a:solidFill>
                  <a:srgbClr val="173A3F"/>
                </a:solidFill>
                <a:latin typeface="NanumGothic"/>
                <a:ea typeface="NanumGothic"/>
                <a:cs typeface="NanumGothic"/>
              </a:rPr>
              <a:t>6. AI 생성 이미지 애셋 · 계속</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f7f7a83100c43c2"/>
          <a:stretch xmlns:a="http://schemas.openxmlformats.org/drawingml/2006/main"/>
        </p:blipFill>
        <p:spPr>
          <a:xfrm xmlns:a="http://schemas.openxmlformats.org/drawingml/2006/main">
            <a:off x="2209800" y="1333500"/>
            <a:ext cx="3143250" cy="3143250"/>
          </a:xfrm>
          <a:prstGeom xmlns:a="http://schemas.openxmlformats.org/drawingml/2006/main" prst="roundRect">
            <a:avLst>
              <a:gd name="adj" fmla="val 3636"/>
            </a:avLst>
          </a:prstGeom>
        </p:spPr>
      </p:pic>
      <p:sp>
        <p:nvSpPr>
          <p:cNvPr id="6" name="image-caption-140">
            <a:extLst xmlns:a="http://schemas.openxmlformats.org/drawingml/2006/main">
              <a:ext uri="{FF2B5EF4-FFF2-40B4-BE49-F238E27FC236}">
                <a16:creationId xmlns:a16="http://schemas.microsoft.com/office/drawing/2014/main" id="{BD507D24-8A91-4611-8780-9A36A769E329}"/>
              </a:ext>
            </a:extLst>
          </p:cNvPr>
          <p:cNvSpPr>
            <a:spLocks xmlns:a="http://schemas.openxmlformats.org/drawingml/2006/main" noGrp="1"/>
          </p:cNvSpPr>
          <p:nvPr/>
        </p:nvSpPr>
        <p:spPr>
          <a:xfrm xmlns:a="http://schemas.openxmlformats.org/drawingml/2006/main">
            <a:off x="666750" y="4533900"/>
            <a:ext cx="6229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20000"/>
              </a:lnSpc>
              <a:buNone/>
              <a:defRPr sz="1050" b="0">
                <a:solidFill>
                  <a:srgbClr val="607477"/>
                </a:solidFill>
                <a:latin typeface="NanumGothic"/>
                <a:ea typeface="NanumGothic"/>
                <a:cs typeface="NanumGothic"/>
              </a:defRPr>
            </a:pPr>
            <a:r>
              <a:rPr sz="1050" b="0">
                <a:solidFill>
                  <a:srgbClr val="607477"/>
                </a:solidFill>
                <a:latin typeface="NanumGothic"/>
                <a:ea typeface="NanumGothic"/>
                <a:cs typeface="NanumGothic"/>
              </a:rPr>
              <a:t>AI 생성 후 투명화한 나무 상자의 최종 런타임 애셋</a:t>
            </a:r>
          </a:p>
        </p:txBody>
      </p:sp>
      <p:sp>
        <p:nvSpPr>
          <p:cNvPr id="7" name="bullets-524">
            <a:extLst xmlns:a="http://schemas.openxmlformats.org/drawingml/2006/main">
              <a:ext uri="{FF2B5EF4-FFF2-40B4-BE49-F238E27FC236}">
                <a16:creationId xmlns:a16="http://schemas.microsoft.com/office/drawing/2014/main" id="{E154D557-71AE-47BE-9D1D-965E70EC62FF}"/>
              </a:ext>
            </a:extLst>
          </p:cNvPr>
          <p:cNvSpPr>
            <a:spLocks xmlns:a="http://schemas.openxmlformats.org/drawingml/2006/main" noGrp="1"/>
          </p:cNvSpPr>
          <p:nvPr/>
        </p:nvSpPr>
        <p:spPr>
          <a:xfrm xmlns:a="http://schemas.openxmlformats.org/drawingml/2006/main">
            <a:off x="533400" y="4991100"/>
            <a:ext cx="6496050" cy="13456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경로: assets/generated/crate-v2.png</a:t>
            </a:r>
          </a:p>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SHA-256: 3d0b267716599be44865ad5b07421257ebc6a2a07a0c856b58d67bdbc2f8eaed</a:t>
            </a:r>
          </a:p>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생성: Codex 이미지 생성 후 배경 키 제거·투명화</a:t>
            </a:r>
          </a:p>
        </p:txBody>
      </p:sp>
      <p:sp>
        <p:nvSpPr>
          <p:cNvPr id="8" name="paragraph-675.28">
            <a:extLst xmlns:a="http://schemas.openxmlformats.org/drawingml/2006/main">
              <a:ext uri="{FF2B5EF4-FFF2-40B4-BE49-F238E27FC236}">
                <a16:creationId xmlns:a16="http://schemas.microsoft.com/office/drawing/2014/main" id="{0979C4E0-ACBD-4CB0-BD14-D0762C78A634}"/>
              </a:ext>
            </a:extLst>
          </p:cNvPr>
          <p:cNvSpPr>
            <a:spLocks xmlns:a="http://schemas.openxmlformats.org/drawingml/2006/main" noGrp="1"/>
          </p:cNvSpPr>
          <p:nvPr/>
        </p:nvSpPr>
        <p:spPr>
          <a:xfrm xmlns:a="http://schemas.openxmlformats.org/drawingml/2006/main">
            <a:off x="533400" y="6432042"/>
            <a:ext cx="6496050" cy="577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200" b="0">
                <a:solidFill>
                  <a:srgbClr val="173A3F"/>
                </a:solidFill>
                <a:latin typeface="NanumGothic"/>
                <a:ea typeface="NanumGothic"/>
                <a:cs typeface="NanumGothic"/>
              </a:defRPr>
            </a:pPr>
            <a:r>
              <a:rPr sz="1200" b="0">
                <a:solidFill>
                  <a:srgbClr val="173A3F"/>
                </a:solidFill>
                <a:latin typeface="NanumGothic"/>
                <a:ea typeface="NanumGothic"/>
                <a:cs typeface="NanumGothic"/>
              </a:rPr>
              <a:t>풍선·뾰족함 원본·속성 공은 외부 PNG가 아니라 property_shot_game.dart와 game_ball_painter.dart의 Canvas 코드로 그린 자체 표현이다.</a:t>
            </a:r>
          </a:p>
        </p:txBody>
      </p:sp>
    </p:spTree>
    <p:extLst>
      <p:ext uri="{BB962C8B-B14F-4D97-AF65-F5344CB8AC3E}">
        <p14:creationId xmlns:p14="http://schemas.microsoft.com/office/powerpoint/2010/main" val="52699279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unning-label">
            <a:extLst xmlns:a="http://schemas.openxmlformats.org/drawingml/2006/main">
              <a:ext uri="{FF2B5EF4-FFF2-40B4-BE49-F238E27FC236}">
                <a16:creationId xmlns:a16="http://schemas.microsoft.com/office/drawing/2014/main" id="{E762C7B3-5FF2-464D-825C-941F4FF074AE}"/>
              </a:ext>
            </a:extLst>
          </p:cNvPr>
          <p:cNvSpPr>
            <a:spLocks xmlns:a="http://schemas.openxmlformats.org/drawingml/2006/main" noGrp="1"/>
          </p:cNvSpPr>
          <p:nvPr/>
        </p:nvSpPr>
        <p:spPr>
          <a:xfrm xmlns:a="http://schemas.openxmlformats.org/drawingml/2006/main">
            <a:off x="533400" y="304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900" b="1">
                <a:solidFill>
                  <a:srgbClr val="2C7A7B"/>
                </a:solidFill>
                <a:latin typeface="NanumGothic"/>
                <a:ea typeface="NanumGothic"/>
                <a:cs typeface="NanumGothic"/>
              </a:defRPr>
            </a:pPr>
            <a:r>
              <a:rPr sz="900" b="1">
                <a:solidFill>
                  <a:srgbClr val="2C7A7B"/>
                </a:solidFill>
                <a:latin typeface="NanumGothic"/>
                <a:ea typeface="NanumGothic"/>
                <a:cs typeface="NanumGothic"/>
              </a:rPr>
              <a:t>Property Shot · AI Technical Report</a:t>
            </a:r>
          </a:p>
        </p:txBody>
      </p:sp>
      <p:sp>
        <p:nvSpPr>
          <p:cNvPr id="2" name="page-number">
            <a:extLst xmlns:a="http://schemas.openxmlformats.org/drawingml/2006/main">
              <a:ext uri="{FF2B5EF4-FFF2-40B4-BE49-F238E27FC236}">
                <a16:creationId xmlns:a16="http://schemas.microsoft.com/office/drawing/2014/main" id="{BB78A1EB-C93E-4935-A160-DCA94CD998FD}"/>
              </a:ext>
            </a:extLst>
          </p:cNvPr>
          <p:cNvSpPr>
            <a:spLocks xmlns:a="http://schemas.openxmlformats.org/drawingml/2006/main" noGrp="1"/>
          </p:cNvSpPr>
          <p:nvPr/>
        </p:nvSpPr>
        <p:spPr>
          <a:xfrm xmlns:a="http://schemas.openxmlformats.org/drawingml/2006/main">
            <a:off x="6648450" y="3048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20000"/>
              </a:lnSpc>
              <a:buNone/>
              <a:defRPr sz="900" b="0">
                <a:solidFill>
                  <a:srgbClr val="607477"/>
                </a:solidFill>
                <a:latin typeface="NanumGothic"/>
                <a:ea typeface="NanumGothic"/>
                <a:cs typeface="NanumGothic"/>
              </a:defRPr>
            </a:pPr>
            <a:r>
              <a:rPr sz="900" b="0">
                <a:solidFill>
                  <a:srgbClr val="607477"/>
                </a:solidFill>
                <a:latin typeface="NanumGothic"/>
                <a:ea typeface="NanumGothic"/>
                <a:cs typeface="NanumGothic"/>
              </a:rPr>
              <a:t>15</a:t>
            </a:r>
          </a:p>
        </p:txBody>
      </p:sp>
      <p:sp>
        <p:nvSpPr>
          <p:cNvPr id="3" name="header-rule">
            <a:extLst xmlns:a="http://schemas.openxmlformats.org/drawingml/2006/main">
              <a:ext uri="{FF2B5EF4-FFF2-40B4-BE49-F238E27FC236}">
                <a16:creationId xmlns:a16="http://schemas.microsoft.com/office/drawing/2014/main" id="{6C470168-147A-4498-85B6-016B361A1946}"/>
              </a:ext>
            </a:extLst>
          </p:cNvPr>
          <p:cNvSpPr>
            <a:spLocks xmlns:a="http://schemas.openxmlformats.org/drawingml/2006/main" noGrp="1"/>
          </p:cNvSpPr>
          <p:nvPr/>
        </p:nvSpPr>
        <p:spPr>
          <a:xfrm xmlns:a="http://schemas.openxmlformats.org/drawingml/2006/main">
            <a:off x="533400" y="628650"/>
            <a:ext cx="6496050" cy="28575"/>
          </a:xfrm>
          <a:prstGeom xmlns:a="http://schemas.openxmlformats.org/drawingml/2006/main" prst="rect">
            <a:avLst/>
          </a:prstGeom>
          <a:solidFill xmlns:a="http://schemas.openxmlformats.org/drawingml/2006/main">
            <a:srgbClr val="D7A23D"/>
          </a:solidFill>
          <a:ln xmlns:a="http://schemas.openxmlformats.org/drawingml/2006/main" w="0">
            <a:noFill/>
            <a:prstDash val="solid"/>
          </a:ln>
        </p:spPr>
      </p:sp>
      <p:sp>
        <p:nvSpPr>
          <p:cNvPr id="4" name="slide-title">
            <a:extLst xmlns:a="http://schemas.openxmlformats.org/drawingml/2006/main">
              <a:ext uri="{FF2B5EF4-FFF2-40B4-BE49-F238E27FC236}">
                <a16:creationId xmlns:a16="http://schemas.microsoft.com/office/drawing/2014/main" id="{2780DBF6-E73F-4307-9505-01C24DD67B5C}"/>
              </a:ext>
            </a:extLst>
          </p:cNvPr>
          <p:cNvSpPr>
            <a:spLocks xmlns:a="http://schemas.openxmlformats.org/drawingml/2006/main" noGrp="1"/>
          </p:cNvSpPr>
          <p:nvPr/>
        </p:nvSpPr>
        <p:spPr>
          <a:xfrm xmlns:a="http://schemas.openxmlformats.org/drawingml/2006/main">
            <a:off x="533400" y="800100"/>
            <a:ext cx="649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l">
              <a:lnSpc>
                <a:spcPct val="120000"/>
              </a:lnSpc>
              <a:buNone/>
              <a:defRPr sz="2625" b="1">
                <a:solidFill>
                  <a:srgbClr val="173A3F"/>
                </a:solidFill>
                <a:latin typeface="NanumGothic"/>
                <a:ea typeface="NanumGothic"/>
                <a:cs typeface="NanumGothic"/>
              </a:defRPr>
            </a:pPr>
            <a:r>
              <a:rPr sz="2625" b="1">
                <a:solidFill>
                  <a:srgbClr val="173A3F"/>
                </a:solidFill>
                <a:latin typeface="NanumGothic"/>
                <a:ea typeface="NanumGothic"/>
                <a:cs typeface="NanumGothic"/>
              </a:rPr>
              <a:t>6. AI 생성 이미지 애셋 · 계속</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45aee1eb0ad4afa"/>
          <a:stretch xmlns:a="http://schemas.openxmlformats.org/drawingml/2006/main"/>
        </p:blipFill>
        <p:spPr>
          <a:xfrm xmlns:a="http://schemas.openxmlformats.org/drawingml/2006/main">
            <a:off x="3055200" y="1333500"/>
            <a:ext cx="1452450" cy="3143250"/>
          </a:xfrm>
          <a:prstGeom xmlns:a="http://schemas.openxmlformats.org/drawingml/2006/main" prst="roundRect">
            <a:avLst>
              <a:gd name="adj" fmla="val 3636"/>
            </a:avLst>
          </a:prstGeom>
        </p:spPr>
      </p:pic>
      <p:sp>
        <p:nvSpPr>
          <p:cNvPr id="6" name="image-caption-140">
            <a:extLst xmlns:a="http://schemas.openxmlformats.org/drawingml/2006/main">
              <a:ext uri="{FF2B5EF4-FFF2-40B4-BE49-F238E27FC236}">
                <a16:creationId xmlns:a16="http://schemas.microsoft.com/office/drawing/2014/main" id="{9DBB339A-66F3-4276-95CE-95108327D3EC}"/>
              </a:ext>
            </a:extLst>
          </p:cNvPr>
          <p:cNvSpPr>
            <a:spLocks xmlns:a="http://schemas.openxmlformats.org/drawingml/2006/main" noGrp="1"/>
          </p:cNvSpPr>
          <p:nvPr/>
        </p:nvSpPr>
        <p:spPr>
          <a:xfrm xmlns:a="http://schemas.openxmlformats.org/drawingml/2006/main">
            <a:off x="666750" y="4533900"/>
            <a:ext cx="6229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20000"/>
              </a:lnSpc>
              <a:buNone/>
              <a:defRPr sz="1050" b="0">
                <a:solidFill>
                  <a:srgbClr val="607477"/>
                </a:solidFill>
                <a:latin typeface="NanumGothic"/>
                <a:ea typeface="NanumGothic"/>
                <a:cs typeface="NanumGothic"/>
              </a:defRPr>
            </a:pPr>
            <a:r>
              <a:rPr sz="1050" b="0">
                <a:solidFill>
                  <a:srgbClr val="607477"/>
                </a:solidFill>
                <a:latin typeface="NanumGothic"/>
                <a:ea typeface="NanumGothic"/>
                <a:cs typeface="NanumGothic"/>
              </a:rPr>
              <a:t>Canvas로 그린 뾰족함 공이 풍선을 향해 조준된 4단계 기믹 화면</a:t>
            </a:r>
          </a:p>
        </p:txBody>
      </p:sp>
    </p:spTree>
    <p:extLst>
      <p:ext uri="{BB962C8B-B14F-4D97-AF65-F5344CB8AC3E}">
        <p14:creationId xmlns:p14="http://schemas.microsoft.com/office/powerpoint/2010/main" val="81437646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3" name="running-label">
            <a:extLst xmlns:a="http://schemas.openxmlformats.org/drawingml/2006/main">
              <a:ext uri="{FF2B5EF4-FFF2-40B4-BE49-F238E27FC236}">
                <a16:creationId xmlns:a16="http://schemas.microsoft.com/office/drawing/2014/main" id="{AA508BBD-7705-45A3-B272-78881195AD4D}"/>
              </a:ext>
            </a:extLst>
          </p:cNvPr>
          <p:cNvSpPr>
            <a:spLocks xmlns:a="http://schemas.openxmlformats.org/drawingml/2006/main" noGrp="1"/>
          </p:cNvSpPr>
          <p:nvPr/>
        </p:nvSpPr>
        <p:spPr>
          <a:xfrm xmlns:a="http://schemas.openxmlformats.org/drawingml/2006/main">
            <a:off x="533400" y="304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900" b="1">
                <a:solidFill>
                  <a:srgbClr val="2C7A7B"/>
                </a:solidFill>
                <a:latin typeface="NanumGothic"/>
                <a:ea typeface="NanumGothic"/>
                <a:cs typeface="NanumGothic"/>
              </a:defRPr>
            </a:pPr>
            <a:r>
              <a:rPr sz="900" b="1">
                <a:solidFill>
                  <a:srgbClr val="2C7A7B"/>
                </a:solidFill>
                <a:latin typeface="NanumGothic"/>
                <a:ea typeface="NanumGothic"/>
                <a:cs typeface="NanumGothic"/>
              </a:rPr>
              <a:t>Property Shot · AI Technical Report</a:t>
            </a:r>
          </a:p>
        </p:txBody>
      </p:sp>
      <p:sp>
        <p:nvSpPr>
          <p:cNvPr id="2" name="page-number">
            <a:extLst xmlns:a="http://schemas.openxmlformats.org/drawingml/2006/main">
              <a:ext uri="{FF2B5EF4-FFF2-40B4-BE49-F238E27FC236}">
                <a16:creationId xmlns:a16="http://schemas.microsoft.com/office/drawing/2014/main" id="{5F40320E-24D6-4DD4-BBC1-CBB6DE9197ED}"/>
              </a:ext>
            </a:extLst>
          </p:cNvPr>
          <p:cNvSpPr>
            <a:spLocks xmlns:a="http://schemas.openxmlformats.org/drawingml/2006/main" noGrp="1"/>
          </p:cNvSpPr>
          <p:nvPr/>
        </p:nvSpPr>
        <p:spPr>
          <a:xfrm xmlns:a="http://schemas.openxmlformats.org/drawingml/2006/main">
            <a:off x="6648450" y="3048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20000"/>
              </a:lnSpc>
              <a:buNone/>
              <a:defRPr sz="900" b="0">
                <a:solidFill>
                  <a:srgbClr val="607477"/>
                </a:solidFill>
                <a:latin typeface="NanumGothic"/>
                <a:ea typeface="NanumGothic"/>
                <a:cs typeface="NanumGothic"/>
              </a:defRPr>
            </a:pPr>
            <a:r>
              <a:rPr sz="900" b="0">
                <a:solidFill>
                  <a:srgbClr val="607477"/>
                </a:solidFill>
                <a:latin typeface="NanumGothic"/>
                <a:ea typeface="NanumGothic"/>
                <a:cs typeface="NanumGothic"/>
              </a:rPr>
              <a:t>16</a:t>
            </a:r>
          </a:p>
        </p:txBody>
      </p:sp>
      <p:sp>
        <p:nvSpPr>
          <p:cNvPr id="3" name="header-rule">
            <a:extLst xmlns:a="http://schemas.openxmlformats.org/drawingml/2006/main">
              <a:ext uri="{FF2B5EF4-FFF2-40B4-BE49-F238E27FC236}">
                <a16:creationId xmlns:a16="http://schemas.microsoft.com/office/drawing/2014/main" id="{910C9A89-CCB8-43BA-A937-A7F5B85FD08B}"/>
              </a:ext>
            </a:extLst>
          </p:cNvPr>
          <p:cNvSpPr>
            <a:spLocks xmlns:a="http://schemas.openxmlformats.org/drawingml/2006/main" noGrp="1"/>
          </p:cNvSpPr>
          <p:nvPr/>
        </p:nvSpPr>
        <p:spPr>
          <a:xfrm xmlns:a="http://schemas.openxmlformats.org/drawingml/2006/main">
            <a:off x="533400" y="628650"/>
            <a:ext cx="6496050" cy="28575"/>
          </a:xfrm>
          <a:prstGeom xmlns:a="http://schemas.openxmlformats.org/drawingml/2006/main" prst="rect">
            <a:avLst/>
          </a:prstGeom>
          <a:solidFill xmlns:a="http://schemas.openxmlformats.org/drawingml/2006/main">
            <a:srgbClr val="D7A23D"/>
          </a:solidFill>
          <a:ln xmlns:a="http://schemas.openxmlformats.org/drawingml/2006/main" w="0">
            <a:noFill/>
            <a:prstDash val="solid"/>
          </a:ln>
        </p:spPr>
      </p:sp>
      <p:sp>
        <p:nvSpPr>
          <p:cNvPr id="4" name="slide-title">
            <a:extLst xmlns:a="http://schemas.openxmlformats.org/drawingml/2006/main">
              <a:ext uri="{FF2B5EF4-FFF2-40B4-BE49-F238E27FC236}">
                <a16:creationId xmlns:a16="http://schemas.microsoft.com/office/drawing/2014/main" id="{73C24E29-A651-40B0-8D71-EE8EE35E4B3C}"/>
              </a:ext>
            </a:extLst>
          </p:cNvPr>
          <p:cNvSpPr>
            <a:spLocks xmlns:a="http://schemas.openxmlformats.org/drawingml/2006/main" noGrp="1"/>
          </p:cNvSpPr>
          <p:nvPr/>
        </p:nvSpPr>
        <p:spPr>
          <a:xfrm xmlns:a="http://schemas.openxmlformats.org/drawingml/2006/main">
            <a:off x="533400" y="800100"/>
            <a:ext cx="649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l">
              <a:lnSpc>
                <a:spcPct val="120000"/>
              </a:lnSpc>
              <a:buNone/>
              <a:defRPr sz="2625" b="1">
                <a:solidFill>
                  <a:srgbClr val="173A3F"/>
                </a:solidFill>
                <a:latin typeface="NanumGothic"/>
                <a:ea typeface="NanumGothic"/>
                <a:cs typeface="NanumGothic"/>
              </a:defRPr>
            </a:pPr>
            <a:r>
              <a:rPr sz="2625" b="1">
                <a:solidFill>
                  <a:srgbClr val="173A3F"/>
                </a:solidFill>
                <a:latin typeface="NanumGothic"/>
                <a:ea typeface="NanumGothic"/>
                <a:cs typeface="NanumGothic"/>
              </a:rPr>
              <a:t>7. 외부 에셋과 오픈소스 출처</a:t>
            </a:r>
          </a:p>
        </p:txBody>
      </p:sp>
      <p:sp>
        <p:nvSpPr>
          <p:cNvPr id="5" name="subheading-140">
            <a:extLst xmlns:a="http://schemas.openxmlformats.org/drawingml/2006/main">
              <a:ext uri="{FF2B5EF4-FFF2-40B4-BE49-F238E27FC236}">
                <a16:creationId xmlns:a16="http://schemas.microsoft.com/office/drawing/2014/main" id="{B50BEAD5-AC7E-41BC-BD03-3F917D357759}"/>
              </a:ext>
            </a:extLst>
          </p:cNvPr>
          <p:cNvSpPr>
            <a:spLocks xmlns:a="http://schemas.openxmlformats.org/drawingml/2006/main" noGrp="1"/>
          </p:cNvSpPr>
          <p:nvPr/>
        </p:nvSpPr>
        <p:spPr>
          <a:xfrm xmlns:a="http://schemas.openxmlformats.org/drawingml/2006/main">
            <a:off x="533400" y="1333500"/>
            <a:ext cx="649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800" b="1">
                <a:solidFill>
                  <a:srgbClr val="2C7A7B"/>
                </a:solidFill>
                <a:latin typeface="NanumGothic"/>
                <a:ea typeface="NanumGothic"/>
                <a:cs typeface="NanumGothic"/>
              </a:defRPr>
            </a:pPr>
            <a:r>
              <a:rPr sz="1800" b="1">
                <a:solidFill>
                  <a:srgbClr val="2C7A7B"/>
                </a:solidFill>
                <a:latin typeface="NanumGothic"/>
                <a:ea typeface="NanumGothic"/>
                <a:cs typeface="NanumGothic"/>
              </a:rPr>
              <a:t>7.1 런타임 의존성</a:t>
            </a:r>
          </a:p>
        </p:txBody>
      </p:sp>
      <p:sp>
        <p:nvSpPr>
          <p:cNvPr id="6" name="table-cell-194-0-0">
            <a:extLst xmlns:a="http://schemas.openxmlformats.org/drawingml/2006/main">
              <a:ext uri="{FF2B5EF4-FFF2-40B4-BE49-F238E27FC236}">
                <a16:creationId xmlns:a16="http://schemas.microsoft.com/office/drawing/2014/main" id="{B92E0BBF-7BEC-4EE4-8058-9E66253804A1}"/>
              </a:ext>
            </a:extLst>
          </p:cNvPr>
          <p:cNvSpPr>
            <a:spLocks xmlns:a="http://schemas.openxmlformats.org/drawingml/2006/main" noGrp="1"/>
          </p:cNvSpPr>
          <p:nvPr/>
        </p:nvSpPr>
        <p:spPr>
          <a:xfrm xmlns:a="http://schemas.openxmlformats.org/drawingml/2006/main">
            <a:off x="533400" y="1847850"/>
            <a:ext cx="1624013" cy="457200"/>
          </a:xfrm>
          <a:prstGeom xmlns:a="http://schemas.openxmlformats.org/drawingml/2006/main" prst="rect">
            <a:avLst/>
          </a:prstGeom>
          <a:solidFill xmlns:a="http://schemas.openxmlformats.org/drawingml/2006/main">
            <a:srgbClr val="E8F4F1"/>
          </a:solidFill>
          <a:ln xmlns:a="http://schemas.openxmlformats.org/drawingml/2006/main" w="9525">
            <a:solidFill>
              <a:srgbClr val="D7E1DE"/>
            </a:solidFill>
            <a:prstDash val="solid"/>
          </a:ln>
        </p:spPr>
      </p:sp>
      <p:sp>
        <p:nvSpPr>
          <p:cNvPr id="7" name="table-text-194-0-0">
            <a:extLst xmlns:a="http://schemas.openxmlformats.org/drawingml/2006/main">
              <a:ext uri="{FF2B5EF4-FFF2-40B4-BE49-F238E27FC236}">
                <a16:creationId xmlns:a16="http://schemas.microsoft.com/office/drawing/2014/main" id="{E5387D9E-07CD-44C4-BF31-D7F88CF3A193}"/>
              </a:ext>
            </a:extLst>
          </p:cNvPr>
          <p:cNvSpPr>
            <a:spLocks xmlns:a="http://schemas.openxmlformats.org/drawingml/2006/main" noGrp="1"/>
          </p:cNvSpPr>
          <p:nvPr/>
        </p:nvSpPr>
        <p:spPr>
          <a:xfrm xmlns:a="http://schemas.openxmlformats.org/drawingml/2006/main">
            <a:off x="619125" y="1914525"/>
            <a:ext cx="1452563"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a:solidFill>
                  <a:srgbClr val="173A3F"/>
                </a:solidFill>
                <a:latin typeface="NanumGothic"/>
                <a:ea typeface="NanumGothic"/>
                <a:cs typeface="NanumGothic"/>
              </a:defRPr>
            </a:pPr>
            <a:r>
              <a:rPr sz="975" b="1">
                <a:solidFill>
                  <a:srgbClr val="173A3F"/>
                </a:solidFill>
                <a:latin typeface="NanumGothic"/>
                <a:ea typeface="NanumGothic"/>
                <a:cs typeface="NanumGothic"/>
              </a:rPr>
              <a:t>구성</a:t>
            </a:r>
          </a:p>
        </p:txBody>
      </p:sp>
      <p:sp>
        <p:nvSpPr>
          <p:cNvPr id="8" name="table-cell-194-0-1">
            <a:extLst xmlns:a="http://schemas.openxmlformats.org/drawingml/2006/main">
              <a:ext uri="{FF2B5EF4-FFF2-40B4-BE49-F238E27FC236}">
                <a16:creationId xmlns:a16="http://schemas.microsoft.com/office/drawing/2014/main" id="{DAFF4054-7090-4C40-8305-EE220234BC4C}"/>
              </a:ext>
            </a:extLst>
          </p:cNvPr>
          <p:cNvSpPr>
            <a:spLocks xmlns:a="http://schemas.openxmlformats.org/drawingml/2006/main" noGrp="1"/>
          </p:cNvSpPr>
          <p:nvPr/>
        </p:nvSpPr>
        <p:spPr>
          <a:xfrm xmlns:a="http://schemas.openxmlformats.org/drawingml/2006/main">
            <a:off x="2157413" y="1847850"/>
            <a:ext cx="1624013" cy="457200"/>
          </a:xfrm>
          <a:prstGeom xmlns:a="http://schemas.openxmlformats.org/drawingml/2006/main" prst="rect">
            <a:avLst/>
          </a:prstGeom>
          <a:solidFill xmlns:a="http://schemas.openxmlformats.org/drawingml/2006/main">
            <a:srgbClr val="E8F4F1"/>
          </a:solidFill>
          <a:ln xmlns:a="http://schemas.openxmlformats.org/drawingml/2006/main" w="9525">
            <a:solidFill>
              <a:srgbClr val="D7E1DE"/>
            </a:solidFill>
            <a:prstDash val="solid"/>
          </a:ln>
        </p:spPr>
      </p:sp>
      <p:sp>
        <p:nvSpPr>
          <p:cNvPr id="9" name="table-text-194-0-1">
            <a:extLst xmlns:a="http://schemas.openxmlformats.org/drawingml/2006/main">
              <a:ext uri="{FF2B5EF4-FFF2-40B4-BE49-F238E27FC236}">
                <a16:creationId xmlns:a16="http://schemas.microsoft.com/office/drawing/2014/main" id="{94BD6DDC-F0F4-4F36-AE01-86C493F934FA}"/>
              </a:ext>
            </a:extLst>
          </p:cNvPr>
          <p:cNvSpPr>
            <a:spLocks xmlns:a="http://schemas.openxmlformats.org/drawingml/2006/main" noGrp="1"/>
          </p:cNvSpPr>
          <p:nvPr/>
        </p:nvSpPr>
        <p:spPr>
          <a:xfrm xmlns:a="http://schemas.openxmlformats.org/drawingml/2006/main">
            <a:off x="2243138" y="1914525"/>
            <a:ext cx="1452563"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a:solidFill>
                  <a:srgbClr val="173A3F"/>
                </a:solidFill>
                <a:latin typeface="NanumGothic"/>
                <a:ea typeface="NanumGothic"/>
                <a:cs typeface="NanumGothic"/>
              </a:defRPr>
            </a:pPr>
            <a:r>
              <a:rPr sz="975" b="1">
                <a:solidFill>
                  <a:srgbClr val="173A3F"/>
                </a:solidFill>
                <a:latin typeface="NanumGothic"/>
                <a:ea typeface="NanumGothic"/>
                <a:cs typeface="NanumGothic"/>
              </a:rPr>
              <a:t>버전/제약</a:t>
            </a:r>
          </a:p>
        </p:txBody>
      </p:sp>
      <p:sp>
        <p:nvSpPr>
          <p:cNvPr id="10" name="table-cell-194-0-2">
            <a:extLst xmlns:a="http://schemas.openxmlformats.org/drawingml/2006/main">
              <a:ext uri="{FF2B5EF4-FFF2-40B4-BE49-F238E27FC236}">
                <a16:creationId xmlns:a16="http://schemas.microsoft.com/office/drawing/2014/main" id="{6AAD8461-0C01-47E1-84A2-8325BBAA355D}"/>
              </a:ext>
            </a:extLst>
          </p:cNvPr>
          <p:cNvSpPr>
            <a:spLocks xmlns:a="http://schemas.openxmlformats.org/drawingml/2006/main" noGrp="1"/>
          </p:cNvSpPr>
          <p:nvPr/>
        </p:nvSpPr>
        <p:spPr>
          <a:xfrm xmlns:a="http://schemas.openxmlformats.org/drawingml/2006/main">
            <a:off x="3781425" y="1847850"/>
            <a:ext cx="1624013" cy="457200"/>
          </a:xfrm>
          <a:prstGeom xmlns:a="http://schemas.openxmlformats.org/drawingml/2006/main" prst="rect">
            <a:avLst/>
          </a:prstGeom>
          <a:solidFill xmlns:a="http://schemas.openxmlformats.org/drawingml/2006/main">
            <a:srgbClr val="E8F4F1"/>
          </a:solidFill>
          <a:ln xmlns:a="http://schemas.openxmlformats.org/drawingml/2006/main" w="9525">
            <a:solidFill>
              <a:srgbClr val="D7E1DE"/>
            </a:solidFill>
            <a:prstDash val="solid"/>
          </a:ln>
        </p:spPr>
      </p:sp>
      <p:sp>
        <p:nvSpPr>
          <p:cNvPr id="11" name="table-text-194-0-2">
            <a:extLst xmlns:a="http://schemas.openxmlformats.org/drawingml/2006/main">
              <a:ext uri="{FF2B5EF4-FFF2-40B4-BE49-F238E27FC236}">
                <a16:creationId xmlns:a16="http://schemas.microsoft.com/office/drawing/2014/main" id="{868A2A9E-51AD-46EA-9DBA-EB06BC4C5045}"/>
              </a:ext>
            </a:extLst>
          </p:cNvPr>
          <p:cNvSpPr>
            <a:spLocks xmlns:a="http://schemas.openxmlformats.org/drawingml/2006/main" noGrp="1"/>
          </p:cNvSpPr>
          <p:nvPr/>
        </p:nvSpPr>
        <p:spPr>
          <a:xfrm xmlns:a="http://schemas.openxmlformats.org/drawingml/2006/main">
            <a:off x="3867150" y="1914525"/>
            <a:ext cx="1452563"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a:solidFill>
                  <a:srgbClr val="173A3F"/>
                </a:solidFill>
                <a:latin typeface="NanumGothic"/>
                <a:ea typeface="NanumGothic"/>
                <a:cs typeface="NanumGothic"/>
              </a:defRPr>
            </a:pPr>
            <a:r>
              <a:rPr sz="975" b="1">
                <a:solidFill>
                  <a:srgbClr val="173A3F"/>
                </a:solidFill>
                <a:latin typeface="NanumGothic"/>
                <a:ea typeface="NanumGothic"/>
                <a:cs typeface="NanumGothic"/>
              </a:rPr>
              <a:t>용도</a:t>
            </a:r>
          </a:p>
        </p:txBody>
      </p:sp>
      <p:sp>
        <p:nvSpPr>
          <p:cNvPr id="12" name="table-cell-194-0-3">
            <a:extLst xmlns:a="http://schemas.openxmlformats.org/drawingml/2006/main">
              <a:ext uri="{FF2B5EF4-FFF2-40B4-BE49-F238E27FC236}">
                <a16:creationId xmlns:a16="http://schemas.microsoft.com/office/drawing/2014/main" id="{2DB7FD45-F4BB-49B4-A705-ECD293C61B98}"/>
              </a:ext>
            </a:extLst>
          </p:cNvPr>
          <p:cNvSpPr>
            <a:spLocks xmlns:a="http://schemas.openxmlformats.org/drawingml/2006/main" noGrp="1"/>
          </p:cNvSpPr>
          <p:nvPr/>
        </p:nvSpPr>
        <p:spPr>
          <a:xfrm xmlns:a="http://schemas.openxmlformats.org/drawingml/2006/main">
            <a:off x="5405438" y="1847850"/>
            <a:ext cx="1624013" cy="457200"/>
          </a:xfrm>
          <a:prstGeom xmlns:a="http://schemas.openxmlformats.org/drawingml/2006/main" prst="rect">
            <a:avLst/>
          </a:prstGeom>
          <a:solidFill xmlns:a="http://schemas.openxmlformats.org/drawingml/2006/main">
            <a:srgbClr val="E8F4F1"/>
          </a:solidFill>
          <a:ln xmlns:a="http://schemas.openxmlformats.org/drawingml/2006/main" w="9525">
            <a:solidFill>
              <a:srgbClr val="D7E1DE"/>
            </a:solidFill>
            <a:prstDash val="solid"/>
          </a:ln>
        </p:spPr>
      </p:sp>
      <p:sp>
        <p:nvSpPr>
          <p:cNvPr id="13" name="table-text-194-0-3">
            <a:extLst xmlns:a="http://schemas.openxmlformats.org/drawingml/2006/main">
              <a:ext uri="{FF2B5EF4-FFF2-40B4-BE49-F238E27FC236}">
                <a16:creationId xmlns:a16="http://schemas.microsoft.com/office/drawing/2014/main" id="{EA4F1470-1F2B-4026-9E65-3D121935D2BB}"/>
              </a:ext>
            </a:extLst>
          </p:cNvPr>
          <p:cNvSpPr>
            <a:spLocks xmlns:a="http://schemas.openxmlformats.org/drawingml/2006/main" noGrp="1"/>
          </p:cNvSpPr>
          <p:nvPr/>
        </p:nvSpPr>
        <p:spPr>
          <a:xfrm xmlns:a="http://schemas.openxmlformats.org/drawingml/2006/main">
            <a:off x="5491163" y="1914525"/>
            <a:ext cx="1452563"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a:solidFill>
                  <a:srgbClr val="173A3F"/>
                </a:solidFill>
                <a:latin typeface="NanumGothic"/>
                <a:ea typeface="NanumGothic"/>
                <a:cs typeface="NanumGothic"/>
              </a:defRPr>
            </a:pPr>
            <a:r>
              <a:rPr sz="975" b="1">
                <a:solidFill>
                  <a:srgbClr val="173A3F"/>
                </a:solidFill>
                <a:latin typeface="NanumGothic"/>
                <a:ea typeface="NanumGothic"/>
                <a:cs typeface="NanumGothic"/>
              </a:rPr>
              <a:t>라이선스·공식 출처</a:t>
            </a:r>
          </a:p>
        </p:txBody>
      </p:sp>
      <p:sp>
        <p:nvSpPr>
          <p:cNvPr id="14" name="table-cell-194-1-0">
            <a:extLst xmlns:a="http://schemas.openxmlformats.org/drawingml/2006/main">
              <a:ext uri="{FF2B5EF4-FFF2-40B4-BE49-F238E27FC236}">
                <a16:creationId xmlns:a16="http://schemas.microsoft.com/office/drawing/2014/main" id="{B2C4D341-DD63-447B-AAFF-71AE1ACA1AFB}"/>
              </a:ext>
            </a:extLst>
          </p:cNvPr>
          <p:cNvSpPr>
            <a:spLocks xmlns:a="http://schemas.openxmlformats.org/drawingml/2006/main" noGrp="1"/>
          </p:cNvSpPr>
          <p:nvPr/>
        </p:nvSpPr>
        <p:spPr>
          <a:xfrm xmlns:a="http://schemas.openxmlformats.org/drawingml/2006/main">
            <a:off x="533400" y="2305050"/>
            <a:ext cx="1624013" cy="505778"/>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15" name="table-text-194-1-0">
            <a:extLst xmlns:a="http://schemas.openxmlformats.org/drawingml/2006/main">
              <a:ext uri="{FF2B5EF4-FFF2-40B4-BE49-F238E27FC236}">
                <a16:creationId xmlns:a16="http://schemas.microsoft.com/office/drawing/2014/main" id="{51C4FE92-A2D3-4FB3-A148-A24322DAF500}"/>
              </a:ext>
            </a:extLst>
          </p:cNvPr>
          <p:cNvSpPr>
            <a:spLocks xmlns:a="http://schemas.openxmlformats.org/drawingml/2006/main" noGrp="1"/>
          </p:cNvSpPr>
          <p:nvPr/>
        </p:nvSpPr>
        <p:spPr>
          <a:xfrm xmlns:a="http://schemas.openxmlformats.org/drawingml/2006/main">
            <a:off x="619125" y="2371725"/>
            <a:ext cx="1452563" cy="3724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Flutter</a:t>
            </a:r>
          </a:p>
        </p:txBody>
      </p:sp>
      <p:sp>
        <p:nvSpPr>
          <p:cNvPr id="16" name="table-cell-194-1-1">
            <a:extLst xmlns:a="http://schemas.openxmlformats.org/drawingml/2006/main">
              <a:ext uri="{FF2B5EF4-FFF2-40B4-BE49-F238E27FC236}">
                <a16:creationId xmlns:a16="http://schemas.microsoft.com/office/drawing/2014/main" id="{6F60E044-9F47-4EC7-98B8-C47E5231BA26}"/>
              </a:ext>
            </a:extLst>
          </p:cNvPr>
          <p:cNvSpPr>
            <a:spLocks xmlns:a="http://schemas.openxmlformats.org/drawingml/2006/main" noGrp="1"/>
          </p:cNvSpPr>
          <p:nvPr/>
        </p:nvSpPr>
        <p:spPr>
          <a:xfrm xmlns:a="http://schemas.openxmlformats.org/drawingml/2006/main">
            <a:off x="2157413" y="2305050"/>
            <a:ext cx="1624013" cy="505778"/>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17" name="table-text-194-1-1">
            <a:extLst xmlns:a="http://schemas.openxmlformats.org/drawingml/2006/main">
              <a:ext uri="{FF2B5EF4-FFF2-40B4-BE49-F238E27FC236}">
                <a16:creationId xmlns:a16="http://schemas.microsoft.com/office/drawing/2014/main" id="{FEB58DE4-5732-4286-BC55-B5C54812750C}"/>
              </a:ext>
            </a:extLst>
          </p:cNvPr>
          <p:cNvSpPr>
            <a:spLocks xmlns:a="http://schemas.openxmlformats.org/drawingml/2006/main" noGrp="1"/>
          </p:cNvSpPr>
          <p:nvPr/>
        </p:nvSpPr>
        <p:spPr>
          <a:xfrm xmlns:a="http://schemas.openxmlformats.org/drawingml/2006/main">
            <a:off x="2243138" y="2371725"/>
            <a:ext cx="1452563" cy="3724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SDK</a:t>
            </a:r>
          </a:p>
        </p:txBody>
      </p:sp>
      <p:sp>
        <p:nvSpPr>
          <p:cNvPr id="18" name="table-cell-194-1-2">
            <a:extLst xmlns:a="http://schemas.openxmlformats.org/drawingml/2006/main">
              <a:ext uri="{FF2B5EF4-FFF2-40B4-BE49-F238E27FC236}">
                <a16:creationId xmlns:a16="http://schemas.microsoft.com/office/drawing/2014/main" id="{39EB981B-E7A4-40D8-B5B9-8414CFB05A89}"/>
              </a:ext>
            </a:extLst>
          </p:cNvPr>
          <p:cNvSpPr>
            <a:spLocks xmlns:a="http://schemas.openxmlformats.org/drawingml/2006/main" noGrp="1"/>
          </p:cNvSpPr>
          <p:nvPr/>
        </p:nvSpPr>
        <p:spPr>
          <a:xfrm xmlns:a="http://schemas.openxmlformats.org/drawingml/2006/main">
            <a:off x="3781425" y="2305050"/>
            <a:ext cx="1624013" cy="505778"/>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19" name="table-text-194-1-2">
            <a:extLst xmlns:a="http://schemas.openxmlformats.org/drawingml/2006/main">
              <a:ext uri="{FF2B5EF4-FFF2-40B4-BE49-F238E27FC236}">
                <a16:creationId xmlns:a16="http://schemas.microsoft.com/office/drawing/2014/main" id="{E26162CC-25F4-4503-8936-2893194F5B53}"/>
              </a:ext>
            </a:extLst>
          </p:cNvPr>
          <p:cNvSpPr>
            <a:spLocks xmlns:a="http://schemas.openxmlformats.org/drawingml/2006/main" noGrp="1"/>
          </p:cNvSpPr>
          <p:nvPr/>
        </p:nvSpPr>
        <p:spPr>
          <a:xfrm xmlns:a="http://schemas.openxmlformats.org/drawingml/2006/main">
            <a:off x="3867150" y="2371725"/>
            <a:ext cx="1452563" cy="3724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앱 프레임워크</a:t>
            </a:r>
          </a:p>
        </p:txBody>
      </p:sp>
      <p:sp>
        <p:nvSpPr>
          <p:cNvPr id="20" name="table-cell-194-1-3">
            <a:extLst xmlns:a="http://schemas.openxmlformats.org/drawingml/2006/main">
              <a:ext uri="{FF2B5EF4-FFF2-40B4-BE49-F238E27FC236}">
                <a16:creationId xmlns:a16="http://schemas.microsoft.com/office/drawing/2014/main" id="{117FCA5C-1269-4EE8-BCBE-3C4E7DBA5CD0}"/>
              </a:ext>
            </a:extLst>
          </p:cNvPr>
          <p:cNvSpPr>
            <a:spLocks xmlns:a="http://schemas.openxmlformats.org/drawingml/2006/main" noGrp="1"/>
          </p:cNvSpPr>
          <p:nvPr/>
        </p:nvSpPr>
        <p:spPr>
          <a:xfrm xmlns:a="http://schemas.openxmlformats.org/drawingml/2006/main">
            <a:off x="5405438" y="2305050"/>
            <a:ext cx="1624013" cy="505778"/>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21" name="table-text-194-1-3">
            <a:extLst xmlns:a="http://schemas.openxmlformats.org/drawingml/2006/main">
              <a:ext uri="{FF2B5EF4-FFF2-40B4-BE49-F238E27FC236}">
                <a16:creationId xmlns:a16="http://schemas.microsoft.com/office/drawing/2014/main" id="{23BD8AC3-CD78-4316-B03A-D38DCC43615D}"/>
              </a:ext>
            </a:extLst>
          </p:cNvPr>
          <p:cNvSpPr>
            <a:spLocks xmlns:a="http://schemas.openxmlformats.org/drawingml/2006/main" noGrp="1"/>
          </p:cNvSpPr>
          <p:nvPr/>
        </p:nvSpPr>
        <p:spPr>
          <a:xfrm xmlns:a="http://schemas.openxmlformats.org/drawingml/2006/main">
            <a:off x="5491163" y="2371725"/>
            <a:ext cx="1452563" cy="3724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BSD-3-Clause · flutter.dev (https://flutter.dev/)</a:t>
            </a:r>
          </a:p>
        </p:txBody>
      </p:sp>
      <p:sp>
        <p:nvSpPr>
          <p:cNvPr id="22" name="table-cell-194-2-0">
            <a:extLst xmlns:a="http://schemas.openxmlformats.org/drawingml/2006/main">
              <a:ext uri="{FF2B5EF4-FFF2-40B4-BE49-F238E27FC236}">
                <a16:creationId xmlns:a16="http://schemas.microsoft.com/office/drawing/2014/main" id="{D52DB0A2-AD34-449E-AE48-393DCDED0705}"/>
              </a:ext>
            </a:extLst>
          </p:cNvPr>
          <p:cNvSpPr>
            <a:spLocks xmlns:a="http://schemas.openxmlformats.org/drawingml/2006/main" noGrp="1"/>
          </p:cNvSpPr>
          <p:nvPr/>
        </p:nvSpPr>
        <p:spPr>
          <a:xfrm xmlns:a="http://schemas.openxmlformats.org/drawingml/2006/main">
            <a:off x="533400" y="2810828"/>
            <a:ext cx="1624013" cy="505778"/>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23" name="table-text-194-2-0">
            <a:extLst xmlns:a="http://schemas.openxmlformats.org/drawingml/2006/main">
              <a:ext uri="{FF2B5EF4-FFF2-40B4-BE49-F238E27FC236}">
                <a16:creationId xmlns:a16="http://schemas.microsoft.com/office/drawing/2014/main" id="{FE95AC97-0A2D-4A1E-88CA-8286DB0C6C77}"/>
              </a:ext>
            </a:extLst>
          </p:cNvPr>
          <p:cNvSpPr>
            <a:spLocks xmlns:a="http://schemas.openxmlformats.org/drawingml/2006/main" noGrp="1"/>
          </p:cNvSpPr>
          <p:nvPr/>
        </p:nvSpPr>
        <p:spPr>
          <a:xfrm xmlns:a="http://schemas.openxmlformats.org/drawingml/2006/main">
            <a:off x="619125" y="2877503"/>
            <a:ext cx="1452563" cy="3724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Flame</a:t>
            </a:r>
          </a:p>
        </p:txBody>
      </p:sp>
      <p:sp>
        <p:nvSpPr>
          <p:cNvPr id="24" name="table-cell-194-2-1">
            <a:extLst xmlns:a="http://schemas.openxmlformats.org/drawingml/2006/main">
              <a:ext uri="{FF2B5EF4-FFF2-40B4-BE49-F238E27FC236}">
                <a16:creationId xmlns:a16="http://schemas.microsoft.com/office/drawing/2014/main" id="{B63D3968-22DA-4113-8D82-355399F737F4}"/>
              </a:ext>
            </a:extLst>
          </p:cNvPr>
          <p:cNvSpPr>
            <a:spLocks xmlns:a="http://schemas.openxmlformats.org/drawingml/2006/main" noGrp="1"/>
          </p:cNvSpPr>
          <p:nvPr/>
        </p:nvSpPr>
        <p:spPr>
          <a:xfrm xmlns:a="http://schemas.openxmlformats.org/drawingml/2006/main">
            <a:off x="2157413" y="2810828"/>
            <a:ext cx="1624013" cy="505778"/>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25" name="table-text-194-2-1">
            <a:extLst xmlns:a="http://schemas.openxmlformats.org/drawingml/2006/main">
              <a:ext uri="{FF2B5EF4-FFF2-40B4-BE49-F238E27FC236}">
                <a16:creationId xmlns:a16="http://schemas.microsoft.com/office/drawing/2014/main" id="{1935B8A4-A247-4D0D-AD9D-975FF4F021C3}"/>
              </a:ext>
            </a:extLst>
          </p:cNvPr>
          <p:cNvSpPr>
            <a:spLocks xmlns:a="http://schemas.openxmlformats.org/drawingml/2006/main" noGrp="1"/>
          </p:cNvSpPr>
          <p:nvPr/>
        </p:nvSpPr>
        <p:spPr>
          <a:xfrm xmlns:a="http://schemas.openxmlformats.org/drawingml/2006/main">
            <a:off x="2243138" y="2877503"/>
            <a:ext cx="1452563" cy="3724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1.38.0</a:t>
            </a:r>
          </a:p>
        </p:txBody>
      </p:sp>
      <p:sp>
        <p:nvSpPr>
          <p:cNvPr id="26" name="table-cell-194-2-2">
            <a:extLst xmlns:a="http://schemas.openxmlformats.org/drawingml/2006/main">
              <a:ext uri="{FF2B5EF4-FFF2-40B4-BE49-F238E27FC236}">
                <a16:creationId xmlns:a16="http://schemas.microsoft.com/office/drawing/2014/main" id="{A848A73B-EFF2-4251-9E94-4238DA6E02F2}"/>
              </a:ext>
            </a:extLst>
          </p:cNvPr>
          <p:cNvSpPr>
            <a:spLocks xmlns:a="http://schemas.openxmlformats.org/drawingml/2006/main" noGrp="1"/>
          </p:cNvSpPr>
          <p:nvPr/>
        </p:nvSpPr>
        <p:spPr>
          <a:xfrm xmlns:a="http://schemas.openxmlformats.org/drawingml/2006/main">
            <a:off x="3781425" y="2810828"/>
            <a:ext cx="1624013" cy="505778"/>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27" name="table-text-194-2-2">
            <a:extLst xmlns:a="http://schemas.openxmlformats.org/drawingml/2006/main">
              <a:ext uri="{FF2B5EF4-FFF2-40B4-BE49-F238E27FC236}">
                <a16:creationId xmlns:a16="http://schemas.microsoft.com/office/drawing/2014/main" id="{4F36143C-1AC4-46BD-B426-355E88A323EE}"/>
              </a:ext>
            </a:extLst>
          </p:cNvPr>
          <p:cNvSpPr>
            <a:spLocks xmlns:a="http://schemas.openxmlformats.org/drawingml/2006/main" noGrp="1"/>
          </p:cNvSpPr>
          <p:nvPr/>
        </p:nvSpPr>
        <p:spPr>
          <a:xfrm xmlns:a="http://schemas.openxmlformats.org/drawingml/2006/main">
            <a:off x="3867150" y="2877503"/>
            <a:ext cx="1452563" cy="3724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게임 루프·Canvas 렌더</a:t>
            </a:r>
          </a:p>
        </p:txBody>
      </p:sp>
      <p:sp>
        <p:nvSpPr>
          <p:cNvPr id="28" name="table-cell-194-2-3">
            <a:extLst xmlns:a="http://schemas.openxmlformats.org/drawingml/2006/main">
              <a:ext uri="{FF2B5EF4-FFF2-40B4-BE49-F238E27FC236}">
                <a16:creationId xmlns:a16="http://schemas.microsoft.com/office/drawing/2014/main" id="{ADB5B8F8-9C36-4358-B5C7-4FFBD102DCA0}"/>
              </a:ext>
            </a:extLst>
          </p:cNvPr>
          <p:cNvSpPr>
            <a:spLocks xmlns:a="http://schemas.openxmlformats.org/drawingml/2006/main" noGrp="1"/>
          </p:cNvSpPr>
          <p:nvPr/>
        </p:nvSpPr>
        <p:spPr>
          <a:xfrm xmlns:a="http://schemas.openxmlformats.org/drawingml/2006/main">
            <a:off x="5405438" y="2810828"/>
            <a:ext cx="1624013" cy="505778"/>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29" name="table-text-194-2-3">
            <a:extLst xmlns:a="http://schemas.openxmlformats.org/drawingml/2006/main">
              <a:ext uri="{FF2B5EF4-FFF2-40B4-BE49-F238E27FC236}">
                <a16:creationId xmlns:a16="http://schemas.microsoft.com/office/drawing/2014/main" id="{7A767D78-DA65-4B27-B32A-83754F6836EF}"/>
              </a:ext>
            </a:extLst>
          </p:cNvPr>
          <p:cNvSpPr>
            <a:spLocks xmlns:a="http://schemas.openxmlformats.org/drawingml/2006/main" noGrp="1"/>
          </p:cNvSpPr>
          <p:nvPr/>
        </p:nvSpPr>
        <p:spPr>
          <a:xfrm xmlns:a="http://schemas.openxmlformats.org/drawingml/2006/main">
            <a:off x="5491163" y="2877503"/>
            <a:ext cx="1452563" cy="3724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8958"/>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MIT · pub.dev/flame (https://pub.dev/packages/flame)</a:t>
            </a:r>
          </a:p>
        </p:txBody>
      </p:sp>
      <p:sp>
        <p:nvSpPr>
          <p:cNvPr id="30" name="table-cell-194-3-0">
            <a:extLst xmlns:a="http://schemas.openxmlformats.org/drawingml/2006/main">
              <a:ext uri="{FF2B5EF4-FFF2-40B4-BE49-F238E27FC236}">
                <a16:creationId xmlns:a16="http://schemas.microsoft.com/office/drawing/2014/main" id="{ABAD3364-7CCE-452E-AE00-3FCD772FCDAB}"/>
              </a:ext>
            </a:extLst>
          </p:cNvPr>
          <p:cNvSpPr>
            <a:spLocks xmlns:a="http://schemas.openxmlformats.org/drawingml/2006/main" noGrp="1"/>
          </p:cNvSpPr>
          <p:nvPr/>
        </p:nvSpPr>
        <p:spPr>
          <a:xfrm xmlns:a="http://schemas.openxmlformats.org/drawingml/2006/main">
            <a:off x="533400" y="3316605"/>
            <a:ext cx="1624013" cy="672941"/>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31" name="table-text-194-3-0">
            <a:extLst xmlns:a="http://schemas.openxmlformats.org/drawingml/2006/main">
              <a:ext uri="{FF2B5EF4-FFF2-40B4-BE49-F238E27FC236}">
                <a16:creationId xmlns:a16="http://schemas.microsoft.com/office/drawing/2014/main" id="{5CD1E92A-11E7-482C-8359-237AE92EC014}"/>
              </a:ext>
            </a:extLst>
          </p:cNvPr>
          <p:cNvSpPr>
            <a:spLocks xmlns:a="http://schemas.openxmlformats.org/drawingml/2006/main" noGrp="1"/>
          </p:cNvSpPr>
          <p:nvPr/>
        </p:nvSpPr>
        <p:spPr>
          <a:xfrm xmlns:a="http://schemas.openxmlformats.org/drawingml/2006/main">
            <a:off x="619125" y="3383280"/>
            <a:ext cx="1452563" cy="5395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shared_preferences</a:t>
            </a:r>
          </a:p>
        </p:txBody>
      </p:sp>
      <p:sp>
        <p:nvSpPr>
          <p:cNvPr id="32" name="table-cell-194-3-1">
            <a:extLst xmlns:a="http://schemas.openxmlformats.org/drawingml/2006/main">
              <a:ext uri="{FF2B5EF4-FFF2-40B4-BE49-F238E27FC236}">
                <a16:creationId xmlns:a16="http://schemas.microsoft.com/office/drawing/2014/main" id="{D62B62DE-CA34-4F6D-823A-F845A75FDF69}"/>
              </a:ext>
            </a:extLst>
          </p:cNvPr>
          <p:cNvSpPr>
            <a:spLocks xmlns:a="http://schemas.openxmlformats.org/drawingml/2006/main" noGrp="1"/>
          </p:cNvSpPr>
          <p:nvPr/>
        </p:nvSpPr>
        <p:spPr>
          <a:xfrm xmlns:a="http://schemas.openxmlformats.org/drawingml/2006/main">
            <a:off x="2157413" y="3316605"/>
            <a:ext cx="1624013" cy="672941"/>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33" name="table-text-194-3-1">
            <a:extLst xmlns:a="http://schemas.openxmlformats.org/drawingml/2006/main">
              <a:ext uri="{FF2B5EF4-FFF2-40B4-BE49-F238E27FC236}">
                <a16:creationId xmlns:a16="http://schemas.microsoft.com/office/drawing/2014/main" id="{0835D17C-9DB2-4CB2-BDC0-C7970345ADF0}"/>
              </a:ext>
            </a:extLst>
          </p:cNvPr>
          <p:cNvSpPr>
            <a:spLocks xmlns:a="http://schemas.openxmlformats.org/drawingml/2006/main" noGrp="1"/>
          </p:cNvSpPr>
          <p:nvPr/>
        </p:nvSpPr>
        <p:spPr>
          <a:xfrm xmlns:a="http://schemas.openxmlformats.org/drawingml/2006/main">
            <a:off x="2243138" y="3383280"/>
            <a:ext cx="1452563" cy="5395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2.5.5</a:t>
            </a:r>
          </a:p>
        </p:txBody>
      </p:sp>
      <p:sp>
        <p:nvSpPr>
          <p:cNvPr id="34" name="table-cell-194-3-2">
            <a:extLst xmlns:a="http://schemas.openxmlformats.org/drawingml/2006/main">
              <a:ext uri="{FF2B5EF4-FFF2-40B4-BE49-F238E27FC236}">
                <a16:creationId xmlns:a16="http://schemas.microsoft.com/office/drawing/2014/main" id="{97AAEBD0-1BEA-40E4-9576-09F8EB599097}"/>
              </a:ext>
            </a:extLst>
          </p:cNvPr>
          <p:cNvSpPr>
            <a:spLocks xmlns:a="http://schemas.openxmlformats.org/drawingml/2006/main" noGrp="1"/>
          </p:cNvSpPr>
          <p:nvPr/>
        </p:nvSpPr>
        <p:spPr>
          <a:xfrm xmlns:a="http://schemas.openxmlformats.org/drawingml/2006/main">
            <a:off x="3781425" y="3316605"/>
            <a:ext cx="1624013" cy="672941"/>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35" name="table-text-194-3-2">
            <a:extLst xmlns:a="http://schemas.openxmlformats.org/drawingml/2006/main">
              <a:ext uri="{FF2B5EF4-FFF2-40B4-BE49-F238E27FC236}">
                <a16:creationId xmlns:a16="http://schemas.microsoft.com/office/drawing/2014/main" id="{ABEAE0C1-88C2-4BC7-92A4-CBEB37B5DE94}"/>
              </a:ext>
            </a:extLst>
          </p:cNvPr>
          <p:cNvSpPr>
            <a:spLocks xmlns:a="http://schemas.openxmlformats.org/drawingml/2006/main" noGrp="1"/>
          </p:cNvSpPr>
          <p:nvPr/>
        </p:nvSpPr>
        <p:spPr>
          <a:xfrm xmlns:a="http://schemas.openxmlformats.org/drawingml/2006/main">
            <a:off x="3867150" y="3383280"/>
            <a:ext cx="1452563" cy="5395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로컬 설정·sidecar 저장</a:t>
            </a:r>
          </a:p>
        </p:txBody>
      </p:sp>
      <p:sp>
        <p:nvSpPr>
          <p:cNvPr id="36" name="table-cell-194-3-3">
            <a:extLst xmlns:a="http://schemas.openxmlformats.org/drawingml/2006/main">
              <a:ext uri="{FF2B5EF4-FFF2-40B4-BE49-F238E27FC236}">
                <a16:creationId xmlns:a16="http://schemas.microsoft.com/office/drawing/2014/main" id="{C7FE9B6E-CBF1-4EC9-A917-5D97033D4B22}"/>
              </a:ext>
            </a:extLst>
          </p:cNvPr>
          <p:cNvSpPr>
            <a:spLocks xmlns:a="http://schemas.openxmlformats.org/drawingml/2006/main" noGrp="1"/>
          </p:cNvSpPr>
          <p:nvPr/>
        </p:nvSpPr>
        <p:spPr>
          <a:xfrm xmlns:a="http://schemas.openxmlformats.org/drawingml/2006/main">
            <a:off x="5405438" y="3316605"/>
            <a:ext cx="1624013" cy="672941"/>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37" name="table-text-194-3-3">
            <a:extLst xmlns:a="http://schemas.openxmlformats.org/drawingml/2006/main">
              <a:ext uri="{FF2B5EF4-FFF2-40B4-BE49-F238E27FC236}">
                <a16:creationId xmlns:a16="http://schemas.microsoft.com/office/drawing/2014/main" id="{E90EAF61-0D59-4281-80FE-F5471F38EA56}"/>
              </a:ext>
            </a:extLst>
          </p:cNvPr>
          <p:cNvSpPr>
            <a:spLocks xmlns:a="http://schemas.openxmlformats.org/drawingml/2006/main" noGrp="1"/>
          </p:cNvSpPr>
          <p:nvPr/>
        </p:nvSpPr>
        <p:spPr>
          <a:xfrm xmlns:a="http://schemas.openxmlformats.org/drawingml/2006/main">
            <a:off x="5491163" y="3383280"/>
            <a:ext cx="1452563" cy="5395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406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BSD-3-Clause · pub.dev/shared_preferences (https://pub.dev/packages/shared_preferences)</a:t>
            </a:r>
          </a:p>
        </p:txBody>
      </p:sp>
      <p:sp>
        <p:nvSpPr>
          <p:cNvPr id="38" name="table-cell-194-4-0">
            <a:extLst xmlns:a="http://schemas.openxmlformats.org/drawingml/2006/main">
              <a:ext uri="{FF2B5EF4-FFF2-40B4-BE49-F238E27FC236}">
                <a16:creationId xmlns:a16="http://schemas.microsoft.com/office/drawing/2014/main" id="{DEE00430-0FC9-41E6-8722-BBD82FC79E22}"/>
              </a:ext>
            </a:extLst>
          </p:cNvPr>
          <p:cNvSpPr>
            <a:spLocks xmlns:a="http://schemas.openxmlformats.org/drawingml/2006/main" noGrp="1"/>
          </p:cNvSpPr>
          <p:nvPr/>
        </p:nvSpPr>
        <p:spPr>
          <a:xfrm xmlns:a="http://schemas.openxmlformats.org/drawingml/2006/main">
            <a:off x="533400" y="3989546"/>
            <a:ext cx="1624013" cy="505778"/>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39" name="table-text-194-4-0">
            <a:extLst xmlns:a="http://schemas.openxmlformats.org/drawingml/2006/main">
              <a:ext uri="{FF2B5EF4-FFF2-40B4-BE49-F238E27FC236}">
                <a16:creationId xmlns:a16="http://schemas.microsoft.com/office/drawing/2014/main" id="{3926CFA4-1D8A-49EA-8359-C12DE7319A56}"/>
              </a:ext>
            </a:extLst>
          </p:cNvPr>
          <p:cNvSpPr>
            <a:spLocks xmlns:a="http://schemas.openxmlformats.org/drawingml/2006/main" noGrp="1"/>
          </p:cNvSpPr>
          <p:nvPr/>
        </p:nvSpPr>
        <p:spPr>
          <a:xfrm xmlns:a="http://schemas.openxmlformats.org/drawingml/2006/main">
            <a:off x="619125" y="4056221"/>
            <a:ext cx="1452563" cy="3724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crypto</a:t>
            </a:r>
          </a:p>
        </p:txBody>
      </p:sp>
      <p:sp>
        <p:nvSpPr>
          <p:cNvPr id="40" name="table-cell-194-4-1">
            <a:extLst xmlns:a="http://schemas.openxmlformats.org/drawingml/2006/main">
              <a:ext uri="{FF2B5EF4-FFF2-40B4-BE49-F238E27FC236}">
                <a16:creationId xmlns:a16="http://schemas.microsoft.com/office/drawing/2014/main" id="{9F759D5F-7BAA-4105-B307-F9766A461BCF}"/>
              </a:ext>
            </a:extLst>
          </p:cNvPr>
          <p:cNvSpPr>
            <a:spLocks xmlns:a="http://schemas.openxmlformats.org/drawingml/2006/main" noGrp="1"/>
          </p:cNvSpPr>
          <p:nvPr/>
        </p:nvSpPr>
        <p:spPr>
          <a:xfrm xmlns:a="http://schemas.openxmlformats.org/drawingml/2006/main">
            <a:off x="2157413" y="3989546"/>
            <a:ext cx="1624013" cy="505778"/>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41" name="table-text-194-4-1">
            <a:extLst xmlns:a="http://schemas.openxmlformats.org/drawingml/2006/main">
              <a:ext uri="{FF2B5EF4-FFF2-40B4-BE49-F238E27FC236}">
                <a16:creationId xmlns:a16="http://schemas.microsoft.com/office/drawing/2014/main" id="{C58073B4-9D0C-4788-BA06-32E86BFDC96F}"/>
              </a:ext>
            </a:extLst>
          </p:cNvPr>
          <p:cNvSpPr>
            <a:spLocks xmlns:a="http://schemas.openxmlformats.org/drawingml/2006/main" noGrp="1"/>
          </p:cNvSpPr>
          <p:nvPr/>
        </p:nvSpPr>
        <p:spPr>
          <a:xfrm xmlns:a="http://schemas.openxmlformats.org/drawingml/2006/main">
            <a:off x="2243138" y="4056221"/>
            <a:ext cx="1452563" cy="3724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3.0.7</a:t>
            </a:r>
          </a:p>
        </p:txBody>
      </p:sp>
      <p:sp>
        <p:nvSpPr>
          <p:cNvPr id="42" name="table-cell-194-4-2">
            <a:extLst xmlns:a="http://schemas.openxmlformats.org/drawingml/2006/main">
              <a:ext uri="{FF2B5EF4-FFF2-40B4-BE49-F238E27FC236}">
                <a16:creationId xmlns:a16="http://schemas.microsoft.com/office/drawing/2014/main" id="{4690E277-5DF2-4C1E-89AA-F9646EEA4515}"/>
              </a:ext>
            </a:extLst>
          </p:cNvPr>
          <p:cNvSpPr>
            <a:spLocks xmlns:a="http://schemas.openxmlformats.org/drawingml/2006/main" noGrp="1"/>
          </p:cNvSpPr>
          <p:nvPr/>
        </p:nvSpPr>
        <p:spPr>
          <a:xfrm xmlns:a="http://schemas.openxmlformats.org/drawingml/2006/main">
            <a:off x="3781425" y="3989546"/>
            <a:ext cx="1624013" cy="505778"/>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43" name="table-text-194-4-2">
            <a:extLst xmlns:a="http://schemas.openxmlformats.org/drawingml/2006/main">
              <a:ext uri="{FF2B5EF4-FFF2-40B4-BE49-F238E27FC236}">
                <a16:creationId xmlns:a16="http://schemas.microsoft.com/office/drawing/2014/main" id="{F823DA6A-55DA-458A-9E2C-763FAF790502}"/>
              </a:ext>
            </a:extLst>
          </p:cNvPr>
          <p:cNvSpPr>
            <a:spLocks xmlns:a="http://schemas.openxmlformats.org/drawingml/2006/main" noGrp="1"/>
          </p:cNvSpPr>
          <p:nvPr/>
        </p:nvSpPr>
        <p:spPr>
          <a:xfrm xmlns:a="http://schemas.openxmlformats.org/drawingml/2006/main">
            <a:off x="3867150" y="4056221"/>
            <a:ext cx="1452563" cy="3724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무결성·해시</a:t>
            </a:r>
          </a:p>
        </p:txBody>
      </p:sp>
      <p:sp>
        <p:nvSpPr>
          <p:cNvPr id="44" name="table-cell-194-4-3">
            <a:extLst xmlns:a="http://schemas.openxmlformats.org/drawingml/2006/main">
              <a:ext uri="{FF2B5EF4-FFF2-40B4-BE49-F238E27FC236}">
                <a16:creationId xmlns:a16="http://schemas.microsoft.com/office/drawing/2014/main" id="{2A56173F-2B8E-4603-B584-BD7EAC895233}"/>
              </a:ext>
            </a:extLst>
          </p:cNvPr>
          <p:cNvSpPr>
            <a:spLocks xmlns:a="http://schemas.openxmlformats.org/drawingml/2006/main" noGrp="1"/>
          </p:cNvSpPr>
          <p:nvPr/>
        </p:nvSpPr>
        <p:spPr>
          <a:xfrm xmlns:a="http://schemas.openxmlformats.org/drawingml/2006/main">
            <a:off x="5405438" y="3989546"/>
            <a:ext cx="1624013" cy="505778"/>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45" name="table-text-194-4-3">
            <a:extLst xmlns:a="http://schemas.openxmlformats.org/drawingml/2006/main">
              <a:ext uri="{FF2B5EF4-FFF2-40B4-BE49-F238E27FC236}">
                <a16:creationId xmlns:a16="http://schemas.microsoft.com/office/drawing/2014/main" id="{AB14ED6F-E391-4A07-B887-7A1AC9C68ECC}"/>
              </a:ext>
            </a:extLst>
          </p:cNvPr>
          <p:cNvSpPr>
            <a:spLocks xmlns:a="http://schemas.openxmlformats.org/drawingml/2006/main" noGrp="1"/>
          </p:cNvSpPr>
          <p:nvPr/>
        </p:nvSpPr>
        <p:spPr>
          <a:xfrm xmlns:a="http://schemas.openxmlformats.org/drawingml/2006/main">
            <a:off x="5491163" y="4056221"/>
            <a:ext cx="1452563" cy="3724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7358"/>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BSD-3-Clause · pub.dev/crypto (https://pub.dev/packages/crypto)</a:t>
            </a:r>
          </a:p>
        </p:txBody>
      </p:sp>
      <p:sp>
        <p:nvSpPr>
          <p:cNvPr id="46" name="table-cell-194-5-0">
            <a:extLst xmlns:a="http://schemas.openxmlformats.org/drawingml/2006/main">
              <a:ext uri="{FF2B5EF4-FFF2-40B4-BE49-F238E27FC236}">
                <a16:creationId xmlns:a16="http://schemas.microsoft.com/office/drawing/2014/main" id="{97F7EC79-79D1-48EE-BE26-06AC3EF0F0C9}"/>
              </a:ext>
            </a:extLst>
          </p:cNvPr>
          <p:cNvSpPr>
            <a:spLocks xmlns:a="http://schemas.openxmlformats.org/drawingml/2006/main" noGrp="1"/>
          </p:cNvSpPr>
          <p:nvPr/>
        </p:nvSpPr>
        <p:spPr>
          <a:xfrm xmlns:a="http://schemas.openxmlformats.org/drawingml/2006/main">
            <a:off x="533400" y="4495324"/>
            <a:ext cx="1624013" cy="505778"/>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47" name="table-text-194-5-0">
            <a:extLst xmlns:a="http://schemas.openxmlformats.org/drawingml/2006/main">
              <a:ext uri="{FF2B5EF4-FFF2-40B4-BE49-F238E27FC236}">
                <a16:creationId xmlns:a16="http://schemas.microsoft.com/office/drawing/2014/main" id="{7C0688EF-1028-4FEE-BAA7-35DCDCAB233E}"/>
              </a:ext>
            </a:extLst>
          </p:cNvPr>
          <p:cNvSpPr>
            <a:spLocks xmlns:a="http://schemas.openxmlformats.org/drawingml/2006/main" noGrp="1"/>
          </p:cNvSpPr>
          <p:nvPr/>
        </p:nvSpPr>
        <p:spPr>
          <a:xfrm xmlns:a="http://schemas.openxmlformats.org/drawingml/2006/main">
            <a:off x="619125" y="4561999"/>
            <a:ext cx="1452563" cy="3724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audioplayers</a:t>
            </a:r>
          </a:p>
        </p:txBody>
      </p:sp>
      <p:sp>
        <p:nvSpPr>
          <p:cNvPr id="48" name="table-cell-194-5-1">
            <a:extLst xmlns:a="http://schemas.openxmlformats.org/drawingml/2006/main">
              <a:ext uri="{FF2B5EF4-FFF2-40B4-BE49-F238E27FC236}">
                <a16:creationId xmlns:a16="http://schemas.microsoft.com/office/drawing/2014/main" id="{FD88E32B-57C5-4BEA-ACA7-9FD0A12F2615}"/>
              </a:ext>
            </a:extLst>
          </p:cNvPr>
          <p:cNvSpPr>
            <a:spLocks xmlns:a="http://schemas.openxmlformats.org/drawingml/2006/main" noGrp="1"/>
          </p:cNvSpPr>
          <p:nvPr/>
        </p:nvSpPr>
        <p:spPr>
          <a:xfrm xmlns:a="http://schemas.openxmlformats.org/drawingml/2006/main">
            <a:off x="2157413" y="4495324"/>
            <a:ext cx="1624013" cy="505778"/>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49" name="table-text-194-5-1">
            <a:extLst xmlns:a="http://schemas.openxmlformats.org/drawingml/2006/main">
              <a:ext uri="{FF2B5EF4-FFF2-40B4-BE49-F238E27FC236}">
                <a16:creationId xmlns:a16="http://schemas.microsoft.com/office/drawing/2014/main" id="{9BD455FB-D8C1-4714-A133-2918F58EB7F8}"/>
              </a:ext>
            </a:extLst>
          </p:cNvPr>
          <p:cNvSpPr>
            <a:spLocks xmlns:a="http://schemas.openxmlformats.org/drawingml/2006/main" noGrp="1"/>
          </p:cNvSpPr>
          <p:nvPr/>
        </p:nvSpPr>
        <p:spPr>
          <a:xfrm xmlns:a="http://schemas.openxmlformats.org/drawingml/2006/main">
            <a:off x="2243138" y="4561999"/>
            <a:ext cx="1452563" cy="3724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6.8.1</a:t>
            </a:r>
          </a:p>
        </p:txBody>
      </p:sp>
      <p:sp>
        <p:nvSpPr>
          <p:cNvPr id="50" name="table-cell-194-5-2">
            <a:extLst xmlns:a="http://schemas.openxmlformats.org/drawingml/2006/main">
              <a:ext uri="{FF2B5EF4-FFF2-40B4-BE49-F238E27FC236}">
                <a16:creationId xmlns:a16="http://schemas.microsoft.com/office/drawing/2014/main" id="{2664E17D-9954-43B8-96B2-ADA822A0478B}"/>
              </a:ext>
            </a:extLst>
          </p:cNvPr>
          <p:cNvSpPr>
            <a:spLocks xmlns:a="http://schemas.openxmlformats.org/drawingml/2006/main" noGrp="1"/>
          </p:cNvSpPr>
          <p:nvPr/>
        </p:nvSpPr>
        <p:spPr>
          <a:xfrm xmlns:a="http://schemas.openxmlformats.org/drawingml/2006/main">
            <a:off x="3781425" y="4495324"/>
            <a:ext cx="1624013" cy="505778"/>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51" name="table-text-194-5-2">
            <a:extLst xmlns:a="http://schemas.openxmlformats.org/drawingml/2006/main">
              <a:ext uri="{FF2B5EF4-FFF2-40B4-BE49-F238E27FC236}">
                <a16:creationId xmlns:a16="http://schemas.microsoft.com/office/drawing/2014/main" id="{81C9CD60-BC5D-4341-B7EF-EB9714B98512}"/>
              </a:ext>
            </a:extLst>
          </p:cNvPr>
          <p:cNvSpPr>
            <a:spLocks xmlns:a="http://schemas.openxmlformats.org/drawingml/2006/main" noGrp="1"/>
          </p:cNvSpPr>
          <p:nvPr/>
        </p:nvSpPr>
        <p:spPr>
          <a:xfrm xmlns:a="http://schemas.openxmlformats.org/drawingml/2006/main">
            <a:off x="3867150" y="4561999"/>
            <a:ext cx="1452563" cy="3724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배경음·효과음</a:t>
            </a:r>
          </a:p>
        </p:txBody>
      </p:sp>
      <p:sp>
        <p:nvSpPr>
          <p:cNvPr id="52" name="table-cell-194-5-3">
            <a:extLst xmlns:a="http://schemas.openxmlformats.org/drawingml/2006/main">
              <a:ext uri="{FF2B5EF4-FFF2-40B4-BE49-F238E27FC236}">
                <a16:creationId xmlns:a16="http://schemas.microsoft.com/office/drawing/2014/main" id="{A395298B-6522-411A-9537-4C5051722294}"/>
              </a:ext>
            </a:extLst>
          </p:cNvPr>
          <p:cNvSpPr>
            <a:spLocks xmlns:a="http://schemas.openxmlformats.org/drawingml/2006/main" noGrp="1"/>
          </p:cNvSpPr>
          <p:nvPr/>
        </p:nvSpPr>
        <p:spPr>
          <a:xfrm xmlns:a="http://schemas.openxmlformats.org/drawingml/2006/main">
            <a:off x="5405438" y="4495324"/>
            <a:ext cx="1624013" cy="505778"/>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53" name="table-text-194-5-3">
            <a:extLst xmlns:a="http://schemas.openxmlformats.org/drawingml/2006/main">
              <a:ext uri="{FF2B5EF4-FFF2-40B4-BE49-F238E27FC236}">
                <a16:creationId xmlns:a16="http://schemas.microsoft.com/office/drawing/2014/main" id="{0943BA5F-BC93-49E3-8AB9-1DD04AD6B947}"/>
              </a:ext>
            </a:extLst>
          </p:cNvPr>
          <p:cNvSpPr>
            <a:spLocks xmlns:a="http://schemas.openxmlformats.org/drawingml/2006/main" noGrp="1"/>
          </p:cNvSpPr>
          <p:nvPr/>
        </p:nvSpPr>
        <p:spPr>
          <a:xfrm xmlns:a="http://schemas.openxmlformats.org/drawingml/2006/main">
            <a:off x="5491163" y="4561999"/>
            <a:ext cx="1452563" cy="3724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7358"/>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MIT · pub.dev/audioplayers (https://pub.dev/packages/audioplayers)</a:t>
            </a:r>
          </a:p>
        </p:txBody>
      </p:sp>
      <p:sp>
        <p:nvSpPr>
          <p:cNvPr id="54" name="table-cell-194-6-0">
            <a:extLst xmlns:a="http://schemas.openxmlformats.org/drawingml/2006/main">
              <a:ext uri="{FF2B5EF4-FFF2-40B4-BE49-F238E27FC236}">
                <a16:creationId xmlns:a16="http://schemas.microsoft.com/office/drawing/2014/main" id="{8F558593-B497-471D-ABB0-96014EEE6459}"/>
              </a:ext>
            </a:extLst>
          </p:cNvPr>
          <p:cNvSpPr>
            <a:spLocks xmlns:a="http://schemas.openxmlformats.org/drawingml/2006/main" noGrp="1"/>
          </p:cNvSpPr>
          <p:nvPr/>
        </p:nvSpPr>
        <p:spPr>
          <a:xfrm xmlns:a="http://schemas.openxmlformats.org/drawingml/2006/main">
            <a:off x="533400" y="5001101"/>
            <a:ext cx="1624013" cy="505778"/>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55" name="table-text-194-6-0">
            <a:extLst xmlns:a="http://schemas.openxmlformats.org/drawingml/2006/main">
              <a:ext uri="{FF2B5EF4-FFF2-40B4-BE49-F238E27FC236}">
                <a16:creationId xmlns:a16="http://schemas.microsoft.com/office/drawing/2014/main" id="{75C378AD-6C1D-42CD-8A16-E75C13E34FDC}"/>
              </a:ext>
            </a:extLst>
          </p:cNvPr>
          <p:cNvSpPr>
            <a:spLocks xmlns:a="http://schemas.openxmlformats.org/drawingml/2006/main" noGrp="1"/>
          </p:cNvSpPr>
          <p:nvPr/>
        </p:nvSpPr>
        <p:spPr>
          <a:xfrm xmlns:a="http://schemas.openxmlformats.org/drawingml/2006/main">
            <a:off x="619125" y="5067776"/>
            <a:ext cx="1452563" cy="3724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NanumGothic</a:t>
            </a:r>
          </a:p>
        </p:txBody>
      </p:sp>
      <p:sp>
        <p:nvSpPr>
          <p:cNvPr id="56" name="table-cell-194-6-1">
            <a:extLst xmlns:a="http://schemas.openxmlformats.org/drawingml/2006/main">
              <a:ext uri="{FF2B5EF4-FFF2-40B4-BE49-F238E27FC236}">
                <a16:creationId xmlns:a16="http://schemas.microsoft.com/office/drawing/2014/main" id="{6E186AA6-4824-4CAD-B25B-497842E9D488}"/>
              </a:ext>
            </a:extLst>
          </p:cNvPr>
          <p:cNvSpPr>
            <a:spLocks xmlns:a="http://schemas.openxmlformats.org/drawingml/2006/main" noGrp="1"/>
          </p:cNvSpPr>
          <p:nvPr/>
        </p:nvSpPr>
        <p:spPr>
          <a:xfrm xmlns:a="http://schemas.openxmlformats.org/drawingml/2006/main">
            <a:off x="2157413" y="5001101"/>
            <a:ext cx="1624013" cy="505778"/>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57" name="table-text-194-6-1">
            <a:extLst xmlns:a="http://schemas.openxmlformats.org/drawingml/2006/main">
              <a:ext uri="{FF2B5EF4-FFF2-40B4-BE49-F238E27FC236}">
                <a16:creationId xmlns:a16="http://schemas.microsoft.com/office/drawing/2014/main" id="{F91E154F-673A-4519-95FE-381A3BC5AE15}"/>
              </a:ext>
            </a:extLst>
          </p:cNvPr>
          <p:cNvSpPr>
            <a:spLocks xmlns:a="http://schemas.openxmlformats.org/drawingml/2006/main" noGrp="1"/>
          </p:cNvSpPr>
          <p:nvPr/>
        </p:nvSpPr>
        <p:spPr>
          <a:xfrm xmlns:a="http://schemas.openxmlformats.org/drawingml/2006/main">
            <a:off x="2243138" y="5067776"/>
            <a:ext cx="1452563" cy="3724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bundled TTF</a:t>
            </a:r>
          </a:p>
        </p:txBody>
      </p:sp>
      <p:sp>
        <p:nvSpPr>
          <p:cNvPr id="58" name="table-cell-194-6-2">
            <a:extLst xmlns:a="http://schemas.openxmlformats.org/drawingml/2006/main">
              <a:ext uri="{FF2B5EF4-FFF2-40B4-BE49-F238E27FC236}">
                <a16:creationId xmlns:a16="http://schemas.microsoft.com/office/drawing/2014/main" id="{98FB0CFB-FBD1-497F-9675-3C65854B065F}"/>
              </a:ext>
            </a:extLst>
          </p:cNvPr>
          <p:cNvSpPr>
            <a:spLocks xmlns:a="http://schemas.openxmlformats.org/drawingml/2006/main" noGrp="1"/>
          </p:cNvSpPr>
          <p:nvPr/>
        </p:nvSpPr>
        <p:spPr>
          <a:xfrm xmlns:a="http://schemas.openxmlformats.org/drawingml/2006/main">
            <a:off x="3781425" y="5001101"/>
            <a:ext cx="1624013" cy="505778"/>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59" name="table-text-194-6-2">
            <a:extLst xmlns:a="http://schemas.openxmlformats.org/drawingml/2006/main">
              <a:ext uri="{FF2B5EF4-FFF2-40B4-BE49-F238E27FC236}">
                <a16:creationId xmlns:a16="http://schemas.microsoft.com/office/drawing/2014/main" id="{0893BAEB-BD6C-45AD-AC0F-AA983E0541E5}"/>
              </a:ext>
            </a:extLst>
          </p:cNvPr>
          <p:cNvSpPr>
            <a:spLocks xmlns:a="http://schemas.openxmlformats.org/drawingml/2006/main" noGrp="1"/>
          </p:cNvSpPr>
          <p:nvPr/>
        </p:nvSpPr>
        <p:spPr>
          <a:xfrm xmlns:a="http://schemas.openxmlformats.org/drawingml/2006/main">
            <a:off x="3867150" y="5067776"/>
            <a:ext cx="1452563" cy="3724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한글 UI·보고서 렌더</a:t>
            </a:r>
          </a:p>
        </p:txBody>
      </p:sp>
      <p:sp>
        <p:nvSpPr>
          <p:cNvPr id="60" name="table-cell-194-6-3">
            <a:extLst xmlns:a="http://schemas.openxmlformats.org/drawingml/2006/main">
              <a:ext uri="{FF2B5EF4-FFF2-40B4-BE49-F238E27FC236}">
                <a16:creationId xmlns:a16="http://schemas.microsoft.com/office/drawing/2014/main" id="{9299F5C6-B495-425E-886E-B8B397EB3640}"/>
              </a:ext>
            </a:extLst>
          </p:cNvPr>
          <p:cNvSpPr>
            <a:spLocks xmlns:a="http://schemas.openxmlformats.org/drawingml/2006/main" noGrp="1"/>
          </p:cNvSpPr>
          <p:nvPr/>
        </p:nvSpPr>
        <p:spPr>
          <a:xfrm xmlns:a="http://schemas.openxmlformats.org/drawingml/2006/main">
            <a:off x="5405438" y="5001101"/>
            <a:ext cx="1624013" cy="505778"/>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61" name="table-text-194-6-3">
            <a:extLst xmlns:a="http://schemas.openxmlformats.org/drawingml/2006/main">
              <a:ext uri="{FF2B5EF4-FFF2-40B4-BE49-F238E27FC236}">
                <a16:creationId xmlns:a16="http://schemas.microsoft.com/office/drawing/2014/main" id="{B7EA6CB0-8DB1-4882-BC6E-5B9333D3B859}"/>
              </a:ext>
            </a:extLst>
          </p:cNvPr>
          <p:cNvSpPr>
            <a:spLocks xmlns:a="http://schemas.openxmlformats.org/drawingml/2006/main" noGrp="1"/>
          </p:cNvSpPr>
          <p:nvPr/>
        </p:nvSpPr>
        <p:spPr>
          <a:xfrm xmlns:a="http://schemas.openxmlformats.org/drawingml/2006/main">
            <a:off x="5491163" y="5067776"/>
            <a:ext cx="1452563" cy="3724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2296"/>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SIL OFL 1.1 · NAVER Nanum (https://hangeul.naver.com/font)</a:t>
            </a:r>
          </a:p>
        </p:txBody>
      </p:sp>
      <p:sp>
        <p:nvSpPr>
          <p:cNvPr id="62" name="table-cell-194-7-0">
            <a:extLst xmlns:a="http://schemas.openxmlformats.org/drawingml/2006/main">
              <a:ext uri="{FF2B5EF4-FFF2-40B4-BE49-F238E27FC236}">
                <a16:creationId xmlns:a16="http://schemas.microsoft.com/office/drawing/2014/main" id="{EAD91186-49B6-4972-B125-367630609633}"/>
              </a:ext>
            </a:extLst>
          </p:cNvPr>
          <p:cNvSpPr>
            <a:spLocks xmlns:a="http://schemas.openxmlformats.org/drawingml/2006/main" noGrp="1"/>
          </p:cNvSpPr>
          <p:nvPr/>
        </p:nvSpPr>
        <p:spPr>
          <a:xfrm xmlns:a="http://schemas.openxmlformats.org/drawingml/2006/main">
            <a:off x="533400" y="5506879"/>
            <a:ext cx="1624013" cy="1007269"/>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63" name="table-text-194-7-0">
            <a:extLst xmlns:a="http://schemas.openxmlformats.org/drawingml/2006/main">
              <a:ext uri="{FF2B5EF4-FFF2-40B4-BE49-F238E27FC236}">
                <a16:creationId xmlns:a16="http://schemas.microsoft.com/office/drawing/2014/main" id="{0B447CFF-0AD2-4087-98D6-D31C05E4BC5B}"/>
              </a:ext>
            </a:extLst>
          </p:cNvPr>
          <p:cNvSpPr>
            <a:spLocks xmlns:a="http://schemas.openxmlformats.org/drawingml/2006/main" noGrp="1"/>
          </p:cNvSpPr>
          <p:nvPr/>
        </p:nvSpPr>
        <p:spPr>
          <a:xfrm xmlns:a="http://schemas.openxmlformats.org/drawingml/2006/main">
            <a:off x="619125" y="5573554"/>
            <a:ext cx="1452563" cy="8739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Material Icons</a:t>
            </a:r>
          </a:p>
        </p:txBody>
      </p:sp>
      <p:sp>
        <p:nvSpPr>
          <p:cNvPr id="64" name="table-cell-194-7-1">
            <a:extLst xmlns:a="http://schemas.openxmlformats.org/drawingml/2006/main">
              <a:ext uri="{FF2B5EF4-FFF2-40B4-BE49-F238E27FC236}">
                <a16:creationId xmlns:a16="http://schemas.microsoft.com/office/drawing/2014/main" id="{59E135AB-AF19-4DA3-8483-1AA84FB09B03}"/>
              </a:ext>
            </a:extLst>
          </p:cNvPr>
          <p:cNvSpPr>
            <a:spLocks xmlns:a="http://schemas.openxmlformats.org/drawingml/2006/main" noGrp="1"/>
          </p:cNvSpPr>
          <p:nvPr/>
        </p:nvSpPr>
        <p:spPr>
          <a:xfrm xmlns:a="http://schemas.openxmlformats.org/drawingml/2006/main">
            <a:off x="2157413" y="5506879"/>
            <a:ext cx="1624013" cy="1007269"/>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65" name="table-text-194-7-1">
            <a:extLst xmlns:a="http://schemas.openxmlformats.org/drawingml/2006/main">
              <a:ext uri="{FF2B5EF4-FFF2-40B4-BE49-F238E27FC236}">
                <a16:creationId xmlns:a16="http://schemas.microsoft.com/office/drawing/2014/main" id="{9786168A-A405-4729-A1A2-BE33A58F16BA}"/>
              </a:ext>
            </a:extLst>
          </p:cNvPr>
          <p:cNvSpPr>
            <a:spLocks xmlns:a="http://schemas.openxmlformats.org/drawingml/2006/main" noGrp="1"/>
          </p:cNvSpPr>
          <p:nvPr/>
        </p:nvSpPr>
        <p:spPr>
          <a:xfrm xmlns:a="http://schemas.openxmlformats.org/drawingml/2006/main">
            <a:off x="2243138" y="5573554"/>
            <a:ext cx="1452563" cy="8739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Flutter bundled font</a:t>
            </a:r>
          </a:p>
        </p:txBody>
      </p:sp>
      <p:sp>
        <p:nvSpPr>
          <p:cNvPr id="66" name="table-cell-194-7-2">
            <a:extLst xmlns:a="http://schemas.openxmlformats.org/drawingml/2006/main">
              <a:ext uri="{FF2B5EF4-FFF2-40B4-BE49-F238E27FC236}">
                <a16:creationId xmlns:a16="http://schemas.microsoft.com/office/drawing/2014/main" id="{95A715FF-A7E8-4541-A591-3883BB5E59C5}"/>
              </a:ext>
            </a:extLst>
          </p:cNvPr>
          <p:cNvSpPr>
            <a:spLocks xmlns:a="http://schemas.openxmlformats.org/drawingml/2006/main" noGrp="1"/>
          </p:cNvSpPr>
          <p:nvPr/>
        </p:nvSpPr>
        <p:spPr>
          <a:xfrm xmlns:a="http://schemas.openxmlformats.org/drawingml/2006/main">
            <a:off x="3781425" y="5506879"/>
            <a:ext cx="1624013" cy="1007269"/>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67" name="table-text-194-7-2">
            <a:extLst xmlns:a="http://schemas.openxmlformats.org/drawingml/2006/main">
              <a:ext uri="{FF2B5EF4-FFF2-40B4-BE49-F238E27FC236}">
                <a16:creationId xmlns:a16="http://schemas.microsoft.com/office/drawing/2014/main" id="{CA84908D-3698-4701-B755-EB3958BA3982}"/>
              </a:ext>
            </a:extLst>
          </p:cNvPr>
          <p:cNvSpPr>
            <a:spLocks xmlns:a="http://schemas.openxmlformats.org/drawingml/2006/main" noGrp="1"/>
          </p:cNvSpPr>
          <p:nvPr/>
        </p:nvSpPr>
        <p:spPr>
          <a:xfrm xmlns:a="http://schemas.openxmlformats.org/drawingml/2006/main">
            <a:off x="3867150" y="5573554"/>
            <a:ext cx="1452563" cy="8739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기존 런 보상 8종+다음 스테이지 팁 1종 아이콘</a:t>
            </a:r>
          </a:p>
        </p:txBody>
      </p:sp>
      <p:sp>
        <p:nvSpPr>
          <p:cNvPr id="68" name="table-cell-194-7-3">
            <a:extLst xmlns:a="http://schemas.openxmlformats.org/drawingml/2006/main">
              <a:ext uri="{FF2B5EF4-FFF2-40B4-BE49-F238E27FC236}">
                <a16:creationId xmlns:a16="http://schemas.microsoft.com/office/drawing/2014/main" id="{3F9AD58F-5F21-41D3-B804-2717430482DF}"/>
              </a:ext>
            </a:extLst>
          </p:cNvPr>
          <p:cNvSpPr>
            <a:spLocks xmlns:a="http://schemas.openxmlformats.org/drawingml/2006/main" noGrp="1"/>
          </p:cNvSpPr>
          <p:nvPr/>
        </p:nvSpPr>
        <p:spPr>
          <a:xfrm xmlns:a="http://schemas.openxmlformats.org/drawingml/2006/main">
            <a:off x="5405438" y="5506879"/>
            <a:ext cx="1624013" cy="1007269"/>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69" name="table-text-194-7-3">
            <a:extLst xmlns:a="http://schemas.openxmlformats.org/drawingml/2006/main">
              <a:ext uri="{FF2B5EF4-FFF2-40B4-BE49-F238E27FC236}">
                <a16:creationId xmlns:a16="http://schemas.microsoft.com/office/drawing/2014/main" id="{3D8A0E64-C9FD-4390-A25F-E323FD039DBC}"/>
              </a:ext>
            </a:extLst>
          </p:cNvPr>
          <p:cNvSpPr>
            <a:spLocks xmlns:a="http://schemas.openxmlformats.org/drawingml/2006/main" noGrp="1"/>
          </p:cNvSpPr>
          <p:nvPr/>
        </p:nvSpPr>
        <p:spPr>
          <a:xfrm xmlns:a="http://schemas.openxmlformats.org/drawingml/2006/main">
            <a:off x="5491163" y="5573554"/>
            <a:ext cx="1452563" cy="8739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304"/>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Apache-2.0 · Flutter Icons API (https://api.flutter.dev/flutter/material/Icons-class.html), Google Material Icons (https://github.com/google/material-design-icons)</a:t>
            </a:r>
          </a:p>
        </p:txBody>
      </p:sp>
      <p:sp>
        <p:nvSpPr>
          <p:cNvPr id="70" name="subheading-699.9000000000001">
            <a:extLst xmlns:a="http://schemas.openxmlformats.org/drawingml/2006/main">
              <a:ext uri="{FF2B5EF4-FFF2-40B4-BE49-F238E27FC236}">
                <a16:creationId xmlns:a16="http://schemas.microsoft.com/office/drawing/2014/main" id="{537276B4-2A26-42A4-A745-2F74872C2CAC}"/>
              </a:ext>
            </a:extLst>
          </p:cNvPr>
          <p:cNvSpPr>
            <a:spLocks xmlns:a="http://schemas.openxmlformats.org/drawingml/2006/main" noGrp="1"/>
          </p:cNvSpPr>
          <p:nvPr/>
        </p:nvSpPr>
        <p:spPr>
          <a:xfrm xmlns:a="http://schemas.openxmlformats.org/drawingml/2006/main">
            <a:off x="533400" y="6666548"/>
            <a:ext cx="649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800" b="1">
                <a:solidFill>
                  <a:srgbClr val="2C7A7B"/>
                </a:solidFill>
                <a:latin typeface="NanumGothic"/>
                <a:ea typeface="NanumGothic"/>
                <a:cs typeface="NanumGothic"/>
              </a:defRPr>
            </a:pPr>
            <a:r>
              <a:rPr sz="1800" b="1">
                <a:solidFill>
                  <a:srgbClr val="2C7A7B"/>
                </a:solidFill>
                <a:latin typeface="NanumGothic"/>
                <a:ea typeface="NanumGothic"/>
                <a:cs typeface="NanumGothic"/>
              </a:rPr>
              <a:t>7.2 외부/레거시 에셋</a:t>
            </a:r>
          </a:p>
        </p:txBody>
      </p:sp>
      <p:sp>
        <p:nvSpPr>
          <p:cNvPr id="71" name="table-cell-753.9000000000001-0-0">
            <a:extLst xmlns:a="http://schemas.openxmlformats.org/drawingml/2006/main">
              <a:ext uri="{FF2B5EF4-FFF2-40B4-BE49-F238E27FC236}">
                <a16:creationId xmlns:a16="http://schemas.microsoft.com/office/drawing/2014/main" id="{29A058CF-D071-496C-8A72-9CE3C000C70C}"/>
              </a:ext>
            </a:extLst>
          </p:cNvPr>
          <p:cNvSpPr>
            <a:spLocks xmlns:a="http://schemas.openxmlformats.org/drawingml/2006/main" noGrp="1"/>
          </p:cNvSpPr>
          <p:nvPr/>
        </p:nvSpPr>
        <p:spPr>
          <a:xfrm xmlns:a="http://schemas.openxmlformats.org/drawingml/2006/main">
            <a:off x="533400" y="7180898"/>
            <a:ext cx="1624013" cy="457200"/>
          </a:xfrm>
          <a:prstGeom xmlns:a="http://schemas.openxmlformats.org/drawingml/2006/main" prst="rect">
            <a:avLst/>
          </a:prstGeom>
          <a:solidFill xmlns:a="http://schemas.openxmlformats.org/drawingml/2006/main">
            <a:srgbClr val="E8F4F1"/>
          </a:solidFill>
          <a:ln xmlns:a="http://schemas.openxmlformats.org/drawingml/2006/main" w="9525">
            <a:solidFill>
              <a:srgbClr val="D7E1DE"/>
            </a:solidFill>
            <a:prstDash val="solid"/>
          </a:ln>
        </p:spPr>
      </p:sp>
      <p:sp>
        <p:nvSpPr>
          <p:cNvPr id="72" name="table-text-753.9000000000001-0-0">
            <a:extLst xmlns:a="http://schemas.openxmlformats.org/drawingml/2006/main">
              <a:ext uri="{FF2B5EF4-FFF2-40B4-BE49-F238E27FC236}">
                <a16:creationId xmlns:a16="http://schemas.microsoft.com/office/drawing/2014/main" id="{DE5BABE6-F2B5-4CFD-B9A0-2F17A72AE66D}"/>
              </a:ext>
            </a:extLst>
          </p:cNvPr>
          <p:cNvSpPr>
            <a:spLocks xmlns:a="http://schemas.openxmlformats.org/drawingml/2006/main" noGrp="1"/>
          </p:cNvSpPr>
          <p:nvPr/>
        </p:nvSpPr>
        <p:spPr>
          <a:xfrm xmlns:a="http://schemas.openxmlformats.org/drawingml/2006/main">
            <a:off x="619125" y="7247573"/>
            <a:ext cx="1452563"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a:solidFill>
                  <a:srgbClr val="173A3F"/>
                </a:solidFill>
                <a:latin typeface="NanumGothic"/>
                <a:ea typeface="NanumGothic"/>
                <a:cs typeface="NanumGothic"/>
              </a:defRPr>
            </a:pPr>
            <a:r>
              <a:rPr sz="975" b="1">
                <a:solidFill>
                  <a:srgbClr val="173A3F"/>
                </a:solidFill>
                <a:latin typeface="NanumGothic"/>
                <a:ea typeface="NanumGothic"/>
                <a:cs typeface="NanumGothic"/>
              </a:rPr>
              <a:t>자산</a:t>
            </a:r>
          </a:p>
        </p:txBody>
      </p:sp>
      <p:sp>
        <p:nvSpPr>
          <p:cNvPr id="73" name="table-cell-753.9000000000001-0-1">
            <a:extLst xmlns:a="http://schemas.openxmlformats.org/drawingml/2006/main">
              <a:ext uri="{FF2B5EF4-FFF2-40B4-BE49-F238E27FC236}">
                <a16:creationId xmlns:a16="http://schemas.microsoft.com/office/drawing/2014/main" id="{BA9E8EB1-4822-4A46-827B-966B2FC04280}"/>
              </a:ext>
            </a:extLst>
          </p:cNvPr>
          <p:cNvSpPr>
            <a:spLocks xmlns:a="http://schemas.openxmlformats.org/drawingml/2006/main" noGrp="1"/>
          </p:cNvSpPr>
          <p:nvPr/>
        </p:nvSpPr>
        <p:spPr>
          <a:xfrm xmlns:a="http://schemas.openxmlformats.org/drawingml/2006/main">
            <a:off x="2157413" y="7180898"/>
            <a:ext cx="1624013" cy="457200"/>
          </a:xfrm>
          <a:prstGeom xmlns:a="http://schemas.openxmlformats.org/drawingml/2006/main" prst="rect">
            <a:avLst/>
          </a:prstGeom>
          <a:solidFill xmlns:a="http://schemas.openxmlformats.org/drawingml/2006/main">
            <a:srgbClr val="E8F4F1"/>
          </a:solidFill>
          <a:ln xmlns:a="http://schemas.openxmlformats.org/drawingml/2006/main" w="9525">
            <a:solidFill>
              <a:srgbClr val="D7E1DE"/>
            </a:solidFill>
            <a:prstDash val="solid"/>
          </a:ln>
        </p:spPr>
      </p:sp>
      <p:sp>
        <p:nvSpPr>
          <p:cNvPr id="74" name="table-text-753.9000000000001-0-1">
            <a:extLst xmlns:a="http://schemas.openxmlformats.org/drawingml/2006/main">
              <a:ext uri="{FF2B5EF4-FFF2-40B4-BE49-F238E27FC236}">
                <a16:creationId xmlns:a16="http://schemas.microsoft.com/office/drawing/2014/main" id="{CF7A5EC7-1BEC-483C-807C-979BC1EE3EA0}"/>
              </a:ext>
            </a:extLst>
          </p:cNvPr>
          <p:cNvSpPr>
            <a:spLocks xmlns:a="http://schemas.openxmlformats.org/drawingml/2006/main" noGrp="1"/>
          </p:cNvSpPr>
          <p:nvPr/>
        </p:nvSpPr>
        <p:spPr>
          <a:xfrm xmlns:a="http://schemas.openxmlformats.org/drawingml/2006/main">
            <a:off x="2243138" y="7247573"/>
            <a:ext cx="1452563"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a:solidFill>
                  <a:srgbClr val="173A3F"/>
                </a:solidFill>
                <a:latin typeface="NanumGothic"/>
                <a:ea typeface="NanumGothic"/>
                <a:cs typeface="NanumGothic"/>
              </a:defRPr>
            </a:pPr>
            <a:r>
              <a:rPr sz="975" b="1">
                <a:solidFill>
                  <a:srgbClr val="173A3F"/>
                </a:solidFill>
                <a:latin typeface="NanumGothic"/>
                <a:ea typeface="NanumGothic"/>
                <a:cs typeface="NanumGothic"/>
              </a:rPr>
              <a:t>출처</a:t>
            </a:r>
          </a:p>
        </p:txBody>
      </p:sp>
      <p:sp>
        <p:nvSpPr>
          <p:cNvPr id="75" name="table-cell-753.9000000000001-0-2">
            <a:extLst xmlns:a="http://schemas.openxmlformats.org/drawingml/2006/main">
              <a:ext uri="{FF2B5EF4-FFF2-40B4-BE49-F238E27FC236}">
                <a16:creationId xmlns:a16="http://schemas.microsoft.com/office/drawing/2014/main" id="{F6EFEC38-8FE9-443F-9018-0F48D18CED30}"/>
              </a:ext>
            </a:extLst>
          </p:cNvPr>
          <p:cNvSpPr>
            <a:spLocks xmlns:a="http://schemas.openxmlformats.org/drawingml/2006/main" noGrp="1"/>
          </p:cNvSpPr>
          <p:nvPr/>
        </p:nvSpPr>
        <p:spPr>
          <a:xfrm xmlns:a="http://schemas.openxmlformats.org/drawingml/2006/main">
            <a:off x="3781425" y="7180898"/>
            <a:ext cx="1624013" cy="457200"/>
          </a:xfrm>
          <a:prstGeom xmlns:a="http://schemas.openxmlformats.org/drawingml/2006/main" prst="rect">
            <a:avLst/>
          </a:prstGeom>
          <a:solidFill xmlns:a="http://schemas.openxmlformats.org/drawingml/2006/main">
            <a:srgbClr val="E8F4F1"/>
          </a:solidFill>
          <a:ln xmlns:a="http://schemas.openxmlformats.org/drawingml/2006/main" w="9525">
            <a:solidFill>
              <a:srgbClr val="D7E1DE"/>
            </a:solidFill>
            <a:prstDash val="solid"/>
          </a:ln>
        </p:spPr>
      </p:sp>
      <p:sp>
        <p:nvSpPr>
          <p:cNvPr id="76" name="table-text-753.9000000000001-0-2">
            <a:extLst xmlns:a="http://schemas.openxmlformats.org/drawingml/2006/main">
              <a:ext uri="{FF2B5EF4-FFF2-40B4-BE49-F238E27FC236}">
                <a16:creationId xmlns:a16="http://schemas.microsoft.com/office/drawing/2014/main" id="{CB1AB45A-74A7-4180-9BD9-2EB72FA6A480}"/>
              </a:ext>
            </a:extLst>
          </p:cNvPr>
          <p:cNvSpPr>
            <a:spLocks xmlns:a="http://schemas.openxmlformats.org/drawingml/2006/main" noGrp="1"/>
          </p:cNvSpPr>
          <p:nvPr/>
        </p:nvSpPr>
        <p:spPr>
          <a:xfrm xmlns:a="http://schemas.openxmlformats.org/drawingml/2006/main">
            <a:off x="3867150" y="7247573"/>
            <a:ext cx="1452563"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a:solidFill>
                  <a:srgbClr val="173A3F"/>
                </a:solidFill>
                <a:latin typeface="NanumGothic"/>
                <a:ea typeface="NanumGothic"/>
                <a:cs typeface="NanumGothic"/>
              </a:defRPr>
            </a:pPr>
            <a:r>
              <a:rPr sz="975" b="1">
                <a:solidFill>
                  <a:srgbClr val="173A3F"/>
                </a:solidFill>
                <a:latin typeface="NanumGothic"/>
                <a:ea typeface="NanumGothic"/>
                <a:cs typeface="NanumGothic"/>
              </a:rPr>
              <a:t>라이선스</a:t>
            </a:r>
          </a:p>
        </p:txBody>
      </p:sp>
      <p:sp>
        <p:nvSpPr>
          <p:cNvPr id="77" name="table-cell-753.9000000000001-0-3">
            <a:extLst xmlns:a="http://schemas.openxmlformats.org/drawingml/2006/main">
              <a:ext uri="{FF2B5EF4-FFF2-40B4-BE49-F238E27FC236}">
                <a16:creationId xmlns:a16="http://schemas.microsoft.com/office/drawing/2014/main" id="{DC4CE1DD-C22A-4749-B45D-A8C449A625DC}"/>
              </a:ext>
            </a:extLst>
          </p:cNvPr>
          <p:cNvSpPr>
            <a:spLocks xmlns:a="http://schemas.openxmlformats.org/drawingml/2006/main" noGrp="1"/>
          </p:cNvSpPr>
          <p:nvPr/>
        </p:nvSpPr>
        <p:spPr>
          <a:xfrm xmlns:a="http://schemas.openxmlformats.org/drawingml/2006/main">
            <a:off x="5405438" y="7180898"/>
            <a:ext cx="1624013" cy="457200"/>
          </a:xfrm>
          <a:prstGeom xmlns:a="http://schemas.openxmlformats.org/drawingml/2006/main" prst="rect">
            <a:avLst/>
          </a:prstGeom>
          <a:solidFill xmlns:a="http://schemas.openxmlformats.org/drawingml/2006/main">
            <a:srgbClr val="E8F4F1"/>
          </a:solidFill>
          <a:ln xmlns:a="http://schemas.openxmlformats.org/drawingml/2006/main" w="9525">
            <a:solidFill>
              <a:srgbClr val="D7E1DE"/>
            </a:solidFill>
            <a:prstDash val="solid"/>
          </a:ln>
        </p:spPr>
      </p:sp>
      <p:sp>
        <p:nvSpPr>
          <p:cNvPr id="78" name="table-text-753.9000000000001-0-3">
            <a:extLst xmlns:a="http://schemas.openxmlformats.org/drawingml/2006/main">
              <a:ext uri="{FF2B5EF4-FFF2-40B4-BE49-F238E27FC236}">
                <a16:creationId xmlns:a16="http://schemas.microsoft.com/office/drawing/2014/main" id="{4F69B78E-8006-4C45-9052-6BFF981D7077}"/>
              </a:ext>
            </a:extLst>
          </p:cNvPr>
          <p:cNvSpPr>
            <a:spLocks xmlns:a="http://schemas.openxmlformats.org/drawingml/2006/main" noGrp="1"/>
          </p:cNvSpPr>
          <p:nvPr/>
        </p:nvSpPr>
        <p:spPr>
          <a:xfrm xmlns:a="http://schemas.openxmlformats.org/drawingml/2006/main">
            <a:off x="5491163" y="7247573"/>
            <a:ext cx="1452563"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a:solidFill>
                  <a:srgbClr val="173A3F"/>
                </a:solidFill>
                <a:latin typeface="NanumGothic"/>
                <a:ea typeface="NanumGothic"/>
                <a:cs typeface="NanumGothic"/>
              </a:defRPr>
            </a:pPr>
            <a:r>
              <a:rPr sz="975" b="1">
                <a:solidFill>
                  <a:srgbClr val="173A3F"/>
                </a:solidFill>
                <a:latin typeface="NanumGothic"/>
                <a:ea typeface="NanumGothic"/>
                <a:cs typeface="NanumGothic"/>
              </a:rPr>
              <a:t>제품 bundle</a:t>
            </a:r>
          </a:p>
        </p:txBody>
      </p:sp>
      <p:sp>
        <p:nvSpPr>
          <p:cNvPr id="79" name="table-cell-753.9000000000001-1-0">
            <a:extLst xmlns:a="http://schemas.openxmlformats.org/drawingml/2006/main">
              <a:ext uri="{FF2B5EF4-FFF2-40B4-BE49-F238E27FC236}">
                <a16:creationId xmlns:a16="http://schemas.microsoft.com/office/drawing/2014/main" id="{CF7CEAD8-23DE-42CE-812C-2BDD690297C8}"/>
              </a:ext>
            </a:extLst>
          </p:cNvPr>
          <p:cNvSpPr>
            <a:spLocks xmlns:a="http://schemas.openxmlformats.org/drawingml/2006/main" noGrp="1"/>
          </p:cNvSpPr>
          <p:nvPr/>
        </p:nvSpPr>
        <p:spPr>
          <a:xfrm xmlns:a="http://schemas.openxmlformats.org/drawingml/2006/main">
            <a:off x="533400" y="7638098"/>
            <a:ext cx="1624013" cy="840105"/>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80" name="table-text-753.9000000000001-1-0">
            <a:extLst xmlns:a="http://schemas.openxmlformats.org/drawingml/2006/main">
              <a:ext uri="{FF2B5EF4-FFF2-40B4-BE49-F238E27FC236}">
                <a16:creationId xmlns:a16="http://schemas.microsoft.com/office/drawing/2014/main" id="{B250B2BD-A2DB-4F12-AD09-0899C8B81C22}"/>
              </a:ext>
            </a:extLst>
          </p:cNvPr>
          <p:cNvSpPr>
            <a:spLocks xmlns:a="http://schemas.openxmlformats.org/drawingml/2006/main" noGrp="1"/>
          </p:cNvSpPr>
          <p:nvPr/>
        </p:nvSpPr>
        <p:spPr>
          <a:xfrm xmlns:a="http://schemas.openxmlformats.org/drawingml/2006/main">
            <a:off x="619125" y="7704773"/>
            <a:ext cx="1452563" cy="7067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assets/icons/ball.png, crate.png, stone_boulder.png</a:t>
            </a:r>
          </a:p>
        </p:txBody>
      </p:sp>
      <p:sp>
        <p:nvSpPr>
          <p:cNvPr id="81" name="table-cell-753.9000000000001-1-1">
            <a:extLst xmlns:a="http://schemas.openxmlformats.org/drawingml/2006/main">
              <a:ext uri="{FF2B5EF4-FFF2-40B4-BE49-F238E27FC236}">
                <a16:creationId xmlns:a16="http://schemas.microsoft.com/office/drawing/2014/main" id="{DBA93510-F7FE-4A5F-8B22-A7AD4907A12B}"/>
              </a:ext>
            </a:extLst>
          </p:cNvPr>
          <p:cNvSpPr>
            <a:spLocks xmlns:a="http://schemas.openxmlformats.org/drawingml/2006/main" noGrp="1"/>
          </p:cNvSpPr>
          <p:nvPr/>
        </p:nvSpPr>
        <p:spPr>
          <a:xfrm xmlns:a="http://schemas.openxmlformats.org/drawingml/2006/main">
            <a:off x="2157413" y="7638098"/>
            <a:ext cx="1624013" cy="840105"/>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82" name="table-text-753.9000000000001-1-1">
            <a:extLst xmlns:a="http://schemas.openxmlformats.org/drawingml/2006/main">
              <a:ext uri="{FF2B5EF4-FFF2-40B4-BE49-F238E27FC236}">
                <a16:creationId xmlns:a16="http://schemas.microsoft.com/office/drawing/2014/main" id="{2B62688B-3D02-4AF0-AB34-599C5572C615}"/>
              </a:ext>
            </a:extLst>
          </p:cNvPr>
          <p:cNvSpPr>
            <a:spLocks xmlns:a="http://schemas.openxmlformats.org/drawingml/2006/main" noGrp="1"/>
          </p:cNvSpPr>
          <p:nvPr/>
        </p:nvSpPr>
        <p:spPr>
          <a:xfrm xmlns:a="http://schemas.openxmlformats.org/drawingml/2006/main">
            <a:off x="2243138" y="7704773"/>
            <a:ext cx="1452563" cy="7067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082"/>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OpenGameArt Smooth Physics Obstacle Props (https://opengameart.org/content/smooth-physics-obstacle-props)</a:t>
            </a:r>
          </a:p>
        </p:txBody>
      </p:sp>
      <p:sp>
        <p:nvSpPr>
          <p:cNvPr id="83" name="table-cell-753.9000000000001-1-2">
            <a:extLst xmlns:a="http://schemas.openxmlformats.org/drawingml/2006/main">
              <a:ext uri="{FF2B5EF4-FFF2-40B4-BE49-F238E27FC236}">
                <a16:creationId xmlns:a16="http://schemas.microsoft.com/office/drawing/2014/main" id="{C2BC08F3-8E73-4FCB-8925-F23D810762B3}"/>
              </a:ext>
            </a:extLst>
          </p:cNvPr>
          <p:cNvSpPr>
            <a:spLocks xmlns:a="http://schemas.openxmlformats.org/drawingml/2006/main" noGrp="1"/>
          </p:cNvSpPr>
          <p:nvPr/>
        </p:nvSpPr>
        <p:spPr>
          <a:xfrm xmlns:a="http://schemas.openxmlformats.org/drawingml/2006/main">
            <a:off x="3781425" y="7638098"/>
            <a:ext cx="1624013" cy="840105"/>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84" name="table-text-753.9000000000001-1-2">
            <a:extLst xmlns:a="http://schemas.openxmlformats.org/drawingml/2006/main">
              <a:ext uri="{FF2B5EF4-FFF2-40B4-BE49-F238E27FC236}">
                <a16:creationId xmlns:a16="http://schemas.microsoft.com/office/drawing/2014/main" id="{CCCF4C92-FF1B-4B18-B6AB-755061CEC583}"/>
              </a:ext>
            </a:extLst>
          </p:cNvPr>
          <p:cNvSpPr>
            <a:spLocks xmlns:a="http://schemas.openxmlformats.org/drawingml/2006/main" noGrp="1"/>
          </p:cNvSpPr>
          <p:nvPr/>
        </p:nvSpPr>
        <p:spPr>
          <a:xfrm xmlns:a="http://schemas.openxmlformats.org/drawingml/2006/main">
            <a:off x="3867150" y="7704773"/>
            <a:ext cx="1452563" cy="7067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CC0 1.0 법적 코드 (https://creativecommons.org/publicdomain/zero/1.0/legalcode)</a:t>
            </a:r>
          </a:p>
        </p:txBody>
      </p:sp>
      <p:sp>
        <p:nvSpPr>
          <p:cNvPr id="85" name="table-cell-753.9000000000001-1-3">
            <a:extLst xmlns:a="http://schemas.openxmlformats.org/drawingml/2006/main">
              <a:ext uri="{FF2B5EF4-FFF2-40B4-BE49-F238E27FC236}">
                <a16:creationId xmlns:a16="http://schemas.microsoft.com/office/drawing/2014/main" id="{51137668-601A-46A9-9764-0F95D7CE20B2}"/>
              </a:ext>
            </a:extLst>
          </p:cNvPr>
          <p:cNvSpPr>
            <a:spLocks xmlns:a="http://schemas.openxmlformats.org/drawingml/2006/main" noGrp="1"/>
          </p:cNvSpPr>
          <p:nvPr/>
        </p:nvSpPr>
        <p:spPr>
          <a:xfrm xmlns:a="http://schemas.openxmlformats.org/drawingml/2006/main">
            <a:off x="5405438" y="7638098"/>
            <a:ext cx="1624013" cy="840105"/>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86" name="table-text-753.9000000000001-1-3">
            <a:extLst xmlns:a="http://schemas.openxmlformats.org/drawingml/2006/main">
              <a:ext uri="{FF2B5EF4-FFF2-40B4-BE49-F238E27FC236}">
                <a16:creationId xmlns:a16="http://schemas.microsoft.com/office/drawing/2014/main" id="{07EA763C-7BFD-46C2-90A8-399C3DB64E10}"/>
              </a:ext>
            </a:extLst>
          </p:cNvPr>
          <p:cNvSpPr>
            <a:spLocks xmlns:a="http://schemas.openxmlformats.org/drawingml/2006/main" noGrp="1"/>
          </p:cNvSpPr>
          <p:nvPr/>
        </p:nvSpPr>
        <p:spPr>
          <a:xfrm xmlns:a="http://schemas.openxmlformats.org/drawingml/2006/main">
            <a:off x="5491163" y="7704773"/>
            <a:ext cx="1452563" cy="7067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미사용 레거시·권리 증빙 보관</a:t>
            </a:r>
          </a:p>
        </p:txBody>
      </p:sp>
      <p:sp>
        <p:nvSpPr>
          <p:cNvPr id="87" name="table-cell-753.9000000000001-2-0">
            <a:extLst xmlns:a="http://schemas.openxmlformats.org/drawingml/2006/main">
              <a:ext uri="{FF2B5EF4-FFF2-40B4-BE49-F238E27FC236}">
                <a16:creationId xmlns:a16="http://schemas.microsoft.com/office/drawing/2014/main" id="{866020F5-1356-48B2-A46A-0FE67E54F15E}"/>
              </a:ext>
            </a:extLst>
          </p:cNvPr>
          <p:cNvSpPr>
            <a:spLocks xmlns:a="http://schemas.openxmlformats.org/drawingml/2006/main" noGrp="1"/>
          </p:cNvSpPr>
          <p:nvPr/>
        </p:nvSpPr>
        <p:spPr>
          <a:xfrm xmlns:a="http://schemas.openxmlformats.org/drawingml/2006/main">
            <a:off x="533400" y="8478203"/>
            <a:ext cx="1624013" cy="505778"/>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88" name="table-text-753.9000000000001-2-0">
            <a:extLst xmlns:a="http://schemas.openxmlformats.org/drawingml/2006/main">
              <a:ext uri="{FF2B5EF4-FFF2-40B4-BE49-F238E27FC236}">
                <a16:creationId xmlns:a16="http://schemas.microsoft.com/office/drawing/2014/main" id="{B64E1FEA-487F-45CC-954B-0089973DCA7B}"/>
              </a:ext>
            </a:extLst>
          </p:cNvPr>
          <p:cNvSpPr>
            <a:spLocks xmlns:a="http://schemas.openxmlformats.org/drawingml/2006/main" noGrp="1"/>
          </p:cNvSpPr>
          <p:nvPr/>
        </p:nvSpPr>
        <p:spPr>
          <a:xfrm xmlns:a="http://schemas.openxmlformats.org/drawingml/2006/main">
            <a:off x="619125" y="8544878"/>
            <a:ext cx="1452563" cy="3724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property_shot_island_loop.wav</a:t>
            </a:r>
          </a:p>
        </p:txBody>
      </p:sp>
      <p:sp>
        <p:nvSpPr>
          <p:cNvPr id="89" name="table-cell-753.9000000000001-2-1">
            <a:extLst xmlns:a="http://schemas.openxmlformats.org/drawingml/2006/main">
              <a:ext uri="{FF2B5EF4-FFF2-40B4-BE49-F238E27FC236}">
                <a16:creationId xmlns:a16="http://schemas.microsoft.com/office/drawing/2014/main" id="{05F029AD-9582-4075-8292-AF288AE23B36}"/>
              </a:ext>
            </a:extLst>
          </p:cNvPr>
          <p:cNvSpPr>
            <a:spLocks xmlns:a="http://schemas.openxmlformats.org/drawingml/2006/main" noGrp="1"/>
          </p:cNvSpPr>
          <p:nvPr/>
        </p:nvSpPr>
        <p:spPr>
          <a:xfrm xmlns:a="http://schemas.openxmlformats.org/drawingml/2006/main">
            <a:off x="2157413" y="8478203"/>
            <a:ext cx="1624013" cy="505778"/>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90" name="table-text-753.9000000000001-2-1">
            <a:extLst xmlns:a="http://schemas.openxmlformats.org/drawingml/2006/main">
              <a:ext uri="{FF2B5EF4-FFF2-40B4-BE49-F238E27FC236}">
                <a16:creationId xmlns:a16="http://schemas.microsoft.com/office/drawing/2014/main" id="{BA898A4A-1D40-43AF-9582-5FB143672C6C}"/>
              </a:ext>
            </a:extLst>
          </p:cNvPr>
          <p:cNvSpPr>
            <a:spLocks xmlns:a="http://schemas.openxmlformats.org/drawingml/2006/main" noGrp="1"/>
          </p:cNvSpPr>
          <p:nvPr/>
        </p:nvSpPr>
        <p:spPr>
          <a:xfrm xmlns:a="http://schemas.openxmlformats.org/drawingml/2006/main">
            <a:off x="2243138" y="8544878"/>
            <a:ext cx="1452563" cy="3724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프로젝트 도구로 자체 합성, 외부 샘플 없음</a:t>
            </a:r>
          </a:p>
        </p:txBody>
      </p:sp>
      <p:sp>
        <p:nvSpPr>
          <p:cNvPr id="91" name="table-cell-753.9000000000001-2-2">
            <a:extLst xmlns:a="http://schemas.openxmlformats.org/drawingml/2006/main">
              <a:ext uri="{FF2B5EF4-FFF2-40B4-BE49-F238E27FC236}">
                <a16:creationId xmlns:a16="http://schemas.microsoft.com/office/drawing/2014/main" id="{F7B4F548-9562-434F-937D-FCAA165292FF}"/>
              </a:ext>
            </a:extLst>
          </p:cNvPr>
          <p:cNvSpPr>
            <a:spLocks xmlns:a="http://schemas.openxmlformats.org/drawingml/2006/main" noGrp="1"/>
          </p:cNvSpPr>
          <p:nvPr/>
        </p:nvSpPr>
        <p:spPr>
          <a:xfrm xmlns:a="http://schemas.openxmlformats.org/drawingml/2006/main">
            <a:off x="3781425" y="8478203"/>
            <a:ext cx="1624013" cy="505778"/>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92" name="table-text-753.9000000000001-2-2">
            <a:extLst xmlns:a="http://schemas.openxmlformats.org/drawingml/2006/main">
              <a:ext uri="{FF2B5EF4-FFF2-40B4-BE49-F238E27FC236}">
                <a16:creationId xmlns:a16="http://schemas.microsoft.com/office/drawing/2014/main" id="{688BCF54-1BEB-488E-9849-37F830A873B0}"/>
              </a:ext>
            </a:extLst>
          </p:cNvPr>
          <p:cNvSpPr>
            <a:spLocks xmlns:a="http://schemas.openxmlformats.org/drawingml/2006/main" noGrp="1"/>
          </p:cNvSpPr>
          <p:nvPr/>
        </p:nvSpPr>
        <p:spPr>
          <a:xfrm xmlns:a="http://schemas.openxmlformats.org/drawingml/2006/main">
            <a:off x="3867150" y="8544878"/>
            <a:ext cx="1452563" cy="3724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프로젝트 자체 생성</a:t>
            </a:r>
          </a:p>
        </p:txBody>
      </p:sp>
      <p:sp>
        <p:nvSpPr>
          <p:cNvPr id="93" name="table-cell-753.9000000000001-2-3">
            <a:extLst xmlns:a="http://schemas.openxmlformats.org/drawingml/2006/main">
              <a:ext uri="{FF2B5EF4-FFF2-40B4-BE49-F238E27FC236}">
                <a16:creationId xmlns:a16="http://schemas.microsoft.com/office/drawing/2014/main" id="{0E0886B8-9064-41DC-984A-E33D835E16C7}"/>
              </a:ext>
            </a:extLst>
          </p:cNvPr>
          <p:cNvSpPr>
            <a:spLocks xmlns:a="http://schemas.openxmlformats.org/drawingml/2006/main" noGrp="1"/>
          </p:cNvSpPr>
          <p:nvPr/>
        </p:nvSpPr>
        <p:spPr>
          <a:xfrm xmlns:a="http://schemas.openxmlformats.org/drawingml/2006/main">
            <a:off x="5405438" y="8478203"/>
            <a:ext cx="1624013" cy="505778"/>
          </a:xfrm>
          <a:prstGeom xmlns:a="http://schemas.openxmlformats.org/drawingml/2006/main" prst="rect">
            <a:avLst/>
          </a:prstGeom>
          <a:solidFill xmlns:a="http://schemas.openxmlformats.org/drawingml/2006/main">
            <a:srgbClr val="FAFCFB"/>
          </a:solidFill>
          <a:ln xmlns:a="http://schemas.openxmlformats.org/drawingml/2006/main" w="9525">
            <a:solidFill>
              <a:srgbClr val="D7E1DE"/>
            </a:solidFill>
            <a:prstDash val="solid"/>
          </a:ln>
        </p:spPr>
      </p:sp>
      <p:sp>
        <p:nvSpPr>
          <p:cNvPr id="94" name="table-text-753.9000000000001-2-3">
            <a:extLst xmlns:a="http://schemas.openxmlformats.org/drawingml/2006/main">
              <a:ext uri="{FF2B5EF4-FFF2-40B4-BE49-F238E27FC236}">
                <a16:creationId xmlns:a16="http://schemas.microsoft.com/office/drawing/2014/main" id="{264F6B06-2499-4CE3-B03D-E94B59E121CB}"/>
              </a:ext>
            </a:extLst>
          </p:cNvPr>
          <p:cNvSpPr>
            <a:spLocks xmlns:a="http://schemas.openxmlformats.org/drawingml/2006/main" noGrp="1"/>
          </p:cNvSpPr>
          <p:nvPr/>
        </p:nvSpPr>
        <p:spPr>
          <a:xfrm xmlns:a="http://schemas.openxmlformats.org/drawingml/2006/main">
            <a:off x="5491163" y="8544878"/>
            <a:ext cx="1452563" cy="3724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사용</a:t>
            </a:r>
          </a:p>
        </p:txBody>
      </p:sp>
      <p:sp>
        <p:nvSpPr>
          <p:cNvPr id="95" name="table-cell-753.9000000000001-3-0">
            <a:extLst xmlns:a="http://schemas.openxmlformats.org/drawingml/2006/main">
              <a:ext uri="{FF2B5EF4-FFF2-40B4-BE49-F238E27FC236}">
                <a16:creationId xmlns:a16="http://schemas.microsoft.com/office/drawing/2014/main" id="{2BFC43AB-E38F-4FC9-A24F-57C69BFF8C42}"/>
              </a:ext>
            </a:extLst>
          </p:cNvPr>
          <p:cNvSpPr>
            <a:spLocks xmlns:a="http://schemas.openxmlformats.org/drawingml/2006/main" noGrp="1"/>
          </p:cNvSpPr>
          <p:nvPr/>
        </p:nvSpPr>
        <p:spPr>
          <a:xfrm xmlns:a="http://schemas.openxmlformats.org/drawingml/2006/main">
            <a:off x="533400" y="8983980"/>
            <a:ext cx="1624013"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96" name="table-text-753.9000000000001-3-0">
            <a:extLst xmlns:a="http://schemas.openxmlformats.org/drawingml/2006/main">
              <a:ext uri="{FF2B5EF4-FFF2-40B4-BE49-F238E27FC236}">
                <a16:creationId xmlns:a16="http://schemas.microsoft.com/office/drawing/2014/main" id="{8FCEE199-626D-4AE0-8CAF-20A39CBB8ABF}"/>
              </a:ext>
            </a:extLst>
          </p:cNvPr>
          <p:cNvSpPr>
            <a:spLocks xmlns:a="http://schemas.openxmlformats.org/drawingml/2006/main" noGrp="1"/>
          </p:cNvSpPr>
          <p:nvPr/>
        </p:nvSpPr>
        <p:spPr>
          <a:xfrm xmlns:a="http://schemas.openxmlformats.org/drawingml/2006/main">
            <a:off x="619125" y="9050655"/>
            <a:ext cx="1452563"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생성 PNG 3종</a:t>
            </a:r>
          </a:p>
        </p:txBody>
      </p:sp>
      <p:sp>
        <p:nvSpPr>
          <p:cNvPr id="97" name="table-cell-753.9000000000001-3-1">
            <a:extLst xmlns:a="http://schemas.openxmlformats.org/drawingml/2006/main">
              <a:ext uri="{FF2B5EF4-FFF2-40B4-BE49-F238E27FC236}">
                <a16:creationId xmlns:a16="http://schemas.microsoft.com/office/drawing/2014/main" id="{763FC5F3-ED2E-4F3E-A05D-F26E0F78A6C9}"/>
              </a:ext>
            </a:extLst>
          </p:cNvPr>
          <p:cNvSpPr>
            <a:spLocks xmlns:a="http://schemas.openxmlformats.org/drawingml/2006/main" noGrp="1"/>
          </p:cNvSpPr>
          <p:nvPr/>
        </p:nvSpPr>
        <p:spPr>
          <a:xfrm xmlns:a="http://schemas.openxmlformats.org/drawingml/2006/main">
            <a:off x="2157413" y="8983980"/>
            <a:ext cx="1624013"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98" name="table-text-753.9000000000001-3-1">
            <a:extLst xmlns:a="http://schemas.openxmlformats.org/drawingml/2006/main">
              <a:ext uri="{FF2B5EF4-FFF2-40B4-BE49-F238E27FC236}">
                <a16:creationId xmlns:a16="http://schemas.microsoft.com/office/drawing/2014/main" id="{312942F3-762B-47B8-BC07-31FA0043EDA1}"/>
              </a:ext>
            </a:extLst>
          </p:cNvPr>
          <p:cNvSpPr>
            <a:spLocks xmlns:a="http://schemas.openxmlformats.org/drawingml/2006/main" noGrp="1"/>
          </p:cNvSpPr>
          <p:nvPr/>
        </p:nvSpPr>
        <p:spPr>
          <a:xfrm xmlns:a="http://schemas.openxmlformats.org/drawingml/2006/main">
            <a:off x="2243138" y="9050655"/>
            <a:ext cx="1452563"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096"/>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Codex 이미지 생성·프로젝트 후처리</a:t>
            </a:r>
          </a:p>
        </p:txBody>
      </p:sp>
      <p:sp>
        <p:nvSpPr>
          <p:cNvPr id="99" name="table-cell-753.9000000000001-3-2">
            <a:extLst xmlns:a="http://schemas.openxmlformats.org/drawingml/2006/main">
              <a:ext uri="{FF2B5EF4-FFF2-40B4-BE49-F238E27FC236}">
                <a16:creationId xmlns:a16="http://schemas.microsoft.com/office/drawing/2014/main" id="{0CDB90EB-6973-4371-BAB9-41B27CB87160}"/>
              </a:ext>
            </a:extLst>
          </p:cNvPr>
          <p:cNvSpPr>
            <a:spLocks xmlns:a="http://schemas.openxmlformats.org/drawingml/2006/main" noGrp="1"/>
          </p:cNvSpPr>
          <p:nvPr/>
        </p:nvSpPr>
        <p:spPr>
          <a:xfrm xmlns:a="http://schemas.openxmlformats.org/drawingml/2006/main">
            <a:off x="3781425" y="8983980"/>
            <a:ext cx="1624013"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100" name="table-text-753.9000000000001-3-2">
            <a:extLst xmlns:a="http://schemas.openxmlformats.org/drawingml/2006/main">
              <a:ext uri="{FF2B5EF4-FFF2-40B4-BE49-F238E27FC236}">
                <a16:creationId xmlns:a16="http://schemas.microsoft.com/office/drawing/2014/main" id="{144D33DA-A27D-4DF9-928A-3441D1FFB3ED}"/>
              </a:ext>
            </a:extLst>
          </p:cNvPr>
          <p:cNvSpPr>
            <a:spLocks xmlns:a="http://schemas.openxmlformats.org/drawingml/2006/main" noGrp="1"/>
          </p:cNvSpPr>
          <p:nvPr/>
        </p:nvSpPr>
        <p:spPr>
          <a:xfrm xmlns:a="http://schemas.openxmlformats.org/drawingml/2006/main">
            <a:off x="3867150" y="9050655"/>
            <a:ext cx="1452563"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088"/>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조건부 승인, 최종 권리 검토 필요</a:t>
            </a:r>
          </a:p>
        </p:txBody>
      </p:sp>
      <p:sp>
        <p:nvSpPr>
          <p:cNvPr id="101" name="table-cell-753.9000000000001-3-3">
            <a:extLst xmlns:a="http://schemas.openxmlformats.org/drawingml/2006/main">
              <a:ext uri="{FF2B5EF4-FFF2-40B4-BE49-F238E27FC236}">
                <a16:creationId xmlns:a16="http://schemas.microsoft.com/office/drawing/2014/main" id="{023F0DF0-2C93-487F-A747-C4AD7439A7E1}"/>
              </a:ext>
            </a:extLst>
          </p:cNvPr>
          <p:cNvSpPr>
            <a:spLocks xmlns:a="http://schemas.openxmlformats.org/drawingml/2006/main" noGrp="1"/>
          </p:cNvSpPr>
          <p:nvPr/>
        </p:nvSpPr>
        <p:spPr>
          <a:xfrm xmlns:a="http://schemas.openxmlformats.org/drawingml/2006/main">
            <a:off x="5405438" y="8983980"/>
            <a:ext cx="1624013"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7E1DE"/>
            </a:solidFill>
            <a:prstDash val="solid"/>
          </a:ln>
        </p:spPr>
      </p:sp>
      <p:sp>
        <p:nvSpPr>
          <p:cNvPr id="102" name="table-text-753.9000000000001-3-3">
            <a:extLst xmlns:a="http://schemas.openxmlformats.org/drawingml/2006/main">
              <a:ext uri="{FF2B5EF4-FFF2-40B4-BE49-F238E27FC236}">
                <a16:creationId xmlns:a16="http://schemas.microsoft.com/office/drawing/2014/main" id="{B35F0859-3496-49EE-AE2F-FECE787D132B}"/>
              </a:ext>
            </a:extLst>
          </p:cNvPr>
          <p:cNvSpPr>
            <a:spLocks xmlns:a="http://schemas.openxmlformats.org/drawingml/2006/main" noGrp="1"/>
          </p:cNvSpPr>
          <p:nvPr/>
        </p:nvSpPr>
        <p:spPr>
          <a:xfrm xmlns:a="http://schemas.openxmlformats.org/drawingml/2006/main">
            <a:off x="5491163" y="9050655"/>
            <a:ext cx="1452563"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0">
                <a:solidFill>
                  <a:srgbClr val="173A3F"/>
                </a:solidFill>
                <a:latin typeface="NanumGothic"/>
                <a:ea typeface="NanumGothic"/>
                <a:cs typeface="NanumGothic"/>
              </a:defRPr>
            </a:pPr>
            <a:r>
              <a:rPr sz="975" b="0">
                <a:solidFill>
                  <a:srgbClr val="173A3F"/>
                </a:solidFill>
                <a:latin typeface="NanumGothic"/>
                <a:ea typeface="NanumGothic"/>
                <a:cs typeface="NanumGothic"/>
              </a:rPr>
              <a:t>사용</a:t>
            </a:r>
          </a:p>
        </p:txBody>
      </p:sp>
    </p:spTree>
    <p:extLst>
      <p:ext uri="{BB962C8B-B14F-4D97-AF65-F5344CB8AC3E}">
        <p14:creationId xmlns:p14="http://schemas.microsoft.com/office/powerpoint/2010/main" val="36308875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unning-label">
            <a:extLst xmlns:a="http://schemas.openxmlformats.org/drawingml/2006/main">
              <a:ext uri="{FF2B5EF4-FFF2-40B4-BE49-F238E27FC236}">
                <a16:creationId xmlns:a16="http://schemas.microsoft.com/office/drawing/2014/main" id="{B7C618FE-ED01-4F2D-858A-33AF82A10E5F}"/>
              </a:ext>
            </a:extLst>
          </p:cNvPr>
          <p:cNvSpPr>
            <a:spLocks xmlns:a="http://schemas.openxmlformats.org/drawingml/2006/main" noGrp="1"/>
          </p:cNvSpPr>
          <p:nvPr/>
        </p:nvSpPr>
        <p:spPr>
          <a:xfrm xmlns:a="http://schemas.openxmlformats.org/drawingml/2006/main">
            <a:off x="533400" y="304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900" b="1">
                <a:solidFill>
                  <a:srgbClr val="2C7A7B"/>
                </a:solidFill>
                <a:latin typeface="NanumGothic"/>
                <a:ea typeface="NanumGothic"/>
                <a:cs typeface="NanumGothic"/>
              </a:defRPr>
            </a:pPr>
            <a:r>
              <a:rPr sz="900" b="1">
                <a:solidFill>
                  <a:srgbClr val="2C7A7B"/>
                </a:solidFill>
                <a:latin typeface="NanumGothic"/>
                <a:ea typeface="NanumGothic"/>
                <a:cs typeface="NanumGothic"/>
              </a:rPr>
              <a:t>Property Shot · AI Technical Report</a:t>
            </a:r>
          </a:p>
        </p:txBody>
      </p:sp>
      <p:sp>
        <p:nvSpPr>
          <p:cNvPr id="2" name="page-number">
            <a:extLst xmlns:a="http://schemas.openxmlformats.org/drawingml/2006/main">
              <a:ext uri="{FF2B5EF4-FFF2-40B4-BE49-F238E27FC236}">
                <a16:creationId xmlns:a16="http://schemas.microsoft.com/office/drawing/2014/main" id="{22742003-40AA-4E16-8B95-9CBFEB3C7D56}"/>
              </a:ext>
            </a:extLst>
          </p:cNvPr>
          <p:cNvSpPr>
            <a:spLocks xmlns:a="http://schemas.openxmlformats.org/drawingml/2006/main" noGrp="1"/>
          </p:cNvSpPr>
          <p:nvPr/>
        </p:nvSpPr>
        <p:spPr>
          <a:xfrm xmlns:a="http://schemas.openxmlformats.org/drawingml/2006/main">
            <a:off x="6648450" y="3048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20000"/>
              </a:lnSpc>
              <a:buNone/>
              <a:defRPr sz="900" b="0">
                <a:solidFill>
                  <a:srgbClr val="607477"/>
                </a:solidFill>
                <a:latin typeface="NanumGothic"/>
                <a:ea typeface="NanumGothic"/>
                <a:cs typeface="NanumGothic"/>
              </a:defRPr>
            </a:pPr>
            <a:r>
              <a:rPr sz="900" b="0">
                <a:solidFill>
                  <a:srgbClr val="607477"/>
                </a:solidFill>
                <a:latin typeface="NanumGothic"/>
                <a:ea typeface="NanumGothic"/>
                <a:cs typeface="NanumGothic"/>
              </a:rPr>
              <a:t>17</a:t>
            </a:r>
          </a:p>
        </p:txBody>
      </p:sp>
      <p:sp>
        <p:nvSpPr>
          <p:cNvPr id="3" name="header-rule">
            <a:extLst xmlns:a="http://schemas.openxmlformats.org/drawingml/2006/main">
              <a:ext uri="{FF2B5EF4-FFF2-40B4-BE49-F238E27FC236}">
                <a16:creationId xmlns:a16="http://schemas.microsoft.com/office/drawing/2014/main" id="{5AEC1659-30F4-4C8E-A4F7-7330A7B6495D}"/>
              </a:ext>
            </a:extLst>
          </p:cNvPr>
          <p:cNvSpPr>
            <a:spLocks xmlns:a="http://schemas.openxmlformats.org/drawingml/2006/main" noGrp="1"/>
          </p:cNvSpPr>
          <p:nvPr/>
        </p:nvSpPr>
        <p:spPr>
          <a:xfrm xmlns:a="http://schemas.openxmlformats.org/drawingml/2006/main">
            <a:off x="533400" y="628650"/>
            <a:ext cx="6496050" cy="28575"/>
          </a:xfrm>
          <a:prstGeom xmlns:a="http://schemas.openxmlformats.org/drawingml/2006/main" prst="rect">
            <a:avLst/>
          </a:prstGeom>
          <a:solidFill xmlns:a="http://schemas.openxmlformats.org/drawingml/2006/main">
            <a:srgbClr val="D7A23D"/>
          </a:solidFill>
          <a:ln xmlns:a="http://schemas.openxmlformats.org/drawingml/2006/main" w="0">
            <a:noFill/>
            <a:prstDash val="solid"/>
          </a:ln>
        </p:spPr>
      </p:sp>
      <p:sp>
        <p:nvSpPr>
          <p:cNvPr id="4" name="slide-title">
            <a:extLst xmlns:a="http://schemas.openxmlformats.org/drawingml/2006/main">
              <a:ext uri="{FF2B5EF4-FFF2-40B4-BE49-F238E27FC236}">
                <a16:creationId xmlns:a16="http://schemas.microsoft.com/office/drawing/2014/main" id="{F649C78D-7FE5-4D94-98C0-467EBDA897BE}"/>
              </a:ext>
            </a:extLst>
          </p:cNvPr>
          <p:cNvSpPr>
            <a:spLocks xmlns:a="http://schemas.openxmlformats.org/drawingml/2006/main" noGrp="1"/>
          </p:cNvSpPr>
          <p:nvPr/>
        </p:nvSpPr>
        <p:spPr>
          <a:xfrm xmlns:a="http://schemas.openxmlformats.org/drawingml/2006/main">
            <a:off x="533400" y="800100"/>
            <a:ext cx="649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l">
              <a:lnSpc>
                <a:spcPct val="120000"/>
              </a:lnSpc>
              <a:buNone/>
              <a:defRPr sz="2625" b="1">
                <a:solidFill>
                  <a:srgbClr val="173A3F"/>
                </a:solidFill>
                <a:latin typeface="NanumGothic"/>
                <a:ea typeface="NanumGothic"/>
                <a:cs typeface="NanumGothic"/>
              </a:defRPr>
            </a:pPr>
            <a:r>
              <a:rPr sz="2625" b="1">
                <a:solidFill>
                  <a:srgbClr val="173A3F"/>
                </a:solidFill>
                <a:latin typeface="NanumGothic"/>
                <a:ea typeface="NanumGothic"/>
                <a:cs typeface="NanumGothic"/>
              </a:rPr>
              <a:t>7. 외부 에셋과 오픈소스 출처 · 계속</a:t>
            </a:r>
          </a:p>
        </p:txBody>
      </p:sp>
      <p:sp>
        <p:nvSpPr>
          <p:cNvPr id="5" name="paragraph-140">
            <a:extLst xmlns:a="http://schemas.openxmlformats.org/drawingml/2006/main">
              <a:ext uri="{FF2B5EF4-FFF2-40B4-BE49-F238E27FC236}">
                <a16:creationId xmlns:a16="http://schemas.microsoft.com/office/drawing/2014/main" id="{51C4D1DA-02C5-41A8-90E2-5608ED8239DA}"/>
              </a:ext>
            </a:extLst>
          </p:cNvPr>
          <p:cNvSpPr>
            <a:spLocks xmlns:a="http://schemas.openxmlformats.org/drawingml/2006/main" noGrp="1"/>
          </p:cNvSpPr>
          <p:nvPr/>
        </p:nvSpPr>
        <p:spPr>
          <a:xfrm xmlns:a="http://schemas.openxmlformats.org/drawingml/2006/main">
            <a:off x="533400" y="1333500"/>
            <a:ext cx="6496050" cy="8092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200" b="0">
                <a:solidFill>
                  <a:srgbClr val="173A3F"/>
                </a:solidFill>
                <a:latin typeface="NanumGothic"/>
                <a:ea typeface="NanumGothic"/>
                <a:cs typeface="NanumGothic"/>
              </a:defRPr>
            </a:pPr>
            <a:r>
              <a:rPr sz="1200" b="0">
                <a:solidFill>
                  <a:srgbClr val="173A3F"/>
                </a:solidFill>
                <a:latin typeface="NanumGothic"/>
                <a:ea typeface="NanumGothic"/>
                <a:cs typeface="NanumGothic"/>
              </a:rPr>
              <a:t>권리·해시·bundle 경계의 상세 근거는 harness_docs/release/asset_rights_ledger.md, harness_docs/release/store_assets.md, harness_docs/assets/asset_registry.md에 보존한다.</a:t>
            </a:r>
          </a:p>
        </p:txBody>
      </p:sp>
    </p:spTree>
    <p:extLst>
      <p:ext uri="{BB962C8B-B14F-4D97-AF65-F5344CB8AC3E}">
        <p14:creationId xmlns:p14="http://schemas.microsoft.com/office/powerpoint/2010/main" val="94733906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unning-label">
            <a:extLst xmlns:a="http://schemas.openxmlformats.org/drawingml/2006/main">
              <a:ext uri="{FF2B5EF4-FFF2-40B4-BE49-F238E27FC236}">
                <a16:creationId xmlns:a16="http://schemas.microsoft.com/office/drawing/2014/main" id="{04F5C538-616E-4168-85BF-597FAC552A3F}"/>
              </a:ext>
            </a:extLst>
          </p:cNvPr>
          <p:cNvSpPr>
            <a:spLocks xmlns:a="http://schemas.openxmlformats.org/drawingml/2006/main" noGrp="1"/>
          </p:cNvSpPr>
          <p:nvPr/>
        </p:nvSpPr>
        <p:spPr>
          <a:xfrm xmlns:a="http://schemas.openxmlformats.org/drawingml/2006/main">
            <a:off x="533400" y="304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900" b="1">
                <a:solidFill>
                  <a:srgbClr val="2C7A7B"/>
                </a:solidFill>
                <a:latin typeface="NanumGothic"/>
                <a:ea typeface="NanumGothic"/>
                <a:cs typeface="NanumGothic"/>
              </a:defRPr>
            </a:pPr>
            <a:r>
              <a:rPr sz="900" b="1">
                <a:solidFill>
                  <a:srgbClr val="2C7A7B"/>
                </a:solidFill>
                <a:latin typeface="NanumGothic"/>
                <a:ea typeface="NanumGothic"/>
                <a:cs typeface="NanumGothic"/>
              </a:rPr>
              <a:t>Property Shot · AI Technical Report</a:t>
            </a:r>
          </a:p>
        </p:txBody>
      </p:sp>
      <p:sp>
        <p:nvSpPr>
          <p:cNvPr id="2" name="page-number">
            <a:extLst xmlns:a="http://schemas.openxmlformats.org/drawingml/2006/main">
              <a:ext uri="{FF2B5EF4-FFF2-40B4-BE49-F238E27FC236}">
                <a16:creationId xmlns:a16="http://schemas.microsoft.com/office/drawing/2014/main" id="{9A7FAFDB-F8F7-46BB-ADB2-FCE91ED3A4A4}"/>
              </a:ext>
            </a:extLst>
          </p:cNvPr>
          <p:cNvSpPr>
            <a:spLocks xmlns:a="http://schemas.openxmlformats.org/drawingml/2006/main" noGrp="1"/>
          </p:cNvSpPr>
          <p:nvPr/>
        </p:nvSpPr>
        <p:spPr>
          <a:xfrm xmlns:a="http://schemas.openxmlformats.org/drawingml/2006/main">
            <a:off x="6648450" y="3048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20000"/>
              </a:lnSpc>
              <a:buNone/>
              <a:defRPr sz="900" b="0">
                <a:solidFill>
                  <a:srgbClr val="607477"/>
                </a:solidFill>
                <a:latin typeface="NanumGothic"/>
                <a:ea typeface="NanumGothic"/>
                <a:cs typeface="NanumGothic"/>
              </a:defRPr>
            </a:pPr>
            <a:r>
              <a:rPr sz="900" b="0">
                <a:solidFill>
                  <a:srgbClr val="607477"/>
                </a:solidFill>
                <a:latin typeface="NanumGothic"/>
                <a:ea typeface="NanumGothic"/>
                <a:cs typeface="NanumGothic"/>
              </a:rPr>
              <a:t>18</a:t>
            </a:r>
          </a:p>
        </p:txBody>
      </p:sp>
      <p:sp>
        <p:nvSpPr>
          <p:cNvPr id="3" name="header-rule">
            <a:extLst xmlns:a="http://schemas.openxmlformats.org/drawingml/2006/main">
              <a:ext uri="{FF2B5EF4-FFF2-40B4-BE49-F238E27FC236}">
                <a16:creationId xmlns:a16="http://schemas.microsoft.com/office/drawing/2014/main" id="{352B5E76-E74F-48D8-A8C6-00651648A158}"/>
              </a:ext>
            </a:extLst>
          </p:cNvPr>
          <p:cNvSpPr>
            <a:spLocks xmlns:a="http://schemas.openxmlformats.org/drawingml/2006/main" noGrp="1"/>
          </p:cNvSpPr>
          <p:nvPr/>
        </p:nvSpPr>
        <p:spPr>
          <a:xfrm xmlns:a="http://schemas.openxmlformats.org/drawingml/2006/main">
            <a:off x="533400" y="628650"/>
            <a:ext cx="6496050" cy="28575"/>
          </a:xfrm>
          <a:prstGeom xmlns:a="http://schemas.openxmlformats.org/drawingml/2006/main" prst="rect">
            <a:avLst/>
          </a:prstGeom>
          <a:solidFill xmlns:a="http://schemas.openxmlformats.org/drawingml/2006/main">
            <a:srgbClr val="D7A23D"/>
          </a:solidFill>
          <a:ln xmlns:a="http://schemas.openxmlformats.org/drawingml/2006/main" w="0">
            <a:noFill/>
            <a:prstDash val="solid"/>
          </a:ln>
        </p:spPr>
      </p:sp>
      <p:sp>
        <p:nvSpPr>
          <p:cNvPr id="4" name="slide-title">
            <a:extLst xmlns:a="http://schemas.openxmlformats.org/drawingml/2006/main">
              <a:ext uri="{FF2B5EF4-FFF2-40B4-BE49-F238E27FC236}">
                <a16:creationId xmlns:a16="http://schemas.microsoft.com/office/drawing/2014/main" id="{156CB328-7762-4550-96A6-30C0010DBC6A}"/>
              </a:ext>
            </a:extLst>
          </p:cNvPr>
          <p:cNvSpPr>
            <a:spLocks xmlns:a="http://schemas.openxmlformats.org/drawingml/2006/main" noGrp="1"/>
          </p:cNvSpPr>
          <p:nvPr/>
        </p:nvSpPr>
        <p:spPr>
          <a:xfrm xmlns:a="http://schemas.openxmlformats.org/drawingml/2006/main">
            <a:off x="533400" y="800100"/>
            <a:ext cx="649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l">
              <a:lnSpc>
                <a:spcPct val="120000"/>
              </a:lnSpc>
              <a:buNone/>
              <a:defRPr sz="2625" b="1">
                <a:solidFill>
                  <a:srgbClr val="173A3F"/>
                </a:solidFill>
                <a:latin typeface="NanumGothic"/>
                <a:ea typeface="NanumGothic"/>
                <a:cs typeface="NanumGothic"/>
              </a:defRPr>
            </a:pPr>
            <a:r>
              <a:rPr sz="2625" b="1">
                <a:solidFill>
                  <a:srgbClr val="173A3F"/>
                </a:solidFill>
                <a:latin typeface="NanumGothic"/>
                <a:ea typeface="NanumGothic"/>
                <a:cs typeface="NanumGothic"/>
              </a:rPr>
              <a:t>8. AI 활용의 한계와 책임</a:t>
            </a:r>
          </a:p>
        </p:txBody>
      </p:sp>
      <p:sp>
        <p:nvSpPr>
          <p:cNvPr id="5" name="bullets-140">
            <a:extLst xmlns:a="http://schemas.openxmlformats.org/drawingml/2006/main">
              <a:ext uri="{FF2B5EF4-FFF2-40B4-BE49-F238E27FC236}">
                <a16:creationId xmlns:a16="http://schemas.microsoft.com/office/drawing/2014/main" id="{4A67B9BD-29A7-4063-834C-967B34BB41BB}"/>
              </a:ext>
            </a:extLst>
          </p:cNvPr>
          <p:cNvSpPr>
            <a:spLocks xmlns:a="http://schemas.openxmlformats.org/drawingml/2006/main" noGrp="1"/>
          </p:cNvSpPr>
          <p:nvPr/>
        </p:nvSpPr>
        <p:spPr>
          <a:xfrm xmlns:a="http://schemas.openxmlformats.org/drawingml/2006/main">
            <a:off x="533400" y="1333500"/>
            <a:ext cx="6496050" cy="22692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AI가 만든 코드·이미지는 실행 결과와 권리 기록을 별도로 검증해야 한다.</a:t>
            </a:r>
          </a:p>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자동 테스트는 게임 재미와 실제 초보자의 이해도를 완전히 증명하지 못한다.</a:t>
            </a:r>
          </a:p>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iOS 실기기, 외부 사용자 정식 플레이테스트, App Store·법무 제출은 별도 인간 검토가 필요하다.</a:t>
            </a:r>
          </a:p>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생성 이미지의 상업적 사용 가능성은 플랫폼 약관과 최종 법무 판단을 다시 확인해야 한다.</a:t>
            </a:r>
          </a:p>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최종 게임 설계와 출시 판단의 책임은 프로젝트 소유자에게 있다.</a:t>
            </a:r>
          </a:p>
        </p:txBody>
      </p:sp>
    </p:spTree>
    <p:extLst>
      <p:ext uri="{BB962C8B-B14F-4D97-AF65-F5344CB8AC3E}">
        <p14:creationId xmlns:p14="http://schemas.microsoft.com/office/powerpoint/2010/main" val="158522186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unning-label">
            <a:extLst xmlns:a="http://schemas.openxmlformats.org/drawingml/2006/main">
              <a:ext uri="{FF2B5EF4-FFF2-40B4-BE49-F238E27FC236}">
                <a16:creationId xmlns:a16="http://schemas.microsoft.com/office/drawing/2014/main" id="{90D95BED-F30C-4E80-B366-457EEE6F3F21}"/>
              </a:ext>
            </a:extLst>
          </p:cNvPr>
          <p:cNvSpPr>
            <a:spLocks xmlns:a="http://schemas.openxmlformats.org/drawingml/2006/main" noGrp="1"/>
          </p:cNvSpPr>
          <p:nvPr/>
        </p:nvSpPr>
        <p:spPr>
          <a:xfrm xmlns:a="http://schemas.openxmlformats.org/drawingml/2006/main">
            <a:off x="533400" y="304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900" b="1">
                <a:solidFill>
                  <a:srgbClr val="2C7A7B"/>
                </a:solidFill>
                <a:latin typeface="NanumGothic"/>
                <a:ea typeface="NanumGothic"/>
                <a:cs typeface="NanumGothic"/>
              </a:defRPr>
            </a:pPr>
            <a:r>
              <a:rPr sz="900" b="1">
                <a:solidFill>
                  <a:srgbClr val="2C7A7B"/>
                </a:solidFill>
                <a:latin typeface="NanumGothic"/>
                <a:ea typeface="NanumGothic"/>
                <a:cs typeface="NanumGothic"/>
              </a:rPr>
              <a:t>Property Shot · AI Technical Report</a:t>
            </a:r>
          </a:p>
        </p:txBody>
      </p:sp>
      <p:sp>
        <p:nvSpPr>
          <p:cNvPr id="2" name="page-number">
            <a:extLst xmlns:a="http://schemas.openxmlformats.org/drawingml/2006/main">
              <a:ext uri="{FF2B5EF4-FFF2-40B4-BE49-F238E27FC236}">
                <a16:creationId xmlns:a16="http://schemas.microsoft.com/office/drawing/2014/main" id="{A8048762-A1A9-4F0C-878E-97F984308BAC}"/>
              </a:ext>
            </a:extLst>
          </p:cNvPr>
          <p:cNvSpPr>
            <a:spLocks xmlns:a="http://schemas.openxmlformats.org/drawingml/2006/main" noGrp="1"/>
          </p:cNvSpPr>
          <p:nvPr/>
        </p:nvSpPr>
        <p:spPr>
          <a:xfrm xmlns:a="http://schemas.openxmlformats.org/drawingml/2006/main">
            <a:off x="6648450" y="3048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20000"/>
              </a:lnSpc>
              <a:buNone/>
              <a:defRPr sz="900" b="0">
                <a:solidFill>
                  <a:srgbClr val="607477"/>
                </a:solidFill>
                <a:latin typeface="NanumGothic"/>
                <a:ea typeface="NanumGothic"/>
                <a:cs typeface="NanumGothic"/>
              </a:defRPr>
            </a:pPr>
            <a:r>
              <a:rPr sz="900" b="0">
                <a:solidFill>
                  <a:srgbClr val="607477"/>
                </a:solidFill>
                <a:latin typeface="NanumGothic"/>
                <a:ea typeface="NanumGothic"/>
                <a:cs typeface="NanumGothic"/>
              </a:rPr>
              <a:t>19</a:t>
            </a:r>
          </a:p>
        </p:txBody>
      </p:sp>
      <p:sp>
        <p:nvSpPr>
          <p:cNvPr id="3" name="header-rule">
            <a:extLst xmlns:a="http://schemas.openxmlformats.org/drawingml/2006/main">
              <a:ext uri="{FF2B5EF4-FFF2-40B4-BE49-F238E27FC236}">
                <a16:creationId xmlns:a16="http://schemas.microsoft.com/office/drawing/2014/main" id="{BCC86739-325C-4B47-A2BE-140EE7B49C34}"/>
              </a:ext>
            </a:extLst>
          </p:cNvPr>
          <p:cNvSpPr>
            <a:spLocks xmlns:a="http://schemas.openxmlformats.org/drawingml/2006/main" noGrp="1"/>
          </p:cNvSpPr>
          <p:nvPr/>
        </p:nvSpPr>
        <p:spPr>
          <a:xfrm xmlns:a="http://schemas.openxmlformats.org/drawingml/2006/main">
            <a:off x="533400" y="628650"/>
            <a:ext cx="6496050" cy="28575"/>
          </a:xfrm>
          <a:prstGeom xmlns:a="http://schemas.openxmlformats.org/drawingml/2006/main" prst="rect">
            <a:avLst/>
          </a:prstGeom>
          <a:solidFill xmlns:a="http://schemas.openxmlformats.org/drawingml/2006/main">
            <a:srgbClr val="D7A23D"/>
          </a:solidFill>
          <a:ln xmlns:a="http://schemas.openxmlformats.org/drawingml/2006/main" w="0">
            <a:noFill/>
            <a:prstDash val="solid"/>
          </a:ln>
        </p:spPr>
      </p:sp>
      <p:sp>
        <p:nvSpPr>
          <p:cNvPr id="4" name="slide-title">
            <a:extLst xmlns:a="http://schemas.openxmlformats.org/drawingml/2006/main">
              <a:ext uri="{FF2B5EF4-FFF2-40B4-BE49-F238E27FC236}">
                <a16:creationId xmlns:a16="http://schemas.microsoft.com/office/drawing/2014/main" id="{F10B74DA-ED15-4F98-87C0-80360961D32D}"/>
              </a:ext>
            </a:extLst>
          </p:cNvPr>
          <p:cNvSpPr>
            <a:spLocks xmlns:a="http://schemas.openxmlformats.org/drawingml/2006/main" noGrp="1"/>
          </p:cNvSpPr>
          <p:nvPr/>
        </p:nvSpPr>
        <p:spPr>
          <a:xfrm xmlns:a="http://schemas.openxmlformats.org/drawingml/2006/main">
            <a:off x="533400" y="800100"/>
            <a:ext cx="649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l">
              <a:lnSpc>
                <a:spcPct val="120000"/>
              </a:lnSpc>
              <a:buNone/>
              <a:defRPr sz="2625" b="1">
                <a:solidFill>
                  <a:srgbClr val="173A3F"/>
                </a:solidFill>
                <a:latin typeface="NanumGothic"/>
                <a:ea typeface="NanumGothic"/>
                <a:cs typeface="NanumGothic"/>
              </a:defRPr>
            </a:pPr>
            <a:r>
              <a:rPr sz="2625" b="1">
                <a:solidFill>
                  <a:srgbClr val="173A3F"/>
                </a:solidFill>
                <a:latin typeface="NanumGothic"/>
                <a:ea typeface="NanumGothic"/>
                <a:cs typeface="NanumGothic"/>
              </a:rPr>
              <a:t>9. 추적 가능한 근거</a:t>
            </a:r>
          </a:p>
        </p:txBody>
      </p:sp>
      <p:sp>
        <p:nvSpPr>
          <p:cNvPr id="5" name="bullets-140">
            <a:extLst xmlns:a="http://schemas.openxmlformats.org/drawingml/2006/main">
              <a:ext uri="{FF2B5EF4-FFF2-40B4-BE49-F238E27FC236}">
                <a16:creationId xmlns:a16="http://schemas.microsoft.com/office/drawing/2014/main" id="{49A863FB-4052-4CC9-9E12-65700CC34222}"/>
              </a:ext>
            </a:extLst>
          </p:cNvPr>
          <p:cNvSpPr>
            <a:spLocks xmlns:a="http://schemas.openxmlformats.org/drawingml/2006/main" noGrp="1"/>
          </p:cNvSpPr>
          <p:nvPr/>
        </p:nvSpPr>
        <p:spPr>
          <a:xfrm xmlns:a="http://schemas.openxmlformats.org/drawingml/2006/main">
            <a:off x="533400" y="1333500"/>
            <a:ext cx="6496050" cy="2037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기능 기준: main 작업 트리 / 기반 커밋 bfb7a39734cad39b458273a6bca55a5485950d7c</a:t>
            </a:r>
          </a:p>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QA 결과: harness_docs/qa/validation_results.md</a:t>
            </a:r>
          </a:p>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에이전트 작업 맥락: harness_docs/prompts/*, harness_docs/dev-wiki/log.md</a:t>
            </a:r>
          </a:p>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에셋 권리: harness_docs/release/asset_rights_ledger.md</a:t>
            </a:r>
          </a:p>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공개 플레이: GitHub Pages (https://good5229.github.io/Property_shot/)</a:t>
            </a:r>
          </a:p>
        </p:txBody>
      </p:sp>
      <p:sp>
        <p:nvSpPr>
          <p:cNvPr id="6" name="bullets-363.91999999999996">
            <a:extLst xmlns:a="http://schemas.openxmlformats.org/drawingml/2006/main">
              <a:ext uri="{FF2B5EF4-FFF2-40B4-BE49-F238E27FC236}">
                <a16:creationId xmlns:a16="http://schemas.microsoft.com/office/drawing/2014/main" id="{0361D03C-EBDB-4FD6-8A40-E9CD11906F85}"/>
              </a:ext>
            </a:extLst>
          </p:cNvPr>
          <p:cNvSpPr>
            <a:spLocks xmlns:a="http://schemas.openxmlformats.org/drawingml/2006/main" noGrp="1"/>
          </p:cNvSpPr>
          <p:nvPr/>
        </p:nvSpPr>
        <p:spPr>
          <a:xfrm xmlns:a="http://schemas.openxmlformats.org/drawingml/2006/main">
            <a:off x="533400" y="3466338"/>
            <a:ext cx="6496050" cy="6537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marL="20" indent="-12">
              <a:lnSpc>
                <a:spcPct val="118000"/>
              </a:lnSpc>
              <a:spcAft>
                <a:spcPts val="8"/>
              </a:spcAft>
              <a:buNone/>
              <a:defRPr sz="1200">
                <a:solidFill>
                  <a:srgbClr val="173A3F"/>
                </a:solidFill>
                <a:latin typeface="NanumGothic"/>
                <a:ea typeface="NanumGothic"/>
                <a:cs typeface="NanumGothic"/>
              </a:defRPr>
            </a:pPr>
            <a:r>
              <a:rPr sz="1200">
                <a:solidFill>
                  <a:srgbClr val="173A3F"/>
                </a:solidFill>
                <a:latin typeface="NanumGothic"/>
                <a:ea typeface="NanumGothic"/>
                <a:cs typeface="NanumGothic"/>
              </a:rPr>
              <a:t>배포 기록: GitHub Pages run 31315470165 (https://github.com/good5229/Property_shot/actions/runs/31315470165)</a:t>
            </a:r>
          </a:p>
        </p:txBody>
      </p:sp>
    </p:spTree>
    <p:extLst>
      <p:ext uri="{BB962C8B-B14F-4D97-AF65-F5344CB8AC3E}">
        <p14:creationId xmlns:p14="http://schemas.microsoft.com/office/powerpoint/2010/main" val="9661439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2026-08-10T08:57:57.3310000Z</dcterms:created>
  <dcterms:modified xsi:type="dcterms:W3CDTF">2026-08-10T08:57:57.3310000Z</dcterms:modified>
</coreProperties>
</file>