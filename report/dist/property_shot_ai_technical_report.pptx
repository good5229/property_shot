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4c20f52e954f3f" /><Relationship Type="http://schemas.openxmlformats.org/officeDocument/2006/relationships/extended-properties" Target="/docProps/app.xml" Id="R0ce0c9ccb2064b03" /><Relationship Type="http://schemas.openxmlformats.org/officeDocument/2006/relationships/officeDocument" Target="/ppt/presentation.xml" Id="R994f1709374f43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b7296e176d4a90"/>
  </p:sldMasterIdLst>
  <p:notesMasterIdLst>
    <p:notesMasterId xmlns:r="http://schemas.openxmlformats.org/officeDocument/2006/relationships" r:id="R036a44bbeeb6472f"/>
  </p:notesMasterIdLst>
  <p:sldIdLst>
    <p:sldId xmlns:r="http://schemas.openxmlformats.org/officeDocument/2006/relationships" id="256" r:id="Rdd8c067186574748"/>
    <p:sldId xmlns:r="http://schemas.openxmlformats.org/officeDocument/2006/relationships" id="257" r:id="R4b9e10951ad24934"/>
    <p:sldId xmlns:r="http://schemas.openxmlformats.org/officeDocument/2006/relationships" id="258" r:id="Rf7ed4a7441834ce1"/>
    <p:sldId xmlns:r="http://schemas.openxmlformats.org/officeDocument/2006/relationships" id="259" r:id="Rff07e700731a45ea"/>
    <p:sldId xmlns:r="http://schemas.openxmlformats.org/officeDocument/2006/relationships" id="260" r:id="Rd1e8f1868518449d"/>
    <p:sldId xmlns:r="http://schemas.openxmlformats.org/officeDocument/2006/relationships" id="261" r:id="R2e9cf421f7014d5a"/>
    <p:sldId xmlns:r="http://schemas.openxmlformats.org/officeDocument/2006/relationships" id="262" r:id="R3a3e7f896fcf406f"/>
    <p:sldId xmlns:r="http://schemas.openxmlformats.org/officeDocument/2006/relationships" id="263" r:id="R9a0fbbe71a22417a"/>
    <p:sldId xmlns:r="http://schemas.openxmlformats.org/officeDocument/2006/relationships" id="264" r:id="Rb09bec1278e84c8a"/>
    <p:sldId xmlns:r="http://schemas.openxmlformats.org/officeDocument/2006/relationships" id="265" r:id="Re755916b8b964f50"/>
    <p:sldId xmlns:r="http://schemas.openxmlformats.org/officeDocument/2006/relationships" id="266" r:id="Rcc8928f041ff462a"/>
    <p:sldId xmlns:r="http://schemas.openxmlformats.org/officeDocument/2006/relationships" id="267" r:id="Rf788fc19b6254f75"/>
    <p:sldId xmlns:r="http://schemas.openxmlformats.org/officeDocument/2006/relationships" id="268" r:id="R9df83b33f95c4816"/>
    <p:sldId xmlns:r="http://schemas.openxmlformats.org/officeDocument/2006/relationships" id="269" r:id="R4d5c9529923d4009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d2034d16174c70" /><Relationship Type="http://schemas.openxmlformats.org/officeDocument/2006/relationships/slideMaster" Target="/ppt/slideMasters/slideMaster1.xml" Id="R63b7296e176d4a90" /><Relationship Type="http://schemas.openxmlformats.org/officeDocument/2006/relationships/notesMaster" Target="/ppt/notesMasters/notesMaster1.xml" Id="R036a44bbeeb6472f" /><Relationship Type="http://schemas.openxmlformats.org/officeDocument/2006/relationships/presProps" Target="/ppt/presProps.xml" Id="R48f99d53ea0042db" /><Relationship Type="http://schemas.openxmlformats.org/officeDocument/2006/relationships/tableStyles" Target="/ppt/tableStyles.xml" Id="R538c03415f064d84" /><Relationship Type="http://schemas.openxmlformats.org/officeDocument/2006/relationships/slide" Target="/ppt/slides/slide1.xml" Id="Rdd8c067186574748" /><Relationship Type="http://schemas.openxmlformats.org/officeDocument/2006/relationships/slide" Target="/ppt/slides/slide2.xml" Id="R4b9e10951ad24934" /><Relationship Type="http://schemas.openxmlformats.org/officeDocument/2006/relationships/slide" Target="/ppt/slides/slide3.xml" Id="Rf7ed4a7441834ce1" /><Relationship Type="http://schemas.openxmlformats.org/officeDocument/2006/relationships/slide" Target="/ppt/slides/slide4.xml" Id="Rff07e700731a45ea" /><Relationship Type="http://schemas.openxmlformats.org/officeDocument/2006/relationships/slide" Target="/ppt/slides/slide5.xml" Id="Rd1e8f1868518449d" /><Relationship Type="http://schemas.openxmlformats.org/officeDocument/2006/relationships/slide" Target="/ppt/slides/slide6.xml" Id="R2e9cf421f7014d5a" /><Relationship Type="http://schemas.openxmlformats.org/officeDocument/2006/relationships/slide" Target="/ppt/slides/slide7.xml" Id="R3a3e7f896fcf406f" /><Relationship Type="http://schemas.openxmlformats.org/officeDocument/2006/relationships/slide" Target="/ppt/slides/slide8.xml" Id="R9a0fbbe71a22417a" /><Relationship Type="http://schemas.openxmlformats.org/officeDocument/2006/relationships/slide" Target="/ppt/slides/slide9.xml" Id="Rb09bec1278e84c8a" /><Relationship Type="http://schemas.openxmlformats.org/officeDocument/2006/relationships/slide" Target="/ppt/slides/slide10.xml" Id="Re755916b8b964f50" /><Relationship Type="http://schemas.openxmlformats.org/officeDocument/2006/relationships/slide" Target="/ppt/slides/slide11.xml" Id="Rcc8928f041ff462a" /><Relationship Type="http://schemas.openxmlformats.org/officeDocument/2006/relationships/slide" Target="/ppt/slides/slide12.xml" Id="Rf788fc19b6254f75" /><Relationship Type="http://schemas.openxmlformats.org/officeDocument/2006/relationships/slide" Target="/ppt/slides/slide13.xml" Id="R9df83b33f95c4816" /><Relationship Type="http://schemas.openxmlformats.org/officeDocument/2006/relationships/slide" Target="/ppt/slides/slide14.xml" Id="R4d5c9529923d40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6dee90a1e744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d793684d864eca" /><Relationship Type="http://schemas.openxmlformats.org/officeDocument/2006/relationships/notesMaster" Target="/ppt/notesMasters/notesMaster1.xml" Id="R82741856d20548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6a1af920c545bf" /><Relationship Type="http://schemas.openxmlformats.org/officeDocument/2006/relationships/notesMaster" Target="/ppt/notesMasters/notesMaster1.xml" Id="R4d4cc6113a7743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000efb7b37423f" /><Relationship Type="http://schemas.openxmlformats.org/officeDocument/2006/relationships/notesMaster" Target="/ppt/notesMasters/notesMaster1.xml" Id="R71d543d6c1ef41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cb549a53054845" /><Relationship Type="http://schemas.openxmlformats.org/officeDocument/2006/relationships/notesMaster" Target="/ppt/notesMasters/notesMaster1.xml" Id="Rce0cab56955e45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9dc3676d7b4c17" /><Relationship Type="http://schemas.openxmlformats.org/officeDocument/2006/relationships/notesMaster" Target="/ppt/notesMasters/notesMaster1.xml" Id="Rd29143bf627d4c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f28dfe6cab4957" /><Relationship Type="http://schemas.openxmlformats.org/officeDocument/2006/relationships/notesMaster" Target="/ppt/notesMasters/notesMaster1.xml" Id="R51e44b976cd342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2bb23b27264084" /><Relationship Type="http://schemas.openxmlformats.org/officeDocument/2006/relationships/notesMaster" Target="/ppt/notesMasters/notesMaster1.xml" Id="Rf07ff1b573554c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1ca4091d7d4414" /><Relationship Type="http://schemas.openxmlformats.org/officeDocument/2006/relationships/notesMaster" Target="/ppt/notesMasters/notesMaster1.xml" Id="Rd8a0fcc0cfa449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36d04aefaf4917" /><Relationship Type="http://schemas.openxmlformats.org/officeDocument/2006/relationships/notesMaster" Target="/ppt/notesMasters/notesMaster1.xml" Id="R98e91e4f6aff49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9a38b33fbe4477" /><Relationship Type="http://schemas.openxmlformats.org/officeDocument/2006/relationships/notesMaster" Target="/ppt/notesMasters/notesMaster1.xml" Id="R6a35cc8c94624a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50d3ed34424623" /><Relationship Type="http://schemas.openxmlformats.org/officeDocument/2006/relationships/notesMaster" Target="/ppt/notesMasters/notesMaster1.xml" Id="R88e124d5b61041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6b7d224a4a420a" /><Relationship Type="http://schemas.openxmlformats.org/officeDocument/2006/relationships/notesMaster" Target="/ppt/notesMasters/notesMaster1.xml" Id="R93f71ada30254c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6c4b6e3f1345df" /><Relationship Type="http://schemas.openxmlformats.org/officeDocument/2006/relationships/notesMaster" Target="/ppt/notesMasters/notesMaster1.xml" Id="R3203934169444e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32fa73a4264bb7" /><Relationship Type="http://schemas.openxmlformats.org/officeDocument/2006/relationships/notesMaster" Target="/ppt/notesMasters/notesMaster1.xml" Id="Rbc6c81490f8142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test/goldens/charge_gauge_stage4_warningRed_left_390x844.png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https://flutter.dev/</a:t>
            </a:r>
          </a:p>
          <a:p xmlns:a="http://schemas.openxmlformats.org/drawingml/2006/main">
            <a:r>
              <a:t>- https://pub.dev/packages/flame</a:t>
            </a:r>
          </a:p>
          <a:p xmlns:a="http://schemas.openxmlformats.org/drawingml/2006/main">
            <a:r>
              <a:t>- https://pub.dev/packages/shared_preferences</a:t>
            </a:r>
          </a:p>
          <a:p xmlns:a="http://schemas.openxmlformats.org/drawingml/2006/main">
            <a:r>
              <a:t>- https://pub.dev/packages/crypto</a:t>
            </a:r>
          </a:p>
          <a:p xmlns:a="http://schemas.openxmlformats.org/drawingml/2006/main">
            <a:r>
              <a:t>- https://pub.dev/packages/audioplayers</a:t>
            </a:r>
          </a:p>
          <a:p xmlns:a="http://schemas.openxmlformats.org/drawingml/2006/main">
            <a:r>
              <a:t>- https://hangeul.naver.com/font</a:t>
            </a:r>
          </a:p>
          <a:p xmlns:a="http://schemas.openxmlformats.org/drawingml/2006/main">
            <a:r>
              <a:t>- https://github.com/google/material-design-icons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test/goldens/raster_assets_390x844.png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3d9c9a50a044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0e38f236e44482" /><Relationship Type="http://schemas.openxmlformats.org/officeDocument/2006/relationships/slideLayout" Target="/ppt/slideLayouts/slideLayout1.xml" Id="R5a647d1864334d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647d1864334d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5d2c564aa4c84" /><Relationship Type="http://schemas.openxmlformats.org/officeDocument/2006/relationships/image" Target="/ppt/media/image.png" Id="R5441b4b443994a30" /><Relationship Type="http://schemas.openxmlformats.org/officeDocument/2006/relationships/notesSlide" Target="/ppt/notesSlides/notesSlide1.xml" Id="Rd91d3e30207b4a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2161c32894bd8" /><Relationship Type="http://schemas.openxmlformats.org/officeDocument/2006/relationships/notesSlide" Target="/ppt/notesSlides/notesSlide2.xml" Id="Red352d90e00e42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29631e7414e2d" /><Relationship Type="http://schemas.openxmlformats.org/officeDocument/2006/relationships/notesSlide" Target="/ppt/notesSlides/notesSlide3.xml" Id="Rc7f914a761234d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dba3dc76240bd" /><Relationship Type="http://schemas.openxmlformats.org/officeDocument/2006/relationships/notesSlide" Target="/ppt/notesSlides/notesSlide4.xml" Id="R262de66e532345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add26cdcc4e16" /><Relationship Type="http://schemas.openxmlformats.org/officeDocument/2006/relationships/image" Target="/ppt/media/image2.png" Id="R8f304e230a5a4e90" /><Relationship Type="http://schemas.openxmlformats.org/officeDocument/2006/relationships/notesSlide" Target="/ppt/notesSlides/notesSlide5.xml" Id="Rc90514c362f943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4a3e41b1c4195" /><Relationship Type="http://schemas.openxmlformats.org/officeDocument/2006/relationships/image" Target="/ppt/media/image3.png" Id="R4f56071565bf4d18" /><Relationship Type="http://schemas.openxmlformats.org/officeDocument/2006/relationships/notesSlide" Target="/ppt/notesSlides/notesSlide6.xml" Id="R8212c73e1e3649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7a4705c30413d" /><Relationship Type="http://schemas.openxmlformats.org/officeDocument/2006/relationships/notesSlide" Target="/ppt/notesSlides/notesSlide7.xml" Id="R5cfa525d964f4b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2e392023147d9" /><Relationship Type="http://schemas.openxmlformats.org/officeDocument/2006/relationships/notesSlide" Target="/ppt/notesSlides/notesSlide8.xml" Id="R088f949f062c47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8b439239a4055" /><Relationship Type="http://schemas.openxmlformats.org/officeDocument/2006/relationships/notesSlide" Target="/ppt/notesSlides/notesSlide9.xml" Id="R2dfa5429cd3c43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e89c7c0634c24" /><Relationship Type="http://schemas.openxmlformats.org/officeDocument/2006/relationships/notesSlide" Target="/ppt/notesSlides/notesSlide10.xml" Id="R20d53b53f7ac48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716dd51b54098" /><Relationship Type="http://schemas.openxmlformats.org/officeDocument/2006/relationships/notesSlide" Target="/ppt/notesSlides/notesSlide11.xml" Id="Rab600c1ccc164a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7170345ff4a8c" /><Relationship Type="http://schemas.openxmlformats.org/officeDocument/2006/relationships/image" Target="/ppt/media/image4.png" Id="Rf9eeedc76fc549ee" /><Relationship Type="http://schemas.openxmlformats.org/officeDocument/2006/relationships/notesSlide" Target="/ppt/notesSlides/notesSlide12.xml" Id="R44f8eb1d4eee45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c06356faa47a9" /><Relationship Type="http://schemas.openxmlformats.org/officeDocument/2006/relationships/notesSlide" Target="/ppt/notesSlides/notesSlide13.xml" Id="R824a2650498542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8b8e4c3de48cd" /><Relationship Type="http://schemas.openxmlformats.org/officeDocument/2006/relationships/notesSlide" Target="/ppt/notesSlides/notesSlide14.xml" Id="R40e04e1531df4b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01D6E250-C9B9-4658-B48A-6D2D0CB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91E1FAA-01C6-4346-B38A-CDE2F34D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AI TECHNICAL REPORT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66CED9F-E987-4D92-AFCB-DF791296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F704FA6-CCE0-4A98-AB41-58A0DC37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590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1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21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AI 활용 기술 문서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262FC4CB-D969-49F8-AF2C-83965BC4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A529C7EE-C6E0-417A-A48D-C4683ED5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23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프롬프트를 제작 계약으로 바꾸고, 독립 감사로 검증한 AI 협업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1b4b443994a30"/>
          <a:stretch xmlns:a="http://schemas.openxmlformats.org/drawingml/2006/main"/>
        </p:blipFill>
        <p:spPr>
          <a:xfrm xmlns:a="http://schemas.openxmlformats.org/drawingml/2006/main">
            <a:off x="4845900" y="53340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5312B448-C454-45DB-82C7-23404E4C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9" name="cover-page">
            <a:extLst xmlns:a="http://schemas.openxmlformats.org/drawingml/2006/main">
              <a:ext uri="{FF2B5EF4-FFF2-40B4-BE49-F238E27FC236}">
                <a16:creationId xmlns:a16="http://schemas.microsoft.com/office/drawing/2014/main" id="{85C61BD4-0E88-4169-933F-6E0582BB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8794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2BC344C-4700-4C00-B4F6-A6D22DC7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B6B36B-2CF0-4D6F-ADE8-05C6FE13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7260491-E7E9-4630-BB01-6A7B9D0A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3343B8-DE56-496B-96E4-AD20B335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문서 개요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925B693F-A0AA-47E4-A35D-B9F83E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</p:txBody>
      </p:sp>
    </p:spTree>
    <p:extLst>
      <p:ext uri="{BB962C8B-B14F-4D97-AF65-F5344CB8AC3E}">
        <p14:creationId xmlns:p14="http://schemas.microsoft.com/office/powerpoint/2010/main" val="4698435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7AE14099-31DC-4942-8EC3-FEAE7287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AD5CD7-DC5B-4CDB-8A16-C1031689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41194B7-F8D2-425E-B1A8-E5217547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2B2AA8-6B4E-4936-B5C6-5681C8A9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AI를 ‘작업자’가 아니라 ‘검증 가능한 제작 조직’으로 사용했다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94636109-1F05-425C-85DE-4E95C066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한방의 AI 활용 목표는 코드를 많이 생성하는 것이 아니었다. 사람의 게임 디렉팅을 중심에 두고, AI 에이전트를 기획 분석·구현·테스트·독립 감사 역할로 분리해 하나의 작은 제작 조직처럼 운영했다.</a:t>
            </a:r>
          </a:p>
        </p:txBody>
      </p:sp>
      <p:sp>
        <p:nvSpPr>
          <p:cNvPr id="6" name="table-cell-236.96-0-0">
            <a:extLst xmlns:a="http://schemas.openxmlformats.org/drawingml/2006/main">
              <a:ext uri="{FF2B5EF4-FFF2-40B4-BE49-F238E27FC236}">
                <a16:creationId xmlns:a16="http://schemas.microsoft.com/office/drawing/2014/main" id="{53355C31-BF2B-48DC-81EC-AEF5B5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570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236.96-0-0">
            <a:extLst xmlns:a="http://schemas.openxmlformats.org/drawingml/2006/main">
              <a:ext uri="{FF2B5EF4-FFF2-40B4-BE49-F238E27FC236}">
                <a16:creationId xmlns:a16="http://schemas.microsoft.com/office/drawing/2014/main" id="{83EDD2FF-F6CD-4DBD-9AA6-844233EE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237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사람의 책임</a:t>
            </a:r>
          </a:p>
        </p:txBody>
      </p:sp>
      <p:sp>
        <p:nvSpPr>
          <p:cNvPr id="8" name="table-cell-236.96-0-1">
            <a:extLst xmlns:a="http://schemas.openxmlformats.org/drawingml/2006/main">
              <a:ext uri="{FF2B5EF4-FFF2-40B4-BE49-F238E27FC236}">
                <a16:creationId xmlns:a16="http://schemas.microsoft.com/office/drawing/2014/main" id="{F1E83DD0-1277-4E14-829B-6571E4B1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2570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236.96-0-1">
            <a:extLst xmlns:a="http://schemas.openxmlformats.org/drawingml/2006/main">
              <a:ext uri="{FF2B5EF4-FFF2-40B4-BE49-F238E27FC236}">
                <a16:creationId xmlns:a16="http://schemas.microsoft.com/office/drawing/2014/main" id="{494567DB-5647-4A56-B3F0-13231C52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237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AI의 책임</a:t>
            </a:r>
          </a:p>
        </p:txBody>
      </p:sp>
      <p:sp>
        <p:nvSpPr>
          <p:cNvPr id="10" name="table-cell-236.96-1-0">
            <a:extLst xmlns:a="http://schemas.openxmlformats.org/drawingml/2006/main">
              <a:ext uri="{FF2B5EF4-FFF2-40B4-BE49-F238E27FC236}">
                <a16:creationId xmlns:a16="http://schemas.microsoft.com/office/drawing/2014/main" id="{D5A1328D-6FE1-4802-AAB6-D989C41B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142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236.96-1-0">
            <a:extLst xmlns:a="http://schemas.openxmlformats.org/drawingml/2006/main">
              <a:ext uri="{FF2B5EF4-FFF2-40B4-BE49-F238E27FC236}">
                <a16:creationId xmlns:a16="http://schemas.microsoft.com/office/drawing/2014/main" id="{F718F206-5882-4FE5-957D-C2EA0953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809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재미의 정의, 난이도·기록 정책, 최종 선택</a:t>
            </a:r>
          </a:p>
        </p:txBody>
      </p:sp>
      <p:sp>
        <p:nvSpPr>
          <p:cNvPr id="12" name="table-cell-236.96-1-1">
            <a:extLst xmlns:a="http://schemas.openxmlformats.org/drawingml/2006/main">
              <a:ext uri="{FF2B5EF4-FFF2-40B4-BE49-F238E27FC236}">
                <a16:creationId xmlns:a16="http://schemas.microsoft.com/office/drawing/2014/main" id="{7C833484-9A01-42C2-8E89-9A28D6B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7142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236.96-1-1">
            <a:extLst xmlns:a="http://schemas.openxmlformats.org/drawingml/2006/main">
              <a:ext uri="{FF2B5EF4-FFF2-40B4-BE49-F238E27FC236}">
                <a16:creationId xmlns:a16="http://schemas.microsoft.com/office/drawing/2014/main" id="{D16C7F4E-34E2-4203-8403-31BBD9A2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09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저장소 분석, 구현 후보, 반복 테스트, 문서화</a:t>
            </a:r>
          </a:p>
        </p:txBody>
      </p:sp>
      <p:sp>
        <p:nvSpPr>
          <p:cNvPr id="14" name="table-cell-236.96-2-0">
            <a:extLst xmlns:a="http://schemas.openxmlformats.org/drawingml/2006/main">
              <a:ext uri="{FF2B5EF4-FFF2-40B4-BE49-F238E27FC236}">
                <a16:creationId xmlns:a16="http://schemas.microsoft.com/office/drawing/2014/main" id="{181564C2-B940-435D-A49E-257D1257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142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236.96-2-0">
            <a:extLst xmlns:a="http://schemas.openxmlformats.org/drawingml/2006/main">
              <a:ext uri="{FF2B5EF4-FFF2-40B4-BE49-F238E27FC236}">
                <a16:creationId xmlns:a16="http://schemas.microsoft.com/office/drawing/2014/main" id="{C7C7B9D3-C09E-4B6F-BCE4-27DEF566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809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어떤 실패를 허용하고 무엇을 보호할지 결정</a:t>
            </a:r>
          </a:p>
        </p:txBody>
      </p:sp>
      <p:sp>
        <p:nvSpPr>
          <p:cNvPr id="16" name="table-cell-236.96-2-1">
            <a:extLst xmlns:a="http://schemas.openxmlformats.org/drawingml/2006/main">
              <a:ext uri="{FF2B5EF4-FFF2-40B4-BE49-F238E27FC236}">
                <a16:creationId xmlns:a16="http://schemas.microsoft.com/office/drawing/2014/main" id="{9868C1B6-94BB-471D-A4C3-840D791C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1142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236.96-2-1">
            <a:extLst xmlns:a="http://schemas.openxmlformats.org/drawingml/2006/main">
              <a:ext uri="{FF2B5EF4-FFF2-40B4-BE49-F238E27FC236}">
                <a16:creationId xmlns:a16="http://schemas.microsoft.com/office/drawing/2014/main" id="{A07A796D-7E7F-4506-9020-9DD2B297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809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물리·저장·접근성·화면 회귀의 위험 탐지</a:t>
            </a:r>
          </a:p>
        </p:txBody>
      </p:sp>
      <p:sp>
        <p:nvSpPr>
          <p:cNvPr id="18" name="table-cell-236.96-3-0">
            <a:extLst xmlns:a="http://schemas.openxmlformats.org/drawingml/2006/main">
              <a:ext uri="{FF2B5EF4-FFF2-40B4-BE49-F238E27FC236}">
                <a16:creationId xmlns:a16="http://schemas.microsoft.com/office/drawing/2014/main" id="{A9907DA6-C64E-4E9B-ADF8-8B0A0F53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3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236.96-3-0">
            <a:extLst xmlns:a="http://schemas.openxmlformats.org/drawingml/2006/main">
              <a:ext uri="{FF2B5EF4-FFF2-40B4-BE49-F238E27FC236}">
                <a16:creationId xmlns:a16="http://schemas.microsoft.com/office/drawing/2014/main" id="{37F3E986-1E34-428B-9F5C-FC6744A0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810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경험과 제출 메시지 승인</a:t>
            </a:r>
          </a:p>
        </p:txBody>
      </p:sp>
      <p:sp>
        <p:nvSpPr>
          <p:cNvPr id="20" name="table-cell-236.96-3-1">
            <a:extLst xmlns:a="http://schemas.openxmlformats.org/drawingml/2006/main">
              <a:ext uri="{FF2B5EF4-FFF2-40B4-BE49-F238E27FC236}">
                <a16:creationId xmlns:a16="http://schemas.microsoft.com/office/drawing/2014/main" id="{F3724799-ED6D-420F-AEB6-3F613A05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5143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236.96-3-1">
            <a:extLst xmlns:a="http://schemas.openxmlformats.org/drawingml/2006/main">
              <a:ext uri="{FF2B5EF4-FFF2-40B4-BE49-F238E27FC236}">
                <a16:creationId xmlns:a16="http://schemas.microsoft.com/office/drawing/2014/main" id="{975B9235-EB26-4FBB-81F2-D4B6528E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5810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서로의 결과를 독립 감사하고 근거가 없으면 반려</a:t>
            </a:r>
          </a:p>
        </p:txBody>
      </p:sp>
      <p:sp>
        <p:nvSpPr>
          <p:cNvPr id="22" name="paragraph-426.96000000000004">
            <a:extLst xmlns:a="http://schemas.openxmlformats.org/drawingml/2006/main">
              <a:ext uri="{FF2B5EF4-FFF2-40B4-BE49-F238E27FC236}">
                <a16:creationId xmlns:a16="http://schemas.microsoft.com/office/drawing/2014/main" id="{79CB0CAF-F29C-4C4F-BC9D-43D1927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6679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공식 NAN 2026가 말하는 ‘AI의 다음 단계를 설계할 디렉터’라는 문제의식에 맞춰, 프롬프트는 단순 명령문이 아니라 역할·제약·증거·종료 조건을 가진 제작 계약으로 설계했다.</a:t>
            </a:r>
          </a:p>
        </p:txBody>
      </p:sp>
    </p:spTree>
    <p:extLst>
      <p:ext uri="{BB962C8B-B14F-4D97-AF65-F5344CB8AC3E}">
        <p14:creationId xmlns:p14="http://schemas.microsoft.com/office/powerpoint/2010/main" val="20451144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7F6054DA-BC57-43DE-BE7D-E23CB73C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DE97C0-12CE-46FE-8ABA-F34BE572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0891F2-FB4F-4A24-9A1D-8875C9D9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604B9B-FAD0-4D56-8041-24E6F591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프롬프트가 실제 작업으로 바뀌는 흐름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789AE47C-3671-4499-9EB4-D093C5DC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2.1 공통 제작 루프</a:t>
            </a:r>
          </a:p>
        </p:txBody>
      </p:sp>
      <p:sp>
        <p:nvSpPr>
          <p:cNvPr id="6" name="bullets-194">
            <a:extLst xmlns:a="http://schemas.openxmlformats.org/drawingml/2006/main">
              <a:ext uri="{FF2B5EF4-FFF2-40B4-BE49-F238E27FC236}">
                <a16:creationId xmlns:a16="http://schemas.microsoft.com/office/drawing/2014/main" id="{65D4155F-C9AE-4045-9EF4-BD0F5E40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1805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 의도: 불편, 재미 부족, 제출 요구를 자연어로 전달한다.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계약화: 루트 에이전트가 요구를 플레이어 가치, 보존 조건, 검증 기준으로 나눈다.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전문 분석: UI·레벨·물리·문서 등 담당 에이전트가 코드와 실제 화면을 조사한다.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인간 결정: 모호한 정책은 선택지를 비교하고 사람이 방향을 확정한다.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구현: 공유 파일 충돌을 피하도록 순서를 정해 기능과 테스트를 함께 수정한다.</a:t>
            </a:r>
          </a:p>
        </p:txBody>
      </p:sp>
      <p:sp>
        <p:nvSpPr>
          <p:cNvPr id="7" name="bullets-393.6">
            <a:extLst xmlns:a="http://schemas.openxmlformats.org/drawingml/2006/main">
              <a:ext uri="{FF2B5EF4-FFF2-40B4-BE49-F238E27FC236}">
                <a16:creationId xmlns:a16="http://schemas.microsoft.com/office/drawing/2014/main" id="{6FF5CE40-AB4A-476A-9402-B48D85C1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9040"/>
            <a:ext cx="6496050" cy="999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감사: 구현하지 않은 검사 에이전트가 P0/P1/P2로 문제를 분류한다.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증거 루프: 반려된 항목은 수정 후 같은 계약으로 재감사하고, 화면·영상·빌드까지 확인한다.</a:t>
            </a:r>
          </a:p>
        </p:txBody>
      </p:sp>
      <p:sp>
        <p:nvSpPr>
          <p:cNvPr id="8" name="paragraph-508.56000000000006">
            <a:extLst xmlns:a="http://schemas.openxmlformats.org/drawingml/2006/main">
              <a:ext uri="{FF2B5EF4-FFF2-40B4-BE49-F238E27FC236}">
                <a16:creationId xmlns:a16="http://schemas.microsoft.com/office/drawing/2014/main" id="{BE7F058F-70DD-49B8-86C2-6D79F1E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403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루프의 핵심은 ‘AI가 만들었다’가 아니라 ‘AI가 낸 결과를 다른 AI와 사람이 반증하려 했다’는 점이다.</a:t>
            </a:r>
          </a:p>
        </p:txBody>
      </p:sp>
      <p:sp>
        <p:nvSpPr>
          <p:cNvPr id="9" name="subheading-581.2">
            <a:extLst xmlns:a="http://schemas.openxmlformats.org/drawingml/2006/main">
              <a:ext uri="{FF2B5EF4-FFF2-40B4-BE49-F238E27FC236}">
                <a16:creationId xmlns:a16="http://schemas.microsoft.com/office/drawing/2014/main" id="{A014DF6C-F5DF-4563-AD8D-BD4E9E4F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593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2.2 실제 프롬프트를 작업 계약으로 바꾼 예</a:t>
            </a:r>
          </a:p>
        </p:txBody>
      </p:sp>
      <p:sp>
        <p:nvSpPr>
          <p:cNvPr id="10" name="table-cell-635.2-0-0">
            <a:extLst xmlns:a="http://schemas.openxmlformats.org/drawingml/2006/main">
              <a:ext uri="{FF2B5EF4-FFF2-40B4-BE49-F238E27FC236}">
                <a16:creationId xmlns:a16="http://schemas.microsoft.com/office/drawing/2014/main" id="{36CED71A-CB6C-49D7-80B7-1EB2DFDD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5028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635.2-0-0">
            <a:extLst xmlns:a="http://schemas.openxmlformats.org/drawingml/2006/main">
              <a:ext uri="{FF2B5EF4-FFF2-40B4-BE49-F238E27FC236}">
                <a16:creationId xmlns:a16="http://schemas.microsoft.com/office/drawing/2014/main" id="{CBB0041A-F9C0-4873-A946-55C32A0B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1695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실제 프롬프트 발췌</a:t>
            </a:r>
          </a:p>
        </p:txBody>
      </p:sp>
      <p:sp>
        <p:nvSpPr>
          <p:cNvPr id="12" name="table-cell-635.2-0-1">
            <a:extLst xmlns:a="http://schemas.openxmlformats.org/drawingml/2006/main">
              <a:ext uri="{FF2B5EF4-FFF2-40B4-BE49-F238E27FC236}">
                <a16:creationId xmlns:a16="http://schemas.microsoft.com/office/drawing/2014/main" id="{0626741D-D531-4565-9518-CC09386D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05028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635.2-0-1">
            <a:extLst xmlns:a="http://schemas.openxmlformats.org/drawingml/2006/main">
              <a:ext uri="{FF2B5EF4-FFF2-40B4-BE49-F238E27FC236}">
                <a16:creationId xmlns:a16="http://schemas.microsoft.com/office/drawing/2014/main" id="{DB10ACB5-11CA-4DAE-B550-A495FC40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11695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계약으로 변환한 제약</a:t>
            </a:r>
          </a:p>
        </p:txBody>
      </p:sp>
      <p:sp>
        <p:nvSpPr>
          <p:cNvPr id="14" name="table-cell-635.2-0-2">
            <a:extLst xmlns:a="http://schemas.openxmlformats.org/drawingml/2006/main">
              <a:ext uri="{FF2B5EF4-FFF2-40B4-BE49-F238E27FC236}">
                <a16:creationId xmlns:a16="http://schemas.microsoft.com/office/drawing/2014/main" id="{AE41BCCB-3709-42CF-AE58-968D48CD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05028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635.2-0-2">
            <a:extLst xmlns:a="http://schemas.openxmlformats.org/drawingml/2006/main">
              <a:ext uri="{FF2B5EF4-FFF2-40B4-BE49-F238E27FC236}">
                <a16:creationId xmlns:a16="http://schemas.microsoft.com/office/drawing/2014/main" id="{BCDD0F3B-B545-44B9-8955-F72697D0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11695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수행·검증 결과</a:t>
            </a:r>
          </a:p>
        </p:txBody>
      </p:sp>
      <p:sp>
        <p:nvSpPr>
          <p:cNvPr id="16" name="table-cell-635.2-1-0">
            <a:extLst xmlns:a="http://schemas.openxmlformats.org/drawingml/2006/main">
              <a:ext uri="{FF2B5EF4-FFF2-40B4-BE49-F238E27FC236}">
                <a16:creationId xmlns:a16="http://schemas.microsoft.com/office/drawing/2014/main" id="{36F04918-70C8-4D58-AE91-EFE77ABF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074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635.2-1-0">
            <a:extLst xmlns:a="http://schemas.openxmlformats.org/drawingml/2006/main">
              <a:ext uri="{FF2B5EF4-FFF2-40B4-BE49-F238E27FC236}">
                <a16:creationId xmlns:a16="http://schemas.microsoft.com/office/drawing/2014/main" id="{A007E6AD-B83E-4760-9140-86FD2D20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741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“모바일에서는 손가락 때문에 게이지가 잘 안 보인다.”</a:t>
            </a:r>
          </a:p>
        </p:txBody>
      </p:sp>
      <p:sp>
        <p:nvSpPr>
          <p:cNvPr id="18" name="table-cell-635.2-1-1">
            <a:extLst xmlns:a="http://schemas.openxmlformats.org/drawingml/2006/main">
              <a:ext uri="{FF2B5EF4-FFF2-40B4-BE49-F238E27FC236}">
                <a16:creationId xmlns:a16="http://schemas.microsoft.com/office/drawing/2014/main" id="{D5593464-6940-4D01-A15C-D82E1FCE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5074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635.2-1-1">
            <a:extLst xmlns:a="http://schemas.openxmlformats.org/drawingml/2006/main">
              <a:ext uri="{FF2B5EF4-FFF2-40B4-BE49-F238E27FC236}">
                <a16:creationId xmlns:a16="http://schemas.microsoft.com/office/drawing/2014/main" id="{E40C8CAE-4D3A-49D7-89FE-D6DC9D11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5741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입력 임계값과 물리는 유지, 기물·SafeArea·저모션을 보호</a:t>
            </a:r>
          </a:p>
        </p:txBody>
      </p:sp>
      <p:sp>
        <p:nvSpPr>
          <p:cNvPr id="20" name="table-cell-635.2-1-2">
            <a:extLst xmlns:a="http://schemas.openxmlformats.org/drawingml/2006/main">
              <a:ext uri="{FF2B5EF4-FFF2-40B4-BE49-F238E27FC236}">
                <a16:creationId xmlns:a16="http://schemas.microsoft.com/office/drawing/2014/main" id="{B858A471-DC97-4C2F-A8BE-7D3CF08B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5074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635.2-1-2">
            <a:extLst xmlns:a="http://schemas.openxmlformats.org/drawingml/2006/main">
              <a:ext uri="{FF2B5EF4-FFF2-40B4-BE49-F238E27FC236}">
                <a16:creationId xmlns:a16="http://schemas.microsoft.com/office/drawing/2014/main" id="{458FA0F0-864C-4EFE-BAFF-59B4319A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5741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부유 직선 게이지, 좌·우 선호, 접근성·Golden 검사</a:t>
            </a:r>
          </a:p>
        </p:txBody>
      </p:sp>
      <p:sp>
        <p:nvSpPr>
          <p:cNvPr id="22" name="table-cell-635.2-2-0">
            <a:extLst xmlns:a="http://schemas.openxmlformats.org/drawingml/2006/main">
              <a:ext uri="{FF2B5EF4-FFF2-40B4-BE49-F238E27FC236}">
                <a16:creationId xmlns:a16="http://schemas.microsoft.com/office/drawing/2014/main" id="{C69234B8-6A76-44C6-8811-E696C405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389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635.2-2-0">
            <a:extLst xmlns:a="http://schemas.openxmlformats.org/drawingml/2006/main">
              <a:ext uri="{FF2B5EF4-FFF2-40B4-BE49-F238E27FC236}">
                <a16:creationId xmlns:a16="http://schemas.microsoft.com/office/drawing/2014/main" id="{F288D640-8E3C-4325-B7AC-E2D06DDC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1056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“게임이 좀 어렵다. 튜토리얼을 조금만 더 쉽게.”</a:t>
            </a:r>
          </a:p>
        </p:txBody>
      </p:sp>
      <p:sp>
        <p:nvSpPr>
          <p:cNvPr id="24" name="table-cell-635.2-2-1">
            <a:extLst xmlns:a="http://schemas.openxmlformats.org/drawingml/2006/main">
              <a:ext uri="{FF2B5EF4-FFF2-40B4-BE49-F238E27FC236}">
                <a16:creationId xmlns:a16="http://schemas.microsoft.com/office/drawing/2014/main" id="{C3F0697C-3E93-47D7-BACB-ACF9DC1D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0389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635.2-2-1">
            <a:extLst xmlns:a="http://schemas.openxmlformats.org/drawingml/2006/main">
              <a:ext uri="{FF2B5EF4-FFF2-40B4-BE49-F238E27FC236}">
                <a16:creationId xmlns:a16="http://schemas.microsoft.com/office/drawing/2014/main" id="{FB581283-2BB7-48F1-9483-C5764130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1056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캠페인 첫 학습만 완화, 오늘의 도전·리플레이·기록 공정성은 불변</a:t>
            </a:r>
          </a:p>
        </p:txBody>
      </p:sp>
      <p:sp>
        <p:nvSpPr>
          <p:cNvPr id="26" name="table-cell-635.2-2-2">
            <a:extLst xmlns:a="http://schemas.openxmlformats.org/drawingml/2006/main">
              <a:ext uri="{FF2B5EF4-FFF2-40B4-BE49-F238E27FC236}">
                <a16:creationId xmlns:a16="http://schemas.microsoft.com/office/drawing/2014/main" id="{BC106255-586E-45DE-BDC8-BF21BD6B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0389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635.2-2-2">
            <a:extLst xmlns:a="http://schemas.openxmlformats.org/drawingml/2006/main">
              <a:ext uri="{FF2B5EF4-FFF2-40B4-BE49-F238E27FC236}">
                <a16:creationId xmlns:a16="http://schemas.microsoft.com/office/drawing/2014/main" id="{EFFBA89E-C1ED-4056-A468-8423F1E8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1056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기준 패턴 우선, 인과 힌트, 쉬움 예상 도착 표시</a:t>
            </a:r>
          </a:p>
        </p:txBody>
      </p:sp>
      <p:sp>
        <p:nvSpPr>
          <p:cNvPr id="28" name="table-cell-635.2-3-0">
            <a:extLst xmlns:a="http://schemas.openxmlformats.org/drawingml/2006/main">
              <a:ext uri="{FF2B5EF4-FFF2-40B4-BE49-F238E27FC236}">
                <a16:creationId xmlns:a16="http://schemas.microsoft.com/office/drawing/2014/main" id="{68BD2B52-4915-4712-86BA-E20922F0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7047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635.2-3-0">
            <a:extLst xmlns:a="http://schemas.openxmlformats.org/drawingml/2006/main">
              <a:ext uri="{FF2B5EF4-FFF2-40B4-BE49-F238E27FC236}">
                <a16:creationId xmlns:a16="http://schemas.microsoft.com/office/drawing/2014/main" id="{731B1191-D2CF-4676-8407-8DAA2173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3714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“팁은 너무 추상적이면 안 된다.”</a:t>
            </a:r>
          </a:p>
        </p:txBody>
      </p:sp>
      <p:sp>
        <p:nvSpPr>
          <p:cNvPr id="30" name="table-cell-635.2-3-1">
            <a:extLst xmlns:a="http://schemas.openxmlformats.org/drawingml/2006/main">
              <a:ext uri="{FF2B5EF4-FFF2-40B4-BE49-F238E27FC236}">
                <a16:creationId xmlns:a16="http://schemas.microsoft.com/office/drawing/2014/main" id="{1D5A5F70-B061-406B-88C5-16BE3901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57047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635.2-3-1">
            <a:extLst xmlns:a="http://schemas.openxmlformats.org/drawingml/2006/main">
              <a:ext uri="{FF2B5EF4-FFF2-40B4-BE49-F238E27FC236}">
                <a16:creationId xmlns:a16="http://schemas.microsoft.com/office/drawing/2014/main" id="{3E4064DE-8A7A-435D-B4F2-DFB9B0F8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63714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정답 숫자 직행 금지, 패턴·버전·대상 기물에 결속</a:t>
            </a:r>
          </a:p>
        </p:txBody>
      </p:sp>
      <p:sp>
        <p:nvSpPr>
          <p:cNvPr id="32" name="table-cell-635.2-3-2">
            <a:extLst xmlns:a="http://schemas.openxmlformats.org/drawingml/2006/main">
              <a:ext uri="{FF2B5EF4-FFF2-40B4-BE49-F238E27FC236}">
                <a16:creationId xmlns:a16="http://schemas.microsoft.com/office/drawing/2014/main" id="{C94A0834-C5CB-4D14-8D55-BF20C312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57047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635.2-3-2">
            <a:extLst xmlns:a="http://schemas.openxmlformats.org/drawingml/2006/main">
              <a:ext uri="{FF2B5EF4-FFF2-40B4-BE49-F238E27FC236}">
                <a16:creationId xmlns:a16="http://schemas.microsoft.com/office/drawing/2014/main" id="{B6FF89E7-01AE-493A-A1A8-0050AEFA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63714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 L1/L2와 선택형 열쇠, 저장·복구 검증</a:t>
            </a:r>
          </a:p>
        </p:txBody>
      </p:sp>
      <p:sp>
        <p:nvSpPr>
          <p:cNvPr id="34" name="table-cell-635.2-4-0">
            <a:extLst xmlns:a="http://schemas.openxmlformats.org/drawingml/2006/main">
              <a:ext uri="{FF2B5EF4-FFF2-40B4-BE49-F238E27FC236}">
                <a16:creationId xmlns:a16="http://schemas.microsoft.com/office/drawing/2014/main" id="{63252A97-F64B-44DE-B03B-43201381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7052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635.2-4-0">
            <a:extLst xmlns:a="http://schemas.openxmlformats.org/drawingml/2006/main">
              <a:ext uri="{FF2B5EF4-FFF2-40B4-BE49-F238E27FC236}">
                <a16:creationId xmlns:a16="http://schemas.microsoft.com/office/drawing/2014/main" id="{8B0BF5AC-46A4-4F36-82CB-88A2A9AD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03719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“모든 스테이지에서 기믹 활용이 매우 유리하도록 검증.”</a:t>
            </a:r>
          </a:p>
        </p:txBody>
      </p:sp>
      <p:sp>
        <p:nvSpPr>
          <p:cNvPr id="36" name="table-cell-635.2-4-1">
            <a:extLst xmlns:a="http://schemas.openxmlformats.org/drawingml/2006/main">
              <a:ext uri="{FF2B5EF4-FFF2-40B4-BE49-F238E27FC236}">
                <a16:creationId xmlns:a16="http://schemas.microsoft.com/office/drawing/2014/main" id="{0D2E5C50-2791-4D67-9829-107684DB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97052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7" name="table-text-635.2-4-1">
            <a:extLst xmlns:a="http://schemas.openxmlformats.org/drawingml/2006/main">
              <a:ext uri="{FF2B5EF4-FFF2-40B4-BE49-F238E27FC236}">
                <a16:creationId xmlns:a16="http://schemas.microsoft.com/office/drawing/2014/main" id="{58919AD2-559D-4581-BB91-8E404F4F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803719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준비 전·후를 같은 입력 집합에서 비교, 실제 기믹 사건 필수</a:t>
            </a:r>
          </a:p>
        </p:txBody>
      </p:sp>
      <p:sp>
        <p:nvSpPr>
          <p:cNvPr id="38" name="table-cell-635.2-4-2">
            <a:extLst xmlns:a="http://schemas.openxmlformats.org/drawingml/2006/main">
              <a:ext uri="{FF2B5EF4-FFF2-40B4-BE49-F238E27FC236}">
                <a16:creationId xmlns:a16="http://schemas.microsoft.com/office/drawing/2014/main" id="{8CF4E09D-8E55-4286-9CF4-2DCAC01B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97052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9" name="table-text-635.2-4-2">
            <a:extLst xmlns:a="http://schemas.openxmlformats.org/drawingml/2006/main">
              <a:ext uri="{FF2B5EF4-FFF2-40B4-BE49-F238E27FC236}">
                <a16:creationId xmlns:a16="http://schemas.microsoft.com/office/drawing/2014/main" id="{7E487616-56FA-47F8-9907-770BE359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803719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1차 지표를 반려하고 레벨·검증 계약 재설계</a:t>
            </a:r>
          </a:p>
        </p:txBody>
      </p:sp>
      <p:sp>
        <p:nvSpPr>
          <p:cNvPr id="40" name="paragraph-908.6000000000001">
            <a:extLst xmlns:a="http://schemas.openxmlformats.org/drawingml/2006/main">
              <a:ext uri="{FF2B5EF4-FFF2-40B4-BE49-F238E27FC236}">
                <a16:creationId xmlns:a16="http://schemas.microsoft.com/office/drawing/2014/main" id="{8AA5D015-ADE9-420C-85DE-D9B52793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54415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전문과 결과 이력은 harness_docs/prompts/prompt_history.md에 요약되어 있으며, 원래 요구·역할별 지시·최종 변경 기록을 분리해 보존한다.</a:t>
            </a:r>
          </a:p>
        </p:txBody>
      </p:sp>
    </p:spTree>
    <p:extLst>
      <p:ext uri="{BB962C8B-B14F-4D97-AF65-F5344CB8AC3E}">
        <p14:creationId xmlns:p14="http://schemas.microsoft.com/office/powerpoint/2010/main" val="7979157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C8111DE6-56FC-4EAF-AF3C-CB4A80BF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6E4058-D987-4515-AEFC-CF5ABB4B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79C9807-4F76-493B-A521-8C80C009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C550D6-923D-41BB-B847-27299ADE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주요 프롬프트 → 작업 → 결과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AD52376B-6E4B-4A46-B009-07DBF654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손가락에 가리는 파워 게이지</a:t>
            </a:r>
          </a:p>
        </p:txBody>
      </p:sp>
      <p:sp>
        <p:nvSpPr>
          <p:cNvPr id="6" name="table-cell-194-0-0">
            <a:extLst xmlns:a="http://schemas.openxmlformats.org/drawingml/2006/main">
              <a:ext uri="{FF2B5EF4-FFF2-40B4-BE49-F238E27FC236}">
                <a16:creationId xmlns:a16="http://schemas.microsoft.com/office/drawing/2014/main" id="{3A3C3D5A-A3B7-4974-846F-26EDEA18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194-0-0">
            <a:extLst xmlns:a="http://schemas.openxmlformats.org/drawingml/2006/main">
              <a:ext uri="{FF2B5EF4-FFF2-40B4-BE49-F238E27FC236}">
                <a16:creationId xmlns:a16="http://schemas.microsoft.com/office/drawing/2014/main" id="{31CB6CFE-CAF8-4389-9987-53DD126B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의도</a:t>
            </a:r>
          </a:p>
        </p:txBody>
      </p:sp>
      <p:sp>
        <p:nvSpPr>
          <p:cNvPr id="8" name="table-cell-194-0-1">
            <a:extLst xmlns:a="http://schemas.openxmlformats.org/drawingml/2006/main">
              <a:ext uri="{FF2B5EF4-FFF2-40B4-BE49-F238E27FC236}">
                <a16:creationId xmlns:a16="http://schemas.microsoft.com/office/drawing/2014/main" id="{458ABF62-59B9-4F46-AAEE-7886792A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194-0-1">
            <a:extLst xmlns:a="http://schemas.openxmlformats.org/drawingml/2006/main">
              <a:ext uri="{FF2B5EF4-FFF2-40B4-BE49-F238E27FC236}">
                <a16:creationId xmlns:a16="http://schemas.microsoft.com/office/drawing/2014/main" id="{B76FE7CD-DE47-410E-B49D-F7C36B3D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수행한 작업</a:t>
            </a:r>
          </a:p>
        </p:txBody>
      </p:sp>
      <p:sp>
        <p:nvSpPr>
          <p:cNvPr id="10" name="table-cell-194-0-2">
            <a:extLst xmlns:a="http://schemas.openxmlformats.org/drawingml/2006/main">
              <a:ext uri="{FF2B5EF4-FFF2-40B4-BE49-F238E27FC236}">
                <a16:creationId xmlns:a16="http://schemas.microsoft.com/office/drawing/2014/main" id="{A138FB44-AD61-4D43-9513-3CD89DA0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194-0-2">
            <a:extLst xmlns:a="http://schemas.openxmlformats.org/drawingml/2006/main">
              <a:ext uri="{FF2B5EF4-FFF2-40B4-BE49-F238E27FC236}">
                <a16:creationId xmlns:a16="http://schemas.microsoft.com/office/drawing/2014/main" id="{A453788F-C222-48E6-966B-12C3DD02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게임에 생긴 변화</a:t>
            </a:r>
          </a:p>
        </p:txBody>
      </p:sp>
      <p:sp>
        <p:nvSpPr>
          <p:cNvPr id="12" name="table-cell-194-1-0">
            <a:extLst xmlns:a="http://schemas.openxmlformats.org/drawingml/2006/main">
              <a:ext uri="{FF2B5EF4-FFF2-40B4-BE49-F238E27FC236}">
                <a16:creationId xmlns:a16="http://schemas.microsoft.com/office/drawing/2014/main" id="{C7BE0DB6-BE1D-4DB0-A271-4EDAC1EA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194-1-0">
            <a:extLst xmlns:a="http://schemas.openxmlformats.org/drawingml/2006/main">
              <a:ext uri="{FF2B5EF4-FFF2-40B4-BE49-F238E27FC236}">
                <a16:creationId xmlns:a16="http://schemas.microsoft.com/office/drawing/2014/main" id="{1BFE950C-4EBA-41AF-8EC4-FA9BC00B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모바일에서 공 주변 게이지가 손가락에 가린다</a:t>
            </a:r>
          </a:p>
        </p:txBody>
      </p:sp>
      <p:sp>
        <p:nvSpPr>
          <p:cNvPr id="14" name="table-cell-194-1-1">
            <a:extLst xmlns:a="http://schemas.openxmlformats.org/drawingml/2006/main">
              <a:ext uri="{FF2B5EF4-FFF2-40B4-BE49-F238E27FC236}">
                <a16:creationId xmlns:a16="http://schemas.microsoft.com/office/drawing/2014/main" id="{9A73DEB4-A268-4CBC-9090-8A705F22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0505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194-1-1">
            <a:extLst xmlns:a="http://schemas.openxmlformats.org/drawingml/2006/main">
              <a:ext uri="{FF2B5EF4-FFF2-40B4-BE49-F238E27FC236}">
                <a16:creationId xmlns:a16="http://schemas.microsoft.com/office/drawing/2014/main" id="{971F4414-7D53-4A80-99B1-E2D0AAE9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7172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45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입력 상태기계는 유지하고 렌더 위치만 분리, 기물 겹침 회피와 좌·우 선호 설계</a:t>
            </a:r>
          </a:p>
        </p:txBody>
      </p:sp>
      <p:sp>
        <p:nvSpPr>
          <p:cNvPr id="16" name="table-cell-194-1-2">
            <a:extLst xmlns:a="http://schemas.openxmlformats.org/drawingml/2006/main">
              <a:ext uri="{FF2B5EF4-FFF2-40B4-BE49-F238E27FC236}">
                <a16:creationId xmlns:a16="http://schemas.microsoft.com/office/drawing/2014/main" id="{3B93C437-EA3A-4366-860E-1757560B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0505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194-1-2">
            <a:extLst xmlns:a="http://schemas.openxmlformats.org/drawingml/2006/main">
              <a:ext uri="{FF2B5EF4-FFF2-40B4-BE49-F238E27FC236}">
                <a16:creationId xmlns:a16="http://schemas.microsoft.com/office/drawing/2014/main" id="{3B7579E3-AC6A-4067-AEA9-FEA7AB7D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7172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4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 가까이에 보이되 홀·풍선·슬라이더·열쇠를 피하는 부유 직선 게이지</a:t>
            </a:r>
          </a:p>
        </p:txBody>
      </p:sp>
      <p:sp>
        <p:nvSpPr>
          <p:cNvPr id="18" name="table-cell-194-2-0">
            <a:extLst xmlns:a="http://schemas.openxmlformats.org/drawingml/2006/main">
              <a:ext uri="{FF2B5EF4-FFF2-40B4-BE49-F238E27FC236}">
                <a16:creationId xmlns:a16="http://schemas.microsoft.com/office/drawing/2014/main" id="{4298FA7D-5959-4067-A24D-EBC6CB1B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654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194-2-0">
            <a:extLst xmlns:a="http://schemas.openxmlformats.org/drawingml/2006/main">
              <a:ext uri="{FF2B5EF4-FFF2-40B4-BE49-F238E27FC236}">
                <a16:creationId xmlns:a16="http://schemas.microsoft.com/office/drawing/2014/main" id="{BE0589E3-9FD6-42A1-B6EC-90BC9252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0322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색 단계와 과충전 피드백을 유지한다</a:t>
            </a:r>
          </a:p>
        </p:txBody>
      </p:sp>
      <p:sp>
        <p:nvSpPr>
          <p:cNvPr id="20" name="table-cell-194-2-1">
            <a:extLst xmlns:a="http://schemas.openxmlformats.org/drawingml/2006/main">
              <a:ext uri="{FF2B5EF4-FFF2-40B4-BE49-F238E27FC236}">
                <a16:creationId xmlns:a16="http://schemas.microsoft.com/office/drawing/2014/main" id="{3F0562F6-FD78-4D07-A9EF-D6FBCE8D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83654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194-2-1">
            <a:extLst xmlns:a="http://schemas.openxmlformats.org/drawingml/2006/main">
              <a:ext uri="{FF2B5EF4-FFF2-40B4-BE49-F238E27FC236}">
                <a16:creationId xmlns:a16="http://schemas.microsoft.com/office/drawing/2014/main" id="{91DA8ECC-E0FA-4E49-B92B-334BD8FD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90322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초록·노랑·빨강·경고·취소 상태, 저모션·점멸 설정, 접근성 문구 검사</a:t>
            </a:r>
          </a:p>
        </p:txBody>
      </p:sp>
      <p:sp>
        <p:nvSpPr>
          <p:cNvPr id="22" name="table-cell-194-2-2">
            <a:extLst xmlns:a="http://schemas.openxmlformats.org/drawingml/2006/main">
              <a:ext uri="{FF2B5EF4-FFF2-40B4-BE49-F238E27FC236}">
                <a16:creationId xmlns:a16="http://schemas.microsoft.com/office/drawing/2014/main" id="{25B0FBE3-4E77-4DCE-AB8B-C0F810DF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83654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194-2-2">
            <a:extLst xmlns:a="http://schemas.openxmlformats.org/drawingml/2006/main">
              <a:ext uri="{FF2B5EF4-FFF2-40B4-BE49-F238E27FC236}">
                <a16:creationId xmlns:a16="http://schemas.microsoft.com/office/drawing/2014/main" id="{00837C3E-84FF-40E8-91DA-AB0008BD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90322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색뿐 아니라 아이콘·라벨·눈금으로 상태 인식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304e230a5a4e90"/>
          <a:stretch xmlns:a="http://schemas.openxmlformats.org/drawingml/2006/main"/>
        </p:blipFill>
        <p:spPr>
          <a:xfrm xmlns:a="http://schemas.openxmlformats.org/drawingml/2006/main">
            <a:off x="3055200" y="352044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25" name="image-caption-369.6">
            <a:extLst xmlns:a="http://schemas.openxmlformats.org/drawingml/2006/main">
              <a:ext uri="{FF2B5EF4-FFF2-40B4-BE49-F238E27FC236}">
                <a16:creationId xmlns:a16="http://schemas.microsoft.com/office/drawing/2014/main" id="{F98ED741-0D13-4E53-B2A8-77A36DFD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2084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기믹을 피하며 경고 상태를 보여 주는 충전 게이지</a:t>
            </a:r>
          </a:p>
        </p:txBody>
      </p:sp>
      <p:sp>
        <p:nvSpPr>
          <p:cNvPr id="26" name="paragraph-753.6">
            <a:extLst xmlns:a="http://schemas.openxmlformats.org/drawingml/2006/main">
              <a:ext uri="{FF2B5EF4-FFF2-40B4-BE49-F238E27FC236}">
                <a16:creationId xmlns:a16="http://schemas.microsoft.com/office/drawing/2014/main" id="{6CE2D8C5-5311-4920-B24B-5C753AC2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804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감사에서 퍼센트를 80ms마다 읽어 주는 접근성 과다 알림과, 실제 충전 전 50%가 보이는 불일치를 발견했다. live 상태와 non-live 퍼센트를 분리하고 450ms 실제 충전 시작 전에는 레일을 숨겨 해결했다.</a:t>
            </a:r>
          </a:p>
        </p:txBody>
      </p:sp>
      <p:sp>
        <p:nvSpPr>
          <p:cNvPr id="27" name="subheading-850.5600000000001">
            <a:extLst xmlns:a="http://schemas.openxmlformats.org/drawingml/2006/main">
              <a:ext uri="{FF2B5EF4-FFF2-40B4-BE49-F238E27FC236}">
                <a16:creationId xmlns:a16="http://schemas.microsoft.com/office/drawing/2014/main" id="{2DB7ACC3-F71D-465A-95D1-0A3765A9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0158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게임이 어렵다는 피드백</a:t>
            </a:r>
          </a:p>
        </p:txBody>
      </p:sp>
    </p:spTree>
    <p:extLst>
      <p:ext uri="{BB962C8B-B14F-4D97-AF65-F5344CB8AC3E}">
        <p14:creationId xmlns:p14="http://schemas.microsoft.com/office/powerpoint/2010/main" val="477899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F16D422-CEB9-4E2B-898B-E6D1091D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A37E5F-C7B0-4967-AE4C-CD81851F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6848709-17CA-4E7B-B4DE-ABDE6F9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57395A-5465-48F2-A484-5BEC61B2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주요 프롬프트 → 작업 → 결과 · 계속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3B4283D1-8BAE-4C76-B418-8E201695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95793929-96F2-4189-B1F2-316B319D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의도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2FD5A955-0836-440A-8D4E-0FCE2020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63446E8D-80B9-41DB-BC35-44AC45AC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수행한 작업</a:t>
            </a:r>
          </a:p>
        </p:txBody>
      </p:sp>
      <p:sp>
        <p:nvSpPr>
          <p:cNvPr id="9" name="table-cell-140-0-2">
            <a:extLst xmlns:a="http://schemas.openxmlformats.org/drawingml/2006/main">
              <a:ext uri="{FF2B5EF4-FFF2-40B4-BE49-F238E27FC236}">
                <a16:creationId xmlns:a16="http://schemas.microsoft.com/office/drawing/2014/main" id="{340E2104-AF09-4D24-8206-5C96B43B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0-2">
            <a:extLst xmlns:a="http://schemas.openxmlformats.org/drawingml/2006/main">
              <a:ext uri="{FF2B5EF4-FFF2-40B4-BE49-F238E27FC236}">
                <a16:creationId xmlns:a16="http://schemas.microsoft.com/office/drawing/2014/main" id="{93230CBA-F7A3-4A83-A189-E0112C75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게임에 생긴 변화</a:t>
            </a:r>
          </a:p>
        </p:txBody>
      </p:sp>
      <p:sp>
        <p:nvSpPr>
          <p:cNvPr id="11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F329DB68-44FB-4EFD-B0C3-97340AC2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391A2CE2-2766-4D25-8C49-78B1938D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튜토리얼을 조금 쉽게 만든다</a:t>
            </a:r>
          </a:p>
        </p:txBody>
      </p:sp>
      <p:sp>
        <p:nvSpPr>
          <p:cNvPr id="13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49E4CBB3-2BC6-46E1-8F4A-4D356EB5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1C30C249-6CA1-40C4-A237-8B0F7CE0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1–4단계만 기준 패턴 우선, 물리·점수·셔플은 유지</a:t>
            </a:r>
          </a:p>
        </p:txBody>
      </p:sp>
      <p:sp>
        <p:nvSpPr>
          <p:cNvPr id="15" name="table-cell-140-1-2">
            <a:extLst xmlns:a="http://schemas.openxmlformats.org/drawingml/2006/main">
              <a:ext uri="{FF2B5EF4-FFF2-40B4-BE49-F238E27FC236}">
                <a16:creationId xmlns:a16="http://schemas.microsoft.com/office/drawing/2014/main" id="{C98F1799-D64E-4893-8C38-E374842B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1-2">
            <a:extLst xmlns:a="http://schemas.openxmlformats.org/drawingml/2006/main">
              <a:ext uri="{FF2B5EF4-FFF2-40B4-BE49-F238E27FC236}">
                <a16:creationId xmlns:a16="http://schemas.microsoft.com/office/drawing/2014/main" id="{A9A1F728-C4DC-44B7-A326-6311AED2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경험의 무작위 난이도 급등 제거</a:t>
            </a:r>
          </a:p>
        </p:txBody>
      </p:sp>
      <p:sp>
        <p:nvSpPr>
          <p:cNvPr id="17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3B1A3A71-C824-4A77-9894-FE1EDBFA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ECC3C851-5D65-497A-8D12-0DCB7316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쉬움/보통을 나눈다</a:t>
            </a:r>
          </a:p>
        </p:txBody>
      </p:sp>
      <p:sp>
        <p:nvSpPr>
          <p:cNvPr id="19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AB05FB93-D2B5-42AF-9CA9-A6C345DB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EF4204C2-6C17-4846-A51F-3F5523D9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실제 판정기를 읽기 전용으로 재사용하고 기록 귀속을 분리</a:t>
            </a:r>
          </a:p>
        </p:txBody>
      </p:sp>
      <p:sp>
        <p:nvSpPr>
          <p:cNvPr id="21" name="table-cell-140-2-2">
            <a:extLst xmlns:a="http://schemas.openxmlformats.org/drawingml/2006/main">
              <a:ext uri="{FF2B5EF4-FFF2-40B4-BE49-F238E27FC236}">
                <a16:creationId xmlns:a16="http://schemas.microsoft.com/office/drawing/2014/main" id="{DA1165B5-3133-4CCD-AFE0-3059F012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2-2">
            <a:extLst xmlns:a="http://schemas.openxmlformats.org/drawingml/2006/main">
              <a:ext uri="{FF2B5EF4-FFF2-40B4-BE49-F238E27FC236}">
                <a16:creationId xmlns:a16="http://schemas.microsoft.com/office/drawing/2014/main" id="{E991AF83-D67F-4A35-B2E7-44F30A07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쉬움은 예상 첫 도착 표시, 보통 기록의 공정성 유지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6071565bf4d18"/>
          <a:stretch xmlns:a="http://schemas.openxmlformats.org/drawingml/2006/main"/>
        </p:blipFill>
        <p:spPr>
          <a:xfrm xmlns:a="http://schemas.openxmlformats.org/drawingml/2006/main">
            <a:off x="3055200" y="300609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24" name="image-caption-315.6">
            <a:extLst xmlns:a="http://schemas.openxmlformats.org/drawingml/2006/main">
              <a:ext uri="{FF2B5EF4-FFF2-40B4-BE49-F238E27FC236}">
                <a16:creationId xmlns:a16="http://schemas.microsoft.com/office/drawing/2014/main" id="{0B8618B2-C7F6-4C3B-844E-EE2AB0CA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0649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실제 판정 결과를 이용한 쉬움 모드 예상 위치</a:t>
            </a:r>
          </a:p>
        </p:txBody>
      </p:sp>
      <p:sp>
        <p:nvSpPr>
          <p:cNvPr id="25" name="paragraph-699.6">
            <a:extLst xmlns:a="http://schemas.openxmlformats.org/drawingml/2006/main">
              <a:ext uri="{FF2B5EF4-FFF2-40B4-BE49-F238E27FC236}">
                <a16:creationId xmlns:a16="http://schemas.microsoft.com/office/drawing/2014/main" id="{DEE05B50-3C5F-40C1-B400-80AD695D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369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감사 과정에서 앱 재개 시 현재 설정이 완료 당시 난이도를 덮을 수 있음을 발견했다. 완료 건의 정체성에 난이도를 한 번만 귀속하고, 정상 완료·완료 복구·성공 직후 크래시 복구를 같은 규칙으로 검증했다.</a:t>
            </a:r>
          </a:p>
        </p:txBody>
      </p:sp>
      <p:sp>
        <p:nvSpPr>
          <p:cNvPr id="26" name="subheading-796.5600000000001">
            <a:extLst xmlns:a="http://schemas.openxmlformats.org/drawingml/2006/main">
              <a:ext uri="{FF2B5EF4-FFF2-40B4-BE49-F238E27FC236}">
                <a16:creationId xmlns:a16="http://schemas.microsoft.com/office/drawing/2014/main" id="{48F55BA4-20FC-44F1-8816-E691E7BE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8723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3.3 추상적인 팁을 구체적인 플레이 도움으로</a:t>
            </a:r>
          </a:p>
        </p:txBody>
      </p:sp>
      <p:sp>
        <p:nvSpPr>
          <p:cNvPr id="27" name="table-cell-850.5600000000001-0-0">
            <a:extLst xmlns:a="http://schemas.openxmlformats.org/drawingml/2006/main">
              <a:ext uri="{FF2B5EF4-FFF2-40B4-BE49-F238E27FC236}">
                <a16:creationId xmlns:a16="http://schemas.microsoft.com/office/drawing/2014/main" id="{FF1FBE02-89FE-410E-A2D3-DC6F5128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01584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850.5600000000001-0-0">
            <a:extLst xmlns:a="http://schemas.openxmlformats.org/drawingml/2006/main">
              <a:ext uri="{FF2B5EF4-FFF2-40B4-BE49-F238E27FC236}">
                <a16:creationId xmlns:a16="http://schemas.microsoft.com/office/drawing/2014/main" id="{FDD8C0F5-215E-425B-B4C2-487554E8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168259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의도</a:t>
            </a:r>
          </a:p>
        </p:txBody>
      </p:sp>
      <p:sp>
        <p:nvSpPr>
          <p:cNvPr id="29" name="table-cell-850.5600000000001-0-1">
            <a:extLst xmlns:a="http://schemas.openxmlformats.org/drawingml/2006/main">
              <a:ext uri="{FF2B5EF4-FFF2-40B4-BE49-F238E27FC236}">
                <a16:creationId xmlns:a16="http://schemas.microsoft.com/office/drawing/2014/main" id="{201B316F-176B-41FA-BA25-51AB649D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8101584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850.5600000000001-0-1">
            <a:extLst xmlns:a="http://schemas.openxmlformats.org/drawingml/2006/main">
              <a:ext uri="{FF2B5EF4-FFF2-40B4-BE49-F238E27FC236}">
                <a16:creationId xmlns:a16="http://schemas.microsoft.com/office/drawing/2014/main" id="{05F6F36C-FC8A-46E4-AD9D-EAFB1FDF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8168259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수행한 작업</a:t>
            </a:r>
          </a:p>
        </p:txBody>
      </p:sp>
      <p:sp>
        <p:nvSpPr>
          <p:cNvPr id="31" name="table-cell-850.5600000000001-0-2">
            <a:extLst xmlns:a="http://schemas.openxmlformats.org/drawingml/2006/main">
              <a:ext uri="{FF2B5EF4-FFF2-40B4-BE49-F238E27FC236}">
                <a16:creationId xmlns:a16="http://schemas.microsoft.com/office/drawing/2014/main" id="{188D392F-F970-4643-B492-386E0887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8101584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850.5600000000001-0-2">
            <a:extLst xmlns:a="http://schemas.openxmlformats.org/drawingml/2006/main">
              <a:ext uri="{FF2B5EF4-FFF2-40B4-BE49-F238E27FC236}">
                <a16:creationId xmlns:a16="http://schemas.microsoft.com/office/drawing/2014/main" id="{839647E1-97EA-4D68-A175-6ED6E482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8168259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게임에 생긴 변화</a:t>
            </a:r>
          </a:p>
        </p:txBody>
      </p:sp>
      <p:sp>
        <p:nvSpPr>
          <p:cNvPr id="33" name="table-cell-850.5600000000001-1-0">
            <a:extLst xmlns:a="http://schemas.openxmlformats.org/drawingml/2006/main">
              <a:ext uri="{FF2B5EF4-FFF2-40B4-BE49-F238E27FC236}">
                <a16:creationId xmlns:a16="http://schemas.microsoft.com/office/drawing/2014/main" id="{568CBDBF-A333-43FF-A731-C12C6324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58784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850.5600000000001-1-0">
            <a:extLst xmlns:a="http://schemas.openxmlformats.org/drawingml/2006/main">
              <a:ext uri="{FF2B5EF4-FFF2-40B4-BE49-F238E27FC236}">
                <a16:creationId xmlns:a16="http://schemas.microsoft.com/office/drawing/2014/main" id="{AA398319-237B-47D4-89A4-E8F75E9D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625459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어려운 스테이지에서 무엇을 해야 할지 모르겠다</a:t>
            </a:r>
          </a:p>
        </p:txBody>
      </p:sp>
      <p:sp>
        <p:nvSpPr>
          <p:cNvPr id="35" name="table-cell-850.5600000000001-1-1">
            <a:extLst xmlns:a="http://schemas.openxmlformats.org/drawingml/2006/main">
              <a:ext uri="{FF2B5EF4-FFF2-40B4-BE49-F238E27FC236}">
                <a16:creationId xmlns:a16="http://schemas.microsoft.com/office/drawing/2014/main" id="{C18050D5-34B8-4584-9888-DBBBE3E6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8558784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850.5600000000001-1-1">
            <a:extLst xmlns:a="http://schemas.openxmlformats.org/drawingml/2006/main">
              <a:ext uri="{FF2B5EF4-FFF2-40B4-BE49-F238E27FC236}">
                <a16:creationId xmlns:a16="http://schemas.microsoft.com/office/drawing/2014/main" id="{F9A82593-6B20-4ACB-8D6B-C3C72433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8625459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40패턴별 L1/L2 HintCatalog, 대상 오브젝트와 행동 순서 검증</a:t>
            </a:r>
          </a:p>
        </p:txBody>
      </p:sp>
      <p:sp>
        <p:nvSpPr>
          <p:cNvPr id="37" name="table-cell-850.5600000000001-1-2">
            <a:extLst xmlns:a="http://schemas.openxmlformats.org/drawingml/2006/main">
              <a:ext uri="{FF2B5EF4-FFF2-40B4-BE49-F238E27FC236}">
                <a16:creationId xmlns:a16="http://schemas.microsoft.com/office/drawing/2014/main" id="{4673A5A9-BCA2-4619-A728-0D85FC76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8558784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850.5600000000001-1-2">
            <a:extLst xmlns:a="http://schemas.openxmlformats.org/drawingml/2006/main">
              <a:ext uri="{FF2B5EF4-FFF2-40B4-BE49-F238E27FC236}">
                <a16:creationId xmlns:a16="http://schemas.microsoft.com/office/drawing/2014/main" id="{1A66C001-A109-4C68-86B0-C61907BA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8625459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L1은 기믹과 첫 행동, L2는 위치·세기·순서·예상 결과를 설명</a:t>
            </a:r>
          </a:p>
        </p:txBody>
      </p:sp>
      <p:sp>
        <p:nvSpPr>
          <p:cNvPr id="39" name="table-cell-850.5600000000001-2-0">
            <a:extLst xmlns:a="http://schemas.openxmlformats.org/drawingml/2006/main">
              <a:ext uri="{FF2B5EF4-FFF2-40B4-BE49-F238E27FC236}">
                <a16:creationId xmlns:a16="http://schemas.microsoft.com/office/drawing/2014/main" id="{760D7411-D37C-42A3-A4A0-11838435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090279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850.5600000000001-2-0">
            <a:extLst xmlns:a="http://schemas.openxmlformats.org/drawingml/2006/main">
              <a:ext uri="{FF2B5EF4-FFF2-40B4-BE49-F238E27FC236}">
                <a16:creationId xmlns:a16="http://schemas.microsoft.com/office/drawing/2014/main" id="{E738F582-A804-463F-990A-DB5FE48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9156954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팁을 선택적으로 얻고 싶다</a:t>
            </a:r>
          </a:p>
        </p:txBody>
      </p:sp>
      <p:sp>
        <p:nvSpPr>
          <p:cNvPr id="41" name="table-cell-850.5600000000001-2-1">
            <a:extLst xmlns:a="http://schemas.openxmlformats.org/drawingml/2006/main">
              <a:ext uri="{FF2B5EF4-FFF2-40B4-BE49-F238E27FC236}">
                <a16:creationId xmlns:a16="http://schemas.microsoft.com/office/drawing/2014/main" id="{2D64848C-4237-42D8-820C-5CE75C09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9090279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850.5600000000001-2-1">
            <a:extLst xmlns:a="http://schemas.openxmlformats.org/drawingml/2006/main">
              <a:ext uri="{FF2B5EF4-FFF2-40B4-BE49-F238E27FC236}">
                <a16:creationId xmlns:a16="http://schemas.microsoft.com/office/drawing/2014/main" id="{B3DBA416-5546-4459-A507-DC53CCD4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9156954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다음 단계 팁 보상과 비물리 열쇠, 저장 성공 후 VFX</a:t>
            </a:r>
          </a:p>
        </p:txBody>
      </p:sp>
      <p:sp>
        <p:nvSpPr>
          <p:cNvPr id="43" name="table-cell-850.5600000000001-2-2">
            <a:extLst xmlns:a="http://schemas.openxmlformats.org/drawingml/2006/main">
              <a:ext uri="{FF2B5EF4-FFF2-40B4-BE49-F238E27FC236}">
                <a16:creationId xmlns:a16="http://schemas.microsoft.com/office/drawing/2014/main" id="{9DE87748-1ED8-4F8A-9212-99DED96B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9090279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850.5600000000001-2-2">
            <a:extLst xmlns:a="http://schemas.openxmlformats.org/drawingml/2006/main">
              <a:ext uri="{FF2B5EF4-FFF2-40B4-BE49-F238E27FC236}">
                <a16:creationId xmlns:a16="http://schemas.microsoft.com/office/drawing/2014/main" id="{5594A1B6-119C-404C-BCBF-3BAFFC80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9156954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필요한 플레이어만 도움을 선택하고 물리·점수는 그대로 유지</a:t>
            </a:r>
          </a:p>
        </p:txBody>
      </p:sp>
    </p:spTree>
    <p:extLst>
      <p:ext uri="{BB962C8B-B14F-4D97-AF65-F5344CB8AC3E}">
        <p14:creationId xmlns:p14="http://schemas.microsoft.com/office/powerpoint/2010/main" val="700087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C9D8FBB9-3C0E-4B82-A496-6A6CC2F0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71F646-1554-45BA-BA75-15B9AC32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18C33A8-0DFD-4B0D-9E16-3B054475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5575D0-4700-470B-A8EB-312CF2E7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주요 프롬프트 → 작업 → 결과 · 계속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B87D68E0-8C44-43A3-B0EA-3DC07A69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힌트는 stageId + patternId + hintVersion에 결속되어 잘못된 패턴의 답을 보여 주지 않는다. 열쇠 수집과 힌트 열람은 재시작·복구 뒤에도 유지된다.</a:t>
            </a:r>
          </a:p>
        </p:txBody>
      </p:sp>
      <p:sp>
        <p:nvSpPr>
          <p:cNvPr id="6" name="subheading-212.64">
            <a:extLst xmlns:a="http://schemas.openxmlformats.org/drawingml/2006/main">
              <a:ext uri="{FF2B5EF4-FFF2-40B4-BE49-F238E27FC236}">
                <a16:creationId xmlns:a16="http://schemas.microsoft.com/office/drawing/2014/main" id="{30107F5C-F455-4564-994C-82910289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3.4 기믹이 장식으로 끝나는 레벨</a:t>
            </a:r>
          </a:p>
        </p:txBody>
      </p:sp>
      <p:sp>
        <p:nvSpPr>
          <p:cNvPr id="7" name="paragraph-266.64">
            <a:extLst xmlns:a="http://schemas.openxmlformats.org/drawingml/2006/main">
              <a:ext uri="{FF2B5EF4-FFF2-40B4-BE49-F238E27FC236}">
                <a16:creationId xmlns:a16="http://schemas.microsoft.com/office/drawing/2014/main" id="{CF0CE019-4A0C-4F14-BEE0-3F57265E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3974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초기 프롬프트는 모든 단계에서 기믹 사용이 유리해야 한다는 것이었다. 첫 자동 검증은 서로 크기가 다른 입력 표본의 성공 개수를 비교하는 오류가 있었고, 독립 감사 에이전트가 이를 반려했다.</a:t>
            </a:r>
          </a:p>
        </p:txBody>
      </p:sp>
      <p:sp>
        <p:nvSpPr>
          <p:cNvPr id="8" name="paragraph-363.6">
            <a:extLst xmlns:a="http://schemas.openxmlformats.org/drawingml/2006/main">
              <a:ext uri="{FF2B5EF4-FFF2-40B4-BE49-F238E27FC236}">
                <a16:creationId xmlns:a16="http://schemas.microsoft.com/office/drawing/2014/main" id="{F68E150D-6EEC-4264-A841-E4D266C4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329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수정된 계약은 준비 전과 준비 후를 같은 입력 격자에서 비교하고, 같은 마지막 샷이 준비 전에는 실패하는지, 기믹을 실제로 사용했는지, 대표 해법 주변에도 성공 여유가 있는지를 함께 확인한다. 이 과정에서 단순히 테스트를 통과시키지 않고 문·스위치·슬라이더·점착 표면의 인과를 레벨 데이터와 물리에 다시 연결했다.</a:t>
            </a:r>
          </a:p>
        </p:txBody>
      </p:sp>
      <p:sp>
        <p:nvSpPr>
          <p:cNvPr id="9" name="table-cell-484.88-0-0">
            <a:extLst xmlns:a="http://schemas.openxmlformats.org/drawingml/2006/main">
              <a:ext uri="{FF2B5EF4-FFF2-40B4-BE49-F238E27FC236}">
                <a16:creationId xmlns:a16="http://schemas.microsoft.com/office/drawing/2014/main" id="{5FE1CA15-78D6-4153-B91F-E9E8FA93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8482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484.88-0-0">
            <a:extLst xmlns:a="http://schemas.openxmlformats.org/drawingml/2006/main">
              <a:ext uri="{FF2B5EF4-FFF2-40B4-BE49-F238E27FC236}">
                <a16:creationId xmlns:a16="http://schemas.microsoft.com/office/drawing/2014/main" id="{895D87B8-8E5A-4AF8-81F8-8DECE197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5157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1" name="table-cell-484.88-0-1">
            <a:extLst xmlns:a="http://schemas.openxmlformats.org/drawingml/2006/main">
              <a:ext uri="{FF2B5EF4-FFF2-40B4-BE49-F238E27FC236}">
                <a16:creationId xmlns:a16="http://schemas.microsoft.com/office/drawing/2014/main" id="{EA25B338-B044-4681-AC63-11E44645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618482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484.88-0-1">
            <a:extLst xmlns:a="http://schemas.openxmlformats.org/drawingml/2006/main">
              <a:ext uri="{FF2B5EF4-FFF2-40B4-BE49-F238E27FC236}">
                <a16:creationId xmlns:a16="http://schemas.microsoft.com/office/drawing/2014/main" id="{B3F2806C-1A31-4DE6-BD30-850BE04B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85157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의미</a:t>
            </a:r>
          </a:p>
        </p:txBody>
      </p:sp>
      <p:sp>
        <p:nvSpPr>
          <p:cNvPr id="13" name="table-cell-484.88-1-0">
            <a:extLst xmlns:a="http://schemas.openxmlformats.org/drawingml/2006/main">
              <a:ext uri="{FF2B5EF4-FFF2-40B4-BE49-F238E27FC236}">
                <a16:creationId xmlns:a16="http://schemas.microsoft.com/office/drawing/2014/main" id="{A2D579A2-88D6-451D-9CFB-FA01D23A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7568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484.88-1-0">
            <a:extLst xmlns:a="http://schemas.openxmlformats.org/drawingml/2006/main">
              <a:ext uri="{FF2B5EF4-FFF2-40B4-BE49-F238E27FC236}">
                <a16:creationId xmlns:a16="http://schemas.microsoft.com/office/drawing/2014/main" id="{E3A8C5A7-2DC1-43CE-8F5E-8211F047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4235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단발형 32패턴 각각 ≥1.40배</a:t>
            </a:r>
          </a:p>
        </p:txBody>
      </p:sp>
      <p:sp>
        <p:nvSpPr>
          <p:cNvPr id="15" name="table-cell-484.88-1-1">
            <a:extLst xmlns:a="http://schemas.openxmlformats.org/drawingml/2006/main">
              <a:ext uri="{FF2B5EF4-FFF2-40B4-BE49-F238E27FC236}">
                <a16:creationId xmlns:a16="http://schemas.microsoft.com/office/drawing/2014/main" id="{D59393BB-AF6F-43D5-A4A7-33605515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07568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484.88-1-1">
            <a:extLst xmlns:a="http://schemas.openxmlformats.org/drawingml/2006/main">
              <a:ext uri="{FF2B5EF4-FFF2-40B4-BE49-F238E27FC236}">
                <a16:creationId xmlns:a16="http://schemas.microsoft.com/office/drawing/2014/main" id="{DC0C374E-B92E-46DA-B907-60E6E303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235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각 변형에서도 기믹 경로가 더 넓다</a:t>
            </a:r>
          </a:p>
        </p:txBody>
      </p:sp>
      <p:sp>
        <p:nvSpPr>
          <p:cNvPr id="17" name="table-cell-484.88-2-0">
            <a:extLst xmlns:a="http://schemas.openxmlformats.org/drawingml/2006/main">
              <a:ext uri="{FF2B5EF4-FFF2-40B4-BE49-F238E27FC236}">
                <a16:creationId xmlns:a16="http://schemas.microsoft.com/office/drawing/2014/main" id="{7B01A732-8376-45DA-A098-83D38461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7573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484.88-2-0">
            <a:extLst xmlns:a="http://schemas.openxmlformats.org/drawingml/2006/main">
              <a:ext uri="{FF2B5EF4-FFF2-40B4-BE49-F238E27FC236}">
                <a16:creationId xmlns:a16="http://schemas.microsoft.com/office/drawing/2014/main" id="{8E23356E-F334-4C4D-9736-D0B60060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240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 단계 합계 1.92배</a:t>
            </a:r>
          </a:p>
        </p:txBody>
      </p:sp>
      <p:sp>
        <p:nvSpPr>
          <p:cNvPr id="19" name="table-cell-484.88-2-1">
            <a:extLst xmlns:a="http://schemas.openxmlformats.org/drawingml/2006/main">
              <a:ext uri="{FF2B5EF4-FFF2-40B4-BE49-F238E27FC236}">
                <a16:creationId xmlns:a16="http://schemas.microsoft.com/office/drawing/2014/main" id="{975C8E36-A7EF-49F9-AE13-837D83AB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47573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484.88-2-1">
            <a:extLst xmlns:a="http://schemas.openxmlformats.org/drawingml/2006/main">
              <a:ext uri="{FF2B5EF4-FFF2-40B4-BE49-F238E27FC236}">
                <a16:creationId xmlns:a16="http://schemas.microsoft.com/office/drawing/2014/main" id="{86AEBFBA-FAFD-43BC-B5BE-9706F85A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54240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1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샷으로 준비한 상태가 다음 성공을 유의미하게 넓힌다</a:t>
            </a:r>
          </a:p>
        </p:txBody>
      </p:sp>
      <p:sp>
        <p:nvSpPr>
          <p:cNvPr id="21" name="table-cell-484.88-3-0">
            <a:extLst xmlns:a="http://schemas.openxmlformats.org/drawingml/2006/main">
              <a:ext uri="{FF2B5EF4-FFF2-40B4-BE49-F238E27FC236}">
                <a16:creationId xmlns:a16="http://schemas.microsoft.com/office/drawing/2014/main" id="{2B8EA642-2655-451E-B539-7586FFDA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7578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484.88-3-0">
            <a:extLst xmlns:a="http://schemas.openxmlformats.org/drawingml/2006/main">
              <a:ext uri="{FF2B5EF4-FFF2-40B4-BE49-F238E27FC236}">
                <a16:creationId xmlns:a16="http://schemas.microsoft.com/office/drawing/2014/main" id="{B76711B9-F95D-46CA-B9E3-22246B5C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4245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통합 4패턴 모두 우위</a:t>
            </a:r>
          </a:p>
        </p:txBody>
      </p:sp>
      <p:sp>
        <p:nvSpPr>
          <p:cNvPr id="23" name="table-cell-484.88-3-1">
            <a:extLst xmlns:a="http://schemas.openxmlformats.org/drawingml/2006/main">
              <a:ext uri="{FF2B5EF4-FFF2-40B4-BE49-F238E27FC236}">
                <a16:creationId xmlns:a16="http://schemas.microsoft.com/office/drawing/2014/main" id="{4ACE753B-19E8-4F4B-8EF7-A91A4587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875782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484.88-3-1">
            <a:extLst xmlns:a="http://schemas.openxmlformats.org/drawingml/2006/main">
              <a:ext uri="{FF2B5EF4-FFF2-40B4-BE49-F238E27FC236}">
                <a16:creationId xmlns:a16="http://schemas.microsoft.com/office/drawing/2014/main" id="{7B525572-2F6B-493B-BE9E-3C2A66D0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42457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스위치·문·점착·슬라이더의 준비가 핵심 해법이다</a:t>
            </a:r>
          </a:p>
        </p:txBody>
      </p:sp>
      <p:sp>
        <p:nvSpPr>
          <p:cNvPr id="25" name="paragraph-674.88">
            <a:extLst xmlns:a="http://schemas.openxmlformats.org/drawingml/2006/main">
              <a:ext uri="{FF2B5EF4-FFF2-40B4-BE49-F238E27FC236}">
                <a16:creationId xmlns:a16="http://schemas.microsoft.com/office/drawing/2014/main" id="{77633CA8-5DCA-4BB5-B85B-8ED4C255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8232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사례는 AI의 장점뿐 아니라, AI가 만든 지표도 독립 검증 없이는 틀릴 수 있다는 운영 원칙을 보여 준다.</a:t>
            </a:r>
          </a:p>
        </p:txBody>
      </p:sp>
      <p:sp>
        <p:nvSpPr>
          <p:cNvPr id="26" name="subheading-747.52">
            <a:extLst xmlns:a="http://schemas.openxmlformats.org/drawingml/2006/main">
              <a:ext uri="{FF2B5EF4-FFF2-40B4-BE49-F238E27FC236}">
                <a16:creationId xmlns:a16="http://schemas.microsoft.com/office/drawing/2014/main" id="{627F2E77-7721-4629-8E5E-8E85A1F6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20128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3.5 시연 영상도 기능처럼 검증</a:t>
            </a:r>
          </a:p>
        </p:txBody>
      </p:sp>
      <p:sp>
        <p:nvSpPr>
          <p:cNvPr id="27" name="paragraph-801.52">
            <a:extLst xmlns:a="http://schemas.openxmlformats.org/drawingml/2006/main">
              <a:ext uri="{FF2B5EF4-FFF2-40B4-BE49-F238E27FC236}">
                <a16:creationId xmlns:a16="http://schemas.microsoft.com/office/drawing/2014/main" id="{CA645417-FD0D-47C3-8CD6-11031CE2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4478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영상이 반전되거나 쉬운 직선 클리어만 보여 주는 문제를 프롬프트로 전달했다. 이후 시연은 특정 탄성 패턴과 입력을 고정하고, 실제 브라우저 텔레메트리에서 열쇠·L1/L2·탄성 이전·다중 벽 반사·비직행 클리어를 확인해야만 합성할 수 있게 했다. 각 기능 장면은 2초씩, 전체 영상은 정확히 60초이며 방향 변환도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7983447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F63BE3C-B00D-40C2-8723-58746C1E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15E98D-C26B-400E-B3EC-7B8290D9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574A4D7-8112-4488-9BAC-94BCB7E4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A39A9F-81B8-4D2A-892E-DF503DBA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AI 협업 구조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D6E78325-4AD6-4863-95ED-A77A98BF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58F33D04-1422-4E97-B545-8ACE72AF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930590CC-2457-496E-8221-8982F64C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69DB7749-7EB9-4E8E-92E2-1B4FF328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9" name="table-cell-140-0-2">
            <a:extLst xmlns:a="http://schemas.openxmlformats.org/drawingml/2006/main">
              <a:ext uri="{FF2B5EF4-FFF2-40B4-BE49-F238E27FC236}">
                <a16:creationId xmlns:a16="http://schemas.microsoft.com/office/drawing/2014/main" id="{0B171067-AEBD-46ED-A8F3-302407A9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0-2">
            <a:extLst xmlns:a="http://schemas.openxmlformats.org/drawingml/2006/main">
              <a:ext uri="{FF2B5EF4-FFF2-40B4-BE49-F238E27FC236}">
                <a16:creationId xmlns:a16="http://schemas.microsoft.com/office/drawing/2014/main" id="{3E728459-0E13-4040-9C57-1372CC02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1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F23E4F14-2676-42C8-B8D2-8BF911F8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55D149C8-301A-4207-9D9D-E9F58AA3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통합 조정 에이전트</a:t>
            </a:r>
          </a:p>
        </p:txBody>
      </p:sp>
      <p:sp>
        <p:nvSpPr>
          <p:cNvPr id="13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599DF146-EBB1-42E7-B5D1-1E94818D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790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372FE306-763B-489A-AC06-261FDF2E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857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무엇을 어떤 순서로 합치고 충돌을 피할 것인가</a:t>
            </a:r>
          </a:p>
        </p:txBody>
      </p:sp>
      <p:sp>
        <p:nvSpPr>
          <p:cNvPr id="15" name="table-cell-140-1-2">
            <a:extLst xmlns:a="http://schemas.openxmlformats.org/drawingml/2006/main">
              <a:ext uri="{FF2B5EF4-FFF2-40B4-BE49-F238E27FC236}">
                <a16:creationId xmlns:a16="http://schemas.microsoft.com/office/drawing/2014/main" id="{84F4FEE8-1C14-4E11-98F4-8D75E400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790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1-2">
            <a:extLst xmlns:a="http://schemas.openxmlformats.org/drawingml/2006/main">
              <a:ext uri="{FF2B5EF4-FFF2-40B4-BE49-F238E27FC236}">
                <a16:creationId xmlns:a16="http://schemas.microsoft.com/office/drawing/2014/main" id="{C0D68803-8CE7-485E-8EDE-BBB8BB65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857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계약, 우선순위, 통합 제안</a:t>
            </a:r>
          </a:p>
        </p:txBody>
      </p:sp>
      <p:sp>
        <p:nvSpPr>
          <p:cNvPr id="17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58E0DBC5-A0E7-43CB-B63B-D9DD1F52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A118E9A1-CDE8-45D4-89BE-52256B7B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담당</a:t>
            </a:r>
          </a:p>
        </p:txBody>
      </p:sp>
      <p:sp>
        <p:nvSpPr>
          <p:cNvPr id="19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291EA23C-1640-4158-9877-78E636B5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190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61F30518-ECE8-4924-86A0-1BF55F72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257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요구를 현재 구조에서 어떻게 안전하게 구현할까</a:t>
            </a:r>
          </a:p>
        </p:txBody>
      </p:sp>
      <p:sp>
        <p:nvSpPr>
          <p:cNvPr id="21" name="table-cell-140-2-2">
            <a:extLst xmlns:a="http://schemas.openxmlformats.org/drawingml/2006/main">
              <a:ext uri="{FF2B5EF4-FFF2-40B4-BE49-F238E27FC236}">
                <a16:creationId xmlns:a16="http://schemas.microsoft.com/office/drawing/2014/main" id="{0FA93F54-54E4-4CC4-BA84-D50902C9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190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2-2">
            <a:extLst xmlns:a="http://schemas.openxmlformats.org/drawingml/2006/main">
              <a:ext uri="{FF2B5EF4-FFF2-40B4-BE49-F238E27FC236}">
                <a16:creationId xmlns:a16="http://schemas.microsoft.com/office/drawing/2014/main" id="{BE24BA85-E7DD-4879-BB9F-86A552C3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257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코드·단위 테스트·Golden</a:t>
            </a:r>
          </a:p>
        </p:txBody>
      </p:sp>
      <p:sp>
        <p:nvSpPr>
          <p:cNvPr id="23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F4BD6967-090E-418D-98CC-330C03DD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09C41090-1386-4D1E-B841-FE42ED68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레벨 담당</a:t>
            </a:r>
          </a:p>
        </p:txBody>
      </p:sp>
      <p:sp>
        <p:nvSpPr>
          <p:cNvPr id="25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AD26DF9B-DA5F-4195-965D-2A49E572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590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8584365B-8748-4675-ACBA-C46F0144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657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기믹이 실제 성공에 유리한가</a:t>
            </a:r>
          </a:p>
        </p:txBody>
      </p:sp>
      <p:sp>
        <p:nvSpPr>
          <p:cNvPr id="27" name="table-cell-140-3-2">
            <a:extLst xmlns:a="http://schemas.openxmlformats.org/drawingml/2006/main">
              <a:ext uri="{FF2B5EF4-FFF2-40B4-BE49-F238E27FC236}">
                <a16:creationId xmlns:a16="http://schemas.microsoft.com/office/drawing/2014/main" id="{EEB17145-B55F-48E6-B35E-F2E55C3C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590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3-2">
            <a:extLst xmlns:a="http://schemas.openxmlformats.org/drawingml/2006/main">
              <a:ext uri="{FF2B5EF4-FFF2-40B4-BE49-F238E27FC236}">
                <a16:creationId xmlns:a16="http://schemas.microsoft.com/office/drawing/2014/main" id="{9DDAF8CB-B758-4824-B6BD-A56BDE69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657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2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동일-grid 지표, 대표 해법, 레벨 데이터</a:t>
            </a:r>
          </a:p>
        </p:txBody>
      </p:sp>
      <p:sp>
        <p:nvSpPr>
          <p:cNvPr id="29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2F965967-A23F-46B5-A901-AED7F9D0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649491B2-BD2F-42F5-B142-DE748B7A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문서 담당</a:t>
            </a:r>
          </a:p>
        </p:txBody>
      </p:sp>
      <p:sp>
        <p:nvSpPr>
          <p:cNvPr id="31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A35D154A-061C-46F8-8FEE-0C66C06A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990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2ADF5C99-FE03-47F6-BD1E-23528B2D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057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6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평가자가 5분 안에 가치를 이해할 수 있는가</a:t>
            </a:r>
          </a:p>
        </p:txBody>
      </p:sp>
      <p:sp>
        <p:nvSpPr>
          <p:cNvPr id="33" name="table-cell-140-4-2">
            <a:extLst xmlns:a="http://schemas.openxmlformats.org/drawingml/2006/main">
              <a:ext uri="{FF2B5EF4-FFF2-40B4-BE49-F238E27FC236}">
                <a16:creationId xmlns:a16="http://schemas.microsoft.com/office/drawing/2014/main" id="{16CB9080-E84B-4C2E-98FF-4B7BB2DD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990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140-4-2">
            <a:extLst xmlns:a="http://schemas.openxmlformats.org/drawingml/2006/main">
              <a:ext uri="{FF2B5EF4-FFF2-40B4-BE49-F238E27FC236}">
                <a16:creationId xmlns:a16="http://schemas.microsoft.com/office/drawing/2014/main" id="{E78C34F8-A2C4-47D5-A58E-9B987891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057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게임·AI 보고서, 발표 자료</a:t>
            </a:r>
          </a:p>
        </p:txBody>
      </p:sp>
      <p:sp>
        <p:nvSpPr>
          <p:cNvPr id="3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5755D4DA-1E77-432D-A89D-F7AA8E35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9279A271-AC81-4243-88DB-1A211D88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검사</a:t>
            </a:r>
          </a:p>
        </p:txBody>
      </p:sp>
      <p:sp>
        <p:nvSpPr>
          <p:cNvPr id="3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8B8866E9-821F-412F-AF03-5A596F22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3909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549C6A72-D580-4502-82CD-118B75A5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4575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8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주장과 증거가 일치하며 회귀가 없는가</a:t>
            </a:r>
          </a:p>
        </p:txBody>
      </p:sp>
      <p:sp>
        <p:nvSpPr>
          <p:cNvPr id="39" name="table-cell-140-5-2">
            <a:extLst xmlns:a="http://schemas.openxmlformats.org/drawingml/2006/main">
              <a:ext uri="{FF2B5EF4-FFF2-40B4-BE49-F238E27FC236}">
                <a16:creationId xmlns:a16="http://schemas.microsoft.com/office/drawing/2014/main" id="{81C4372B-E9FB-4629-A2A3-1666C888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3909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140-5-2">
            <a:extLst xmlns:a="http://schemas.openxmlformats.org/drawingml/2006/main">
              <a:ext uri="{FF2B5EF4-FFF2-40B4-BE49-F238E27FC236}">
                <a16:creationId xmlns:a16="http://schemas.microsoft.com/office/drawing/2014/main" id="{5342DFCD-7C3F-4C4B-B5D7-9C681853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4575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P0/P1/P2 감사와 재검증</a:t>
            </a:r>
          </a:p>
        </p:txBody>
      </p:sp>
      <p:sp>
        <p:nvSpPr>
          <p:cNvPr id="41" name="paragraph-414">
            <a:extLst xmlns:a="http://schemas.openxmlformats.org/drawingml/2006/main">
              <a:ext uri="{FF2B5EF4-FFF2-40B4-BE49-F238E27FC236}">
                <a16:creationId xmlns:a16="http://schemas.microsoft.com/office/drawing/2014/main" id="{0A28C646-5C82-40B3-BC9F-5858BA4D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에이전트 수를 늘리는 것이 목표가 아니었다. 독립적으로 병렬화할 수 있을 때만 만들고, 공유 설정·저장·렌더 파일은 한 담당자가 통합했다. 작업이 끝난 에이전트는 중지해 토큰과 충돌을 줄였다.</a:t>
            </a:r>
          </a:p>
        </p:txBody>
      </p:sp>
      <p:sp>
        <p:nvSpPr>
          <p:cNvPr id="42" name="subheading-510.96000000000004">
            <a:extLst xmlns:a="http://schemas.openxmlformats.org/drawingml/2006/main">
              <a:ext uri="{FF2B5EF4-FFF2-40B4-BE49-F238E27FC236}">
                <a16:creationId xmlns:a16="http://schemas.microsoft.com/office/drawing/2014/main" id="{29A8954C-5AB0-478A-8372-B9AB5A2C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668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사용한 AI 도구와 역할</a:t>
            </a:r>
          </a:p>
        </p:txBody>
      </p:sp>
      <p:sp>
        <p:nvSpPr>
          <p:cNvPr id="43" name="table-cell-564.96-0-0">
            <a:extLst xmlns:a="http://schemas.openxmlformats.org/drawingml/2006/main">
              <a:ext uri="{FF2B5EF4-FFF2-40B4-BE49-F238E27FC236}">
                <a16:creationId xmlns:a16="http://schemas.microsoft.com/office/drawing/2014/main" id="{88CE1CA4-1A1B-419D-A46B-DECC5D47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2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564.96-0-0">
            <a:extLst xmlns:a="http://schemas.openxmlformats.org/drawingml/2006/main">
              <a:ext uri="{FF2B5EF4-FFF2-40B4-BE49-F238E27FC236}">
                <a16:creationId xmlns:a16="http://schemas.microsoft.com/office/drawing/2014/main" id="{B71B65A9-A44E-4CAC-864E-4ED5B7DD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479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도구</a:t>
            </a:r>
          </a:p>
        </p:txBody>
      </p:sp>
      <p:sp>
        <p:nvSpPr>
          <p:cNvPr id="45" name="table-cell-564.96-0-1">
            <a:extLst xmlns:a="http://schemas.openxmlformats.org/drawingml/2006/main">
              <a:ext uri="{FF2B5EF4-FFF2-40B4-BE49-F238E27FC236}">
                <a16:creationId xmlns:a16="http://schemas.microsoft.com/office/drawing/2014/main" id="{72432DC0-EC6B-48B7-87DC-63455DD3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3812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564.96-0-1">
            <a:extLst xmlns:a="http://schemas.openxmlformats.org/drawingml/2006/main">
              <a:ext uri="{FF2B5EF4-FFF2-40B4-BE49-F238E27FC236}">
                <a16:creationId xmlns:a16="http://schemas.microsoft.com/office/drawing/2014/main" id="{E7689EE4-64B6-4AE9-A3F2-5AC02680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4479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 방식</a:t>
            </a:r>
          </a:p>
        </p:txBody>
      </p:sp>
      <p:sp>
        <p:nvSpPr>
          <p:cNvPr id="47" name="table-cell-564.96-1-0">
            <a:extLst xmlns:a="http://schemas.openxmlformats.org/drawingml/2006/main">
              <a:ext uri="{FF2B5EF4-FFF2-40B4-BE49-F238E27FC236}">
                <a16:creationId xmlns:a16="http://schemas.microsoft.com/office/drawing/2014/main" id="{AF5C4653-B1DB-452C-8812-AC193D86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4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564.96-1-0">
            <a:extLst xmlns:a="http://schemas.openxmlformats.org/drawingml/2006/main">
              <a:ext uri="{FF2B5EF4-FFF2-40B4-BE49-F238E27FC236}">
                <a16:creationId xmlns:a16="http://schemas.microsoft.com/office/drawing/2014/main" id="{B57AFC17-8319-4678-A529-5922CAA2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051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Codex 코드 에이전트</a:t>
            </a:r>
          </a:p>
        </p:txBody>
      </p:sp>
      <p:sp>
        <p:nvSpPr>
          <p:cNvPr id="49" name="table-cell-564.96-1-1">
            <a:extLst xmlns:a="http://schemas.openxmlformats.org/drawingml/2006/main">
              <a:ext uri="{FF2B5EF4-FFF2-40B4-BE49-F238E27FC236}">
                <a16:creationId xmlns:a16="http://schemas.microsoft.com/office/drawing/2014/main" id="{A3246DC9-0E75-4DF7-BC77-56AFA150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8384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564.96-1-1">
            <a:extLst xmlns:a="http://schemas.openxmlformats.org/drawingml/2006/main">
              <a:ext uri="{FF2B5EF4-FFF2-40B4-BE49-F238E27FC236}">
                <a16:creationId xmlns:a16="http://schemas.microsoft.com/office/drawing/2014/main" id="{354AE0D1-1C8B-4010-8C76-5B85B86E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051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저장소 탐색, Flutter/Dart 구현, 테스트·문서 파이프라인 실행</a:t>
            </a:r>
          </a:p>
        </p:txBody>
      </p:sp>
      <p:sp>
        <p:nvSpPr>
          <p:cNvPr id="51" name="table-cell-564.96-2-0">
            <a:extLst xmlns:a="http://schemas.openxmlformats.org/drawingml/2006/main">
              <a:ext uri="{FF2B5EF4-FFF2-40B4-BE49-F238E27FC236}">
                <a16:creationId xmlns:a16="http://schemas.microsoft.com/office/drawing/2014/main" id="{DA27061E-9B37-47E9-9B79-77C9D360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84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2" name="table-text-564.96-2-0">
            <a:extLst xmlns:a="http://schemas.openxmlformats.org/drawingml/2006/main">
              <a:ext uri="{FF2B5EF4-FFF2-40B4-BE49-F238E27FC236}">
                <a16:creationId xmlns:a16="http://schemas.microsoft.com/office/drawing/2014/main" id="{D84E23A7-1C89-4C24-84D5-8CA6B94F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051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gpt-5.6-terra 실행 에이전트</a:t>
            </a:r>
          </a:p>
        </p:txBody>
      </p:sp>
      <p:sp>
        <p:nvSpPr>
          <p:cNvPr id="53" name="table-cell-564.96-2-1">
            <a:extLst xmlns:a="http://schemas.openxmlformats.org/drawingml/2006/main">
              <a:ext uri="{FF2B5EF4-FFF2-40B4-BE49-F238E27FC236}">
                <a16:creationId xmlns:a16="http://schemas.microsoft.com/office/drawing/2014/main" id="{480DBFBE-3EEC-40AC-B4C0-0603F359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2384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4" name="table-text-564.96-2-1">
            <a:extLst xmlns:a="http://schemas.openxmlformats.org/drawingml/2006/main">
              <a:ext uri="{FF2B5EF4-FFF2-40B4-BE49-F238E27FC236}">
                <a16:creationId xmlns:a16="http://schemas.microsoft.com/office/drawing/2014/main" id="{5B84653C-D26D-44B2-B803-142F686C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3051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기능별 분석·구현과 표적 회귀</a:t>
            </a:r>
          </a:p>
        </p:txBody>
      </p:sp>
      <p:sp>
        <p:nvSpPr>
          <p:cNvPr id="55" name="table-cell-564.96-3-0">
            <a:extLst xmlns:a="http://schemas.openxmlformats.org/drawingml/2006/main">
              <a:ext uri="{FF2B5EF4-FFF2-40B4-BE49-F238E27FC236}">
                <a16:creationId xmlns:a16="http://schemas.microsoft.com/office/drawing/2014/main" id="{EBA8C7BC-E01A-4507-A119-1815A838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385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6" name="table-text-564.96-3-0">
            <a:extLst xmlns:a="http://schemas.openxmlformats.org/drawingml/2006/main">
              <a:ext uri="{FF2B5EF4-FFF2-40B4-BE49-F238E27FC236}">
                <a16:creationId xmlns:a16="http://schemas.microsoft.com/office/drawing/2014/main" id="{85E2D1D8-00B4-443D-B89A-103CF387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7052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gpt-5.6-sol 감사 에이전트</a:t>
            </a:r>
          </a:p>
        </p:txBody>
      </p:sp>
      <p:sp>
        <p:nvSpPr>
          <p:cNvPr id="57" name="table-cell-564.96-3-1">
            <a:extLst xmlns:a="http://schemas.openxmlformats.org/drawingml/2006/main">
              <a:ext uri="{FF2B5EF4-FFF2-40B4-BE49-F238E27FC236}">
                <a16:creationId xmlns:a16="http://schemas.microsoft.com/office/drawing/2014/main" id="{31166F72-3DD6-446A-A1F3-7F9E2988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6385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8" name="table-text-564.96-3-1">
            <a:extLst xmlns:a="http://schemas.openxmlformats.org/drawingml/2006/main">
              <a:ext uri="{FF2B5EF4-FFF2-40B4-BE49-F238E27FC236}">
                <a16:creationId xmlns:a16="http://schemas.microsoft.com/office/drawing/2014/main" id="{C945061C-F4B2-4277-B525-CC22A21D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7052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코드를 수정하지 않는 독립 P0/P1/P2 감사와 재검증</a:t>
            </a:r>
          </a:p>
        </p:txBody>
      </p:sp>
      <p:sp>
        <p:nvSpPr>
          <p:cNvPr id="59" name="table-cell-564.96-4-0">
            <a:extLst xmlns:a="http://schemas.openxmlformats.org/drawingml/2006/main">
              <a:ext uri="{FF2B5EF4-FFF2-40B4-BE49-F238E27FC236}">
                <a16:creationId xmlns:a16="http://schemas.microsoft.com/office/drawing/2014/main" id="{BD9148B3-4FFB-49A4-BB48-4E594C28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385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0" name="table-text-564.96-4-0">
            <a:extLst xmlns:a="http://schemas.openxmlformats.org/drawingml/2006/main">
              <a:ext uri="{FF2B5EF4-FFF2-40B4-BE49-F238E27FC236}">
                <a16:creationId xmlns:a16="http://schemas.microsoft.com/office/drawing/2014/main" id="{02D8D1B7-C09E-4F72-AFD1-8E5652F6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1052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이미지 생성 도구</a:t>
            </a:r>
          </a:p>
        </p:txBody>
      </p:sp>
      <p:sp>
        <p:nvSpPr>
          <p:cNvPr id="61" name="table-cell-564.96-4-1">
            <a:extLst xmlns:a="http://schemas.openxmlformats.org/drawingml/2006/main">
              <a:ext uri="{FF2B5EF4-FFF2-40B4-BE49-F238E27FC236}">
                <a16:creationId xmlns:a16="http://schemas.microsoft.com/office/drawing/2014/main" id="{C7A5F8B4-5066-467E-97B5-32735AEC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0385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2" name="table-text-564.96-4-1">
            <a:extLst xmlns:a="http://schemas.openxmlformats.org/drawingml/2006/main">
              <a:ext uri="{FF2B5EF4-FFF2-40B4-BE49-F238E27FC236}">
                <a16:creationId xmlns:a16="http://schemas.microsoft.com/office/drawing/2014/main" id="{22D34710-0AC5-4505-9BC5-164AD931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1052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4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돌·젤리·상자 원본 생성; 투명화·권리대장·실제 번들 여부를 별도 관리</a:t>
            </a:r>
          </a:p>
        </p:txBody>
      </p:sp>
      <p:sp>
        <p:nvSpPr>
          <p:cNvPr id="63" name="paragraph-796.96">
            <a:extLst xmlns:a="http://schemas.openxmlformats.org/drawingml/2006/main">
              <a:ext uri="{FF2B5EF4-FFF2-40B4-BE49-F238E27FC236}">
                <a16:creationId xmlns:a16="http://schemas.microsoft.com/office/drawing/2014/main" id="{7116CD2A-8CEF-4BB1-BD15-2A24319B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9104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모델 이름보다 중요한 운영 원칙은 구현과 감사를 분리하고, 실행 증거가 없는 주장은 채택하지 않는 것이었다.</a:t>
            </a:r>
          </a:p>
        </p:txBody>
      </p:sp>
    </p:spTree>
    <p:extLst>
      <p:ext uri="{BB962C8B-B14F-4D97-AF65-F5344CB8AC3E}">
        <p14:creationId xmlns:p14="http://schemas.microsoft.com/office/powerpoint/2010/main" val="8232784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94B5F76-E789-4FA9-8B61-BAAF3D12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8896C8-1EF0-445E-A042-F552D021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8DE5D93-9205-4789-8A3F-117BF021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725F85-E259-4955-9A37-891CB9C0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게임과 AI 시스템 구조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462E957F-9A35-4285-8AC2-708DE6B8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74B85F79-75F1-4E70-BC48-BEDDDA9E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계층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B874E343-CEFE-430C-AC6D-1606A031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3A856F27-EF92-4CBB-900E-DFD4BF10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84C2D4BA-3E79-4701-84C9-815055B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48F22140-17FA-4B3D-B2DC-14475A77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Stage data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D7AD5DDE-58A2-4EA9-B38F-AD90F42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2F395D40-CD26-4414-AEB2-4A5D52BC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오브젝트·해법·힌트 메타데이터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EA5D5420-322C-4670-B277-0DCF2F79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B3411E47-01D9-4473-B23F-8400A964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ShotResolver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60A28C4B-DBDA-404C-B930-CDC278DF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E4AF6B30-F663-42BC-9516-CB67A76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방향·힘·속성으로 결정론적 결과 계산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BF07E983-D611-4926-90B4-09E32AE2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4021C3FF-0F5C-4900-87D9-55D1F798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RunState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27484547-FECF-4C9D-A0B8-E33AE44B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879B6188-ADE7-4ED4-B08F-1EF0AD49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진행, 잔류 공, 보상, 힌트 권한, 열쇠 수집을 저장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68F78AEB-4A34-4250-9374-983C3D9A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2EC39972-F658-4A2D-BF36-4CC34424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GameScreen / Flame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1A8BF007-8BCA-49AB-BAFD-B3301883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75FF5B57-64A3-4099-A443-0FB91064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입력·Canvas 렌더·접근성·피드백</a:t>
            </a:r>
          </a:p>
        </p:txBody>
      </p:sp>
      <p:sp>
        <p:nvSpPr>
          <p:cNvPr id="2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649C60B2-C1ED-4C76-AF43-6A130C0A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AC2C1636-6597-4BE0-A02B-F442202E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Validator / tests</a:t>
            </a:r>
          </a:p>
        </p:txBody>
      </p:sp>
      <p:sp>
        <p:nvSpPr>
          <p:cNvPr id="2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92051CA1-5AD1-4587-95A6-BD78FB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FE9240F8-41DF-4AC1-BA8B-E40C7BAD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패턴 구조, 인과, 결정론, 화면, 복구, 기믹 우위 검증</a:t>
            </a:r>
          </a:p>
        </p:txBody>
      </p:sp>
      <p:sp>
        <p:nvSpPr>
          <p:cNvPr id="29" name="table-cell-140-6-0">
            <a:extLst xmlns:a="http://schemas.openxmlformats.org/drawingml/2006/main">
              <a:ext uri="{FF2B5EF4-FFF2-40B4-BE49-F238E27FC236}">
                <a16:creationId xmlns:a16="http://schemas.microsoft.com/office/drawing/2014/main" id="{890760C9-B3BE-47CD-BE52-D1DD0667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140-6-0">
            <a:extLst xmlns:a="http://schemas.openxmlformats.org/drawingml/2006/main">
              <a:ext uri="{FF2B5EF4-FFF2-40B4-BE49-F238E27FC236}">
                <a16:creationId xmlns:a16="http://schemas.microsoft.com/office/drawing/2014/main" id="{3B17AE60-5004-490E-A11C-887409C5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576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Report pipeline</a:t>
            </a:r>
          </a:p>
        </p:txBody>
      </p:sp>
      <p:sp>
        <p:nvSpPr>
          <p:cNvPr id="31" name="table-cell-140-6-1">
            <a:extLst xmlns:a="http://schemas.openxmlformats.org/drawingml/2006/main">
              <a:ext uri="{FF2B5EF4-FFF2-40B4-BE49-F238E27FC236}">
                <a16:creationId xmlns:a16="http://schemas.microsoft.com/office/drawing/2014/main" id="{D394C37F-3FBB-4F8D-B4AB-EF155221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7909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140-6-1">
            <a:extLst xmlns:a="http://schemas.openxmlformats.org/drawingml/2006/main">
              <a:ext uri="{FF2B5EF4-FFF2-40B4-BE49-F238E27FC236}">
                <a16:creationId xmlns:a16="http://schemas.microsoft.com/office/drawing/2014/main" id="{D70FE860-25CF-4AFD-8E7E-695F1740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8576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PDF·A4 세로 PPT·영상의 재생성과 시각 검사</a:t>
            </a:r>
          </a:p>
        </p:txBody>
      </p:sp>
    </p:spTree>
    <p:extLst>
      <p:ext uri="{BB962C8B-B14F-4D97-AF65-F5344CB8AC3E}">
        <p14:creationId xmlns:p14="http://schemas.microsoft.com/office/powerpoint/2010/main" val="1584643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E5E4E74-02FF-4904-92A5-9E55A353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C831CC-74C6-4100-AA63-B2F31C1E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4FB764C-7DA9-4016-B9D1-B0FBF5C9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701E6C-5CCE-437E-9F34-F7EFDECE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AI 활용의 구체적 성과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E47ADAFA-F6AC-497E-813F-BA87124C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203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자연어 피드백을 40패턴 데이터와 실행 가능한 테스트 계약으로 전환했다.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물리·리플레이를 바꾸지 않고 쉬움 미리보기와 튜토리얼 완화를 추가했다.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접근성, 저장 복구, 기록 공정성처럼 화면만 봐서는 놓치기 쉬운 결함을 독립 감사로 발견했다.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통계 검증을 스스로 반려하고 같은 표본공간의 지표로 다시 설계했다.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보고서·PPT·영상까지 코드와 같은 재생성·검증 파이프라인으로 관리했다.</a:t>
            </a:r>
          </a:p>
        </p:txBody>
      </p:sp>
    </p:spTree>
    <p:extLst>
      <p:ext uri="{BB962C8B-B14F-4D97-AF65-F5344CB8AC3E}">
        <p14:creationId xmlns:p14="http://schemas.microsoft.com/office/powerpoint/2010/main" val="19372990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B48F1E7-1B25-4C2D-9F64-4B599E70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8C8726-CF4E-4D98-B084-47B05D4A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83842A7-657C-47F9-977C-C0CE3E7B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987A2E-2B26-415E-A526-1B2E04CB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외부 에셋과 오픈소스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C41F5D12-F9C7-4C8F-87B2-8B240657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4F205C4B-4DD3-4B22-A464-B2E91F75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52CBF36A-8951-4526-89F0-D4087C1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76F984C5-2BA7-42ED-8D15-FC5EFB78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용도</a:t>
            </a:r>
          </a:p>
        </p:txBody>
      </p:sp>
      <p:sp>
        <p:nvSpPr>
          <p:cNvPr id="9" name="table-cell-140-0-2">
            <a:extLst xmlns:a="http://schemas.openxmlformats.org/drawingml/2006/main">
              <a:ext uri="{FF2B5EF4-FFF2-40B4-BE49-F238E27FC236}">
                <a16:creationId xmlns:a16="http://schemas.microsoft.com/office/drawing/2014/main" id="{B504C2DC-9CF1-4B91-B16D-0ACD62BC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0-2">
            <a:extLst xmlns:a="http://schemas.openxmlformats.org/drawingml/2006/main">
              <a:ext uri="{FF2B5EF4-FFF2-40B4-BE49-F238E27FC236}">
                <a16:creationId xmlns:a16="http://schemas.microsoft.com/office/drawing/2014/main" id="{6A1FC4A4-770E-44D3-B06B-47CA7A56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출처·라이선스</a:t>
            </a:r>
          </a:p>
        </p:txBody>
      </p:sp>
      <p:sp>
        <p:nvSpPr>
          <p:cNvPr id="11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E8011957-DCD5-4BC3-9AC6-4466206E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DDBF7903-F70F-4E3C-A425-462E8F24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</a:t>
            </a:r>
          </a:p>
        </p:txBody>
      </p:sp>
      <p:sp>
        <p:nvSpPr>
          <p:cNvPr id="13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B4AD3693-F5E9-4A55-88BA-29007F11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8E047601-30C8-4D29-ACDE-9711553E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앱 UI·멀티플랫폼</a:t>
            </a:r>
          </a:p>
        </p:txBody>
      </p:sp>
      <p:sp>
        <p:nvSpPr>
          <p:cNvPr id="15" name="table-cell-140-1-2">
            <a:extLst xmlns:a="http://schemas.openxmlformats.org/drawingml/2006/main">
              <a:ext uri="{FF2B5EF4-FFF2-40B4-BE49-F238E27FC236}">
                <a16:creationId xmlns:a16="http://schemas.microsoft.com/office/drawing/2014/main" id="{FF2C237B-EBB6-4A2C-9E25-63BCAFDC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1-2">
            <a:extLst xmlns:a="http://schemas.openxmlformats.org/drawingml/2006/main">
              <a:ext uri="{FF2B5EF4-FFF2-40B4-BE49-F238E27FC236}">
                <a16:creationId xmlns:a16="http://schemas.microsoft.com/office/drawing/2014/main" id="{6FEE9096-E9B4-443B-B9FA-6ADC4174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flutter.dev (https://flutter.dev/)</a:t>
            </a:r>
          </a:p>
        </p:txBody>
      </p:sp>
      <p:sp>
        <p:nvSpPr>
          <p:cNvPr id="17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398AACD4-0632-4D03-B334-C3070D76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FD2445EB-9E34-4EC5-AE3E-1AACDBFB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Flame</a:t>
            </a:r>
          </a:p>
        </p:txBody>
      </p:sp>
      <p:sp>
        <p:nvSpPr>
          <p:cNvPr id="19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B6D46961-91E3-41A2-A91C-655E85C3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985C2E57-C83B-4A7A-AA31-74F03CA3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 루프·Canvas</a:t>
            </a:r>
          </a:p>
        </p:txBody>
      </p:sp>
      <p:sp>
        <p:nvSpPr>
          <p:cNvPr id="21" name="table-cell-140-2-2">
            <a:extLst xmlns:a="http://schemas.openxmlformats.org/drawingml/2006/main">
              <a:ext uri="{FF2B5EF4-FFF2-40B4-BE49-F238E27FC236}">
                <a16:creationId xmlns:a16="http://schemas.microsoft.com/office/drawing/2014/main" id="{F9446A1F-BA6D-4FCA-90CB-5980E3EC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2-2">
            <a:extLst xmlns:a="http://schemas.openxmlformats.org/drawingml/2006/main">
              <a:ext uri="{FF2B5EF4-FFF2-40B4-BE49-F238E27FC236}">
                <a16:creationId xmlns:a16="http://schemas.microsoft.com/office/drawing/2014/main" id="{54475328-7D31-4E84-818B-CA27CCC0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MIT · pub.dev/flame (https://pub.dev/packages/flame)</a:t>
            </a:r>
          </a:p>
        </p:txBody>
      </p:sp>
      <p:sp>
        <p:nvSpPr>
          <p:cNvPr id="23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64A4790D-FA91-4703-A6D3-AEFBAC36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82EA81B7-D5D8-4C06-B534-46EBD6AC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shared_preferences</a:t>
            </a:r>
          </a:p>
        </p:txBody>
      </p:sp>
      <p:sp>
        <p:nvSpPr>
          <p:cNvPr id="25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7FAE0284-6267-4D3D-8445-A55D46C2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FDDD905C-176C-427B-BB3B-531A5A14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로컬 설정·저장</a:t>
            </a:r>
          </a:p>
        </p:txBody>
      </p:sp>
      <p:sp>
        <p:nvSpPr>
          <p:cNvPr id="27" name="table-cell-140-3-2">
            <a:extLst xmlns:a="http://schemas.openxmlformats.org/drawingml/2006/main">
              <a:ext uri="{FF2B5EF4-FFF2-40B4-BE49-F238E27FC236}">
                <a16:creationId xmlns:a16="http://schemas.microsoft.com/office/drawing/2014/main" id="{28AA36EC-25D8-4A2F-8F69-A1CEDA7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3-2">
            <a:extLst xmlns:a="http://schemas.openxmlformats.org/drawingml/2006/main">
              <a:ext uri="{FF2B5EF4-FFF2-40B4-BE49-F238E27FC236}">
                <a16:creationId xmlns:a16="http://schemas.microsoft.com/office/drawing/2014/main" id="{C0906BB9-A0AF-4224-B67A-CEEBE983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pub.dev (https://pub.dev/packages/shared_preferences)</a:t>
            </a:r>
          </a:p>
        </p:txBody>
      </p:sp>
      <p:sp>
        <p:nvSpPr>
          <p:cNvPr id="29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04959D76-638A-4C15-996E-BDAF4557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A2C3C8A0-7DA4-4311-9C33-FFE9F0F4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crypto</a:t>
            </a:r>
          </a:p>
        </p:txBody>
      </p:sp>
      <p:sp>
        <p:nvSpPr>
          <p:cNvPr id="31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A8E5C529-A669-4292-AF9A-F2113DD5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7DD334E2-0E9B-45C7-BCCA-1593D774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리플레이·산출물 무결성 해시</a:t>
            </a:r>
          </a:p>
        </p:txBody>
      </p:sp>
      <p:sp>
        <p:nvSpPr>
          <p:cNvPr id="33" name="table-cell-140-4-2">
            <a:extLst xmlns:a="http://schemas.openxmlformats.org/drawingml/2006/main">
              <a:ext uri="{FF2B5EF4-FFF2-40B4-BE49-F238E27FC236}">
                <a16:creationId xmlns:a16="http://schemas.microsoft.com/office/drawing/2014/main" id="{17D1DC73-7C53-4131-9CF5-FDAA4169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140-4-2">
            <a:extLst xmlns:a="http://schemas.openxmlformats.org/drawingml/2006/main">
              <a:ext uri="{FF2B5EF4-FFF2-40B4-BE49-F238E27FC236}">
                <a16:creationId xmlns:a16="http://schemas.microsoft.com/office/drawing/2014/main" id="{CF7F13A6-B4C1-4D7A-AF36-A166A552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pub.dev (https://pub.dev/packages/crypto)</a:t>
            </a:r>
          </a:p>
        </p:txBody>
      </p:sp>
      <p:sp>
        <p:nvSpPr>
          <p:cNvPr id="3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C49331DE-6079-4F95-B66B-586345A2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DE34B80F-5691-4BCD-AB0B-3A071E53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audioplayers</a:t>
            </a:r>
          </a:p>
        </p:txBody>
      </p:sp>
      <p:sp>
        <p:nvSpPr>
          <p:cNvPr id="3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FC6EBF2D-E29B-44CE-9803-E8873675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EFBD71F1-963A-47AD-9B80-AC94752B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배경음·효과음 재생</a:t>
            </a:r>
          </a:p>
        </p:txBody>
      </p:sp>
      <p:sp>
        <p:nvSpPr>
          <p:cNvPr id="39" name="table-cell-140-5-2">
            <a:extLst xmlns:a="http://schemas.openxmlformats.org/drawingml/2006/main">
              <a:ext uri="{FF2B5EF4-FFF2-40B4-BE49-F238E27FC236}">
                <a16:creationId xmlns:a16="http://schemas.microsoft.com/office/drawing/2014/main" id="{7A8E5E6D-CF1D-41BB-915F-E50A930E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140-5-2">
            <a:extLst xmlns:a="http://schemas.openxmlformats.org/drawingml/2006/main">
              <a:ext uri="{FF2B5EF4-FFF2-40B4-BE49-F238E27FC236}">
                <a16:creationId xmlns:a16="http://schemas.microsoft.com/office/drawing/2014/main" id="{18EEF315-94EC-4427-9D66-3EF617C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7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MIT · pub.dev (https://pub.dev/packages/audioplayers)</a:t>
            </a:r>
          </a:p>
        </p:txBody>
      </p:sp>
      <p:sp>
        <p:nvSpPr>
          <p:cNvPr id="41" name="table-cell-140-6-0">
            <a:extLst xmlns:a="http://schemas.openxmlformats.org/drawingml/2006/main">
              <a:ext uri="{FF2B5EF4-FFF2-40B4-BE49-F238E27FC236}">
                <a16:creationId xmlns:a16="http://schemas.microsoft.com/office/drawing/2014/main" id="{64B6700B-A2E5-4462-B636-675C618F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140-6-0">
            <a:extLst xmlns:a="http://schemas.openxmlformats.org/drawingml/2006/main">
              <a:ext uri="{FF2B5EF4-FFF2-40B4-BE49-F238E27FC236}">
                <a16:creationId xmlns:a16="http://schemas.microsoft.com/office/drawing/2014/main" id="{2CD578A7-F203-4EB3-926E-AFF63FB3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NanumGothic</a:t>
            </a:r>
          </a:p>
        </p:txBody>
      </p:sp>
      <p:sp>
        <p:nvSpPr>
          <p:cNvPr id="43" name="table-cell-140-6-1">
            <a:extLst xmlns:a="http://schemas.openxmlformats.org/drawingml/2006/main">
              <a:ext uri="{FF2B5EF4-FFF2-40B4-BE49-F238E27FC236}">
                <a16:creationId xmlns:a16="http://schemas.microsoft.com/office/drawing/2014/main" id="{BA431E5C-12FA-4B5E-AB83-F415F5D4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140-6-1">
            <a:extLst xmlns:a="http://schemas.openxmlformats.org/drawingml/2006/main">
              <a:ext uri="{FF2B5EF4-FFF2-40B4-BE49-F238E27FC236}">
                <a16:creationId xmlns:a16="http://schemas.microsoft.com/office/drawing/2014/main" id="{27B0A15B-C574-4727-9CF7-903AD088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한글 UI·문서</a:t>
            </a:r>
          </a:p>
        </p:txBody>
      </p:sp>
      <p:sp>
        <p:nvSpPr>
          <p:cNvPr id="45" name="table-cell-140-6-2">
            <a:extLst xmlns:a="http://schemas.openxmlformats.org/drawingml/2006/main">
              <a:ext uri="{FF2B5EF4-FFF2-40B4-BE49-F238E27FC236}">
                <a16:creationId xmlns:a16="http://schemas.microsoft.com/office/drawing/2014/main" id="{D8FFE816-50AE-4FE4-9592-5D97A8AE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140-6-2">
            <a:extLst xmlns:a="http://schemas.openxmlformats.org/drawingml/2006/main">
              <a:ext uri="{FF2B5EF4-FFF2-40B4-BE49-F238E27FC236}">
                <a16:creationId xmlns:a16="http://schemas.microsoft.com/office/drawing/2014/main" id="{04A03CAD-FF96-4E09-B7C4-9937D404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SIL OFL 1.1 · NAVER Nanum (https://hangeul.naver.com/font)</a:t>
            </a:r>
          </a:p>
        </p:txBody>
      </p:sp>
      <p:sp>
        <p:nvSpPr>
          <p:cNvPr id="47" name="table-cell-140-7-0">
            <a:extLst xmlns:a="http://schemas.openxmlformats.org/drawingml/2006/main">
              <a:ext uri="{FF2B5EF4-FFF2-40B4-BE49-F238E27FC236}">
                <a16:creationId xmlns:a16="http://schemas.microsoft.com/office/drawing/2014/main" id="{94080A22-8633-40AF-B47B-11E25DB2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140-7-0">
            <a:extLst xmlns:a="http://schemas.openxmlformats.org/drawingml/2006/main">
              <a:ext uri="{FF2B5EF4-FFF2-40B4-BE49-F238E27FC236}">
                <a16:creationId xmlns:a16="http://schemas.microsoft.com/office/drawing/2014/main" id="{7B04DC43-3DDE-4DF8-906F-AF5D29D9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Material Icons</a:t>
            </a:r>
          </a:p>
        </p:txBody>
      </p:sp>
      <p:sp>
        <p:nvSpPr>
          <p:cNvPr id="49" name="table-cell-140-7-1">
            <a:extLst xmlns:a="http://schemas.openxmlformats.org/drawingml/2006/main">
              <a:ext uri="{FF2B5EF4-FFF2-40B4-BE49-F238E27FC236}">
                <a16:creationId xmlns:a16="http://schemas.microsoft.com/office/drawing/2014/main" id="{CCF6B0FD-0497-4A36-BE79-681163EE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140-7-1">
            <a:extLst xmlns:a="http://schemas.openxmlformats.org/drawingml/2006/main">
              <a:ext uri="{FF2B5EF4-FFF2-40B4-BE49-F238E27FC236}">
                <a16:creationId xmlns:a16="http://schemas.microsoft.com/office/drawing/2014/main" id="{C528B561-6900-43BE-8710-9B7CFA26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런 보상 9종</a:t>
            </a:r>
          </a:p>
        </p:txBody>
      </p:sp>
      <p:sp>
        <p:nvSpPr>
          <p:cNvPr id="51" name="table-cell-140-7-2">
            <a:extLst xmlns:a="http://schemas.openxmlformats.org/drawingml/2006/main">
              <a:ext uri="{FF2B5EF4-FFF2-40B4-BE49-F238E27FC236}">
                <a16:creationId xmlns:a16="http://schemas.microsoft.com/office/drawing/2014/main" id="{1CD3090B-80E9-4DF6-AA11-3324F13A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2" name="table-text-140-7-2">
            <a:extLst xmlns:a="http://schemas.openxmlformats.org/drawingml/2006/main">
              <a:ext uri="{FF2B5EF4-FFF2-40B4-BE49-F238E27FC236}">
                <a16:creationId xmlns:a16="http://schemas.microsoft.com/office/drawing/2014/main" id="{0717791A-10F5-479E-9257-C8BB0662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Apache-2.0 · Google Material Icons (https://github.com/google/material-design-icons)</a:t>
            </a:r>
          </a:p>
        </p:txBody>
      </p:sp>
      <p:sp>
        <p:nvSpPr>
          <p:cNvPr id="53" name="paragraph-594.6000000000001">
            <a:extLst xmlns:a="http://schemas.openxmlformats.org/drawingml/2006/main">
              <a:ext uri="{FF2B5EF4-FFF2-40B4-BE49-F238E27FC236}">
                <a16:creationId xmlns:a16="http://schemas.microsoft.com/office/drawing/2014/main" id="{EA45C331-6C03-4FB1-A0F0-DBB8B887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63565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 돌·탄성 젤리·상자는 AI 생성 후 투명화한 프로젝트 애셋이다. 풍선·뾰족함·공 표현은 외부 PNG가 아니라 Canvas 코드로 직접 그린다. OpenGameArt의 CC0 원본 3종은 레거시 증빙으로만 보관하고 제품 화면에는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917421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31AB86F7-1182-400D-958E-9A981A3C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C582F9-E9CC-4AA6-A4E4-3FB0284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FA4E28D-9B5B-45E1-ABB1-562AE533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8010CA-1996-4233-9DC5-67F48F99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외부 에셋과 오픈소스 · 계속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eedc76fc549ee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8E4F8052-E41D-4089-B8E6-DC5157CE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AI 생성 후 게임에 적용한 돌·젤리·상자 애셋</a:t>
            </a:r>
          </a:p>
        </p:txBody>
      </p:sp>
    </p:spTree>
    <p:extLst>
      <p:ext uri="{BB962C8B-B14F-4D97-AF65-F5344CB8AC3E}">
        <p14:creationId xmlns:p14="http://schemas.microsoft.com/office/powerpoint/2010/main" val="8097317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5118E433-7691-4CE8-B93E-677538E5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028161-1C97-4EF2-BC68-B8D53B49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B035B17-C408-4E71-A0F8-AAB67790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3126F9-9FBF-4845-9AB1-2AC2F533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8. 책임과 한계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6A4978D6-CB33-4CB6-B171-374B672A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69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최종 게임 규칙, 난이도 정책, 채택·반려 결정은 사람이 맡았다.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자동 테스트는 재미와 초보자의 감정을 대신하지 못하므로 외부 플레이테스트가 더 필요하다.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생성 이미지의 상업 사용 범위는 최종 법무 검토가 필요하다.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iOS 실기기 장시간 성능과 App Store 제출은 이번 사전 과제 범위 밖이다.</a:t>
            </a:r>
          </a:p>
        </p:txBody>
      </p:sp>
    </p:spTree>
    <p:extLst>
      <p:ext uri="{BB962C8B-B14F-4D97-AF65-F5344CB8AC3E}">
        <p14:creationId xmlns:p14="http://schemas.microsoft.com/office/powerpoint/2010/main" val="18891757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69CC665-4486-4B66-97E7-0E25CF5E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98620A-D42E-442E-BF60-F0555DFD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B0904D73-0C54-413E-A611-42F2E69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A27DDA-A7AD-42A3-81C1-C9D621CC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9. 평가자가 확인할 수 있는 것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6C86C0AE-2166-48E6-826B-15A16C9C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웹 플레이에서는 속성 이전과 장면 상태 변화가 실제 해법을 만드는지, 쉬움·게이지·힌트가 물리 규칙을 훼손하지 않고 도움을 주는지 확인할 수 있다. 이 문서와 60초 영상은 AI 활용이 단순 생성이 아니라 역할 분리·반증·재감사의 흐름이며, 그 결과가 실제 기믹 연쇄와 주요 기능으로 이어졌음을 보여 준다.</a:t>
            </a:r>
          </a:p>
        </p:txBody>
      </p:sp>
    </p:spTree>
    <p:extLst>
      <p:ext uri="{BB962C8B-B14F-4D97-AF65-F5344CB8AC3E}">
        <p14:creationId xmlns:p14="http://schemas.microsoft.com/office/powerpoint/2010/main" val="11333214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2026-08-10T12:06:00.3980000Z</dcterms:created>
  <dcterms:modified xsi:type="dcterms:W3CDTF">2026-08-10T12:06:00.3980000Z</dcterms:modified>
</coreProperties>
</file>