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3ce930a3f64c85" /><Relationship Type="http://schemas.openxmlformats.org/officeDocument/2006/relationships/extended-properties" Target="/docProps/app.xml" Id="Rccb64c59a1f04182" /><Relationship Type="http://schemas.openxmlformats.org/officeDocument/2006/relationships/officeDocument" Target="/ppt/presentation.xml" Id="R1c0311a9250e49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401790b2924581"/>
  </p:sldMasterIdLst>
  <p:notesMasterIdLst>
    <p:notesMasterId xmlns:r="http://schemas.openxmlformats.org/officeDocument/2006/relationships" r:id="R6364d9275b2f455f"/>
  </p:notesMasterIdLst>
  <p:sldIdLst>
    <p:sldId xmlns:r="http://schemas.openxmlformats.org/officeDocument/2006/relationships" id="256" r:id="R92ffcd538aa9468b"/>
    <p:sldId xmlns:r="http://schemas.openxmlformats.org/officeDocument/2006/relationships" id="257" r:id="R70b28b49699c4746"/>
    <p:sldId xmlns:r="http://schemas.openxmlformats.org/officeDocument/2006/relationships" id="258" r:id="R8adf0a9511cf4930"/>
    <p:sldId xmlns:r="http://schemas.openxmlformats.org/officeDocument/2006/relationships" id="259" r:id="Rf5737357f8ff4f11"/>
    <p:sldId xmlns:r="http://schemas.openxmlformats.org/officeDocument/2006/relationships" id="260" r:id="Rbea8834b52e741ce"/>
    <p:sldId xmlns:r="http://schemas.openxmlformats.org/officeDocument/2006/relationships" id="261" r:id="Rae58efcbbc824e54"/>
    <p:sldId xmlns:r="http://schemas.openxmlformats.org/officeDocument/2006/relationships" id="262" r:id="R6b530928d25c4610"/>
    <p:sldId xmlns:r="http://schemas.openxmlformats.org/officeDocument/2006/relationships" id="263" r:id="Rea8e5a78cef64a81"/>
    <p:sldId xmlns:r="http://schemas.openxmlformats.org/officeDocument/2006/relationships" id="264" r:id="R7f2e3ebcdb7d4a49"/>
    <p:sldId xmlns:r="http://schemas.openxmlformats.org/officeDocument/2006/relationships" id="265" r:id="R4cd463f734674349"/>
    <p:sldId xmlns:r="http://schemas.openxmlformats.org/officeDocument/2006/relationships" id="266" r:id="Rfb08a0b144e94c19"/>
    <p:sldId xmlns:r="http://schemas.openxmlformats.org/officeDocument/2006/relationships" id="267" r:id="R76e9006a63cd4e70"/>
    <p:sldId xmlns:r="http://schemas.openxmlformats.org/officeDocument/2006/relationships" id="268" r:id="Re13a51fc84fc4b11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3ba5c5c9ce49ec" /><Relationship Type="http://schemas.openxmlformats.org/officeDocument/2006/relationships/slideMaster" Target="/ppt/slideMasters/slideMaster1.xml" Id="R9a401790b2924581" /><Relationship Type="http://schemas.openxmlformats.org/officeDocument/2006/relationships/notesMaster" Target="/ppt/notesMasters/notesMaster1.xml" Id="R6364d9275b2f455f" /><Relationship Type="http://schemas.openxmlformats.org/officeDocument/2006/relationships/presProps" Target="/ppt/presProps.xml" Id="R0e96cf04f5eb4599" /><Relationship Type="http://schemas.openxmlformats.org/officeDocument/2006/relationships/tableStyles" Target="/ppt/tableStyles.xml" Id="R1c3ec9bee8c84600" /><Relationship Type="http://schemas.openxmlformats.org/officeDocument/2006/relationships/slide" Target="/ppt/slides/slide1.xml" Id="R92ffcd538aa9468b" /><Relationship Type="http://schemas.openxmlformats.org/officeDocument/2006/relationships/slide" Target="/ppt/slides/slide2.xml" Id="R70b28b49699c4746" /><Relationship Type="http://schemas.openxmlformats.org/officeDocument/2006/relationships/slide" Target="/ppt/slides/slide3.xml" Id="R8adf0a9511cf4930" /><Relationship Type="http://schemas.openxmlformats.org/officeDocument/2006/relationships/slide" Target="/ppt/slides/slide4.xml" Id="Rf5737357f8ff4f11" /><Relationship Type="http://schemas.openxmlformats.org/officeDocument/2006/relationships/slide" Target="/ppt/slides/slide5.xml" Id="Rbea8834b52e741ce" /><Relationship Type="http://schemas.openxmlformats.org/officeDocument/2006/relationships/slide" Target="/ppt/slides/slide6.xml" Id="Rae58efcbbc824e54" /><Relationship Type="http://schemas.openxmlformats.org/officeDocument/2006/relationships/slide" Target="/ppt/slides/slide7.xml" Id="R6b530928d25c4610" /><Relationship Type="http://schemas.openxmlformats.org/officeDocument/2006/relationships/slide" Target="/ppt/slides/slide8.xml" Id="Rea8e5a78cef64a81" /><Relationship Type="http://schemas.openxmlformats.org/officeDocument/2006/relationships/slide" Target="/ppt/slides/slide9.xml" Id="R7f2e3ebcdb7d4a49" /><Relationship Type="http://schemas.openxmlformats.org/officeDocument/2006/relationships/slide" Target="/ppt/slides/slide10.xml" Id="R4cd463f734674349" /><Relationship Type="http://schemas.openxmlformats.org/officeDocument/2006/relationships/slide" Target="/ppt/slides/slide11.xml" Id="Rfb08a0b144e94c19" /><Relationship Type="http://schemas.openxmlformats.org/officeDocument/2006/relationships/slide" Target="/ppt/slides/slide12.xml" Id="R76e9006a63cd4e70" /><Relationship Type="http://schemas.openxmlformats.org/officeDocument/2006/relationships/slide" Target="/ppt/slides/slide13.xml" Id="Re13a51fc84fc4b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31e41515604b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b9be7b5fcf44ec" /><Relationship Type="http://schemas.openxmlformats.org/officeDocument/2006/relationships/notesMaster" Target="/ppt/notesMasters/notesMaster1.xml" Id="Ra26b41dfa0e044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01a76dd6584628" /><Relationship Type="http://schemas.openxmlformats.org/officeDocument/2006/relationships/notesMaster" Target="/ppt/notesMasters/notesMaster1.xml" Id="Rcdfb15753ce14d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a59730b0b34076" /><Relationship Type="http://schemas.openxmlformats.org/officeDocument/2006/relationships/notesMaster" Target="/ppt/notesMasters/notesMaster1.xml" Id="R02cf032b36b541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2da2575a8e46e3" /><Relationship Type="http://schemas.openxmlformats.org/officeDocument/2006/relationships/notesMaster" Target="/ppt/notesMasters/notesMaster1.xml" Id="Rdeb1688c347641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5ae8277cd3479a" /><Relationship Type="http://schemas.openxmlformats.org/officeDocument/2006/relationships/notesMaster" Target="/ppt/notesMasters/notesMaster1.xml" Id="R6fbe094ba4c64b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0130586e2645f8" /><Relationship Type="http://schemas.openxmlformats.org/officeDocument/2006/relationships/notesMaster" Target="/ppt/notesMasters/notesMaster1.xml" Id="R05f2b2cb239c4b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fac1e365ac4f0f" /><Relationship Type="http://schemas.openxmlformats.org/officeDocument/2006/relationships/notesMaster" Target="/ppt/notesMasters/notesMaster1.xml" Id="R1596bcc04e7546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f31c932eae42e0" /><Relationship Type="http://schemas.openxmlformats.org/officeDocument/2006/relationships/notesMaster" Target="/ppt/notesMasters/notesMaster1.xml" Id="R3576f5abae4843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09b144e969448c" /><Relationship Type="http://schemas.openxmlformats.org/officeDocument/2006/relationships/notesMaster" Target="/ppt/notesMasters/notesMaster1.xml" Id="Rc1a5a6ca22cc41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01a6fc27a945dd" /><Relationship Type="http://schemas.openxmlformats.org/officeDocument/2006/relationships/notesMaster" Target="/ppt/notesMasters/notesMaster1.xml" Id="R51d8511795d449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1cef62e8cc4bfd" /><Relationship Type="http://schemas.openxmlformats.org/officeDocument/2006/relationships/notesMaster" Target="/ppt/notesMasters/notesMaster1.xml" Id="Rc39cb2b0d3194a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e12b2e406b488e" /><Relationship Type="http://schemas.openxmlformats.org/officeDocument/2006/relationships/notesMaster" Target="/ppt/notesMasters/notesMaster1.xml" Id="R6cac6816b5f24d7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9d44c59b7274932" /><Relationship Type="http://schemas.openxmlformats.org/officeDocument/2006/relationships/notesMaster" Target="/ppt/notesMasters/notesMaster1.xml" Id="Rdcd302e7b87947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test/goldens/charge_gauge_stage4_warningRed_left_390x844.png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https://flutter.dev/</a:t>
            </a:r>
          </a:p>
          <a:p xmlns:a="http://schemas.openxmlformats.org/drawingml/2006/main">
            <a:r>
              <a:t>- https://pub.dev/packages/flame</a:t>
            </a:r>
          </a:p>
          <a:p xmlns:a="http://schemas.openxmlformats.org/drawingml/2006/main">
            <a:r>
              <a:t>- https://pub.dev/packages/shared_preferences</a:t>
            </a:r>
          </a:p>
          <a:p xmlns:a="http://schemas.openxmlformats.org/drawingml/2006/main">
            <a:r>
              <a:t>- https://pub.dev/packages/crypto</a:t>
            </a:r>
          </a:p>
          <a:p xmlns:a="http://schemas.openxmlformats.org/drawingml/2006/main">
            <a:r>
              <a:t>- https://pub.dev/packages/audioplayers</a:t>
            </a:r>
          </a:p>
          <a:p xmlns:a="http://schemas.openxmlformats.org/drawingml/2006/main">
            <a:r>
              <a:t>- https://hangeul.naver.com/font</a:t>
            </a:r>
          </a:p>
          <a:p xmlns:a="http://schemas.openxmlformats.org/drawingml/2006/main">
            <a:r>
              <a:t>- https://github.com/google/material-design-icons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report/ai_technical_report.md</a:t>
            </a:r>
          </a:p>
          <a:p xmlns:a="http://schemas.openxmlformats.org/drawingml/2006/main">
            <a:r>
              <a:t>- test/goldens/raster_assets_390x844.png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2e1c9dd2744a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f9679810a443d7" /><Relationship Type="http://schemas.openxmlformats.org/officeDocument/2006/relationships/slideLayout" Target="/ppt/slideLayouts/slideLayout1.xml" Id="R87410609e2284e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410609e2284e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6f3931b824fd7" /><Relationship Type="http://schemas.openxmlformats.org/officeDocument/2006/relationships/image" Target="/ppt/media/image.png" Id="Rd12e2326823a4729" /><Relationship Type="http://schemas.openxmlformats.org/officeDocument/2006/relationships/notesSlide" Target="/ppt/notesSlides/notesSlide1.xml" Id="Re9d31e0a95024d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4c64f97504772" /><Relationship Type="http://schemas.openxmlformats.org/officeDocument/2006/relationships/notesSlide" Target="/ppt/notesSlides/notesSlide2.xml" Id="R930222a323de4d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80c92c36e435f" /><Relationship Type="http://schemas.openxmlformats.org/officeDocument/2006/relationships/notesSlide" Target="/ppt/notesSlides/notesSlide3.xml" Id="R125376f08cc24f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8afc08f1446ae" /><Relationship Type="http://schemas.openxmlformats.org/officeDocument/2006/relationships/notesSlide" Target="/ppt/notesSlides/notesSlide4.xml" Id="R43e6995bfcf04a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8370cdaf240e5" /><Relationship Type="http://schemas.openxmlformats.org/officeDocument/2006/relationships/notesSlide" Target="/ppt/notesSlides/notesSlide5.xml" Id="Rab968964f91c41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1b1e0df3b42df" /><Relationship Type="http://schemas.openxmlformats.org/officeDocument/2006/relationships/image" Target="/ppt/media/image2.png" Id="R22d8f899ae2d4fbd" /><Relationship Type="http://schemas.openxmlformats.org/officeDocument/2006/relationships/notesSlide" Target="/ppt/notesSlides/notesSlide6.xml" Id="Rbc66fd76cc5049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81a75e340474f" /><Relationship Type="http://schemas.openxmlformats.org/officeDocument/2006/relationships/image" Target="/ppt/media/image3.png" Id="R86ed791ace7042aa" /><Relationship Type="http://schemas.openxmlformats.org/officeDocument/2006/relationships/notesSlide" Target="/ppt/notesSlides/notesSlide7.xml" Id="R64566699832448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29c3c609f4da5" /><Relationship Type="http://schemas.openxmlformats.org/officeDocument/2006/relationships/notesSlide" Target="/ppt/notesSlides/notesSlide8.xml" Id="R941599786d9440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98b37423944e4" /><Relationship Type="http://schemas.openxmlformats.org/officeDocument/2006/relationships/notesSlide" Target="/ppt/notesSlides/notesSlide9.xml" Id="Rfce3cd0525fd4c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07c1bd78db48c5" /><Relationship Type="http://schemas.openxmlformats.org/officeDocument/2006/relationships/notesSlide" Target="/ppt/notesSlides/notesSlide10.xml" Id="Rb1dceacaf9ff4e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0caa128c54e7c" /><Relationship Type="http://schemas.openxmlformats.org/officeDocument/2006/relationships/notesSlide" Target="/ppt/notesSlides/notesSlide11.xml" Id="Rd063509ca1e843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474694db245e5" /><Relationship Type="http://schemas.openxmlformats.org/officeDocument/2006/relationships/notesSlide" Target="/ppt/notesSlides/notesSlide12.xml" Id="R48654fbb95b746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5addd1fd74426" /><Relationship Type="http://schemas.openxmlformats.org/officeDocument/2006/relationships/image" Target="/ppt/media/image4.png" Id="Ree72a8394c4e4592" /><Relationship Type="http://schemas.openxmlformats.org/officeDocument/2006/relationships/notesSlide" Target="/ppt/notesSlides/notesSlide13.xml" Id="Rc38c85b96fb745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DFBC3088-6FCD-4E21-A5AD-377B2D6E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457EF9CB-3A91-4ED4-B2D3-02E5DE57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AI TECHNICAL REPORT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2635CF0-86F5-4B49-9DA9-33F5AD22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ECAACC8C-F9EF-45E8-AC5E-BFD171D7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e2326823a4729"/>
          <a:stretch xmlns:a="http://schemas.openxmlformats.org/drawingml/2006/main"/>
        </p:blipFill>
        <p:spPr>
          <a:xfrm xmlns:a="http://schemas.openxmlformats.org/drawingml/2006/main">
            <a:off x="3055200" y="44577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6D33A685-4098-4D2A-8234-287D662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5725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F63211A5-7669-4DBA-AC81-6AFD03C0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63446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A3B5DEE0-C785-40D9-91F6-849DBDAD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7D191B-01EA-4053-8402-8EB524EF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9297B1E-8D20-4FE3-9A26-D668A04F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919B12-9749-4A27-B713-FE84FD9A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36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AI를 ‘작업자’가 아니라 ‘검증 가능한 제작 조직’으로 사용했다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0B99D50B-C56E-40C6-9853-771FC2AE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처음부터 AI에게 게임 전체를 맡기지는 않았다. 재미의 방향과 난이도 정책은 사람이 정하고, 저장소 조사·구현·테스트·감사는 서로 다른 역할로 나눴다. 한 에이전트가 만든 결과를 다른 에이전트가 다시 확인하게 한 이유는 단순했다. 물리 퍼즐에서는 작은 수치 하나가 리플레이와 기록까지 흔들 수 있기 때문이다.</a:t>
            </a:r>
          </a:p>
        </p:txBody>
      </p:sp>
      <p:sp>
        <p:nvSpPr>
          <p:cNvPr id="6" name="paragraph-261.28">
            <a:extLst xmlns:a="http://schemas.openxmlformats.org/drawingml/2006/main">
              <a:ext uri="{FF2B5EF4-FFF2-40B4-BE49-F238E27FC236}">
                <a16:creationId xmlns:a16="http://schemas.microsoft.com/office/drawing/2014/main" id="{79377E2E-23C4-4497-8469-4CE1DE2C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8692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프롬프트에는 원하는 결과만 쓰지 않았다. 바꾸지 말아야 할 규칙, 확인해야 할 화면, 통과해야 할 테스트를 함께 적었다. 덕분에 AI가 낸 제안을 그대로 받기보다 비교하고 고칠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17101689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B3CA88F5-0EF9-47AC-AD13-C6E40EBD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7E2F23-77DB-4B64-BDF7-C99CB924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C5713A4-86A8-4F8F-9210-9FCA2F41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57FA2C-1ED0-430B-9F2A-43219BEE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사람의 결정, AI 실행, 독립 AI 감사</a:t>
            </a:r>
          </a:p>
        </p:txBody>
      </p:sp>
      <p:sp>
        <p:nvSpPr>
          <p:cNvPr id="5" name="role-arrow-140-0">
            <a:extLst xmlns:a="http://schemas.openxmlformats.org/drawingml/2006/main">
              <a:ext uri="{FF2B5EF4-FFF2-40B4-BE49-F238E27FC236}">
                <a16:creationId xmlns:a16="http://schemas.microsoft.com/office/drawing/2014/main" id="{ECCDC574-285C-421E-85A2-616BAE63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75" y="20193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ole-arrow-140-1">
            <a:extLst xmlns:a="http://schemas.openxmlformats.org/drawingml/2006/main">
              <a:ext uri="{FF2B5EF4-FFF2-40B4-BE49-F238E27FC236}">
                <a16:creationId xmlns:a16="http://schemas.microsoft.com/office/drawing/2014/main" id="{FD5DD737-364C-4F24-ACE5-AF8C60F1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6475" y="20193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ole-card-140-0">
            <a:extLst xmlns:a="http://schemas.openxmlformats.org/drawingml/2006/main">
              <a:ext uri="{FF2B5EF4-FFF2-40B4-BE49-F238E27FC236}">
                <a16:creationId xmlns:a16="http://schemas.microsoft.com/office/drawing/2014/main" id="{67F5FE5D-79F5-4231-9A8F-104C628B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9748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4DB"/>
          </a:solidFill>
          <a:ln xmlns:a="http://schemas.openxmlformats.org/drawingml/2006/main" w="15240">
            <a:solidFill>
              <a:srgbClr val="D7A23D"/>
            </a:solidFill>
            <a:prstDash val="solid"/>
          </a:ln>
        </p:spPr>
      </p:sp>
      <p:sp>
        <p:nvSpPr>
          <p:cNvPr id="8" name="role-title-140-0">
            <a:extLst xmlns:a="http://schemas.openxmlformats.org/drawingml/2006/main">
              <a:ext uri="{FF2B5EF4-FFF2-40B4-BE49-F238E27FC236}">
                <a16:creationId xmlns:a16="http://schemas.microsoft.com/office/drawing/2014/main" id="{CD4C4105-32F2-4E4C-8CDB-5AB57777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43050"/>
            <a:ext cx="174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사람</a:t>
            </a:r>
          </a:p>
        </p:txBody>
      </p:sp>
      <p:sp>
        <p:nvSpPr>
          <p:cNvPr id="9" name="role-body-140-0">
            <a:extLst xmlns:a="http://schemas.openxmlformats.org/drawingml/2006/main">
              <a:ext uri="{FF2B5EF4-FFF2-40B4-BE49-F238E27FC236}">
                <a16:creationId xmlns:a16="http://schemas.microsoft.com/office/drawing/2014/main" id="{018099B4-08E3-44A4-84B6-6032CF05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708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재미·난이도 기준 결정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최종 화면과 결과 승인</a:t>
            </a:r>
          </a:p>
        </p:txBody>
      </p:sp>
      <p:sp>
        <p:nvSpPr>
          <p:cNvPr id="10" name="role-card-140-1">
            <a:extLst xmlns:a="http://schemas.openxmlformats.org/drawingml/2006/main">
              <a:ext uri="{FF2B5EF4-FFF2-40B4-BE49-F238E27FC236}">
                <a16:creationId xmlns:a16="http://schemas.microsoft.com/office/drawing/2014/main" id="{41915C39-8195-4472-9D0C-66666199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000" y="1333500"/>
            <a:ext cx="19748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5240">
            <a:solidFill>
              <a:srgbClr val="2C7A7B"/>
            </a:solidFill>
            <a:prstDash val="solid"/>
          </a:ln>
        </p:spPr>
      </p:sp>
      <p:sp>
        <p:nvSpPr>
          <p:cNvPr id="11" name="role-title-140-1">
            <a:extLst xmlns:a="http://schemas.openxmlformats.org/drawingml/2006/main">
              <a:ext uri="{FF2B5EF4-FFF2-40B4-BE49-F238E27FC236}">
                <a16:creationId xmlns:a16="http://schemas.microsoft.com/office/drawing/2014/main" id="{895D2EBF-F79C-4287-8EDC-69787A74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0" y="1543050"/>
            <a:ext cx="174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AI 실행</a:t>
            </a:r>
          </a:p>
        </p:txBody>
      </p:sp>
      <p:sp>
        <p:nvSpPr>
          <p:cNvPr id="12" name="role-body-140-1">
            <a:extLst xmlns:a="http://schemas.openxmlformats.org/drawingml/2006/main">
              <a:ext uri="{FF2B5EF4-FFF2-40B4-BE49-F238E27FC236}">
                <a16:creationId xmlns:a16="http://schemas.microsoft.com/office/drawing/2014/main" id="{B3FE1F49-79FC-4951-8243-AE7BA155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350" y="2000250"/>
            <a:ext cx="1708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코드·데이터·문서 구현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표적 테스트와 대안 제시</a:t>
            </a:r>
          </a:p>
        </p:txBody>
      </p:sp>
      <p:sp>
        <p:nvSpPr>
          <p:cNvPr id="13" name="role-card-140-2">
            <a:extLst xmlns:a="http://schemas.openxmlformats.org/drawingml/2006/main">
              <a:ext uri="{FF2B5EF4-FFF2-40B4-BE49-F238E27FC236}">
                <a16:creationId xmlns:a16="http://schemas.microsoft.com/office/drawing/2014/main" id="{02BCB41A-EA7C-45D4-9595-D692C84D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4600" y="1333500"/>
            <a:ext cx="19748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5240">
            <a:solidFill>
              <a:srgbClr val="F47661"/>
            </a:solidFill>
            <a:prstDash val="solid"/>
          </a:ln>
        </p:spPr>
      </p:sp>
      <p:sp>
        <p:nvSpPr>
          <p:cNvPr id="14" name="role-title-140-2">
            <a:extLst xmlns:a="http://schemas.openxmlformats.org/drawingml/2006/main">
              <a:ext uri="{FF2B5EF4-FFF2-40B4-BE49-F238E27FC236}">
                <a16:creationId xmlns:a16="http://schemas.microsoft.com/office/drawing/2014/main" id="{CDD88EF5-50E4-4981-9C4A-845B8056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8900" y="1543050"/>
            <a:ext cx="174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1">
                <a:solidFill>
                  <a:srgbClr val="F47661"/>
                </a:solidFill>
                <a:latin typeface="NanumGothic"/>
                <a:ea typeface="NanumGothic"/>
                <a:cs typeface="NanumGothic"/>
              </a:defRPr>
            </a:pPr>
            <a:r>
              <a:rPr sz="1425" b="1">
                <a:solidFill>
                  <a:srgbClr val="F47661"/>
                </a:solidFill>
                <a:latin typeface="NanumGothic"/>
                <a:ea typeface="NanumGothic"/>
                <a:cs typeface="NanumGothic"/>
              </a:rPr>
              <a:t>독립 AI 감사</a:t>
            </a:r>
          </a:p>
        </p:txBody>
      </p:sp>
      <p:sp>
        <p:nvSpPr>
          <p:cNvPr id="15" name="role-body-140-2">
            <a:extLst xmlns:a="http://schemas.openxmlformats.org/drawingml/2006/main">
              <a:ext uri="{FF2B5EF4-FFF2-40B4-BE49-F238E27FC236}">
                <a16:creationId xmlns:a16="http://schemas.microsoft.com/office/drawing/2014/main" id="{A02A8CEC-C0FA-421A-88E1-D1AD6DF7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000250"/>
            <a:ext cx="1708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수치·복구·접근성 재검증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P0/P1/P2 근거 보고</a:t>
            </a:r>
          </a:p>
        </p:txBody>
      </p:sp>
      <p:sp>
        <p:nvSpPr>
          <p:cNvPr id="16" name="role-note-140">
            <a:extLst xmlns:a="http://schemas.openxmlformats.org/drawingml/2006/main">
              <a:ext uri="{FF2B5EF4-FFF2-40B4-BE49-F238E27FC236}">
                <a16:creationId xmlns:a16="http://schemas.microsoft.com/office/drawing/2014/main" id="{70DA156A-021D-41C0-86E7-51D2BDFC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76575"/>
            <a:ext cx="649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판단 → 실행 → 검증을 분리하고, 채택 여부는 사람이 다시 결정한다.</a:t>
            </a:r>
          </a:p>
        </p:txBody>
      </p:sp>
      <p:sp>
        <p:nvSpPr>
          <p:cNvPr id="17" name="paragraph-372">
            <a:extLst xmlns:a="http://schemas.openxmlformats.org/drawingml/2006/main">
              <a:ext uri="{FF2B5EF4-FFF2-40B4-BE49-F238E27FC236}">
                <a16:creationId xmlns:a16="http://schemas.microsoft.com/office/drawing/2014/main" id="{40E44962-9C4D-4AAE-9D39-39EB7B34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사람은 무엇이 재미있는지와 어떤 결과를 받아들일지를 결정했다. 실행 AI는 그 판단을 코드·데이터·문서로 옮겼다. 독립 감사 AI는 구현자의 설명을 믿지 않고 테스트, 렌더, 저장 복구, 수치 산식을 다시 확인했다. 최종 채택 여부는 다시 사람이 판단했다.</a:t>
            </a:r>
          </a:p>
        </p:txBody>
      </p:sp>
      <p:sp>
        <p:nvSpPr>
          <p:cNvPr id="18" name="table-cell-468.96000000000004-0-0">
            <a:extLst xmlns:a="http://schemas.openxmlformats.org/drawingml/2006/main">
              <a:ext uri="{FF2B5EF4-FFF2-40B4-BE49-F238E27FC236}">
                <a16:creationId xmlns:a16="http://schemas.microsoft.com/office/drawing/2014/main" id="{FB2BF14C-2B1B-430C-A4F4-D337A4B1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66844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468.96000000000004-0-0">
            <a:extLst xmlns:a="http://schemas.openxmlformats.org/drawingml/2006/main">
              <a:ext uri="{FF2B5EF4-FFF2-40B4-BE49-F238E27FC236}">
                <a16:creationId xmlns:a16="http://schemas.microsoft.com/office/drawing/2014/main" id="{2879211D-2CA9-434D-8EAD-32ECB34A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33519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영역</a:t>
            </a:r>
          </a:p>
        </p:txBody>
      </p:sp>
      <p:sp>
        <p:nvSpPr>
          <p:cNvPr id="20" name="table-cell-468.96000000000004-0-1">
            <a:extLst xmlns:a="http://schemas.openxmlformats.org/drawingml/2006/main">
              <a:ext uri="{FF2B5EF4-FFF2-40B4-BE49-F238E27FC236}">
                <a16:creationId xmlns:a16="http://schemas.microsoft.com/office/drawing/2014/main" id="{B3144DC0-1558-4DCC-AF6C-90DFC127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4466844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468.96000000000004-0-1">
            <a:extLst xmlns:a="http://schemas.openxmlformats.org/drawingml/2006/main">
              <a:ext uri="{FF2B5EF4-FFF2-40B4-BE49-F238E27FC236}">
                <a16:creationId xmlns:a16="http://schemas.microsoft.com/office/drawing/2014/main" id="{2E5176E2-2C38-434A-A94E-1D1FEB84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4533519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사람</a:t>
            </a:r>
          </a:p>
        </p:txBody>
      </p:sp>
      <p:sp>
        <p:nvSpPr>
          <p:cNvPr id="22" name="table-cell-468.96000000000004-0-2">
            <a:extLst xmlns:a="http://schemas.openxmlformats.org/drawingml/2006/main">
              <a:ext uri="{FF2B5EF4-FFF2-40B4-BE49-F238E27FC236}">
                <a16:creationId xmlns:a16="http://schemas.microsoft.com/office/drawing/2014/main" id="{FC788E21-B1C9-42FB-A76A-A0F0A0A8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466844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468.96000000000004-0-2">
            <a:extLst xmlns:a="http://schemas.openxmlformats.org/drawingml/2006/main">
              <a:ext uri="{FF2B5EF4-FFF2-40B4-BE49-F238E27FC236}">
                <a16:creationId xmlns:a16="http://schemas.microsoft.com/office/drawing/2014/main" id="{1B8E799D-CEEC-4E4E-B4FA-9705940D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533519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 실행</a:t>
            </a:r>
          </a:p>
        </p:txBody>
      </p:sp>
      <p:sp>
        <p:nvSpPr>
          <p:cNvPr id="24" name="table-cell-468.96000000000004-0-3">
            <a:extLst xmlns:a="http://schemas.openxmlformats.org/drawingml/2006/main">
              <a:ext uri="{FF2B5EF4-FFF2-40B4-BE49-F238E27FC236}">
                <a16:creationId xmlns:a16="http://schemas.microsoft.com/office/drawing/2014/main" id="{104FFCB9-9D46-4EA7-B789-A2131B5E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466844"/>
            <a:ext cx="162401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468.96000000000004-0-3">
            <a:extLst xmlns:a="http://schemas.openxmlformats.org/drawingml/2006/main">
              <a:ext uri="{FF2B5EF4-FFF2-40B4-BE49-F238E27FC236}">
                <a16:creationId xmlns:a16="http://schemas.microsoft.com/office/drawing/2014/main" id="{DDDD1A20-C52E-464E-BC2D-18D0D1EA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4533519"/>
            <a:ext cx="145256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AI 감사</a:t>
            </a:r>
          </a:p>
        </p:txBody>
      </p:sp>
      <p:sp>
        <p:nvSpPr>
          <p:cNvPr id="26" name="table-cell-468.96000000000004-1-0">
            <a:extLst xmlns:a="http://schemas.openxmlformats.org/drawingml/2006/main">
              <a:ext uri="{FF2B5EF4-FFF2-40B4-BE49-F238E27FC236}">
                <a16:creationId xmlns:a16="http://schemas.microsoft.com/office/drawing/2014/main" id="{15BFAEF3-018D-4AD3-BD0D-E4559D31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240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468.96000000000004-1-0">
            <a:extLst xmlns:a="http://schemas.openxmlformats.org/drawingml/2006/main">
              <a:ext uri="{FF2B5EF4-FFF2-40B4-BE49-F238E27FC236}">
                <a16:creationId xmlns:a16="http://schemas.microsoft.com/office/drawing/2014/main" id="{2C351E98-A42E-4124-AB94-674D3D38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907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핵심 게임 아이디어</a:t>
            </a:r>
          </a:p>
        </p:txBody>
      </p:sp>
      <p:sp>
        <p:nvSpPr>
          <p:cNvPr id="28" name="table-cell-468.96000000000004-1-1">
            <a:extLst xmlns:a="http://schemas.openxmlformats.org/drawingml/2006/main">
              <a:ext uri="{FF2B5EF4-FFF2-40B4-BE49-F238E27FC236}">
                <a16:creationId xmlns:a16="http://schemas.microsoft.com/office/drawing/2014/main" id="{99B9B43D-6350-4425-9BF7-6EB3FA84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49240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9" name="table-text-468.96000000000004-1-1">
            <a:extLst xmlns:a="http://schemas.openxmlformats.org/drawingml/2006/main">
              <a:ext uri="{FF2B5EF4-FFF2-40B4-BE49-F238E27FC236}">
                <a16:creationId xmlns:a16="http://schemas.microsoft.com/office/drawing/2014/main" id="{1C51B83F-9FA5-4DBB-BECA-4EA40CB4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49907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이전과 장면 변화의 재미를 결정</a:t>
            </a:r>
          </a:p>
        </p:txBody>
      </p:sp>
      <p:sp>
        <p:nvSpPr>
          <p:cNvPr id="30" name="table-cell-468.96000000000004-1-2">
            <a:extLst xmlns:a="http://schemas.openxmlformats.org/drawingml/2006/main">
              <a:ext uri="{FF2B5EF4-FFF2-40B4-BE49-F238E27FC236}">
                <a16:creationId xmlns:a16="http://schemas.microsoft.com/office/drawing/2014/main" id="{CF898797-D908-4B95-89CB-0C0B822A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9240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1" name="table-text-468.96000000000004-1-2">
            <a:extLst xmlns:a="http://schemas.openxmlformats.org/drawingml/2006/main">
              <a:ext uri="{FF2B5EF4-FFF2-40B4-BE49-F238E27FC236}">
                <a16:creationId xmlns:a16="http://schemas.microsoft.com/office/drawing/2014/main" id="{EE2D84E7-BB0B-4623-94F1-3F21AE975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9907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규칙 대안과 구현안을 제시</a:t>
            </a:r>
          </a:p>
        </p:txBody>
      </p:sp>
      <p:sp>
        <p:nvSpPr>
          <p:cNvPr id="32" name="table-cell-468.96000000000004-1-3">
            <a:extLst xmlns:a="http://schemas.openxmlformats.org/drawingml/2006/main">
              <a:ext uri="{FF2B5EF4-FFF2-40B4-BE49-F238E27FC236}">
                <a16:creationId xmlns:a16="http://schemas.microsoft.com/office/drawing/2014/main" id="{3641665E-CCCD-441A-9CF1-4C9DD5FD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9240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3" name="table-text-468.96000000000004-1-3">
            <a:extLst xmlns:a="http://schemas.openxmlformats.org/drawingml/2006/main">
              <a:ext uri="{FF2B5EF4-FFF2-40B4-BE49-F238E27FC236}">
                <a16:creationId xmlns:a16="http://schemas.microsoft.com/office/drawing/2014/main" id="{FEFCB51F-9F93-4B45-BB10-376FA0A1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49907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별도 감사 없음</a:t>
            </a:r>
          </a:p>
        </p:txBody>
      </p:sp>
      <p:sp>
        <p:nvSpPr>
          <p:cNvPr id="34" name="table-cell-468.96000000000004-2-0">
            <a:extLst xmlns:a="http://schemas.openxmlformats.org/drawingml/2006/main">
              <a:ext uri="{FF2B5EF4-FFF2-40B4-BE49-F238E27FC236}">
                <a16:creationId xmlns:a16="http://schemas.microsoft.com/office/drawing/2014/main" id="{DD6D12BA-1D89-43CC-8845-9A661577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2409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5" name="table-text-468.96000000000004-2-0">
            <a:extLst xmlns:a="http://schemas.openxmlformats.org/drawingml/2006/main">
              <a:ext uri="{FF2B5EF4-FFF2-40B4-BE49-F238E27FC236}">
                <a16:creationId xmlns:a16="http://schemas.microsoft.com/office/drawing/2014/main" id="{1071BBD9-462A-46F0-963A-0E54CBC0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9076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스테이지 설계</a:t>
            </a:r>
          </a:p>
        </p:txBody>
      </p:sp>
      <p:sp>
        <p:nvSpPr>
          <p:cNvPr id="36" name="table-cell-468.96000000000004-2-1">
            <a:extLst xmlns:a="http://schemas.openxmlformats.org/drawingml/2006/main">
              <a:ext uri="{FF2B5EF4-FFF2-40B4-BE49-F238E27FC236}">
                <a16:creationId xmlns:a16="http://schemas.microsoft.com/office/drawing/2014/main" id="{6B8D094F-60E4-4D10-B3DA-08AAC9D9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532409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7" name="table-text-468.96000000000004-2-1">
            <a:extLst xmlns:a="http://schemas.openxmlformats.org/drawingml/2006/main">
              <a:ext uri="{FF2B5EF4-FFF2-40B4-BE49-F238E27FC236}">
                <a16:creationId xmlns:a16="http://schemas.microsoft.com/office/drawing/2014/main" id="{A0FA25EE-F02B-48A1-8CAC-106BB399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539076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학습 순서와 난이도 기준을 승인</a:t>
            </a:r>
          </a:p>
        </p:txBody>
      </p:sp>
      <p:sp>
        <p:nvSpPr>
          <p:cNvPr id="38" name="table-cell-468.96000000000004-2-2">
            <a:extLst xmlns:a="http://schemas.openxmlformats.org/drawingml/2006/main">
              <a:ext uri="{FF2B5EF4-FFF2-40B4-BE49-F238E27FC236}">
                <a16:creationId xmlns:a16="http://schemas.microsoft.com/office/drawing/2014/main" id="{60959FE3-3A81-4D68-A1CA-5C988EA1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32409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9" name="table-text-468.96000000000004-2-2">
            <a:extLst xmlns:a="http://schemas.openxmlformats.org/drawingml/2006/main">
              <a:ext uri="{FF2B5EF4-FFF2-40B4-BE49-F238E27FC236}">
                <a16:creationId xmlns:a16="http://schemas.microsoft.com/office/drawing/2014/main" id="{FBAB8DF2-E366-4810-88E8-71382AEE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9076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7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10단계·40패턴과 대표 해법 구현</a:t>
            </a:r>
          </a:p>
        </p:txBody>
      </p:sp>
      <p:sp>
        <p:nvSpPr>
          <p:cNvPr id="40" name="table-cell-468.96000000000004-2-3">
            <a:extLst xmlns:a="http://schemas.openxmlformats.org/drawingml/2006/main">
              <a:ext uri="{FF2B5EF4-FFF2-40B4-BE49-F238E27FC236}">
                <a16:creationId xmlns:a16="http://schemas.microsoft.com/office/drawing/2014/main" id="{9C7B2653-2851-4CDE-8751-421B950A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532409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1" name="table-text-468.96000000000004-2-3">
            <a:extLst xmlns:a="http://schemas.openxmlformats.org/drawingml/2006/main">
              <a:ext uri="{FF2B5EF4-FFF2-40B4-BE49-F238E27FC236}">
                <a16:creationId xmlns:a16="http://schemas.microsoft.com/office/drawing/2014/main" id="{E56514F2-1EC3-4A8A-A4CF-21015950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39076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2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Validator·회귀·기믹 우위 재검증</a:t>
            </a:r>
          </a:p>
        </p:txBody>
      </p:sp>
      <p:sp>
        <p:nvSpPr>
          <p:cNvPr id="42" name="table-cell-468.96000000000004-3-0">
            <a:extLst xmlns:a="http://schemas.openxmlformats.org/drawingml/2006/main">
              <a:ext uri="{FF2B5EF4-FFF2-40B4-BE49-F238E27FC236}">
                <a16:creationId xmlns:a16="http://schemas.microsoft.com/office/drawing/2014/main" id="{CCB6798C-A96E-4E2E-BFCF-F4321CC2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241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3" name="table-text-468.96000000000004-3-0">
            <a:extLst xmlns:a="http://schemas.openxmlformats.org/drawingml/2006/main">
              <a:ext uri="{FF2B5EF4-FFF2-40B4-BE49-F238E27FC236}">
                <a16:creationId xmlns:a16="http://schemas.microsoft.com/office/drawing/2014/main" id="{5D3ACCD4-2A16-4A68-9E16-3A465081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908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ShotResolver</a:t>
            </a:r>
          </a:p>
        </p:txBody>
      </p:sp>
      <p:sp>
        <p:nvSpPr>
          <p:cNvPr id="44" name="table-cell-468.96000000000004-3-1">
            <a:extLst xmlns:a="http://schemas.openxmlformats.org/drawingml/2006/main">
              <a:ext uri="{FF2B5EF4-FFF2-40B4-BE49-F238E27FC236}">
                <a16:creationId xmlns:a16="http://schemas.microsoft.com/office/drawing/2014/main" id="{473FE13F-C450-47B4-A598-ABF645F2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57241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5" name="table-text-468.96000000000004-3-1">
            <a:extLst xmlns:a="http://schemas.openxmlformats.org/drawingml/2006/main">
              <a:ext uri="{FF2B5EF4-FFF2-40B4-BE49-F238E27FC236}">
                <a16:creationId xmlns:a16="http://schemas.microsoft.com/office/drawing/2014/main" id="{A714F9F4-4865-4B40-9356-898AAD39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57908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물리 규칙과 허용할 풀이를 승인</a:t>
            </a:r>
          </a:p>
        </p:txBody>
      </p:sp>
      <p:sp>
        <p:nvSpPr>
          <p:cNvPr id="46" name="table-cell-468.96000000000004-3-2">
            <a:extLst xmlns:a="http://schemas.openxmlformats.org/drawingml/2006/main">
              <a:ext uri="{FF2B5EF4-FFF2-40B4-BE49-F238E27FC236}">
                <a16:creationId xmlns:a16="http://schemas.microsoft.com/office/drawing/2014/main" id="{9D061BFB-F1C9-41AA-B400-87C92C95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7241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7" name="table-text-468.96000000000004-3-2">
            <a:extLst xmlns:a="http://schemas.openxmlformats.org/drawingml/2006/main">
              <a:ext uri="{FF2B5EF4-FFF2-40B4-BE49-F238E27FC236}">
                <a16:creationId xmlns:a16="http://schemas.microsoft.com/office/drawing/2014/main" id="{E1BBCAED-774F-40F9-BA37-848641F0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7908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결정론적 판정기 구현·수정</a:t>
            </a:r>
          </a:p>
        </p:txBody>
      </p:sp>
      <p:sp>
        <p:nvSpPr>
          <p:cNvPr id="48" name="table-cell-468.96000000000004-3-3">
            <a:extLst xmlns:a="http://schemas.openxmlformats.org/drawingml/2006/main">
              <a:ext uri="{FF2B5EF4-FFF2-40B4-BE49-F238E27FC236}">
                <a16:creationId xmlns:a16="http://schemas.microsoft.com/office/drawing/2014/main" id="{9641F2C2-C532-4D64-8E2D-DEC65541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5724144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9" name="table-text-468.96000000000004-3-3">
            <a:extLst xmlns:a="http://schemas.openxmlformats.org/drawingml/2006/main">
              <a:ext uri="{FF2B5EF4-FFF2-40B4-BE49-F238E27FC236}">
                <a16:creationId xmlns:a16="http://schemas.microsoft.com/office/drawing/2014/main" id="{512AFEEF-3B02-4444-AB3E-26C98DCB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790819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반복 결과·리플레이 지문 감사</a:t>
            </a:r>
          </a:p>
        </p:txBody>
      </p:sp>
      <p:sp>
        <p:nvSpPr>
          <p:cNvPr id="50" name="table-cell-468.96000000000004-4-0">
            <a:extLst xmlns:a="http://schemas.openxmlformats.org/drawingml/2006/main">
              <a:ext uri="{FF2B5EF4-FFF2-40B4-BE49-F238E27FC236}">
                <a16:creationId xmlns:a16="http://schemas.microsoft.com/office/drawing/2014/main" id="{E0068F76-105C-4EB5-9140-085844CE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24194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1" name="table-text-468.96000000000004-4-0">
            <a:extLst xmlns:a="http://schemas.openxmlformats.org/drawingml/2006/main">
              <a:ext uri="{FF2B5EF4-FFF2-40B4-BE49-F238E27FC236}">
                <a16:creationId xmlns:a16="http://schemas.microsoft.com/office/drawing/2014/main" id="{0649E028-FD79-403D-8545-D1D4C2C6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90869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힌트</a:t>
            </a:r>
          </a:p>
        </p:txBody>
      </p:sp>
      <p:sp>
        <p:nvSpPr>
          <p:cNvPr id="52" name="table-cell-468.96000000000004-4-1">
            <a:extLst xmlns:a="http://schemas.openxmlformats.org/drawingml/2006/main">
              <a:ext uri="{FF2B5EF4-FFF2-40B4-BE49-F238E27FC236}">
                <a16:creationId xmlns:a16="http://schemas.microsoft.com/office/drawing/2014/main" id="{5B3A65B7-9574-481E-86F1-89E489A3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6124194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3" name="table-text-468.96000000000004-4-1">
            <a:extLst xmlns:a="http://schemas.openxmlformats.org/drawingml/2006/main">
              <a:ext uri="{FF2B5EF4-FFF2-40B4-BE49-F238E27FC236}">
                <a16:creationId xmlns:a16="http://schemas.microsoft.com/office/drawing/2014/main" id="{C8A08BE1-9FE4-4C53-B1B9-28178BF1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6190869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구체성, 공개 단계, 정답 노출 금지 기준 결정</a:t>
            </a:r>
          </a:p>
        </p:txBody>
      </p:sp>
      <p:sp>
        <p:nvSpPr>
          <p:cNvPr id="54" name="table-cell-468.96000000000004-4-2">
            <a:extLst xmlns:a="http://schemas.openxmlformats.org/drawingml/2006/main">
              <a:ext uri="{FF2B5EF4-FFF2-40B4-BE49-F238E27FC236}">
                <a16:creationId xmlns:a16="http://schemas.microsoft.com/office/drawing/2014/main" id="{87D06B59-F3E7-45E6-B11E-6AA7C3C8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24194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5" name="table-text-468.96000000000004-4-2">
            <a:extLst xmlns:a="http://schemas.openxmlformats.org/drawingml/2006/main">
              <a:ext uri="{FF2B5EF4-FFF2-40B4-BE49-F238E27FC236}">
                <a16:creationId xmlns:a16="http://schemas.microsoft.com/office/drawing/2014/main" id="{DC9B62E7-8C31-4CE4-AF2B-12240A7A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190869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 L1/L2 작성·연결</a:t>
            </a:r>
          </a:p>
        </p:txBody>
      </p:sp>
      <p:sp>
        <p:nvSpPr>
          <p:cNvPr id="56" name="table-cell-468.96000000000004-4-3">
            <a:extLst xmlns:a="http://schemas.openxmlformats.org/drawingml/2006/main">
              <a:ext uri="{FF2B5EF4-FFF2-40B4-BE49-F238E27FC236}">
                <a16:creationId xmlns:a16="http://schemas.microsoft.com/office/drawing/2014/main" id="{B9B27066-B1DA-4104-A6FF-82BC77C6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6124194"/>
            <a:ext cx="1624013" cy="5057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7" name="table-text-468.96000000000004-4-3">
            <a:extLst xmlns:a="http://schemas.openxmlformats.org/drawingml/2006/main">
              <a:ext uri="{FF2B5EF4-FFF2-40B4-BE49-F238E27FC236}">
                <a16:creationId xmlns:a16="http://schemas.microsoft.com/office/drawing/2014/main" id="{AAFBB31E-FCBA-4068-A239-7D5B77D4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6190869"/>
            <a:ext cx="1452563" cy="372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패턴·기물 참조와 저장 복구 검사</a:t>
            </a:r>
          </a:p>
        </p:txBody>
      </p:sp>
      <p:sp>
        <p:nvSpPr>
          <p:cNvPr id="58" name="table-cell-468.96000000000004-5-0">
            <a:extLst xmlns:a="http://schemas.openxmlformats.org/drawingml/2006/main">
              <a:ext uri="{FF2B5EF4-FFF2-40B4-BE49-F238E27FC236}">
                <a16:creationId xmlns:a16="http://schemas.microsoft.com/office/drawing/2014/main" id="{DAEC4B2D-7E70-41A9-9B11-582656F7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2997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9" name="table-text-468.96000000000004-5-0">
            <a:extLst xmlns:a="http://schemas.openxmlformats.org/drawingml/2006/main">
              <a:ext uri="{FF2B5EF4-FFF2-40B4-BE49-F238E27FC236}">
                <a16:creationId xmlns:a16="http://schemas.microsoft.com/office/drawing/2014/main" id="{DBCEA297-CC6C-435D-826A-C2405A76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69664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UI</a:t>
            </a:r>
          </a:p>
        </p:txBody>
      </p:sp>
      <p:sp>
        <p:nvSpPr>
          <p:cNvPr id="60" name="table-cell-468.96000000000004-5-1">
            <a:extLst xmlns:a="http://schemas.openxmlformats.org/drawingml/2006/main">
              <a:ext uri="{FF2B5EF4-FFF2-40B4-BE49-F238E27FC236}">
                <a16:creationId xmlns:a16="http://schemas.microsoft.com/office/drawing/2014/main" id="{EE19ACC2-48AE-4C4B-A637-88E2903D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662997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1" name="table-text-468.96000000000004-5-1">
            <a:extLst xmlns:a="http://schemas.openxmlformats.org/drawingml/2006/main">
              <a:ext uri="{FF2B5EF4-FFF2-40B4-BE49-F238E27FC236}">
                <a16:creationId xmlns:a16="http://schemas.microsoft.com/office/drawing/2014/main" id="{564D6E36-95FA-4F2D-8258-9278809A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669664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사용성 피드백과 최종 화면 승인</a:t>
            </a:r>
          </a:p>
        </p:txBody>
      </p:sp>
      <p:sp>
        <p:nvSpPr>
          <p:cNvPr id="62" name="table-cell-468.96000000000004-5-2">
            <a:extLst xmlns:a="http://schemas.openxmlformats.org/drawingml/2006/main">
              <a:ext uri="{FF2B5EF4-FFF2-40B4-BE49-F238E27FC236}">
                <a16:creationId xmlns:a16="http://schemas.microsoft.com/office/drawing/2014/main" id="{0B0BB6AE-EE5B-4E01-AB50-D56A80EC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62997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3" name="table-text-468.96000000000004-5-2">
            <a:extLst xmlns:a="http://schemas.openxmlformats.org/drawingml/2006/main">
              <a:ext uri="{FF2B5EF4-FFF2-40B4-BE49-F238E27FC236}">
                <a16:creationId xmlns:a16="http://schemas.microsoft.com/office/drawing/2014/main" id="{BA4F4BAD-4F3E-4C9C-83DD-D23A4EDB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69664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78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게이지·난이도·보상·열쇠 구현</a:t>
            </a:r>
          </a:p>
        </p:txBody>
      </p:sp>
      <p:sp>
        <p:nvSpPr>
          <p:cNvPr id="64" name="table-cell-468.96000000000004-5-3">
            <a:extLst xmlns:a="http://schemas.openxmlformats.org/drawingml/2006/main">
              <a:ext uri="{FF2B5EF4-FFF2-40B4-BE49-F238E27FC236}">
                <a16:creationId xmlns:a16="http://schemas.microsoft.com/office/drawing/2014/main" id="{779A4E74-D40A-4A69-9E1D-D490EB3C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662997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5" name="table-text-468.96000000000004-5-3">
            <a:extLst xmlns:a="http://schemas.openxmlformats.org/drawingml/2006/main">
              <a:ext uri="{FF2B5EF4-FFF2-40B4-BE49-F238E27FC236}">
                <a16:creationId xmlns:a16="http://schemas.microsoft.com/office/drawing/2014/main" id="{A6BB8EC4-AC9B-4B59-8F78-07FBA1EF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669664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3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Golden·접근성·SafeArea 감사</a:t>
            </a:r>
          </a:p>
        </p:txBody>
      </p:sp>
      <p:sp>
        <p:nvSpPr>
          <p:cNvPr id="66" name="table-cell-468.96000000000004-6-0">
            <a:extLst xmlns:a="http://schemas.openxmlformats.org/drawingml/2006/main">
              <a:ext uri="{FF2B5EF4-FFF2-40B4-BE49-F238E27FC236}">
                <a16:creationId xmlns:a16="http://schemas.microsoft.com/office/drawing/2014/main" id="{D58C4A90-3CA4-4D3B-8F95-8E048323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3002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7" name="table-text-468.96000000000004-6-0">
            <a:extLst xmlns:a="http://schemas.openxmlformats.org/drawingml/2006/main">
              <a:ext uri="{FF2B5EF4-FFF2-40B4-BE49-F238E27FC236}">
                <a16:creationId xmlns:a16="http://schemas.microsoft.com/office/drawing/2014/main" id="{C1849428-FDB0-4212-9DE8-61B69326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09669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보고서</a:t>
            </a:r>
          </a:p>
        </p:txBody>
      </p:sp>
      <p:sp>
        <p:nvSpPr>
          <p:cNvPr id="68" name="table-cell-468.96000000000004-6-1">
            <a:extLst xmlns:a="http://schemas.openxmlformats.org/drawingml/2006/main">
              <a:ext uri="{FF2B5EF4-FFF2-40B4-BE49-F238E27FC236}">
                <a16:creationId xmlns:a16="http://schemas.microsoft.com/office/drawing/2014/main" id="{572F6FC8-0B44-49C5-90CD-F7E2DE21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413" y="703002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9" name="table-text-468.96000000000004-6-1">
            <a:extLst xmlns:a="http://schemas.openxmlformats.org/drawingml/2006/main">
              <a:ext uri="{FF2B5EF4-FFF2-40B4-BE49-F238E27FC236}">
                <a16:creationId xmlns:a16="http://schemas.microsoft.com/office/drawing/2014/main" id="{C17CE437-77E4-434C-A3DC-F9CD6BBC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138" y="709669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34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전달할 메시지와 우선순위 결정</a:t>
            </a:r>
          </a:p>
        </p:txBody>
      </p:sp>
      <p:sp>
        <p:nvSpPr>
          <p:cNvPr id="70" name="table-cell-468.96000000000004-6-2">
            <a:extLst xmlns:a="http://schemas.openxmlformats.org/drawingml/2006/main">
              <a:ext uri="{FF2B5EF4-FFF2-40B4-BE49-F238E27FC236}">
                <a16:creationId xmlns:a16="http://schemas.microsoft.com/office/drawing/2014/main" id="{4F324D10-ED79-4F69-AC05-CC4F0D69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03002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1" name="table-text-468.96000000000004-6-2">
            <a:extLst xmlns:a="http://schemas.openxmlformats.org/drawingml/2006/main">
              <a:ext uri="{FF2B5EF4-FFF2-40B4-BE49-F238E27FC236}">
                <a16:creationId xmlns:a16="http://schemas.microsoft.com/office/drawing/2014/main" id="{734DEC22-7A71-4EC2-9FDB-4558EFC6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09669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원고·PDF·PPT 생성</a:t>
            </a:r>
          </a:p>
        </p:txBody>
      </p:sp>
      <p:sp>
        <p:nvSpPr>
          <p:cNvPr id="72" name="table-cell-468.96000000000004-6-3">
            <a:extLst xmlns:a="http://schemas.openxmlformats.org/drawingml/2006/main">
              <a:ext uri="{FF2B5EF4-FFF2-40B4-BE49-F238E27FC236}">
                <a16:creationId xmlns:a16="http://schemas.microsoft.com/office/drawing/2014/main" id="{E6F9F19F-CC41-44DE-93A1-C3D799CA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7030022"/>
            <a:ext cx="16240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73" name="table-text-468.96000000000004-6-3">
            <a:extLst xmlns:a="http://schemas.openxmlformats.org/drawingml/2006/main">
              <a:ext uri="{FF2B5EF4-FFF2-40B4-BE49-F238E27FC236}">
                <a16:creationId xmlns:a16="http://schemas.microsoft.com/office/drawing/2014/main" id="{7B3B1786-F470-4BF1-99C9-94B0F3F3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7096697"/>
            <a:ext cx="145256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수치·출처·렌더 결과 대조</a:t>
            </a:r>
          </a:p>
        </p:txBody>
      </p:sp>
    </p:spTree>
    <p:extLst>
      <p:ext uri="{BB962C8B-B14F-4D97-AF65-F5344CB8AC3E}">
        <p14:creationId xmlns:p14="http://schemas.microsoft.com/office/powerpoint/2010/main" val="20318185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ECF8EEED-645B-4C97-B9A3-DC169D15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946C8A-5347-441F-9F37-4248AEBB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F981A1C-8ED5-46AD-A9FC-C35EDFC3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B10C25-432E-4ED4-9C70-AA55143E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AI가 틀렸고, 검증 과정이 잡아낸 세 사례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070DB96C-9710-4B60-A6F9-30C6C85B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성공 사례만 나열하면 AI를 어떻게 통제했는지 알기 어렵다. 이 프로젝트에서는 AI의 제안과 구현도 테스트 대상이었다. 아래 세 사례는 독립 감사에서 반려된 뒤 계약과 회귀 테스트까지 고친 대표 사례다.</a:t>
            </a:r>
          </a:p>
        </p:txBody>
      </p:sp>
      <p:sp>
        <p:nvSpPr>
          <p:cNvPr id="6" name="subheading-236.96">
            <a:extLst xmlns:a="http://schemas.openxmlformats.org/drawingml/2006/main">
              <a:ext uri="{FF2B5EF4-FFF2-40B4-BE49-F238E27FC236}">
                <a16:creationId xmlns:a16="http://schemas.microsoft.com/office/drawing/2014/main" id="{8394B955-D987-45D1-82BA-16A20E67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5704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서로 다른 표본을 비교한 기믹 우위 지표</a:t>
            </a:r>
          </a:p>
        </p:txBody>
      </p:sp>
      <p:sp>
        <p:nvSpPr>
          <p:cNvPr id="7" name="paragraph-290.96000000000004">
            <a:extLst xmlns:a="http://schemas.openxmlformats.org/drawingml/2006/main">
              <a:ext uri="{FF2B5EF4-FFF2-40B4-BE49-F238E27FC236}">
                <a16:creationId xmlns:a16="http://schemas.microsoft.com/office/drawing/2014/main" id="{11D6EEDA-61D9-4869-A2F9-27E78385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394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자동 검증은 크기가 다른 입력 표본의 성공 개수를 그대로 나눴다. 숫자는 커 보였지만 통계적으로 비교할 수 없는 값이었다. 감사 AI가 계산 방식을 반려했고, 준비 전과 준비 후를 같은 900개 입력 격자에서 비교하도록 다시 설계했다. 같은 마지막 샷이 준비 전에는 실패하는지와 실제 기믹 사건이 발생했는지도 함께 검사했다.</a:t>
            </a:r>
          </a:p>
        </p:txBody>
      </p:sp>
      <p:sp>
        <p:nvSpPr>
          <p:cNvPr id="8" name="subheading-412.24">
            <a:extLst xmlns:a="http://schemas.openxmlformats.org/drawingml/2006/main">
              <a:ext uri="{FF2B5EF4-FFF2-40B4-BE49-F238E27FC236}">
                <a16:creationId xmlns:a16="http://schemas.microsoft.com/office/drawing/2014/main" id="{68AEC972-A710-40CD-A795-A6E3F887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658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80ms마다 말하던 파워 게이지</a:t>
            </a:r>
          </a:p>
        </p:txBody>
      </p:sp>
      <p:sp>
        <p:nvSpPr>
          <p:cNvPr id="9" name="paragraph-466.24">
            <a:extLst xmlns:a="http://schemas.openxmlformats.org/drawingml/2006/main">
              <a:ext uri="{FF2B5EF4-FFF2-40B4-BE49-F238E27FC236}">
                <a16:creationId xmlns:a16="http://schemas.microsoft.com/office/drawing/2014/main" id="{F41F8A3A-76DE-479C-884F-5A47E93C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40936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게이지를 화면 중앙 쪽으로 옮긴 첫 구현은 퍼센트 변화를 live semantics로 내보냈다. 화면 읽기 도구가 약 80ms마다 힘 수치를 읽을 수 있어 오히려 사용성을 해쳤다. 감사 뒤 색 단계만 live 알림으로 남기고, 퍼센트는 필요할 때 읽을 수 있는 non-live 정보로 분리했다.</a:t>
            </a:r>
          </a:p>
        </p:txBody>
      </p:sp>
      <p:sp>
        <p:nvSpPr>
          <p:cNvPr id="10" name="subheading-587.52">
            <a:extLst xmlns:a="http://schemas.openxmlformats.org/drawingml/2006/main">
              <a:ext uri="{FF2B5EF4-FFF2-40B4-BE49-F238E27FC236}">
                <a16:creationId xmlns:a16="http://schemas.microsoft.com/office/drawing/2014/main" id="{84152C55-886E-4976-BC4D-33B23B0F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96128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3.3 재개 시 완료 난이도가 바뀔 수 있던 저장 구조</a:t>
            </a:r>
          </a:p>
        </p:txBody>
      </p:sp>
      <p:sp>
        <p:nvSpPr>
          <p:cNvPr id="11" name="paragraph-641.52">
            <a:extLst xmlns:a="http://schemas.openxmlformats.org/drawingml/2006/main">
              <a:ext uri="{FF2B5EF4-FFF2-40B4-BE49-F238E27FC236}">
                <a16:creationId xmlns:a16="http://schemas.microsoft.com/office/drawing/2014/main" id="{8A3C638A-80DC-40AC-A5FA-EB9B6732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10478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모드의 기록을 보통 기록과 분리했지만, 앱을 재개할 때 현재 설정이 과거 완료 건의 난이도를 덮을 가능성이 발견됐다. 완료 건의 run·stage·pattern·seed에 난이도를 한 번만 귀속하는 first-write-wins 저장을 추가했다. 정상 완료, 완료 상태 복구, 성공 직후 크래시 복구를 보통 / 쉬움 / 귀속 정보 없음 행렬로 검증했다.</a:t>
            </a:r>
          </a:p>
        </p:txBody>
      </p:sp>
      <p:sp>
        <p:nvSpPr>
          <p:cNvPr id="12" name="paragraph-762.8">
            <a:extLst xmlns:a="http://schemas.openxmlformats.org/drawingml/2006/main">
              <a:ext uri="{FF2B5EF4-FFF2-40B4-BE49-F238E27FC236}">
                <a16:creationId xmlns:a16="http://schemas.microsoft.com/office/drawing/2014/main" id="{C665CE88-BC8C-4DF9-A98B-0A021ED4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6567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 세 사례는 AI를 많이 썼다는 사실보다 더 중요한 결론을 남겼다. AI가 만든 코드, 지표, 문장도 다른 AI와 실행 증거로 다시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9135040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1C8EE911-8834-4E18-A193-31F7C9B7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20BC45-A185-4B00-AEB7-175D469D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B838F39-2A3E-448F-B2D6-2E948C76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4C82C2-8F42-4483-A859-290FE34E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프롬프트가 실제 작업으로 바뀌는 흐름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1E9689C1-87B3-4BFF-B847-8D284B24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공통 제작 루프</a:t>
            </a:r>
          </a:p>
        </p:txBody>
      </p:sp>
      <p:sp>
        <p:nvSpPr>
          <p:cNvPr id="6" name="workflow-arrow-194-0">
            <a:extLst xmlns:a="http://schemas.openxmlformats.org/drawingml/2006/main">
              <a:ext uri="{FF2B5EF4-FFF2-40B4-BE49-F238E27FC236}">
                <a16:creationId xmlns:a16="http://schemas.microsoft.com/office/drawing/2014/main" id="{058DB534-D1CB-4518-9E3D-AAE10904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133600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workflow-arrow-194-1">
            <a:extLst xmlns:a="http://schemas.openxmlformats.org/drawingml/2006/main">
              <a:ext uri="{FF2B5EF4-FFF2-40B4-BE49-F238E27FC236}">
                <a16:creationId xmlns:a16="http://schemas.microsoft.com/office/drawing/2014/main" id="{98D7ABD8-CFF6-4285-B52C-7CEFC29B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33600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workflow-arrow-194-2">
            <a:extLst xmlns:a="http://schemas.openxmlformats.org/drawingml/2006/main">
              <a:ext uri="{FF2B5EF4-FFF2-40B4-BE49-F238E27FC236}">
                <a16:creationId xmlns:a16="http://schemas.microsoft.com/office/drawing/2014/main" id="{B4F4A80C-E7C7-4D36-9F13-076AAE04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133600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workflow-arrow-194-3">
            <a:extLst xmlns:a="http://schemas.openxmlformats.org/drawingml/2006/main">
              <a:ext uri="{FF2B5EF4-FFF2-40B4-BE49-F238E27FC236}">
                <a16:creationId xmlns:a16="http://schemas.microsoft.com/office/drawing/2014/main" id="{4313BBE0-675D-41D2-AB43-ECE71D87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33600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workflow-node-194-0">
            <a:extLst xmlns:a="http://schemas.openxmlformats.org/drawingml/2006/main">
              <a:ext uri="{FF2B5EF4-FFF2-40B4-BE49-F238E27FC236}">
                <a16:creationId xmlns:a16="http://schemas.microsoft.com/office/drawing/2014/main" id="{7B5923C2-B680-4D7B-B948-305DC747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1" name="workflow-label-194-0">
            <a:extLst xmlns:a="http://schemas.openxmlformats.org/drawingml/2006/main">
              <a:ext uri="{FF2B5EF4-FFF2-40B4-BE49-F238E27FC236}">
                <a16:creationId xmlns:a16="http://schemas.microsoft.com/office/drawing/2014/main" id="{185D5C82-D18D-401B-A0EA-79334E1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91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사용자 피드백</a:t>
            </a:r>
          </a:p>
        </p:txBody>
      </p:sp>
      <p:sp>
        <p:nvSpPr>
          <p:cNvPr id="12" name="workflow-node-194-1">
            <a:extLst xmlns:a="http://schemas.openxmlformats.org/drawingml/2006/main">
              <a:ext uri="{FF2B5EF4-FFF2-40B4-BE49-F238E27FC236}">
                <a16:creationId xmlns:a16="http://schemas.microsoft.com/office/drawing/2014/main" id="{F0A6C57F-FDFF-4703-939E-C1019900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847850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3" name="workflow-label-194-1">
            <a:extLst xmlns:a="http://schemas.openxmlformats.org/drawingml/2006/main">
              <a:ext uri="{FF2B5EF4-FFF2-40B4-BE49-F238E27FC236}">
                <a16:creationId xmlns:a16="http://schemas.microsoft.com/office/drawing/2014/main" id="{D415565B-19A7-48DB-BC62-1938D233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764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 계약</a:t>
            </a:r>
          </a:p>
        </p:txBody>
      </p:sp>
      <p:sp>
        <p:nvSpPr>
          <p:cNvPr id="14" name="workflow-node-194-2">
            <a:extLst xmlns:a="http://schemas.openxmlformats.org/drawingml/2006/main">
              <a:ext uri="{FF2B5EF4-FFF2-40B4-BE49-F238E27FC236}">
                <a16:creationId xmlns:a16="http://schemas.microsoft.com/office/drawing/2014/main" id="{F6B08EFA-7BC4-4EA3-8505-C0CC08CA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47850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5" name="workflow-label-194-2">
            <a:extLst xmlns:a="http://schemas.openxmlformats.org/drawingml/2006/main">
              <a:ext uri="{FF2B5EF4-FFF2-40B4-BE49-F238E27FC236}">
                <a16:creationId xmlns:a16="http://schemas.microsoft.com/office/drawing/2014/main" id="{76727658-3FF0-45F0-98F0-E4028621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764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전문 실행</a:t>
            </a:r>
          </a:p>
        </p:txBody>
      </p:sp>
      <p:sp>
        <p:nvSpPr>
          <p:cNvPr id="16" name="workflow-node-194-3">
            <a:extLst xmlns:a="http://schemas.openxmlformats.org/drawingml/2006/main">
              <a:ext uri="{FF2B5EF4-FFF2-40B4-BE49-F238E27FC236}">
                <a16:creationId xmlns:a16="http://schemas.microsoft.com/office/drawing/2014/main" id="{D31CD34A-6BE1-404A-BD08-D7CFCE51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47850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3335">
            <a:solidFill>
              <a:srgbClr val="F47661"/>
            </a:solidFill>
            <a:prstDash val="solid"/>
          </a:ln>
        </p:spPr>
      </p:sp>
      <p:sp>
        <p:nvSpPr>
          <p:cNvPr id="17" name="workflow-label-194-3">
            <a:extLst xmlns:a="http://schemas.openxmlformats.org/drawingml/2006/main">
              <a:ext uri="{FF2B5EF4-FFF2-40B4-BE49-F238E27FC236}">
                <a16:creationId xmlns:a16="http://schemas.microsoft.com/office/drawing/2014/main" id="{3FD72B0B-A25D-4DCE-A92A-F98A235E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0764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</a:t>
            </a:r>
          </a:p>
        </p:txBody>
      </p:sp>
      <p:sp>
        <p:nvSpPr>
          <p:cNvPr id="18" name="workflow-node-194-4">
            <a:extLst xmlns:a="http://schemas.openxmlformats.org/drawingml/2006/main">
              <a:ext uri="{FF2B5EF4-FFF2-40B4-BE49-F238E27FC236}">
                <a16:creationId xmlns:a16="http://schemas.microsoft.com/office/drawing/2014/main" id="{D936C2DB-6BCF-4924-A4BE-EBDA1CEE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847850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9" name="workflow-label-194-4">
            <a:extLst xmlns:a="http://schemas.openxmlformats.org/drawingml/2006/main">
              <a:ext uri="{FF2B5EF4-FFF2-40B4-BE49-F238E27FC236}">
                <a16:creationId xmlns:a16="http://schemas.microsoft.com/office/drawing/2014/main" id="{2A14B3A7-57D9-4B85-BCF1-41092E7B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764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증거·통합</a:t>
            </a:r>
          </a:p>
        </p:txBody>
      </p:sp>
      <p:sp>
        <p:nvSpPr>
          <p:cNvPr id="20" name="workflow-note-194">
            <a:extLst xmlns:a="http://schemas.openxmlformats.org/drawingml/2006/main">
              <a:ext uri="{FF2B5EF4-FFF2-40B4-BE49-F238E27FC236}">
                <a16:creationId xmlns:a16="http://schemas.microsoft.com/office/drawing/2014/main" id="{46D27D3A-F916-4E71-8088-21ABF4C6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14650"/>
            <a:ext cx="649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감사에서 문제가 발견되면 기능 계약 단계로 돌아간다.</a:t>
            </a:r>
          </a:p>
        </p:txBody>
      </p:sp>
      <p:sp>
        <p:nvSpPr>
          <p:cNvPr id="21" name="paragraph-360">
            <a:extLst xmlns:a="http://schemas.openxmlformats.org/drawingml/2006/main">
              <a:ext uri="{FF2B5EF4-FFF2-40B4-BE49-F238E27FC236}">
                <a16:creationId xmlns:a16="http://schemas.microsoft.com/office/drawing/2014/main" id="{A0ECFA94-7EA4-43C9-AA12-D2B6F770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사용자 피드백을 기능 계약으로 바꾸고, 담당 에이전트가 구현한 뒤 독립 감사와 실행 증거를 거쳐 통합했다. 감사에서 문제가 나오면 완료로 처리하지 않고 계약 단계로 되돌렸다.</a:t>
            </a:r>
          </a:p>
        </p:txBody>
      </p:sp>
      <p:sp>
        <p:nvSpPr>
          <p:cNvPr id="22" name="subheading-432.64">
            <a:extLst xmlns:a="http://schemas.openxmlformats.org/drawingml/2006/main">
              <a:ext uri="{FF2B5EF4-FFF2-40B4-BE49-F238E27FC236}">
                <a16:creationId xmlns:a16="http://schemas.microsoft.com/office/drawing/2014/main" id="{D75E2350-3000-4F40-B48D-1953F31A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2089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4.2 실제 프롬프트를 작업 계약으로 바꾼 예</a:t>
            </a:r>
          </a:p>
        </p:txBody>
      </p:sp>
      <p:sp>
        <p:nvSpPr>
          <p:cNvPr id="23" name="table-cell-486.64-0-0">
            <a:extLst xmlns:a="http://schemas.openxmlformats.org/drawingml/2006/main">
              <a:ext uri="{FF2B5EF4-FFF2-40B4-BE49-F238E27FC236}">
                <a16:creationId xmlns:a16="http://schemas.microsoft.com/office/drawing/2014/main" id="{6FBCEAE1-1501-46D9-87DB-6D267F40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352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486.64-0-0">
            <a:extLst xmlns:a="http://schemas.openxmlformats.org/drawingml/2006/main">
              <a:ext uri="{FF2B5EF4-FFF2-40B4-BE49-F238E27FC236}">
                <a16:creationId xmlns:a16="http://schemas.microsoft.com/office/drawing/2014/main" id="{8E9318C4-EFC6-454F-8B9D-741A3059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019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실제 프롬프트 발췌</a:t>
            </a:r>
          </a:p>
        </p:txBody>
      </p:sp>
      <p:sp>
        <p:nvSpPr>
          <p:cNvPr id="25" name="table-cell-486.64-0-1">
            <a:extLst xmlns:a="http://schemas.openxmlformats.org/drawingml/2006/main">
              <a:ext uri="{FF2B5EF4-FFF2-40B4-BE49-F238E27FC236}">
                <a16:creationId xmlns:a16="http://schemas.microsoft.com/office/drawing/2014/main" id="{E5BEE679-F46F-4A2B-94A4-B1423B05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6352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486.64-0-1">
            <a:extLst xmlns:a="http://schemas.openxmlformats.org/drawingml/2006/main">
              <a:ext uri="{FF2B5EF4-FFF2-40B4-BE49-F238E27FC236}">
                <a16:creationId xmlns:a16="http://schemas.microsoft.com/office/drawing/2014/main" id="{925EFC41-BABE-45AF-8C9A-D133B5B0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7019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계약으로 변환한 제약</a:t>
            </a:r>
          </a:p>
        </p:txBody>
      </p:sp>
      <p:sp>
        <p:nvSpPr>
          <p:cNvPr id="27" name="table-cell-486.64-0-2">
            <a:extLst xmlns:a="http://schemas.openxmlformats.org/drawingml/2006/main">
              <a:ext uri="{FF2B5EF4-FFF2-40B4-BE49-F238E27FC236}">
                <a16:creationId xmlns:a16="http://schemas.microsoft.com/office/drawing/2014/main" id="{D5E1C3D1-7940-496C-812C-B03E67F7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6352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486.64-0-2">
            <a:extLst xmlns:a="http://schemas.openxmlformats.org/drawingml/2006/main">
              <a:ext uri="{FF2B5EF4-FFF2-40B4-BE49-F238E27FC236}">
                <a16:creationId xmlns:a16="http://schemas.microsoft.com/office/drawing/2014/main" id="{BC3BF91F-700D-421F-BE14-AFD250E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7019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수행·검증 결과</a:t>
            </a:r>
          </a:p>
        </p:txBody>
      </p:sp>
      <p:sp>
        <p:nvSpPr>
          <p:cNvPr id="29" name="table-cell-486.64-1-0">
            <a:extLst xmlns:a="http://schemas.openxmlformats.org/drawingml/2006/main">
              <a:ext uri="{FF2B5EF4-FFF2-40B4-BE49-F238E27FC236}">
                <a16:creationId xmlns:a16="http://schemas.microsoft.com/office/drawing/2014/main" id="{4D40A520-18A6-479E-AD4B-41460E5A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2446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486.64-1-0">
            <a:extLst xmlns:a="http://schemas.openxmlformats.org/drawingml/2006/main">
              <a:ext uri="{FF2B5EF4-FFF2-40B4-BE49-F238E27FC236}">
                <a16:creationId xmlns:a16="http://schemas.microsoft.com/office/drawing/2014/main" id="{7B25C64E-7938-490A-8B5A-FD228D65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59121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“모바일에서는 손가락 때문에 게이지가 잘 안 보인다.”</a:t>
            </a:r>
          </a:p>
        </p:txBody>
      </p:sp>
      <p:sp>
        <p:nvSpPr>
          <p:cNvPr id="31" name="table-cell-486.64-1-1">
            <a:extLst xmlns:a="http://schemas.openxmlformats.org/drawingml/2006/main">
              <a:ext uri="{FF2B5EF4-FFF2-40B4-BE49-F238E27FC236}">
                <a16:creationId xmlns:a16="http://schemas.microsoft.com/office/drawing/2014/main" id="{E8760772-4BE0-45CF-8215-A271657D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092446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486.64-1-1">
            <a:extLst xmlns:a="http://schemas.openxmlformats.org/drawingml/2006/main">
              <a:ext uri="{FF2B5EF4-FFF2-40B4-BE49-F238E27FC236}">
                <a16:creationId xmlns:a16="http://schemas.microsoft.com/office/drawing/2014/main" id="{DD40FC5C-ED94-439C-AC27-557346CD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159121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입력 임계값과 물리는 유지, 기물·SafeArea·저모션을 보호</a:t>
            </a:r>
          </a:p>
        </p:txBody>
      </p:sp>
      <p:sp>
        <p:nvSpPr>
          <p:cNvPr id="33" name="table-cell-486.64-1-2">
            <a:extLst xmlns:a="http://schemas.openxmlformats.org/drawingml/2006/main">
              <a:ext uri="{FF2B5EF4-FFF2-40B4-BE49-F238E27FC236}">
                <a16:creationId xmlns:a16="http://schemas.microsoft.com/office/drawing/2014/main" id="{64864B38-5C0E-4575-A28E-7DB4A34F4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092446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486.64-1-2">
            <a:extLst xmlns:a="http://schemas.openxmlformats.org/drawingml/2006/main">
              <a:ext uri="{FF2B5EF4-FFF2-40B4-BE49-F238E27FC236}">
                <a16:creationId xmlns:a16="http://schemas.microsoft.com/office/drawing/2014/main" id="{CF6C2E19-F64B-4733-B1DD-0685DAC5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159121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부유 직선 게이지, 좌·우 선호, 접근성·Golden 검사</a:t>
            </a:r>
          </a:p>
        </p:txBody>
      </p:sp>
      <p:sp>
        <p:nvSpPr>
          <p:cNvPr id="35" name="table-cell-486.64-2-0">
            <a:extLst xmlns:a="http://schemas.openxmlformats.org/drawingml/2006/main">
              <a:ext uri="{FF2B5EF4-FFF2-40B4-BE49-F238E27FC236}">
                <a16:creationId xmlns:a16="http://schemas.microsoft.com/office/drawing/2014/main" id="{9488B0F5-53BC-47A6-AD60-3E17144B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23941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486.64-2-0">
            <a:extLst xmlns:a="http://schemas.openxmlformats.org/drawingml/2006/main">
              <a:ext uri="{FF2B5EF4-FFF2-40B4-BE49-F238E27FC236}">
                <a16:creationId xmlns:a16="http://schemas.microsoft.com/office/drawing/2014/main" id="{EC6887BB-346E-4BD4-8863-88F489A0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90616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“게임이 좀 어렵다. 튜토리얼을 조금만 더 쉽게.”</a:t>
            </a:r>
          </a:p>
        </p:txBody>
      </p:sp>
      <p:sp>
        <p:nvSpPr>
          <p:cNvPr id="37" name="table-cell-486.64-2-1">
            <a:extLst xmlns:a="http://schemas.openxmlformats.org/drawingml/2006/main">
              <a:ext uri="{FF2B5EF4-FFF2-40B4-BE49-F238E27FC236}">
                <a16:creationId xmlns:a16="http://schemas.microsoft.com/office/drawing/2014/main" id="{E2944938-DA58-40C5-B931-C7208632A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623941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486.64-2-1">
            <a:extLst xmlns:a="http://schemas.openxmlformats.org/drawingml/2006/main">
              <a:ext uri="{FF2B5EF4-FFF2-40B4-BE49-F238E27FC236}">
                <a16:creationId xmlns:a16="http://schemas.microsoft.com/office/drawing/2014/main" id="{759D040A-4B94-46F5-A038-5B4D1F6E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690616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캠페인 첫 학습만 완화, 오늘의 도전·리플레이·기록 공정성은 불변</a:t>
            </a:r>
          </a:p>
        </p:txBody>
      </p:sp>
      <p:sp>
        <p:nvSpPr>
          <p:cNvPr id="39" name="table-cell-486.64-2-2">
            <a:extLst xmlns:a="http://schemas.openxmlformats.org/drawingml/2006/main">
              <a:ext uri="{FF2B5EF4-FFF2-40B4-BE49-F238E27FC236}">
                <a16:creationId xmlns:a16="http://schemas.microsoft.com/office/drawing/2014/main" id="{0FA4105D-2B1B-46B3-81A7-9471FF3B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623941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486.64-2-2">
            <a:extLst xmlns:a="http://schemas.openxmlformats.org/drawingml/2006/main">
              <a:ext uri="{FF2B5EF4-FFF2-40B4-BE49-F238E27FC236}">
                <a16:creationId xmlns:a16="http://schemas.microsoft.com/office/drawing/2014/main" id="{789A238C-2BB9-47CC-B97D-4537556C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690616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기준 패턴 우선, 인과 힌트, 쉬움 예상 도착 표시</a:t>
            </a:r>
          </a:p>
        </p:txBody>
      </p:sp>
      <p:sp>
        <p:nvSpPr>
          <p:cNvPr id="41" name="table-cell-486.64-3-0">
            <a:extLst xmlns:a="http://schemas.openxmlformats.org/drawingml/2006/main">
              <a:ext uri="{FF2B5EF4-FFF2-40B4-BE49-F238E27FC236}">
                <a16:creationId xmlns:a16="http://schemas.microsoft.com/office/drawing/2014/main" id="{FF4D5194-18DB-4CE2-9AD8-B106420D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5543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2" name="table-text-486.64-3-0">
            <a:extLst xmlns:a="http://schemas.openxmlformats.org/drawingml/2006/main">
              <a:ext uri="{FF2B5EF4-FFF2-40B4-BE49-F238E27FC236}">
                <a16:creationId xmlns:a16="http://schemas.microsoft.com/office/drawing/2014/main" id="{8CC7DE26-D49D-4520-A64B-7101CAD2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22211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“팁은 너무 추상적이면 안 된다.”</a:t>
            </a:r>
          </a:p>
        </p:txBody>
      </p:sp>
      <p:sp>
        <p:nvSpPr>
          <p:cNvPr id="43" name="table-cell-486.64-3-1">
            <a:extLst xmlns:a="http://schemas.openxmlformats.org/drawingml/2006/main">
              <a:ext uri="{FF2B5EF4-FFF2-40B4-BE49-F238E27FC236}">
                <a16:creationId xmlns:a16="http://schemas.microsoft.com/office/drawing/2014/main" id="{F93BF70C-438B-489A-BE1B-26BC312E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15543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486.64-3-1">
            <a:extLst xmlns:a="http://schemas.openxmlformats.org/drawingml/2006/main">
              <a:ext uri="{FF2B5EF4-FFF2-40B4-BE49-F238E27FC236}">
                <a16:creationId xmlns:a16="http://schemas.microsoft.com/office/drawing/2014/main" id="{B97140C9-1AD5-43CA-807C-1535F338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22211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정답 숫자 직행 금지, 패턴·버전·대상 기물에 결속</a:t>
            </a:r>
          </a:p>
        </p:txBody>
      </p:sp>
      <p:sp>
        <p:nvSpPr>
          <p:cNvPr id="45" name="table-cell-486.64-3-2">
            <a:extLst xmlns:a="http://schemas.openxmlformats.org/drawingml/2006/main">
              <a:ext uri="{FF2B5EF4-FFF2-40B4-BE49-F238E27FC236}">
                <a16:creationId xmlns:a16="http://schemas.microsoft.com/office/drawing/2014/main" id="{AD326394-5644-4AA1-B3BB-3BCD7A53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15543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6" name="table-text-486.64-3-2">
            <a:extLst xmlns:a="http://schemas.openxmlformats.org/drawingml/2006/main">
              <a:ext uri="{FF2B5EF4-FFF2-40B4-BE49-F238E27FC236}">
                <a16:creationId xmlns:a16="http://schemas.microsoft.com/office/drawing/2014/main" id="{169650E2-B932-41E8-9E72-F714C518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22211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 L1/L2와 선택형 열쇠, 저장·복구 검증</a:t>
            </a:r>
          </a:p>
        </p:txBody>
      </p:sp>
      <p:sp>
        <p:nvSpPr>
          <p:cNvPr id="47" name="table-cell-486.64-4-0">
            <a:extLst xmlns:a="http://schemas.openxmlformats.org/drawingml/2006/main">
              <a:ext uri="{FF2B5EF4-FFF2-40B4-BE49-F238E27FC236}">
                <a16:creationId xmlns:a16="http://schemas.microsoft.com/office/drawing/2014/main" id="{F3060C96-6FBF-4782-B719-7C4ABEEC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55486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8" name="table-text-486.64-4-0">
            <a:extLst xmlns:a="http://schemas.openxmlformats.org/drawingml/2006/main">
              <a:ext uri="{FF2B5EF4-FFF2-40B4-BE49-F238E27FC236}">
                <a16:creationId xmlns:a16="http://schemas.microsoft.com/office/drawing/2014/main" id="{C941BBDA-7513-437A-99DD-572E92D8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622161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“모든 스테이지에서 기믹 활용이 매우 유리하도록 검증.”</a:t>
            </a:r>
          </a:p>
        </p:txBody>
      </p:sp>
      <p:sp>
        <p:nvSpPr>
          <p:cNvPr id="49" name="table-cell-486.64-4-1">
            <a:extLst xmlns:a="http://schemas.openxmlformats.org/drawingml/2006/main">
              <a:ext uri="{FF2B5EF4-FFF2-40B4-BE49-F238E27FC236}">
                <a16:creationId xmlns:a16="http://schemas.microsoft.com/office/drawing/2014/main" id="{33881B36-729E-4A40-A015-03B51AA0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6555486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0" name="table-text-486.64-4-1">
            <a:extLst xmlns:a="http://schemas.openxmlformats.org/drawingml/2006/main">
              <a:ext uri="{FF2B5EF4-FFF2-40B4-BE49-F238E27FC236}">
                <a16:creationId xmlns:a16="http://schemas.microsoft.com/office/drawing/2014/main" id="{88D71845-76A9-4B79-9235-27746456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6622161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준비 전·후를 같은 입력 집합에서 비교, 실제 기믹 사건 필수</a:t>
            </a:r>
          </a:p>
        </p:txBody>
      </p:sp>
      <p:sp>
        <p:nvSpPr>
          <p:cNvPr id="51" name="table-cell-486.64-4-2">
            <a:extLst xmlns:a="http://schemas.openxmlformats.org/drawingml/2006/main">
              <a:ext uri="{FF2B5EF4-FFF2-40B4-BE49-F238E27FC236}">
                <a16:creationId xmlns:a16="http://schemas.microsoft.com/office/drawing/2014/main" id="{389A1FED-2C5B-4E30-9FB6-5C94B1C4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6555486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2" name="table-text-486.64-4-2">
            <a:extLst xmlns:a="http://schemas.openxmlformats.org/drawingml/2006/main">
              <a:ext uri="{FF2B5EF4-FFF2-40B4-BE49-F238E27FC236}">
                <a16:creationId xmlns:a16="http://schemas.microsoft.com/office/drawing/2014/main" id="{FBDD3419-F670-451B-B38F-D9184ADB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6622161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잘못된 1차 지표를 반려하고 레벨·검증 계약 재설계</a:t>
            </a:r>
          </a:p>
        </p:txBody>
      </p:sp>
      <p:sp>
        <p:nvSpPr>
          <p:cNvPr id="53" name="paragraph-760.04">
            <a:extLst xmlns:a="http://schemas.openxmlformats.org/drawingml/2006/main">
              <a:ext uri="{FF2B5EF4-FFF2-40B4-BE49-F238E27FC236}">
                <a16:creationId xmlns:a16="http://schemas.microsoft.com/office/drawing/2014/main" id="{8E03AF65-6D68-4D46-ABF6-0CEE9BD5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381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프롬프트 전문과 결과 이력은 harness_docs/prompts/prompt_history.md에 요약되어 있으며, 원래 요구·역할별 지시·최종 변경 기록을 분리해 보존한다.</a:t>
            </a:r>
          </a:p>
        </p:txBody>
      </p:sp>
    </p:spTree>
    <p:extLst>
      <p:ext uri="{BB962C8B-B14F-4D97-AF65-F5344CB8AC3E}">
        <p14:creationId xmlns:p14="http://schemas.microsoft.com/office/powerpoint/2010/main" val="4217070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2FE49C13-C50B-4ED7-9CBA-32F2C84E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38E012-ECAE-4C97-B2E5-D3A852FD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5A9CE2B-F7CB-4BBE-B758-41A8AAE8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FF0B18-5880-4D87-A827-F53CBBAD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주요 프롬프트가 만든 기능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BB19BF52-3855-4DA0-ABF9-429225CF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5.1 손가락에 가리는 파워 게이지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EA67ABED-0306-40F0-AE6C-F7965493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사용자는 모바일에서 공 주변 게이지가 손가락에 가린다고 설명했다. 발사 감각이 달라지지 않도록 입력 임계값은 그대로 두고, 표시만 공 가까이의 직선형 게이지로 옮겼다. 화면 안의 홀·풍선·슬라이더·열쇠와 겹치지 않는 후보를 고르고, 좌우 손 선호도 반영했다.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8f899ae2d4fbd"/>
          <a:stretch xmlns:a="http://schemas.openxmlformats.org/drawingml/2006/main"/>
        </p:blipFill>
        <p:spPr>
          <a:xfrm xmlns:a="http://schemas.openxmlformats.org/drawingml/2006/main">
            <a:off x="3055200" y="2771394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290.96000000000004">
            <a:extLst xmlns:a="http://schemas.openxmlformats.org/drawingml/2006/main">
              <a:ext uri="{FF2B5EF4-FFF2-40B4-BE49-F238E27FC236}">
                <a16:creationId xmlns:a16="http://schemas.microsoft.com/office/drawing/2014/main" id="{A1DD0DB5-C7FA-492A-A0B0-53FB050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71794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기믹을 피하며 경고 상태를 보여 주는 충전 게이지</a:t>
            </a:r>
          </a:p>
        </p:txBody>
      </p:sp>
      <p:sp>
        <p:nvSpPr>
          <p:cNvPr id="9" name="subheading-674.96">
            <a:extLst xmlns:a="http://schemas.openxmlformats.org/drawingml/2006/main">
              <a:ext uri="{FF2B5EF4-FFF2-40B4-BE49-F238E27FC236}">
                <a16:creationId xmlns:a16="http://schemas.microsoft.com/office/drawing/2014/main" id="{20B69C31-CBE5-4B9D-9F37-1C94EFD2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89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5.2 게임이 어렵다는 피드백</a:t>
            </a:r>
          </a:p>
        </p:txBody>
      </p:sp>
      <p:sp>
        <p:nvSpPr>
          <p:cNvPr id="10" name="paragraph-728.96">
            <a:extLst xmlns:a="http://schemas.openxmlformats.org/drawingml/2006/main">
              <a:ext uri="{FF2B5EF4-FFF2-40B4-BE49-F238E27FC236}">
                <a16:creationId xmlns:a16="http://schemas.microsoft.com/office/drawing/2014/main" id="{57F7E7F4-F256-43CE-B6CE-5D482F96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943344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플레이에서 복잡한 변형이 바로 나오는 문제부터 줄였다. 1–4단계의 첫 진입만 기준 패턴을 먼저 보여 주고, 이후 셔플과 리플레이 규칙은 건드리지 않았다. 쉬움 모드는 별도 근사 물리를 만들지 않고 실제 판정기의 결과를 읽어 첫 도착 위치만 표시한다.</a:t>
            </a:r>
          </a:p>
        </p:txBody>
      </p:sp>
    </p:spTree>
    <p:extLst>
      <p:ext uri="{BB962C8B-B14F-4D97-AF65-F5344CB8AC3E}">
        <p14:creationId xmlns:p14="http://schemas.microsoft.com/office/powerpoint/2010/main" val="14206415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9F3B819A-E273-4485-8ED7-E8EE9739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AA3D8FD-FEF2-4BF2-AFE6-19C08341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5EDC689-46FC-4803-A901-99802B0E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1CFEE6-34BD-4593-B96B-6E95ED62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주요 프롬프트가 만든 기능 · 계속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d791ace7042aa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0F48DDAD-EA06-4F57-AAFC-AE36B3D9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실제 판정 결과를 이용한 쉬움 모드 예상 위치</a:t>
            </a:r>
          </a:p>
        </p:txBody>
      </p:sp>
      <p:sp>
        <p:nvSpPr>
          <p:cNvPr id="7" name="subheading-524">
            <a:extLst xmlns:a="http://schemas.openxmlformats.org/drawingml/2006/main">
              <a:ext uri="{FF2B5EF4-FFF2-40B4-BE49-F238E27FC236}">
                <a16:creationId xmlns:a16="http://schemas.microsoft.com/office/drawing/2014/main" id="{44DFFF01-317F-41BB-A249-AD2A733F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5.3 추상적인 팁을 구체적인 플레이 도움으로</a:t>
            </a:r>
          </a:p>
        </p:txBody>
      </p:sp>
      <p:sp>
        <p:nvSpPr>
          <p:cNvPr id="8" name="paragraph-578">
            <a:extLst xmlns:a="http://schemas.openxmlformats.org/drawingml/2006/main">
              <a:ext uri="{FF2B5EF4-FFF2-40B4-BE49-F238E27FC236}">
                <a16:creationId xmlns:a16="http://schemas.microsoft.com/office/drawing/2014/main" id="{C7BDB556-4969-4FD8-8377-7B1F9B64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“기믹을 활용하세요” 같은 문장은 실제 행동으로 이어지지 않았다. 그래서 40개 패턴마다 L1과 L2를 따로 썼다. L1은 첫 행동을, L2는 조준 위치·세기·순서·예상 결과를 설명한다. 팁은 보상이나 열쇠를 선택한 플레이어에게만 열린다.</a:t>
            </a:r>
          </a:p>
        </p:txBody>
      </p:sp>
      <p:sp>
        <p:nvSpPr>
          <p:cNvPr id="9" name="paragraph-674.96">
            <a:extLst xmlns:a="http://schemas.openxmlformats.org/drawingml/2006/main">
              <a:ext uri="{FF2B5EF4-FFF2-40B4-BE49-F238E27FC236}">
                <a16:creationId xmlns:a16="http://schemas.microsoft.com/office/drawing/2014/main" id="{FF61697B-3C13-486B-956A-941694AA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28994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힌트는 stageId + patternId + hintVersion에 결속되어 잘못된 패턴의 답을 보여 주지 않는다. 열쇠 수집과 힌트 열람은 재시작·복구 뒤에도 유지된다.</a:t>
            </a:r>
          </a:p>
        </p:txBody>
      </p:sp>
    </p:spTree>
    <p:extLst>
      <p:ext uri="{BB962C8B-B14F-4D97-AF65-F5344CB8AC3E}">
        <p14:creationId xmlns:p14="http://schemas.microsoft.com/office/powerpoint/2010/main" val="1256201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66F29FA7-3C21-44A0-8778-28A2B0DD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86547C-4A03-494A-B358-A3A93C56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F2F007AE-32C3-4123-8ABB-A1F90A60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FD895F-7B20-41F3-9E3F-F275717B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94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StagePatternValidator는 AI가 만든 레벨을 등록 전에 걸러낸다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5C1CC1DF-2828-45D4-9200-B4CD2A70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레벨 데이터가 JSON 문법에 맞는지만 보는 도구가 아니다. 새 패턴이 들어오면 정적 구조, 실제 물리, 반복 결과를 차례로 검사하고, 실패 이유를 안정된 코드로 남긴다.</a:t>
            </a:r>
          </a:p>
        </p:txBody>
      </p:sp>
      <p:sp>
        <p:nvSpPr>
          <p:cNvPr id="6" name="validator-arrow-212.64-0">
            <a:extLst xmlns:a="http://schemas.openxmlformats.org/drawingml/2006/main">
              <a:ext uri="{FF2B5EF4-FFF2-40B4-BE49-F238E27FC236}">
                <a16:creationId xmlns:a16="http://schemas.microsoft.com/office/drawing/2014/main" id="{03B38EEF-C5FE-4B8B-A7F2-122D6160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634996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validator-arrow-212.64-1">
            <a:extLst xmlns:a="http://schemas.openxmlformats.org/drawingml/2006/main">
              <a:ext uri="{FF2B5EF4-FFF2-40B4-BE49-F238E27FC236}">
                <a16:creationId xmlns:a16="http://schemas.microsoft.com/office/drawing/2014/main" id="{0A63C300-45C5-46FC-838B-B6499636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16046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validator-arrow-212.64-2">
            <a:extLst xmlns:a="http://schemas.openxmlformats.org/drawingml/2006/main">
              <a:ext uri="{FF2B5EF4-FFF2-40B4-BE49-F238E27FC236}">
                <a16:creationId xmlns:a16="http://schemas.microsoft.com/office/drawing/2014/main" id="{8DD30F79-A607-426C-99AF-1D48C0A1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197096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validator-arrow-212.64-3">
            <a:extLst xmlns:a="http://schemas.openxmlformats.org/drawingml/2006/main">
              <a:ext uri="{FF2B5EF4-FFF2-40B4-BE49-F238E27FC236}">
                <a16:creationId xmlns:a16="http://schemas.microsoft.com/office/drawing/2014/main" id="{9C02AD82-1EEF-4B9E-A652-E877B15D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978146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alidator-arrow-212.64-4">
            <a:extLst xmlns:a="http://schemas.openxmlformats.org/drawingml/2006/main">
              <a:ext uri="{FF2B5EF4-FFF2-40B4-BE49-F238E27FC236}">
                <a16:creationId xmlns:a16="http://schemas.microsoft.com/office/drawing/2014/main" id="{03C3335E-1650-4F77-90EA-177924F6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759196"/>
            <a:ext cx="190500" cy="1524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validator-node-212.64-0">
            <a:extLst xmlns:a="http://schemas.openxmlformats.org/drawingml/2006/main">
              <a:ext uri="{FF2B5EF4-FFF2-40B4-BE49-F238E27FC236}">
                <a16:creationId xmlns:a16="http://schemas.microsoft.com/office/drawing/2014/main" id="{66DC30E8-8454-4BF2-A08C-CE46E143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25396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2" name="validator-title-212.64-0">
            <a:extLst xmlns:a="http://schemas.openxmlformats.org/drawingml/2006/main">
              <a:ext uri="{FF2B5EF4-FFF2-40B4-BE49-F238E27FC236}">
                <a16:creationId xmlns:a16="http://schemas.microsoft.com/office/drawing/2014/main" id="{D0AAD918-117C-49F8-A0EA-C9467354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20646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  새 패턴</a:t>
            </a:r>
          </a:p>
        </p:txBody>
      </p:sp>
      <p:sp>
        <p:nvSpPr>
          <p:cNvPr id="13" name="validator-body-212.64-0">
            <a:extLst xmlns:a="http://schemas.openxmlformats.org/drawingml/2006/main">
              <a:ext uri="{FF2B5EF4-FFF2-40B4-BE49-F238E27FC236}">
                <a16:creationId xmlns:a16="http://schemas.microsoft.com/office/drawing/2014/main" id="{3DBF3403-B1B5-4EBF-8B65-55E19675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120646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Stage data · Hint · Key</a:t>
            </a:r>
          </a:p>
        </p:txBody>
      </p:sp>
      <p:sp>
        <p:nvSpPr>
          <p:cNvPr id="14" name="validator-node-212.64-1">
            <a:extLst xmlns:a="http://schemas.openxmlformats.org/drawingml/2006/main">
              <a:ext uri="{FF2B5EF4-FFF2-40B4-BE49-F238E27FC236}">
                <a16:creationId xmlns:a16="http://schemas.microsoft.com/office/drawing/2014/main" id="{87413817-AB43-432F-B427-9B8B532D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6446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5" name="validator-title-212.64-1">
            <a:extLst xmlns:a="http://schemas.openxmlformats.org/drawingml/2006/main">
              <a:ext uri="{FF2B5EF4-FFF2-40B4-BE49-F238E27FC236}">
                <a16:creationId xmlns:a16="http://schemas.microsoft.com/office/drawing/2014/main" id="{F56185BF-2898-4E98-B0AA-DFD3728D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01696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  정적 검사</a:t>
            </a:r>
          </a:p>
        </p:txBody>
      </p:sp>
      <p:sp>
        <p:nvSpPr>
          <p:cNvPr id="16" name="validator-body-212.64-1">
            <a:extLst xmlns:a="http://schemas.openxmlformats.org/drawingml/2006/main">
              <a:ext uri="{FF2B5EF4-FFF2-40B4-BE49-F238E27FC236}">
                <a16:creationId xmlns:a16="http://schemas.microsoft.com/office/drawing/2014/main" id="{5F7CC6FD-0270-46E0-A8DA-D8D93734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01696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겹침 · 필드 이탈 · ID/연결 · Hint/Key 참조</a:t>
            </a:r>
          </a:p>
        </p:txBody>
      </p:sp>
      <p:sp>
        <p:nvSpPr>
          <p:cNvPr id="17" name="validator-node-212.64-2">
            <a:extLst xmlns:a="http://schemas.openxmlformats.org/drawingml/2006/main">
              <a:ext uri="{FF2B5EF4-FFF2-40B4-BE49-F238E27FC236}">
                <a16:creationId xmlns:a16="http://schemas.microsoft.com/office/drawing/2014/main" id="{C1242124-4673-4596-A78D-DE63E037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87496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8" name="validator-title-212.64-2">
            <a:extLst xmlns:a="http://schemas.openxmlformats.org/drawingml/2006/main">
              <a:ext uri="{FF2B5EF4-FFF2-40B4-BE49-F238E27FC236}">
                <a16:creationId xmlns:a16="http://schemas.microsoft.com/office/drawing/2014/main" id="{632CB7CD-3330-454D-A86C-B9107804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82746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  물리 탐색</a:t>
            </a:r>
          </a:p>
        </p:txBody>
      </p:sp>
      <p:sp>
        <p:nvSpPr>
          <p:cNvPr id="19" name="validator-body-212.64-2">
            <a:extLst xmlns:a="http://schemas.openxmlformats.org/drawingml/2006/main">
              <a:ext uri="{FF2B5EF4-FFF2-40B4-BE49-F238E27FC236}">
                <a16:creationId xmlns:a16="http://schemas.microsoft.com/office/drawing/2014/main" id="{D05F485D-EF11-47C4-ADEA-F99FA1E3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82746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홀 접근 · 직선 클리어 · 기믹 경로 · 관통/터널링/무한 반사</a:t>
            </a:r>
          </a:p>
        </p:txBody>
      </p:sp>
      <p:sp>
        <p:nvSpPr>
          <p:cNvPr id="20" name="validator-node-212.64-3">
            <a:extLst xmlns:a="http://schemas.openxmlformats.org/drawingml/2006/main">
              <a:ext uri="{FF2B5EF4-FFF2-40B4-BE49-F238E27FC236}">
                <a16:creationId xmlns:a16="http://schemas.microsoft.com/office/drawing/2014/main" id="{53AE484C-5E2D-4F92-963E-66757C8B2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68546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21" name="validator-title-212.64-3">
            <a:extLst xmlns:a="http://schemas.openxmlformats.org/drawingml/2006/main">
              <a:ext uri="{FF2B5EF4-FFF2-40B4-BE49-F238E27FC236}">
                <a16:creationId xmlns:a16="http://schemas.microsoft.com/office/drawing/2014/main" id="{4F90A881-03A5-4567-AD54-1BF30782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63796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  결정론 반복</a:t>
            </a:r>
          </a:p>
        </p:txBody>
      </p:sp>
      <p:sp>
        <p:nvSpPr>
          <p:cNvPr id="22" name="validator-body-212.64-3">
            <a:extLst xmlns:a="http://schemas.openxmlformats.org/drawingml/2006/main">
              <a:ext uri="{FF2B5EF4-FFF2-40B4-BE49-F238E27FC236}">
                <a16:creationId xmlns:a16="http://schemas.microsoft.com/office/drawing/2014/main" id="{2309C30A-DDCC-4505-B671-DFE386A2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463796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같은 입력의 결과와 오류 코드가 반복 실행에서도 동일</a:t>
            </a:r>
          </a:p>
        </p:txBody>
      </p:sp>
      <p:sp>
        <p:nvSpPr>
          <p:cNvPr id="23" name="validator-node-212.64-4">
            <a:extLst xmlns:a="http://schemas.openxmlformats.org/drawingml/2006/main">
              <a:ext uri="{FF2B5EF4-FFF2-40B4-BE49-F238E27FC236}">
                <a16:creationId xmlns:a16="http://schemas.microsoft.com/office/drawing/2014/main" id="{B2DA58B9-7E35-46DC-A535-3EECBA2A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49596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3335">
            <a:solidFill>
              <a:srgbClr val="F47661"/>
            </a:solidFill>
            <a:prstDash val="solid"/>
          </a:ln>
        </p:spPr>
      </p:sp>
      <p:sp>
        <p:nvSpPr>
          <p:cNvPr id="24" name="validator-title-212.64-4">
            <a:extLst xmlns:a="http://schemas.openxmlformats.org/drawingml/2006/main">
              <a:ext uri="{FF2B5EF4-FFF2-40B4-BE49-F238E27FC236}">
                <a16:creationId xmlns:a16="http://schemas.microsoft.com/office/drawing/2014/main" id="{8FB4617E-68EA-496D-B9F8-588135D1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44846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  Invalid fixture 역검증</a:t>
            </a:r>
          </a:p>
        </p:txBody>
      </p:sp>
      <p:sp>
        <p:nvSpPr>
          <p:cNvPr id="25" name="validator-body-212.64-4">
            <a:extLst xmlns:a="http://schemas.openxmlformats.org/drawingml/2006/main">
              <a:ext uri="{FF2B5EF4-FFF2-40B4-BE49-F238E27FC236}">
                <a16:creationId xmlns:a16="http://schemas.microsoft.com/office/drawing/2014/main" id="{639656BF-825D-497A-9204-D6BFE542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244846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일부러 잘못 만든 패턴을 실제로 잡는지 확인</a:t>
            </a:r>
          </a:p>
        </p:txBody>
      </p:sp>
      <p:sp>
        <p:nvSpPr>
          <p:cNvPr id="26" name="validator-node-212.64-5">
            <a:extLst xmlns:a="http://schemas.openxmlformats.org/drawingml/2006/main">
              <a:ext uri="{FF2B5EF4-FFF2-40B4-BE49-F238E27FC236}">
                <a16:creationId xmlns:a16="http://schemas.microsoft.com/office/drawing/2014/main" id="{40779729-FBA4-4B08-8CCB-4C8DAB1B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30646"/>
            <a:ext cx="56959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4DB"/>
          </a:solidFill>
          <a:ln xmlns:a="http://schemas.openxmlformats.org/drawingml/2006/main" w="13335">
            <a:solidFill>
              <a:srgbClr val="D7A23D"/>
            </a:solidFill>
            <a:prstDash val="solid"/>
          </a:ln>
        </p:spPr>
      </p:sp>
      <p:sp>
        <p:nvSpPr>
          <p:cNvPr id="27" name="validator-title-212.64-5">
            <a:extLst xmlns:a="http://schemas.openxmlformats.org/drawingml/2006/main">
              <a:ext uri="{FF2B5EF4-FFF2-40B4-BE49-F238E27FC236}">
                <a16:creationId xmlns:a16="http://schemas.microsoft.com/office/drawing/2014/main" id="{CBAFF8FE-E377-48C1-9EC9-492BA66C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025896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  PASS → 게임 등록</a:t>
            </a:r>
          </a:p>
        </p:txBody>
      </p:sp>
      <p:sp>
        <p:nvSpPr>
          <p:cNvPr id="28" name="validator-body-212.64-5">
            <a:extLst xmlns:a="http://schemas.openxmlformats.org/drawingml/2006/main">
              <a:ext uri="{FF2B5EF4-FFF2-40B4-BE49-F238E27FC236}">
                <a16:creationId xmlns:a16="http://schemas.microsoft.com/office/drawing/2014/main" id="{8554DFD5-8866-4B48-A015-99B8133B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6025896"/>
            <a:ext cx="365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75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검증을 통과한 패턴만 생성 카탈로그에 반영</a:t>
            </a:r>
          </a:p>
        </p:txBody>
      </p:sp>
      <p:sp>
        <p:nvSpPr>
          <p:cNvPr id="29" name="paragraph-696.64">
            <a:extLst xmlns:a="http://schemas.openxmlformats.org/drawingml/2006/main">
              <a:ext uri="{FF2B5EF4-FFF2-40B4-BE49-F238E27FC236}">
                <a16:creationId xmlns:a16="http://schemas.microsoft.com/office/drawing/2014/main" id="{91F38D9F-DB53-4087-A842-86B0AFE3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35496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정적 검사에서는 기물 겹침, 필드 이탈, ID·연결 상태, Hint/Key 참조를 확인한다. 물리 검사에서는 홀 접근, 의도하지 않은 직선 클리어, 대표 기믹 경로, 홀 관통, 슬라이더 터널링, 무한 반사와 소프트락을 살핀다. 같은 입력의 결과가 반복 실행에서도 같아야 다음 단계로 넘어간다.</a:t>
            </a:r>
          </a:p>
        </p:txBody>
      </p:sp>
      <p:sp>
        <p:nvSpPr>
          <p:cNvPr id="30" name="paragraph-817.92">
            <a:extLst xmlns:a="http://schemas.openxmlformats.org/drawingml/2006/main">
              <a:ext uri="{FF2B5EF4-FFF2-40B4-BE49-F238E27FC236}">
                <a16:creationId xmlns:a16="http://schemas.microsoft.com/office/drawing/2014/main" id="{1610D766-D397-41A3-8464-16A45E94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90688"/>
            <a:ext cx="6496050" cy="10408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가장 중요한 점은 검증기가 있다고 믿지 않았다는 것이다. 겹침, 잘못된 참조, 도달 불가능한 열쇠, 홀 관통, 무한 반사 같은 오류를 일부러 넣은 invalid fixture를 만들고, Validator가 정해진 오류 코드로 실제 탐지하는지 역검증했다. AI가 생성한 40개 패턴뿐 아니라 AI가 만든 검증 도구 자체도 다시 시험한 셈이다.</a:t>
            </a:r>
          </a:p>
        </p:txBody>
      </p:sp>
    </p:spTree>
    <p:extLst>
      <p:ext uri="{BB962C8B-B14F-4D97-AF65-F5344CB8AC3E}">
        <p14:creationId xmlns:p14="http://schemas.microsoft.com/office/powerpoint/2010/main" val="16249938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631E2227-13B4-473F-B87B-6DA06576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EDC73B-AC45-48E5-B71C-A68AAFFB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A50BB72E-0BD0-46A3-A775-80AB0384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85A3FC-71E1-4980-A341-B0587BE4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32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StagePatternValidator는 AI가 만든 레벨을 등록 전에 걸러낸다 · 계속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F8871A50-78A9-46CF-B312-7585D152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6DB5D558-6207-470E-95C8-4CE0016B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검증 결과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235BBC7A-1804-4326-97CC-D62654B3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DF635B80-9B04-4D94-AE54-010AEFC4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의미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26913996-B4A7-4649-AF1A-B9ABB3DC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EF883B78-0FDC-4713-B3A9-4DE4B0B6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단발형 32패턴 각각 ≥1.40배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A735DCB2-1B6A-4BB9-97E1-174EC34C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83087049-4A59-4698-8DAF-07986E7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각 변형에서도 기믹 경로가 더 넓다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9B4E7834-9057-44AC-B8F9-65AC3DAE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EBE36ACF-7417-48D4-915C-201AAEB6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 단계 합계 1.92배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4DAEB340-5947-4375-97A8-FA0CC976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725232DC-631F-4DA5-8BE4-49234348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1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샷으로 준비한 상태가 다음 성공을 유의미하게 넓힌다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B2E30DC2-4994-44DE-A35E-711DAA86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AA84FE63-1EEA-412D-8C4E-B6C72D92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통합 4패턴 모두 우위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30EAAE8C-54E7-460B-9C9E-146A58C2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AF69AF42-B42E-433E-BB93-C680EFDD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스위치·문·점착·슬라이더의 준비가 핵심 해법이다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191C450A-29F8-43FE-A0DC-ACCA6088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D4BEA703-2911-4CB9-9981-8C506F52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invalid fixture 역검증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5F26EF6F-6BA4-4EE6-A2B6-84CF1976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FADED7D9-F03E-4A8A-975C-99997B64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검증 규칙을 일부러 끄면 fixture 계약이 실패한다</a:t>
            </a:r>
          </a:p>
        </p:txBody>
      </p:sp>
    </p:spTree>
    <p:extLst>
      <p:ext uri="{BB962C8B-B14F-4D97-AF65-F5344CB8AC3E}">
        <p14:creationId xmlns:p14="http://schemas.microsoft.com/office/powerpoint/2010/main" val="14866551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8E0D4B95-073A-48BD-89B8-F7F0E9F3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9737DB9-1572-4B4D-A100-98995BF4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51AAE3E9-4B1F-4B88-B44A-154850CA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256EC5-66CE-438C-9269-42F1FABF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게임과 AI 시스템 구조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E30325B6-AAC4-4A09-A465-A91F34C0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2E54BC93-0610-4E3F-8128-201A3E4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계층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F5839C42-A0C6-4E99-A24E-43C2F78A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7B06D8C2-08C2-4012-B8A3-2D0E6049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729D0E1B-1EEC-4F90-9258-9EBCFE1D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8EA9B523-6EC7-4CBC-BCFC-94C6B2C7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Stage data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1E197FE4-AF48-4AE2-A6F3-7E044000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1A8336FD-0C2D-4895-8EAB-F316D3F2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오브젝트·해법·힌트 메타데이터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E9D00ED5-FDF8-4EF0-BCBE-D61CA21E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5C4E8D96-DADE-4F41-83DF-984BA1F4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ShotResolver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E06487E0-1C7F-41FD-A13B-0F42050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244FCEA5-EBEC-406F-9BED-BDCF8187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방향·힘·속성으로 결정론적 결과 계산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CE242270-829F-4BEF-8CCD-326635C9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2CFA6F11-B19C-49FE-832E-F8175240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RunState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6E14DFB3-93E8-438D-A492-CF56B021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A1DDB092-EA0A-4C12-A3CF-AB5FE4F5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진행, 잔류 공, 보상, 힌트 권한, 열쇠 수집을 저장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EF71EC6B-CFF7-4E13-9584-C365E668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3BA3D4B6-EF0A-4011-A2E6-862CB520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GameScreen / Flame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9357CE2D-F72A-42D9-A36E-BEA1F867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BAF972FC-7F42-4854-9F9F-D5F7A898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입력·Canvas 렌더·접근성·피드백</a:t>
            </a:r>
          </a:p>
        </p:txBody>
      </p:sp>
      <p:sp>
        <p:nvSpPr>
          <p:cNvPr id="2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C7473BED-0C4F-40B7-8C8D-6FF7C9C5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1834FBEB-0884-4FF6-AD66-1A34F854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StagePatternValidator</a:t>
            </a:r>
          </a:p>
        </p:txBody>
      </p:sp>
      <p:sp>
        <p:nvSpPr>
          <p:cNvPr id="2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D8806072-62F5-405A-87D0-BE25A60B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1F460664-65EF-4595-99FC-A1156624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정적 구조·물리·결정론·invalid fixture 검증</a:t>
            </a:r>
          </a:p>
        </p:txBody>
      </p:sp>
      <p:sp>
        <p:nvSpPr>
          <p:cNvPr id="29" name="table-cell-140-6-0">
            <a:extLst xmlns:a="http://schemas.openxmlformats.org/drawingml/2006/main">
              <a:ext uri="{FF2B5EF4-FFF2-40B4-BE49-F238E27FC236}">
                <a16:creationId xmlns:a16="http://schemas.microsoft.com/office/drawing/2014/main" id="{396AE7F5-1DED-4EB4-99EB-EDBA42DF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140-6-0">
            <a:extLst xmlns:a="http://schemas.openxmlformats.org/drawingml/2006/main">
              <a:ext uri="{FF2B5EF4-FFF2-40B4-BE49-F238E27FC236}">
                <a16:creationId xmlns:a16="http://schemas.microsoft.com/office/drawing/2014/main" id="{67BFD1E5-2942-4798-8E38-88FD1BE8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576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Report pipeline</a:t>
            </a:r>
          </a:p>
        </p:txBody>
      </p:sp>
      <p:sp>
        <p:nvSpPr>
          <p:cNvPr id="31" name="table-cell-140-6-1">
            <a:extLst xmlns:a="http://schemas.openxmlformats.org/drawingml/2006/main">
              <a:ext uri="{FF2B5EF4-FFF2-40B4-BE49-F238E27FC236}">
                <a16:creationId xmlns:a16="http://schemas.microsoft.com/office/drawing/2014/main" id="{F444FAB5-EA88-4B09-86C1-896F8EA9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7909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140-6-1">
            <a:extLst xmlns:a="http://schemas.openxmlformats.org/drawingml/2006/main">
              <a:ext uri="{FF2B5EF4-FFF2-40B4-BE49-F238E27FC236}">
                <a16:creationId xmlns:a16="http://schemas.microsoft.com/office/drawing/2014/main" id="{B639BC09-4E3F-4553-9A36-AB75C8DE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8576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PDF·A4 세로 PPT의 재생성과 시각 검사</a:t>
            </a:r>
          </a:p>
        </p:txBody>
      </p:sp>
    </p:spTree>
    <p:extLst>
      <p:ext uri="{BB962C8B-B14F-4D97-AF65-F5344CB8AC3E}">
        <p14:creationId xmlns:p14="http://schemas.microsoft.com/office/powerpoint/2010/main" val="7120834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35C811C5-9F20-4E5B-B46F-36E2DA14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13BF3C-AFEB-4396-8104-D98FB8D0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11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B74A8E16-96FB-4267-9268-54471CF4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2AA1D7-3507-4672-AE33-27E63F43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8. 사용한 AI 도구와 역할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A0E62A3D-1B48-4CD0-BAE5-78C15F9A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001987B0-BAA4-4316-B7D5-D646BF2E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도구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6919C4A7-60A7-4A20-9BE9-72AB7ED1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8761FE0A-0042-48DF-B847-7B5BE5EE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 방식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7CA31638-8B43-433A-9E8E-D3CC2B07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4A096E27-C506-4F8C-88C3-18511493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Codex 코드 에이전트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987E2E35-0155-49E0-AA9B-633EA669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DDEDDFAD-5CF3-4051-9214-69380C04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저장소 탐색, Flutter/Dart 구현, 테스트·문서 파이프라인 실행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9B732E8D-937E-425E-B80F-1248179E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94C398E2-4458-4591-AC3E-957D4EF4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gpt-5.6-terra 실행 에이전트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2498EA3E-3FF1-41EE-8243-2802EF7F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C0C7E0E5-596B-4FB5-8136-3BCEA4D1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기능별 분석·구현과 표적 회귀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EFCA2A28-6884-49BF-834C-C427DC7A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EF0FD5D7-BF1A-4C3E-BB37-7DEA690CE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gpt-5.6-sol 감사 에이전트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80905319-18F8-48AC-9199-2152931B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522A503E-4B04-4B06-BEA5-D4DE863D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코드를 수정하지 않는 독립 P0/P1/P2 감사와 재검증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94B9E46B-A21F-42F8-BA62-83D4BCF2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5E056D1B-C91B-4BD6-B680-CCA30557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이미지 생성 도구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795CA2BD-3583-45D2-92C8-8F1431D6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B9335FF6-0494-4E3A-9354-93FE423E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4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돌·젤리·상자 원본 생성; 투명화·권리대장·실제 번들 여부를 별도 관리</a:t>
            </a:r>
          </a:p>
        </p:txBody>
      </p:sp>
      <p:sp>
        <p:nvSpPr>
          <p:cNvPr id="25" name="paragraph-372">
            <a:extLst xmlns:a="http://schemas.openxmlformats.org/drawingml/2006/main">
              <a:ext uri="{FF2B5EF4-FFF2-40B4-BE49-F238E27FC236}">
                <a16:creationId xmlns:a16="http://schemas.microsoft.com/office/drawing/2014/main" id="{2C3CD4F4-16A9-4005-BA31-1227A75F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433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모델 이름보다 중요한 운영 원칙은 구현과 감사를 분리하고, 실행 증거가 없는 주장은 채택하지 않는 것이었다.</a:t>
            </a:r>
          </a:p>
        </p:txBody>
      </p:sp>
    </p:spTree>
    <p:extLst>
      <p:ext uri="{BB962C8B-B14F-4D97-AF65-F5344CB8AC3E}">
        <p14:creationId xmlns:p14="http://schemas.microsoft.com/office/powerpoint/2010/main" val="123031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C73794BB-D27A-4380-9416-E8DC3ACA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264F18-5C24-45C1-8799-32275F73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317C41A8-19D3-49CE-935B-0C6B5E61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27EEC6-8BF2-469F-B918-7C88D788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9. 외부 에셋과 오픈소스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DA6F0F74-2934-4C52-A372-52BCFAB0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FBB3A51B-6F64-4CDB-BE47-63E3E44C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B80310BA-ADB6-46BB-BE48-38DAE963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A7D663BC-865A-4BE3-9597-596FCE73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용도</a:t>
            </a:r>
          </a:p>
        </p:txBody>
      </p:sp>
      <p:sp>
        <p:nvSpPr>
          <p:cNvPr id="9" name="table-cell-140-0-2">
            <a:extLst xmlns:a="http://schemas.openxmlformats.org/drawingml/2006/main">
              <a:ext uri="{FF2B5EF4-FFF2-40B4-BE49-F238E27FC236}">
                <a16:creationId xmlns:a16="http://schemas.microsoft.com/office/drawing/2014/main" id="{DB3E78C0-0FAB-4F24-951D-C369ED96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333500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0-2">
            <a:extLst xmlns:a="http://schemas.openxmlformats.org/drawingml/2006/main">
              <a:ext uri="{FF2B5EF4-FFF2-40B4-BE49-F238E27FC236}">
                <a16:creationId xmlns:a16="http://schemas.microsoft.com/office/drawing/2014/main" id="{B3AC989A-3AF5-4542-8889-735CDE24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400175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출처·라이선스</a:t>
            </a:r>
          </a:p>
        </p:txBody>
      </p:sp>
      <p:sp>
        <p:nvSpPr>
          <p:cNvPr id="11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4EA6D29A-6027-4B5B-B324-CFE3014F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A14A589A-AD4D-4ADF-B7BF-440C49BE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</a:t>
            </a:r>
          </a:p>
        </p:txBody>
      </p:sp>
      <p:sp>
        <p:nvSpPr>
          <p:cNvPr id="13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8A401D45-2786-4FA0-92F4-4EB16DC5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4A9CE9CC-E88E-46D3-B1C7-4A7A555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앱 UI·멀티플랫폼</a:t>
            </a:r>
          </a:p>
        </p:txBody>
      </p:sp>
      <p:sp>
        <p:nvSpPr>
          <p:cNvPr id="15" name="table-cell-140-1-2">
            <a:extLst xmlns:a="http://schemas.openxmlformats.org/drawingml/2006/main">
              <a:ext uri="{FF2B5EF4-FFF2-40B4-BE49-F238E27FC236}">
                <a16:creationId xmlns:a16="http://schemas.microsoft.com/office/drawing/2014/main" id="{D2689948-5B3A-4C77-8097-C1C3412C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179070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1-2">
            <a:extLst xmlns:a="http://schemas.openxmlformats.org/drawingml/2006/main">
              <a:ext uri="{FF2B5EF4-FFF2-40B4-BE49-F238E27FC236}">
                <a16:creationId xmlns:a16="http://schemas.microsoft.com/office/drawing/2014/main" id="{1C1CEED6-B065-44B2-82D0-BD337185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185737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BSD-3-Clause · flutter.dev (https://flutter.dev/)</a:t>
            </a:r>
          </a:p>
        </p:txBody>
      </p:sp>
      <p:sp>
        <p:nvSpPr>
          <p:cNvPr id="17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24E9D9CB-5747-48A3-BA24-B1215373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BE6596D2-D86F-447F-913B-9B4A1C90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Flame</a:t>
            </a:r>
          </a:p>
        </p:txBody>
      </p:sp>
      <p:sp>
        <p:nvSpPr>
          <p:cNvPr id="19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0C0F9643-3336-492A-B1B2-C439A4D0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6D3E0A7F-05E3-4423-BCC4-C0A84B98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 루프·Canvas</a:t>
            </a:r>
          </a:p>
        </p:txBody>
      </p:sp>
      <p:sp>
        <p:nvSpPr>
          <p:cNvPr id="21" name="table-cell-140-2-2">
            <a:extLst xmlns:a="http://schemas.openxmlformats.org/drawingml/2006/main">
              <a:ext uri="{FF2B5EF4-FFF2-40B4-BE49-F238E27FC236}">
                <a16:creationId xmlns:a16="http://schemas.microsoft.com/office/drawing/2014/main" id="{986CE598-9774-4D53-BAEF-47271AED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32219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2-2">
            <a:extLst xmlns:a="http://schemas.openxmlformats.org/drawingml/2006/main">
              <a:ext uri="{FF2B5EF4-FFF2-40B4-BE49-F238E27FC236}">
                <a16:creationId xmlns:a16="http://schemas.microsoft.com/office/drawing/2014/main" id="{5AD023A9-13BF-4C87-9516-70A2DD88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38887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7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MIT · pub.dev/flame (https://pub.dev/packages/flame)</a:t>
            </a:r>
          </a:p>
        </p:txBody>
      </p:sp>
      <p:sp>
        <p:nvSpPr>
          <p:cNvPr id="23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C3283370-3A7E-4C0E-856A-9A18EA41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369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A4979D9E-23E0-4903-B1A5-B8748767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2036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shared_preferences</a:t>
            </a:r>
          </a:p>
        </p:txBody>
      </p:sp>
      <p:sp>
        <p:nvSpPr>
          <p:cNvPr id="25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17A73555-B7DA-4427-8279-E3319984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285369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61FFEBD2-20DD-41C8-B006-5EBEDB6F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292036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로컬 설정·저장</a:t>
            </a:r>
          </a:p>
        </p:txBody>
      </p:sp>
      <p:sp>
        <p:nvSpPr>
          <p:cNvPr id="27" name="table-cell-140-3-2">
            <a:extLst xmlns:a="http://schemas.openxmlformats.org/drawingml/2006/main">
              <a:ext uri="{FF2B5EF4-FFF2-40B4-BE49-F238E27FC236}">
                <a16:creationId xmlns:a16="http://schemas.microsoft.com/office/drawing/2014/main" id="{AE3B5953-8774-4EC0-A817-729551DE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285369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3-2">
            <a:extLst xmlns:a="http://schemas.openxmlformats.org/drawingml/2006/main">
              <a:ext uri="{FF2B5EF4-FFF2-40B4-BE49-F238E27FC236}">
                <a16:creationId xmlns:a16="http://schemas.microsoft.com/office/drawing/2014/main" id="{554CC110-84A6-422A-9231-4FF6BF53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292036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7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BSD-3-Clause · pub.dev (https://pub.dev/packages/shared_preferences)</a:t>
            </a:r>
          </a:p>
        </p:txBody>
      </p:sp>
      <p:sp>
        <p:nvSpPr>
          <p:cNvPr id="29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D27CB154-6DB2-4E4D-81F1-09FD17C0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8518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373C6336-9B95-4B49-BB1A-44B9D95C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186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crypto</a:t>
            </a:r>
          </a:p>
        </p:txBody>
      </p:sp>
      <p:sp>
        <p:nvSpPr>
          <p:cNvPr id="31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36A50180-5287-489A-A02C-0D799851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38518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D2475750-0FFD-4BBD-B630-8D8051D9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45186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리플레이·산출물 무결성 해시</a:t>
            </a:r>
          </a:p>
        </p:txBody>
      </p:sp>
      <p:sp>
        <p:nvSpPr>
          <p:cNvPr id="33" name="table-cell-140-4-2">
            <a:extLst xmlns:a="http://schemas.openxmlformats.org/drawingml/2006/main">
              <a:ext uri="{FF2B5EF4-FFF2-40B4-BE49-F238E27FC236}">
                <a16:creationId xmlns:a16="http://schemas.microsoft.com/office/drawing/2014/main" id="{AA39175E-AD0A-4B91-BEE7-0E164ABC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38518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140-4-2">
            <a:extLst xmlns:a="http://schemas.openxmlformats.org/drawingml/2006/main">
              <a:ext uri="{FF2B5EF4-FFF2-40B4-BE49-F238E27FC236}">
                <a16:creationId xmlns:a16="http://schemas.microsoft.com/office/drawing/2014/main" id="{A84D3D8C-47B3-4BCA-A38B-B65254E8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45186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BSD-3-Clause · pub.dev (https://pub.dev/packages/crypto)</a:t>
            </a:r>
          </a:p>
        </p:txBody>
      </p:sp>
      <p:sp>
        <p:nvSpPr>
          <p:cNvPr id="3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44DCD6E5-3DE7-41A2-B350-09D648C9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166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B939FC63-0CDF-4F3B-A64C-8EF446FA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833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audioplayers</a:t>
            </a:r>
          </a:p>
        </p:txBody>
      </p:sp>
      <p:sp>
        <p:nvSpPr>
          <p:cNvPr id="3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D6DFDE07-5E43-42A5-BE47-1541F918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9166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8EC6F775-32ED-4424-8964-27E6B70C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9833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배경음·효과음 재생</a:t>
            </a:r>
          </a:p>
        </p:txBody>
      </p:sp>
      <p:sp>
        <p:nvSpPr>
          <p:cNvPr id="39" name="table-cell-140-5-2">
            <a:extLst xmlns:a="http://schemas.openxmlformats.org/drawingml/2006/main">
              <a:ext uri="{FF2B5EF4-FFF2-40B4-BE49-F238E27FC236}">
                <a16:creationId xmlns:a16="http://schemas.microsoft.com/office/drawing/2014/main" id="{8B0A3287-72BA-445B-A4A7-724C7726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91668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140-5-2">
            <a:extLst xmlns:a="http://schemas.openxmlformats.org/drawingml/2006/main">
              <a:ext uri="{FF2B5EF4-FFF2-40B4-BE49-F238E27FC236}">
                <a16:creationId xmlns:a16="http://schemas.microsoft.com/office/drawing/2014/main" id="{116A5AF5-5BA0-45AD-80D5-BE4ECD6F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98335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78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MIT · pub.dev (https://pub.dev/packages/audioplayers)</a:t>
            </a:r>
          </a:p>
        </p:txBody>
      </p:sp>
      <p:sp>
        <p:nvSpPr>
          <p:cNvPr id="41" name="table-cell-140-6-0">
            <a:extLst xmlns:a="http://schemas.openxmlformats.org/drawingml/2006/main">
              <a:ext uri="{FF2B5EF4-FFF2-40B4-BE49-F238E27FC236}">
                <a16:creationId xmlns:a16="http://schemas.microsoft.com/office/drawing/2014/main" id="{283D286F-F618-448A-9CA0-3096155F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481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2" name="table-text-140-6-0">
            <a:extLst xmlns:a="http://schemas.openxmlformats.org/drawingml/2006/main">
              <a:ext uri="{FF2B5EF4-FFF2-40B4-BE49-F238E27FC236}">
                <a16:creationId xmlns:a16="http://schemas.microsoft.com/office/drawing/2014/main" id="{8A17C405-8122-43F7-A1AF-8FAA9C35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148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NanumGothic</a:t>
            </a:r>
          </a:p>
        </p:txBody>
      </p:sp>
      <p:sp>
        <p:nvSpPr>
          <p:cNvPr id="43" name="table-cell-140-6-1">
            <a:extLst xmlns:a="http://schemas.openxmlformats.org/drawingml/2006/main">
              <a:ext uri="{FF2B5EF4-FFF2-40B4-BE49-F238E27FC236}">
                <a16:creationId xmlns:a16="http://schemas.microsoft.com/office/drawing/2014/main" id="{93C506E3-30A4-4F33-A856-28A7C4F8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4481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140-6-1">
            <a:extLst xmlns:a="http://schemas.openxmlformats.org/drawingml/2006/main">
              <a:ext uri="{FF2B5EF4-FFF2-40B4-BE49-F238E27FC236}">
                <a16:creationId xmlns:a16="http://schemas.microsoft.com/office/drawing/2014/main" id="{4C7816B7-3921-439C-8E22-024517BC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5148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한글 UI·문서</a:t>
            </a:r>
          </a:p>
        </p:txBody>
      </p:sp>
      <p:sp>
        <p:nvSpPr>
          <p:cNvPr id="45" name="table-cell-140-6-2">
            <a:extLst xmlns:a="http://schemas.openxmlformats.org/drawingml/2006/main">
              <a:ext uri="{FF2B5EF4-FFF2-40B4-BE49-F238E27FC236}">
                <a16:creationId xmlns:a16="http://schemas.microsoft.com/office/drawing/2014/main" id="{CB9CC9C7-E1CE-44F8-A8CB-634F1E25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448175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6" name="table-text-140-6-2">
            <a:extLst xmlns:a="http://schemas.openxmlformats.org/drawingml/2006/main">
              <a:ext uri="{FF2B5EF4-FFF2-40B4-BE49-F238E27FC236}">
                <a16:creationId xmlns:a16="http://schemas.microsoft.com/office/drawing/2014/main" id="{31414D05-254A-449B-9D25-11F7745D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514850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SIL OFL 1.1 · NAVER Nanum (https://hangeul.naver.com/font)</a:t>
            </a:r>
          </a:p>
        </p:txBody>
      </p:sp>
      <p:sp>
        <p:nvSpPr>
          <p:cNvPr id="47" name="table-cell-140-7-0">
            <a:extLst xmlns:a="http://schemas.openxmlformats.org/drawingml/2006/main">
              <a:ext uri="{FF2B5EF4-FFF2-40B4-BE49-F238E27FC236}">
                <a16:creationId xmlns:a16="http://schemas.microsoft.com/office/drawing/2014/main" id="{6B445147-E782-41F9-95B4-217BACF1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7967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8" name="table-text-140-7-0">
            <a:extLst xmlns:a="http://schemas.openxmlformats.org/drawingml/2006/main">
              <a:ext uri="{FF2B5EF4-FFF2-40B4-BE49-F238E27FC236}">
                <a16:creationId xmlns:a16="http://schemas.microsoft.com/office/drawing/2014/main" id="{B630051F-F2A4-4B96-9A3D-FE31586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4634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Material Icons</a:t>
            </a:r>
          </a:p>
        </p:txBody>
      </p:sp>
      <p:sp>
        <p:nvSpPr>
          <p:cNvPr id="49" name="table-cell-140-7-1">
            <a:extLst xmlns:a="http://schemas.openxmlformats.org/drawingml/2006/main">
              <a:ext uri="{FF2B5EF4-FFF2-40B4-BE49-F238E27FC236}">
                <a16:creationId xmlns:a16="http://schemas.microsoft.com/office/drawing/2014/main" id="{EAE8E668-9198-47D8-979B-CA697B7F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97967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0" name="table-text-140-7-1">
            <a:extLst xmlns:a="http://schemas.openxmlformats.org/drawingml/2006/main">
              <a:ext uri="{FF2B5EF4-FFF2-40B4-BE49-F238E27FC236}">
                <a16:creationId xmlns:a16="http://schemas.microsoft.com/office/drawing/2014/main" id="{ACA7105B-F528-41AE-9EDE-9C7E2193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04634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런 보상 9종</a:t>
            </a:r>
          </a:p>
        </p:txBody>
      </p:sp>
      <p:sp>
        <p:nvSpPr>
          <p:cNvPr id="51" name="table-cell-140-7-2">
            <a:extLst xmlns:a="http://schemas.openxmlformats.org/drawingml/2006/main">
              <a:ext uri="{FF2B5EF4-FFF2-40B4-BE49-F238E27FC236}">
                <a16:creationId xmlns:a16="http://schemas.microsoft.com/office/drawing/2014/main" id="{F3B79ABD-D734-4D08-A1FD-8ED06CFA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979670"/>
            <a:ext cx="216535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2" name="table-text-140-7-2">
            <a:extLst xmlns:a="http://schemas.openxmlformats.org/drawingml/2006/main">
              <a:ext uri="{FF2B5EF4-FFF2-40B4-BE49-F238E27FC236}">
                <a16:creationId xmlns:a16="http://schemas.microsoft.com/office/drawing/2014/main" id="{AA3681C5-90E6-4441-9C5E-58F5D764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046345"/>
            <a:ext cx="1993900" cy="398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7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Apache-2.0 · Google Material Icons (https://github.com/google/material-design-icons)</a:t>
            </a:r>
          </a:p>
        </p:txBody>
      </p:sp>
      <p:sp>
        <p:nvSpPr>
          <p:cNvPr id="53" name="paragraph-594.6000000000001">
            <a:extLst xmlns:a="http://schemas.openxmlformats.org/drawingml/2006/main">
              <a:ext uri="{FF2B5EF4-FFF2-40B4-BE49-F238E27FC236}">
                <a16:creationId xmlns:a16="http://schemas.microsoft.com/office/drawing/2014/main" id="{75104A2B-2E6C-4441-B33C-93768972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63565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 돌·탄성 젤리·상자는 AI 생성 후 투명화한 프로젝트 애셋이다. 풍선·뾰족함·공 표현은 외부 PNG가 아니라 Canvas 코드로 직접 그린다. OpenGameArt의 CC0 원본 3종은 레거시 증빙으로만 보관하고 제품 화면에는 사용하지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951962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DD445A6-1011-4D65-B6C2-59CCFB85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AI Technical Report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6686B2-3679-4988-A838-A9C65490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434490E9-A5C3-40C2-B38F-C7326D61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BD629E-4993-4152-ACE8-6F0C5915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9. 외부 에셋과 오픈소스 · 계속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2a8394c4e4592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FE304EFF-BD9C-46F8-8F24-8F847E08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AI 생성 후 게임에 적용한 돌·젤리·상자 애셋</a:t>
            </a:r>
          </a:p>
        </p:txBody>
      </p:sp>
    </p:spTree>
    <p:extLst>
      <p:ext uri="{BB962C8B-B14F-4D97-AF65-F5344CB8AC3E}">
        <p14:creationId xmlns:p14="http://schemas.microsoft.com/office/powerpoint/2010/main" val="9507679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2026-08-10T12:50:11.5210000Z</dcterms:created>
  <dcterms:modified xsi:type="dcterms:W3CDTF">2026-08-10T12:50:11.5210000Z</dcterms:modified>
</coreProperties>
</file>