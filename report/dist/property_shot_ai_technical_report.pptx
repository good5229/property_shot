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72953a2c6c34657" /><Relationship Type="http://schemas.openxmlformats.org/officeDocument/2006/relationships/extended-properties" Target="/docProps/app.xml" Id="R883235e24ebb4753" /><Relationship Type="http://schemas.openxmlformats.org/officeDocument/2006/relationships/officeDocument" Target="/ppt/presentation.xml" Id="R3a9a10f949144a8e" /></Relationships>
</file>

<file path=ppt/presentation.xml><?xml version="1.0" encoding="utf-8"?>
<p:presentation xmlns:p="http://schemas.openxmlformats.org/presentationml/2006/main">
  <p:sldMasterIdLst>
    <p:sldMasterId xmlns:r="http://schemas.openxmlformats.org/officeDocument/2006/relationships" id="2147483648" r:id="R6f0087a9d4924055"/>
  </p:sldMasterIdLst>
  <p:notesMasterIdLst>
    <p:notesMasterId xmlns:r="http://schemas.openxmlformats.org/officeDocument/2006/relationships" r:id="R5b37d99db8a24531"/>
  </p:notesMasterIdLst>
  <p:sldIdLst>
    <p:sldId xmlns:r="http://schemas.openxmlformats.org/officeDocument/2006/relationships" id="256" r:id="R6581e9d83d5448fc"/>
    <p:sldId xmlns:r="http://schemas.openxmlformats.org/officeDocument/2006/relationships" id="257" r:id="Red3cf5d306e64a34"/>
    <p:sldId xmlns:r="http://schemas.openxmlformats.org/officeDocument/2006/relationships" id="258" r:id="Rd3a0c8ce3b5b49cc"/>
    <p:sldId xmlns:r="http://schemas.openxmlformats.org/officeDocument/2006/relationships" id="259" r:id="R8255067a13c74513"/>
    <p:sldId xmlns:r="http://schemas.openxmlformats.org/officeDocument/2006/relationships" id="260" r:id="Rc5a4c01957a44a66"/>
    <p:sldId xmlns:r="http://schemas.openxmlformats.org/officeDocument/2006/relationships" id="261" r:id="R4e5ddf0eb7224976"/>
    <p:sldId xmlns:r="http://schemas.openxmlformats.org/officeDocument/2006/relationships" id="262" r:id="R93ad85f274104a28"/>
    <p:sldId xmlns:r="http://schemas.openxmlformats.org/officeDocument/2006/relationships" id="263" r:id="R01ba5cee0c994061"/>
    <p:sldId xmlns:r="http://schemas.openxmlformats.org/officeDocument/2006/relationships" id="264" r:id="R98e0cba1e3344099"/>
    <p:sldId xmlns:r="http://schemas.openxmlformats.org/officeDocument/2006/relationships" id="265" r:id="Rc3d1d17318334532"/>
    <p:sldId xmlns:r="http://schemas.openxmlformats.org/officeDocument/2006/relationships" id="266" r:id="R788ff63af8d0490d"/>
  </p:sldIdLst>
  <p:sldSz cx="7562850" cy="10696575"/>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da6d42dc0b64422" /><Relationship Type="http://schemas.openxmlformats.org/officeDocument/2006/relationships/slideMaster" Target="/ppt/slideMasters/slideMaster1.xml" Id="R6f0087a9d4924055" /><Relationship Type="http://schemas.openxmlformats.org/officeDocument/2006/relationships/notesMaster" Target="/ppt/notesMasters/notesMaster1.xml" Id="R5b37d99db8a24531" /><Relationship Type="http://schemas.openxmlformats.org/officeDocument/2006/relationships/presProps" Target="/ppt/presProps.xml" Id="R7b902be834ef4802" /><Relationship Type="http://schemas.openxmlformats.org/officeDocument/2006/relationships/tableStyles" Target="/ppt/tableStyles.xml" Id="Rac675dad96394e96" /><Relationship Type="http://schemas.openxmlformats.org/officeDocument/2006/relationships/slide" Target="/ppt/slides/slide1.xml" Id="R6581e9d83d5448fc" /><Relationship Type="http://schemas.openxmlformats.org/officeDocument/2006/relationships/slide" Target="/ppt/slides/slide2.xml" Id="Red3cf5d306e64a34" /><Relationship Type="http://schemas.openxmlformats.org/officeDocument/2006/relationships/slide" Target="/ppt/slides/slide3.xml" Id="Rd3a0c8ce3b5b49cc" /><Relationship Type="http://schemas.openxmlformats.org/officeDocument/2006/relationships/slide" Target="/ppt/slides/slide4.xml" Id="R8255067a13c74513" /><Relationship Type="http://schemas.openxmlformats.org/officeDocument/2006/relationships/slide" Target="/ppt/slides/slide5.xml" Id="Rc5a4c01957a44a66" /><Relationship Type="http://schemas.openxmlformats.org/officeDocument/2006/relationships/slide" Target="/ppt/slides/slide6.xml" Id="R4e5ddf0eb7224976" /><Relationship Type="http://schemas.openxmlformats.org/officeDocument/2006/relationships/slide" Target="/ppt/slides/slide7.xml" Id="R93ad85f274104a28" /><Relationship Type="http://schemas.openxmlformats.org/officeDocument/2006/relationships/slide" Target="/ppt/slides/slide8.xml" Id="R01ba5cee0c994061" /><Relationship Type="http://schemas.openxmlformats.org/officeDocument/2006/relationships/slide" Target="/ppt/slides/slide9.xml" Id="R98e0cba1e3344099" /><Relationship Type="http://schemas.openxmlformats.org/officeDocument/2006/relationships/slide" Target="/ppt/slides/slide10.xml" Id="Rc3d1d17318334532" /><Relationship Type="http://schemas.openxmlformats.org/officeDocument/2006/relationships/slide" Target="/ppt/slides/slide11.xml" Id="R788ff63af8d0490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5a0f32ff804440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c17131645e44079" /><Relationship Type="http://schemas.openxmlformats.org/officeDocument/2006/relationships/notesMaster" Target="/ppt/notesMasters/notesMaster1.xml" Id="R8f97fdc1dbb04f40" /></Relationships>
</file>

<file path=ppt/notesSlides/_rels/notesSlide2.xml.rels>&#65279;<?xml version="1.0" encoding="utf-8"?><Relationships xmlns="http://schemas.openxmlformats.org/package/2006/relationships"><Relationship Type="http://schemas.openxmlformats.org/officeDocument/2006/relationships/slide" Target="/ppt/slides/slide2.xml" Id="R0d6c0f4b9f834a27" /><Relationship Type="http://schemas.openxmlformats.org/officeDocument/2006/relationships/notesMaster" Target="/ppt/notesMasters/notesMaster1.xml" Id="R1baadca14644425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3ec83b8fc184230" /><Relationship Type="http://schemas.openxmlformats.org/officeDocument/2006/relationships/notesMaster" Target="/ppt/notesMasters/notesMaster1.xml" Id="R242384a64b834ed9" /></Relationships>
</file>

<file path=ppt/notesSlides/_rels/notesSlide4.xml.rels>&#65279;<?xml version="1.0" encoding="utf-8"?><Relationships xmlns="http://schemas.openxmlformats.org/package/2006/relationships"><Relationship Type="http://schemas.openxmlformats.org/officeDocument/2006/relationships/slide" Target="/ppt/slides/slide4.xml" Id="R5614ab31132742b9" /><Relationship Type="http://schemas.openxmlformats.org/officeDocument/2006/relationships/notesMaster" Target="/ppt/notesMasters/notesMaster1.xml" Id="R2bb4b58259404443" /></Relationships>
</file>

<file path=ppt/notesSlides/_rels/notesSlide5.xml.rels>&#65279;<?xml version="1.0" encoding="utf-8"?><Relationships xmlns="http://schemas.openxmlformats.org/package/2006/relationships"><Relationship Type="http://schemas.openxmlformats.org/officeDocument/2006/relationships/slide" Target="/ppt/slides/slide5.xml" Id="R7687aa17fa344a5b" /><Relationship Type="http://schemas.openxmlformats.org/officeDocument/2006/relationships/notesMaster" Target="/ppt/notesMasters/notesMaster1.xml" Id="R41afd0440b9f46a0" /></Relationships>
</file>

<file path=ppt/notesSlides/_rels/notesSlide6.xml.rels>&#65279;<?xml version="1.0" encoding="utf-8"?><Relationships xmlns="http://schemas.openxmlformats.org/package/2006/relationships"><Relationship Type="http://schemas.openxmlformats.org/officeDocument/2006/relationships/slide" Target="/ppt/slides/slide6.xml" Id="Re4e0379bc9c243e4" /><Relationship Type="http://schemas.openxmlformats.org/officeDocument/2006/relationships/notesMaster" Target="/ppt/notesMasters/notesMaster1.xml" Id="R0ecbd51c1dcc45c1" /></Relationships>
</file>

<file path=ppt/notesSlides/_rels/notesSlide7.xml.rels>&#65279;<?xml version="1.0" encoding="utf-8"?><Relationships xmlns="http://schemas.openxmlformats.org/package/2006/relationships"><Relationship Type="http://schemas.openxmlformats.org/officeDocument/2006/relationships/slide" Target="/ppt/slides/slide7.xml" Id="Ra133c17cc8bc4a40" /><Relationship Type="http://schemas.openxmlformats.org/officeDocument/2006/relationships/notesMaster" Target="/ppt/notesMasters/notesMaster1.xml" Id="R7c7a2ec996a0414b" /></Relationships>
</file>

<file path=ppt/notesSlides/_rels/notesSlide8.xml.rels>&#65279;<?xml version="1.0" encoding="utf-8"?><Relationships xmlns="http://schemas.openxmlformats.org/package/2006/relationships"><Relationship Type="http://schemas.openxmlformats.org/officeDocument/2006/relationships/slide" Target="/ppt/slides/slide8.xml" Id="R7c5ee078a5a342a3" /><Relationship Type="http://schemas.openxmlformats.org/officeDocument/2006/relationships/notesMaster" Target="/ppt/notesMasters/notesMaster1.xml" Id="R0e1f4cd2cf55419b" /></Relationships>
</file>

<file path=ppt/notesSlides/_rels/notesSlide9.xml.rels>&#65279;<?xml version="1.0" encoding="utf-8"?><Relationships xmlns="http://schemas.openxmlformats.org/package/2006/relationships"><Relationship Type="http://schemas.openxmlformats.org/officeDocument/2006/relationships/slide" Target="/ppt/slides/slide9.xml" Id="Rfc5e149187364f93" /><Relationship Type="http://schemas.openxmlformats.org/officeDocument/2006/relationships/notesMaster" Target="/ppt/notesMasters/notesMaster1.xml" Id="R7a0255d5a9074fc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38fce7a88014cd4" /><Relationship Type="http://schemas.openxmlformats.org/officeDocument/2006/relationships/notesMaster" Target="/ppt/notesMasters/notesMaster1.xml" Id="Rf5c6f8639f4441f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e3079dc14084e24" /><Relationship Type="http://schemas.openxmlformats.org/officeDocument/2006/relationships/notesMaster" Target="/ppt/notesMasters/notesMaster1.xml" Id="Rba808a38bc614c9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Project report source and local repository assets</a:t>
            </a:r>
          </a:p>
          <a:p xmlns:a="http://schemas.openxmlformats.org/drawingml/2006/main">
            <a:r>
              <a:t>- https://nan2026.nhn.com/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a:p xmlns:a="http://schemas.openxmlformats.org/drawingml/2006/main">
            <a:r>
              <a:t>- test/goldens/charge_gauge_stage4_warningRed_left_390x844.png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a:p xmlns:a="http://schemas.openxmlformats.org/drawingml/2006/main">
            <a:r>
              <a:t>- test/goldens/difficulty_easy_first_arrival_390x844.png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a:p xmlns:a="http://schemas.openxmlformats.org/drawingml/2006/main">
            <a:r>
              <a:t>- https://flutter.dev/</a:t>
            </a:r>
          </a:p>
          <a:p xmlns:a="http://schemas.openxmlformats.org/drawingml/2006/main">
            <a:r>
              <a:t>- https://pub.dev/packages/flame</a:t>
            </a:r>
          </a:p>
          <a:p xmlns:a="http://schemas.openxmlformats.org/drawingml/2006/main">
            <a:r>
              <a:t>- https://pub.dev/packages/shared_preferences</a:t>
            </a:r>
          </a:p>
          <a:p xmlns:a="http://schemas.openxmlformats.org/drawingml/2006/main">
            <a:r>
              <a:t>- https://pub.dev/packages/crypto</a:t>
            </a:r>
          </a:p>
          <a:p xmlns:a="http://schemas.openxmlformats.org/drawingml/2006/main">
            <a:r>
              <a:t>- https://pub.dev/packages/audioplayers</a:t>
            </a:r>
          </a:p>
          <a:p xmlns:a="http://schemas.openxmlformats.org/drawingml/2006/main">
            <a:r>
              <a:t>- https://hangeul.naver.com/font</a:t>
            </a:r>
          </a:p>
          <a:p xmlns:a="http://schemas.openxmlformats.org/drawingml/2006/main">
            <a:r>
              <a:t>- https://github.com/google/material-design-icons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a:p xmlns:a="http://schemas.openxmlformats.org/drawingml/2006/main">
            <a:r>
              <a:t>- test/goldens/raster_assets_390x844.png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518fdd907da4be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0f6ed54518142ef" /><Relationship Type="http://schemas.openxmlformats.org/officeDocument/2006/relationships/slideLayout" Target="/ppt/slideLayouts/slideLayout1.xml" Id="R8a262956eac2417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a262956eac2417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d61bd2b8c714ed4" /><Relationship Type="http://schemas.openxmlformats.org/officeDocument/2006/relationships/image" Target="/ppt/media/image.png" Id="Re52e74d583c9477b" /><Relationship Type="http://schemas.openxmlformats.org/officeDocument/2006/relationships/notesSlide" Target="/ppt/notesSlides/notesSlide1.xml" Id="R3a8ddd21591b4c6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6d8164c26e548c8" /><Relationship Type="http://schemas.openxmlformats.org/officeDocument/2006/relationships/notesSlide" Target="/ppt/notesSlides/notesSlide2.xml" Id="Rf1981b05a01e4b4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e24a6ad904c430d" /><Relationship Type="http://schemas.openxmlformats.org/officeDocument/2006/relationships/notesSlide" Target="/ppt/notesSlides/notesSlide3.xml" Id="R49d841b8fbe048a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2b591fb386e4e68" /><Relationship Type="http://schemas.openxmlformats.org/officeDocument/2006/relationships/image" Target="/ppt/media/image2.png" Id="R3755d92f29904c7a" /><Relationship Type="http://schemas.openxmlformats.org/officeDocument/2006/relationships/notesSlide" Target="/ppt/notesSlides/notesSlide4.xml" Id="R0ba9e1648af7426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52a1e79b8eb4d8e" /><Relationship Type="http://schemas.openxmlformats.org/officeDocument/2006/relationships/image" Target="/ppt/media/image3.png" Id="R393e61e09cd2471c" /><Relationship Type="http://schemas.openxmlformats.org/officeDocument/2006/relationships/notesSlide" Target="/ppt/notesSlides/notesSlide5.xml" Id="R6ff5483f9d5e4f4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7220616641c4f8e" /><Relationship Type="http://schemas.openxmlformats.org/officeDocument/2006/relationships/notesSlide" Target="/ppt/notesSlides/notesSlide6.xml" Id="R8b62e023868046b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202ae6de550431d" /><Relationship Type="http://schemas.openxmlformats.org/officeDocument/2006/relationships/notesSlide" Target="/ppt/notesSlides/notesSlide7.xml" Id="R9129e6850c28409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ff082079bc24a7f" /><Relationship Type="http://schemas.openxmlformats.org/officeDocument/2006/relationships/notesSlide" Target="/ppt/notesSlides/notesSlide8.xml" Id="R260da6c82e224c2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1552aeb11ea4dd2" /><Relationship Type="http://schemas.openxmlformats.org/officeDocument/2006/relationships/notesSlide" Target="/ppt/notesSlides/notesSlide9.xml" Id="R5db6d7d38cf747c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4b1e2250b244d76" /><Relationship Type="http://schemas.openxmlformats.org/officeDocument/2006/relationships/notesSlide" Target="/ppt/notesSlides/notesSlide10.xml" Id="R8136d7a9c8cd4e3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098a8a3b2ea483e" /><Relationship Type="http://schemas.openxmlformats.org/officeDocument/2006/relationships/image" Target="/ppt/media/image4.png" Id="Re04084e5f0614543" /><Relationship Type="http://schemas.openxmlformats.org/officeDocument/2006/relationships/notesSlide" Target="/ppt/notesSlides/notesSlide11.xml" Id="Rdcc931828b13428f" /></Relationships>
</file>

<file path=ppt/slides/slide1.xml><?xml version="1.0" encoding="utf-8"?>
<p:sld xmlns:p="http://schemas.openxmlformats.org/presentationml/2006/main">
  <p:cSld>
    <p:bg>
      <p:bgPr>
        <a:solidFill xmlns:a="http://schemas.openxmlformats.org/drawingml/2006/main">
          <a:srgbClr val="FFF9E7"/>
        </a:solidFill>
      </p:bgPr>
    </p:bg>
    <p:spTree>
      <p:nvGrpSpPr>
        <p:cNvPr id="1" name=""/>
        <p:cNvGrpSpPr/>
        <p:nvPr/>
      </p:nvGrpSpPr>
      <p:grpSpPr>
        <a:xfrm xmlns:a="http://schemas.openxmlformats.org/drawingml/2006/main"/>
      </p:grpSpPr>
      <p:sp>
        <p:nvSpPr>
          <p:cNvPr id="9" name="cover-accent">
            <a:extLst xmlns:a="http://schemas.openxmlformats.org/drawingml/2006/main">
              <a:ext uri="{FF2B5EF4-FFF2-40B4-BE49-F238E27FC236}">
                <a16:creationId xmlns:a16="http://schemas.microsoft.com/office/drawing/2014/main" id="{E60C5C2B-C803-4ADE-962D-9504991A06CB}"/>
              </a:ext>
            </a:extLst>
          </p:cNvPr>
          <p:cNvSpPr>
            <a:spLocks xmlns:a="http://schemas.openxmlformats.org/drawingml/2006/main" noGrp="1"/>
          </p:cNvSpPr>
          <p:nvPr/>
        </p:nvSpPr>
        <p:spPr>
          <a:xfrm xmlns:a="http://schemas.openxmlformats.org/drawingml/2006/main">
            <a:off x="0" y="0"/>
            <a:ext cx="171450" cy="10696575"/>
          </a:xfrm>
          <a:prstGeom xmlns:a="http://schemas.openxmlformats.org/drawingml/2006/main" prst="rect">
            <a:avLst/>
          </a:prstGeom>
          <a:solidFill xmlns:a="http://schemas.openxmlformats.org/drawingml/2006/main">
            <a:srgbClr val="F47661"/>
          </a:solidFill>
          <a:ln xmlns:a="http://schemas.openxmlformats.org/drawingml/2006/main" w="0">
            <a:noFill/>
            <a:prstDash val="solid"/>
          </a:ln>
        </p:spPr>
      </p:sp>
      <p:sp>
        <p:nvSpPr>
          <p:cNvPr id="2" name="cover-kicker">
            <a:extLst xmlns:a="http://schemas.openxmlformats.org/drawingml/2006/main">
              <a:ext uri="{FF2B5EF4-FFF2-40B4-BE49-F238E27FC236}">
                <a16:creationId xmlns:a16="http://schemas.microsoft.com/office/drawing/2014/main" id="{31D0379C-3CA1-4D85-8B88-9B954685AE11}"/>
              </a:ext>
            </a:extLst>
          </p:cNvPr>
          <p:cNvSpPr>
            <a:spLocks xmlns:a="http://schemas.openxmlformats.org/drawingml/2006/main" noGrp="1"/>
          </p:cNvSpPr>
          <p:nvPr/>
        </p:nvSpPr>
        <p:spPr>
          <a:xfrm xmlns:a="http://schemas.openxmlformats.org/drawingml/2006/main">
            <a:off x="742950" y="1524000"/>
            <a:ext cx="561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350" b="1">
                <a:solidFill>
                  <a:srgbClr val="D7A23D"/>
                </a:solidFill>
                <a:latin typeface="NanumGothic"/>
                <a:ea typeface="NanumGothic"/>
                <a:cs typeface="NanumGothic"/>
              </a:defRPr>
            </a:pPr>
            <a:r>
              <a:rPr sz="1350" b="1">
                <a:solidFill>
                  <a:srgbClr val="D7A23D"/>
                </a:solidFill>
                <a:latin typeface="NanumGothic"/>
                <a:ea typeface="NanumGothic"/>
                <a:cs typeface="NanumGothic"/>
              </a:rPr>
              <a:t>AI TECHNICAL REPORT</a:t>
            </a:r>
          </a:p>
        </p:txBody>
      </p:sp>
      <p:sp>
        <p:nvSpPr>
          <p:cNvPr id="3" name="cover-title">
            <a:extLst xmlns:a="http://schemas.openxmlformats.org/drawingml/2006/main">
              <a:ext uri="{FF2B5EF4-FFF2-40B4-BE49-F238E27FC236}">
                <a16:creationId xmlns:a16="http://schemas.microsoft.com/office/drawing/2014/main" id="{CC71B11B-7F28-428C-B788-24BBEC0D8D17}"/>
              </a:ext>
            </a:extLst>
          </p:cNvPr>
          <p:cNvSpPr>
            <a:spLocks xmlns:a="http://schemas.openxmlformats.org/drawingml/2006/main" noGrp="1"/>
          </p:cNvSpPr>
          <p:nvPr/>
        </p:nvSpPr>
        <p:spPr>
          <a:xfrm xmlns:a="http://schemas.openxmlformats.org/drawingml/2006/main">
            <a:off x="742950" y="2333625"/>
            <a:ext cx="60960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3750" b="1">
                <a:solidFill>
                  <a:srgbClr val="173A3F"/>
                </a:solidFill>
                <a:latin typeface="NanumGothic"/>
                <a:ea typeface="NanumGothic"/>
                <a:cs typeface="NanumGothic"/>
              </a:defRPr>
            </a:pPr>
            <a:r>
              <a:rPr sz="3750" b="1">
                <a:solidFill>
                  <a:srgbClr val="173A3F"/>
                </a:solidFill>
                <a:latin typeface="NanumGothic"/>
                <a:ea typeface="NanumGothic"/>
                <a:cs typeface="NanumGothic"/>
              </a:rPr>
              <a:t>속성 한방(Property Shot)</a:t>
            </a:r>
          </a:p>
        </p:txBody>
      </p:sp>
      <p:sp>
        <p:nvSpPr>
          <p:cNvPr id="4" name="cover-rule">
            <a:extLst xmlns:a="http://schemas.openxmlformats.org/drawingml/2006/main">
              <a:ext uri="{FF2B5EF4-FFF2-40B4-BE49-F238E27FC236}">
                <a16:creationId xmlns:a16="http://schemas.microsoft.com/office/drawing/2014/main" id="{CA3B3F31-A31E-4569-A7FF-182BA2FFD5DB}"/>
              </a:ext>
            </a:extLst>
          </p:cNvPr>
          <p:cNvSpPr>
            <a:spLocks xmlns:a="http://schemas.openxmlformats.org/drawingml/2006/main" noGrp="1"/>
          </p:cNvSpPr>
          <p:nvPr/>
        </p:nvSpPr>
        <p:spPr>
          <a:xfrm xmlns:a="http://schemas.openxmlformats.org/drawingml/2006/main">
            <a:off x="742950" y="4191000"/>
            <a:ext cx="1714500" cy="4762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5" name="cover-description">
            <a:extLst xmlns:a="http://schemas.openxmlformats.org/drawingml/2006/main">
              <a:ext uri="{FF2B5EF4-FFF2-40B4-BE49-F238E27FC236}">
                <a16:creationId xmlns:a16="http://schemas.microsoft.com/office/drawing/2014/main" id="{648ED439-0B94-461C-A482-3D038442D344}"/>
              </a:ext>
            </a:extLst>
          </p:cNvPr>
          <p:cNvSpPr>
            <a:spLocks xmlns:a="http://schemas.openxmlformats.org/drawingml/2006/main" noGrp="1"/>
          </p:cNvSpPr>
          <p:nvPr/>
        </p:nvSpPr>
        <p:spPr>
          <a:xfrm xmlns:a="http://schemas.openxmlformats.org/drawingml/2006/main">
            <a:off x="742950" y="4552950"/>
            <a:ext cx="3238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650" b="0">
                <a:solidFill>
                  <a:srgbClr val="607477"/>
                </a:solidFill>
                <a:latin typeface="NanumGothic"/>
                <a:ea typeface="NanumGothic"/>
                <a:cs typeface="NanumGothic"/>
              </a:defRPr>
            </a:pPr>
            <a:r>
              <a:rPr sz="1650" b="0">
                <a:solidFill>
                  <a:srgbClr val="607477"/>
                </a:solidFill>
                <a:latin typeface="NanumGothic"/>
                <a:ea typeface="NanumGothic"/>
                <a:cs typeface="NanumGothic"/>
              </a:rPr>
              <a:t>프롬프트를 제작 계약으로 바꾸고, 독립 감사로 검증한 AI 협업</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e52e74d583c9477b"/>
          <a:stretch xmlns:a="http://schemas.openxmlformats.org/drawingml/2006/main"/>
        </p:blipFill>
        <p:spPr>
          <a:xfrm xmlns:a="http://schemas.openxmlformats.org/drawingml/2006/main">
            <a:off x="4845900" y="4457700"/>
            <a:ext cx="1452450" cy="3143250"/>
          </a:xfrm>
          <a:prstGeom xmlns:a="http://schemas.openxmlformats.org/drawingml/2006/main" prst="roundRect">
            <a:avLst>
              <a:gd name="adj" fmla="val 5217"/>
            </a:avLst>
          </a:prstGeom>
        </p:spPr>
      </p:pic>
      <p:sp>
        <p:nvSpPr>
          <p:cNvPr id="7" name="cover-meta">
            <a:extLst xmlns:a="http://schemas.openxmlformats.org/drawingml/2006/main">
              <a:ext uri="{FF2B5EF4-FFF2-40B4-BE49-F238E27FC236}">
                <a16:creationId xmlns:a16="http://schemas.microsoft.com/office/drawing/2014/main" id="{C3A23B67-32EB-4CF4-A09B-EA040DE5919D}"/>
              </a:ext>
            </a:extLst>
          </p:cNvPr>
          <p:cNvSpPr>
            <a:spLocks xmlns:a="http://schemas.openxmlformats.org/drawingml/2006/main" noGrp="1"/>
          </p:cNvSpPr>
          <p:nvPr/>
        </p:nvSpPr>
        <p:spPr>
          <a:xfrm xmlns:a="http://schemas.openxmlformats.org/drawingml/2006/main">
            <a:off x="742950" y="8572500"/>
            <a:ext cx="5810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30000"/>
              </a:lnSpc>
              <a:buNone/>
              <a:defRPr sz="1275" b="0">
                <a:solidFill>
                  <a:srgbClr val="173A3F"/>
                </a:solidFill>
                <a:latin typeface="NanumGothic"/>
                <a:ea typeface="NanumGothic"/>
                <a:cs typeface="NanumGothic"/>
              </a:defRPr>
            </a:pPr>
            <a:r>
              <a:rPr sz="1275" b="0">
                <a:solidFill>
                  <a:srgbClr val="173A3F"/>
                </a:solidFill>
                <a:latin typeface="NanumGothic"/>
                <a:ea typeface="NanumGothic"/>
                <a:cs typeface="NanumGothic"/>
              </a:rPr>
              <a:t>NAN 2026 Game × AI 해커톤 사전 과제</a:t>
            </a:r>
          </a:p>
          <a:p xmlns:a="http://schemas.openxmlformats.org/drawingml/2006/main">
            <a:pPr algn="l">
              <a:lnSpc>
                <a:spcPct val="130000"/>
              </a:lnSpc>
              <a:buNone/>
              <a:defRPr sz="1275" b="0">
                <a:solidFill>
                  <a:srgbClr val="173A3F"/>
                </a:solidFill>
                <a:latin typeface="NanumGothic"/>
                <a:ea typeface="NanumGothic"/>
                <a:cs typeface="NanumGothic"/>
              </a:defRPr>
            </a:pPr>
            <a:r>
              <a:rPr sz="1275" b="0">
                <a:solidFill>
                  <a:srgbClr val="173A3F"/>
                </a:solidFill>
                <a:latin typeface="NanumGothic"/>
                <a:ea typeface="NanumGothic"/>
                <a:cs typeface="NanumGothic"/>
              </a:rPr>
              <a:t>2026-08-10</a:t>
            </a:r>
          </a:p>
        </p:txBody>
      </p:sp>
      <p:sp>
        <p:nvSpPr>
          <p:cNvPr id="8" name="cover-page">
            <a:extLst xmlns:a="http://schemas.openxmlformats.org/drawingml/2006/main">
              <a:ext uri="{FF2B5EF4-FFF2-40B4-BE49-F238E27FC236}">
                <a16:creationId xmlns:a16="http://schemas.microsoft.com/office/drawing/2014/main" id="{E592086F-99DC-41EC-ADA5-D926B4E05886}"/>
              </a:ext>
            </a:extLst>
          </p:cNvPr>
          <p:cNvSpPr>
            <a:spLocks xmlns:a="http://schemas.openxmlformats.org/drawingml/2006/main" noGrp="1"/>
          </p:cNvSpPr>
          <p:nvPr/>
        </p:nvSpPr>
        <p:spPr>
          <a:xfrm xmlns:a="http://schemas.openxmlformats.org/drawingml/2006/main">
            <a:off x="6705600" y="9963150"/>
            <a:ext cx="3238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a:t>
            </a:r>
          </a:p>
        </p:txBody>
      </p:sp>
    </p:spTree>
    <p:extLst>
      <p:ext uri="{BB962C8B-B14F-4D97-AF65-F5344CB8AC3E}">
        <p14:creationId xmlns:p14="http://schemas.microsoft.com/office/powerpoint/2010/main" val="6460912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running-label">
            <a:extLst xmlns:a="http://schemas.openxmlformats.org/drawingml/2006/main">
              <a:ext uri="{FF2B5EF4-FFF2-40B4-BE49-F238E27FC236}">
                <a16:creationId xmlns:a16="http://schemas.microsoft.com/office/drawing/2014/main" id="{89A716CC-2FE6-4D8E-AE27-7DFB080120AB}"/>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C7AD4386-C357-4919-A154-3FD8F12A5310}"/>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2</a:t>
            </a:r>
          </a:p>
        </p:txBody>
      </p:sp>
      <p:sp>
        <p:nvSpPr>
          <p:cNvPr id="3" name="header-rule">
            <a:extLst xmlns:a="http://schemas.openxmlformats.org/drawingml/2006/main">
              <a:ext uri="{FF2B5EF4-FFF2-40B4-BE49-F238E27FC236}">
                <a16:creationId xmlns:a16="http://schemas.microsoft.com/office/drawing/2014/main" id="{64197354-1335-4F34-9141-0F5FDC966C62}"/>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938399C3-8B88-4E57-BC10-701737810A80}"/>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3687"/>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1. AI를 ‘작업자’가 아니라 ‘검증 가능한 제작 조직’으로 사용했다</a:t>
            </a:r>
          </a:p>
        </p:txBody>
      </p:sp>
      <p:sp>
        <p:nvSpPr>
          <p:cNvPr id="5" name="paragraph-140">
            <a:extLst xmlns:a="http://schemas.openxmlformats.org/drawingml/2006/main">
              <a:ext uri="{FF2B5EF4-FFF2-40B4-BE49-F238E27FC236}">
                <a16:creationId xmlns:a16="http://schemas.microsoft.com/office/drawing/2014/main" id="{EFF6A881-D57C-4848-996C-BAD7306BB5DC}"/>
              </a:ext>
            </a:extLst>
          </p:cNvPr>
          <p:cNvSpPr>
            <a:spLocks xmlns:a="http://schemas.openxmlformats.org/drawingml/2006/main" noGrp="1"/>
          </p:cNvSpPr>
          <p:nvPr/>
        </p:nvSpPr>
        <p:spPr>
          <a:xfrm xmlns:a="http://schemas.openxmlformats.org/drawingml/2006/main">
            <a:off x="533400" y="1333500"/>
            <a:ext cx="6496050" cy="10408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처음부터 AI에게 게임 전체를 맡기지는 않았다. 재미의 방향과 난이도 정책은 사람이 정하고, 저장소 조사·구현·테스트·감사는 서로 다른 역할로 나눴다. 한 에이전트가 만든 결과를 다른 에이전트가 다시 확인하게 한 이유는 단순했다. 물리 퍼즐에서는 작은 수치 하나가 리플레이와 기록까지 흔들 수 있기 때문이다.</a:t>
            </a:r>
          </a:p>
        </p:txBody>
      </p:sp>
      <p:sp>
        <p:nvSpPr>
          <p:cNvPr id="6" name="paragraph-261.28">
            <a:extLst xmlns:a="http://schemas.openxmlformats.org/drawingml/2006/main">
              <a:ext uri="{FF2B5EF4-FFF2-40B4-BE49-F238E27FC236}">
                <a16:creationId xmlns:a16="http://schemas.microsoft.com/office/drawing/2014/main" id="{6F54AE51-172C-435F-AE15-17263F00B8E4}"/>
              </a:ext>
            </a:extLst>
          </p:cNvPr>
          <p:cNvSpPr>
            <a:spLocks xmlns:a="http://schemas.openxmlformats.org/drawingml/2006/main" noGrp="1"/>
          </p:cNvSpPr>
          <p:nvPr/>
        </p:nvSpPr>
        <p:spPr>
          <a:xfrm xmlns:a="http://schemas.openxmlformats.org/drawingml/2006/main">
            <a:off x="533400" y="2488692"/>
            <a:ext cx="6496050" cy="8092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프롬프트에는 원하는 결과만 쓰지 않았다. 바꾸지 말아야 할 규칙, 확인해야 할 화면, 통과해야 할 테스트를 함께 적었다. 덕분에 AI가 낸 제안을 그대로 받기보다 비교하고 고칠 수 있었다.</a:t>
            </a:r>
          </a:p>
        </p:txBody>
      </p:sp>
    </p:spTree>
    <p:extLst>
      <p:ext uri="{BB962C8B-B14F-4D97-AF65-F5344CB8AC3E}">
        <p14:creationId xmlns:p14="http://schemas.microsoft.com/office/powerpoint/2010/main" val="180027113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4" name="running-label">
            <a:extLst xmlns:a="http://schemas.openxmlformats.org/drawingml/2006/main">
              <a:ext uri="{FF2B5EF4-FFF2-40B4-BE49-F238E27FC236}">
                <a16:creationId xmlns:a16="http://schemas.microsoft.com/office/drawing/2014/main" id="{390B0156-F390-42EC-B726-AFF89563A86E}"/>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572EF998-13B6-4A89-B116-536E8B0C9A8C}"/>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3</a:t>
            </a:r>
          </a:p>
        </p:txBody>
      </p:sp>
      <p:sp>
        <p:nvSpPr>
          <p:cNvPr id="3" name="header-rule">
            <a:extLst xmlns:a="http://schemas.openxmlformats.org/drawingml/2006/main">
              <a:ext uri="{FF2B5EF4-FFF2-40B4-BE49-F238E27FC236}">
                <a16:creationId xmlns:a16="http://schemas.microsoft.com/office/drawing/2014/main" id="{F5046B92-BF6D-412F-BD88-BEE8A64C8FCC}"/>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7A1A0224-603E-4894-8E98-7CD2F4DFD801}"/>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2. 프롬프트가 실제 작업으로 바뀌는 흐름</a:t>
            </a:r>
          </a:p>
        </p:txBody>
      </p:sp>
      <p:sp>
        <p:nvSpPr>
          <p:cNvPr id="5" name="subheading-140">
            <a:extLst xmlns:a="http://schemas.openxmlformats.org/drawingml/2006/main">
              <a:ext uri="{FF2B5EF4-FFF2-40B4-BE49-F238E27FC236}">
                <a16:creationId xmlns:a16="http://schemas.microsoft.com/office/drawing/2014/main" id="{087C258C-C503-41E1-916C-61C9B33E10BA}"/>
              </a:ext>
            </a:extLst>
          </p:cNvPr>
          <p:cNvSpPr>
            <a:spLocks xmlns:a="http://schemas.openxmlformats.org/drawingml/2006/main" noGrp="1"/>
          </p:cNvSpPr>
          <p:nvPr/>
        </p:nvSpPr>
        <p:spPr>
          <a:xfrm xmlns:a="http://schemas.openxmlformats.org/drawingml/2006/main">
            <a:off x="533400" y="1333500"/>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2.1 공통 제작 루프</a:t>
            </a:r>
          </a:p>
        </p:txBody>
      </p:sp>
      <p:sp>
        <p:nvSpPr>
          <p:cNvPr id="6" name="workflow-arrow-194-0">
            <a:extLst xmlns:a="http://schemas.openxmlformats.org/drawingml/2006/main">
              <a:ext uri="{FF2B5EF4-FFF2-40B4-BE49-F238E27FC236}">
                <a16:creationId xmlns:a16="http://schemas.microsoft.com/office/drawing/2014/main" id="{EB303A0A-F4E1-44A5-B7BD-69BA5CCA0437}"/>
              </a:ext>
            </a:extLst>
          </p:cNvPr>
          <p:cNvSpPr>
            <a:spLocks xmlns:a="http://schemas.openxmlformats.org/drawingml/2006/main" noGrp="1"/>
          </p:cNvSpPr>
          <p:nvPr/>
        </p:nvSpPr>
        <p:spPr>
          <a:xfrm xmlns:a="http://schemas.openxmlformats.org/drawingml/2006/main">
            <a:off x="1628775" y="2133600"/>
            <a:ext cx="219075" cy="266700"/>
          </a:xfrm>
          <a:prstGeom xmlns:a="http://schemas.openxmlformats.org/drawingml/2006/main" prst="rightArrow">
            <a:avLst/>
          </a:prstGeom>
          <a:solidFill xmlns:a="http://schemas.openxmlformats.org/drawingml/2006/main">
            <a:srgbClr val="D7A23D"/>
          </a:solidFill>
          <a:ln xmlns:a="http://schemas.openxmlformats.org/drawingml/2006/main" w="0">
            <a:noFill/>
            <a:prstDash val="solid"/>
          </a:ln>
        </p:spPr>
      </p:sp>
      <p:sp>
        <p:nvSpPr>
          <p:cNvPr id="7" name="workflow-arrow-194-1">
            <a:extLst xmlns:a="http://schemas.openxmlformats.org/drawingml/2006/main">
              <a:ext uri="{FF2B5EF4-FFF2-40B4-BE49-F238E27FC236}">
                <a16:creationId xmlns:a16="http://schemas.microsoft.com/office/drawing/2014/main" id="{776C434F-E002-4244-9E92-3BB7467F4780}"/>
              </a:ext>
            </a:extLst>
          </p:cNvPr>
          <p:cNvSpPr>
            <a:spLocks xmlns:a="http://schemas.openxmlformats.org/drawingml/2006/main" noGrp="1"/>
          </p:cNvSpPr>
          <p:nvPr/>
        </p:nvSpPr>
        <p:spPr>
          <a:xfrm xmlns:a="http://schemas.openxmlformats.org/drawingml/2006/main">
            <a:off x="2990850" y="2133600"/>
            <a:ext cx="219075" cy="266700"/>
          </a:xfrm>
          <a:prstGeom xmlns:a="http://schemas.openxmlformats.org/drawingml/2006/main" prst="rightArrow">
            <a:avLst/>
          </a:prstGeom>
          <a:solidFill xmlns:a="http://schemas.openxmlformats.org/drawingml/2006/main">
            <a:srgbClr val="D7A23D"/>
          </a:solidFill>
          <a:ln xmlns:a="http://schemas.openxmlformats.org/drawingml/2006/main" w="0">
            <a:noFill/>
            <a:prstDash val="solid"/>
          </a:ln>
        </p:spPr>
      </p:sp>
      <p:sp>
        <p:nvSpPr>
          <p:cNvPr id="8" name="workflow-arrow-194-2">
            <a:extLst xmlns:a="http://schemas.openxmlformats.org/drawingml/2006/main">
              <a:ext uri="{FF2B5EF4-FFF2-40B4-BE49-F238E27FC236}">
                <a16:creationId xmlns:a16="http://schemas.microsoft.com/office/drawing/2014/main" id="{4E3F53FA-FEA9-4DFD-B728-3F647F65F195}"/>
              </a:ext>
            </a:extLst>
          </p:cNvPr>
          <p:cNvSpPr>
            <a:spLocks xmlns:a="http://schemas.openxmlformats.org/drawingml/2006/main" noGrp="1"/>
          </p:cNvSpPr>
          <p:nvPr/>
        </p:nvSpPr>
        <p:spPr>
          <a:xfrm xmlns:a="http://schemas.openxmlformats.org/drawingml/2006/main">
            <a:off x="4352925" y="2133600"/>
            <a:ext cx="219075" cy="266700"/>
          </a:xfrm>
          <a:prstGeom xmlns:a="http://schemas.openxmlformats.org/drawingml/2006/main" prst="rightArrow">
            <a:avLst/>
          </a:prstGeom>
          <a:solidFill xmlns:a="http://schemas.openxmlformats.org/drawingml/2006/main">
            <a:srgbClr val="D7A23D"/>
          </a:solidFill>
          <a:ln xmlns:a="http://schemas.openxmlformats.org/drawingml/2006/main" w="0">
            <a:noFill/>
            <a:prstDash val="solid"/>
          </a:ln>
        </p:spPr>
      </p:sp>
      <p:sp>
        <p:nvSpPr>
          <p:cNvPr id="9" name="workflow-arrow-194-3">
            <a:extLst xmlns:a="http://schemas.openxmlformats.org/drawingml/2006/main">
              <a:ext uri="{FF2B5EF4-FFF2-40B4-BE49-F238E27FC236}">
                <a16:creationId xmlns:a16="http://schemas.microsoft.com/office/drawing/2014/main" id="{63B84529-54A4-42E9-A9BE-E889B16B4381}"/>
              </a:ext>
            </a:extLst>
          </p:cNvPr>
          <p:cNvSpPr>
            <a:spLocks xmlns:a="http://schemas.openxmlformats.org/drawingml/2006/main" noGrp="1"/>
          </p:cNvSpPr>
          <p:nvPr/>
        </p:nvSpPr>
        <p:spPr>
          <a:xfrm xmlns:a="http://schemas.openxmlformats.org/drawingml/2006/main">
            <a:off x="5715000" y="2133600"/>
            <a:ext cx="219075" cy="266700"/>
          </a:xfrm>
          <a:prstGeom xmlns:a="http://schemas.openxmlformats.org/drawingml/2006/main" prst="rightArrow">
            <a:avLst/>
          </a:prstGeom>
          <a:solidFill xmlns:a="http://schemas.openxmlformats.org/drawingml/2006/main">
            <a:srgbClr val="D7A23D"/>
          </a:solidFill>
          <a:ln xmlns:a="http://schemas.openxmlformats.org/drawingml/2006/main" w="0">
            <a:noFill/>
            <a:prstDash val="solid"/>
          </a:ln>
        </p:spPr>
      </p:sp>
      <p:sp>
        <p:nvSpPr>
          <p:cNvPr id="10" name="workflow-node-194-0">
            <a:extLst xmlns:a="http://schemas.openxmlformats.org/drawingml/2006/main">
              <a:ext uri="{FF2B5EF4-FFF2-40B4-BE49-F238E27FC236}">
                <a16:creationId xmlns:a16="http://schemas.microsoft.com/office/drawing/2014/main" id="{DC5BED77-3BE3-4202-AFDD-867168575D8D}"/>
              </a:ext>
            </a:extLst>
          </p:cNvPr>
          <p:cNvSpPr>
            <a:spLocks xmlns:a="http://schemas.openxmlformats.org/drawingml/2006/main" noGrp="1"/>
          </p:cNvSpPr>
          <p:nvPr/>
        </p:nvSpPr>
        <p:spPr>
          <a:xfrm xmlns:a="http://schemas.openxmlformats.org/drawingml/2006/main">
            <a:off x="533400" y="1847850"/>
            <a:ext cx="1047750" cy="876300"/>
          </a:xfrm>
          <a:prstGeom xmlns:a="http://schemas.openxmlformats.org/drawingml/2006/main" prst="roundRect">
            <a:avLst>
              <a:gd name="adj" fmla="val 8696"/>
            </a:avLst>
          </a:prstGeom>
          <a:solidFill xmlns:a="http://schemas.openxmlformats.org/drawingml/2006/main">
            <a:srgbClr val="E8F4F1"/>
          </a:solidFill>
          <a:ln xmlns:a="http://schemas.openxmlformats.org/drawingml/2006/main" w="13335">
            <a:solidFill>
              <a:srgbClr val="2C7A7B"/>
            </a:solidFill>
            <a:prstDash val="solid"/>
          </a:ln>
        </p:spPr>
      </p:sp>
      <p:sp>
        <p:nvSpPr>
          <p:cNvPr id="11" name="workflow-label-194-0">
            <a:extLst xmlns:a="http://schemas.openxmlformats.org/drawingml/2006/main">
              <a:ext uri="{FF2B5EF4-FFF2-40B4-BE49-F238E27FC236}">
                <a16:creationId xmlns:a16="http://schemas.microsoft.com/office/drawing/2014/main" id="{8B67BBE7-47A8-4A51-AEAD-A5A5F0A88EEC}"/>
              </a:ext>
            </a:extLst>
          </p:cNvPr>
          <p:cNvSpPr>
            <a:spLocks xmlns:a="http://schemas.openxmlformats.org/drawingml/2006/main" noGrp="1"/>
          </p:cNvSpPr>
          <p:nvPr/>
        </p:nvSpPr>
        <p:spPr>
          <a:xfrm xmlns:a="http://schemas.openxmlformats.org/drawingml/2006/main">
            <a:off x="609600" y="2076450"/>
            <a:ext cx="895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9153"/>
          </a:bodyPr>
          <a:lstStyle xmlns:a="http://schemas.openxmlformats.org/drawingml/2006/main"/>
          <a:p xmlns:a="http://schemas.openxmlformats.org/drawingml/2006/main">
            <a:pPr algn="ctr">
              <a:lnSpc>
                <a:spcPct val="120000"/>
              </a:lnSpc>
              <a:buNone/>
              <a:defRPr sz="1200" b="1">
                <a:solidFill>
                  <a:srgbClr val="173A3F"/>
                </a:solidFill>
                <a:latin typeface="NanumGothic"/>
                <a:ea typeface="NanumGothic"/>
                <a:cs typeface="NanumGothic"/>
              </a:defRPr>
            </a:pPr>
            <a:r>
              <a:rPr sz="1200" b="1">
                <a:solidFill>
                  <a:srgbClr val="173A3F"/>
                </a:solidFill>
                <a:latin typeface="NanumGothic"/>
                <a:ea typeface="NanumGothic"/>
                <a:cs typeface="NanumGothic"/>
              </a:rPr>
              <a:t>사용자 피드백</a:t>
            </a:r>
          </a:p>
        </p:txBody>
      </p:sp>
      <p:sp>
        <p:nvSpPr>
          <p:cNvPr id="12" name="workflow-node-194-1">
            <a:extLst xmlns:a="http://schemas.openxmlformats.org/drawingml/2006/main">
              <a:ext uri="{FF2B5EF4-FFF2-40B4-BE49-F238E27FC236}">
                <a16:creationId xmlns:a16="http://schemas.microsoft.com/office/drawing/2014/main" id="{A70C21C2-29AE-4969-A547-F58CB77A80EE}"/>
              </a:ext>
            </a:extLst>
          </p:cNvPr>
          <p:cNvSpPr>
            <a:spLocks xmlns:a="http://schemas.openxmlformats.org/drawingml/2006/main" noGrp="1"/>
          </p:cNvSpPr>
          <p:nvPr/>
        </p:nvSpPr>
        <p:spPr>
          <a:xfrm xmlns:a="http://schemas.openxmlformats.org/drawingml/2006/main">
            <a:off x="1895475" y="1847850"/>
            <a:ext cx="1047750" cy="876300"/>
          </a:xfrm>
          <a:prstGeom xmlns:a="http://schemas.openxmlformats.org/drawingml/2006/main" prst="roundRect">
            <a:avLst>
              <a:gd name="adj" fmla="val 8696"/>
            </a:avLst>
          </a:prstGeom>
          <a:solidFill xmlns:a="http://schemas.openxmlformats.org/drawingml/2006/main">
            <a:srgbClr val="E8F4F1"/>
          </a:solidFill>
          <a:ln xmlns:a="http://schemas.openxmlformats.org/drawingml/2006/main" w="13335">
            <a:solidFill>
              <a:srgbClr val="2C7A7B"/>
            </a:solidFill>
            <a:prstDash val="solid"/>
          </a:ln>
        </p:spPr>
      </p:sp>
      <p:sp>
        <p:nvSpPr>
          <p:cNvPr id="13" name="workflow-label-194-1">
            <a:extLst xmlns:a="http://schemas.openxmlformats.org/drawingml/2006/main">
              <a:ext uri="{FF2B5EF4-FFF2-40B4-BE49-F238E27FC236}">
                <a16:creationId xmlns:a16="http://schemas.microsoft.com/office/drawing/2014/main" id="{0E492DAD-1231-405E-A345-DF25510FF5A7}"/>
              </a:ext>
            </a:extLst>
          </p:cNvPr>
          <p:cNvSpPr>
            <a:spLocks xmlns:a="http://schemas.openxmlformats.org/drawingml/2006/main" noGrp="1"/>
          </p:cNvSpPr>
          <p:nvPr/>
        </p:nvSpPr>
        <p:spPr>
          <a:xfrm xmlns:a="http://schemas.openxmlformats.org/drawingml/2006/main">
            <a:off x="1971675" y="2076450"/>
            <a:ext cx="895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20000"/>
              </a:lnSpc>
              <a:buNone/>
              <a:defRPr sz="1200" b="1">
                <a:solidFill>
                  <a:srgbClr val="173A3F"/>
                </a:solidFill>
                <a:latin typeface="NanumGothic"/>
                <a:ea typeface="NanumGothic"/>
                <a:cs typeface="NanumGothic"/>
              </a:defRPr>
            </a:pPr>
            <a:r>
              <a:rPr sz="1200" b="1">
                <a:solidFill>
                  <a:srgbClr val="173A3F"/>
                </a:solidFill>
                <a:latin typeface="NanumGothic"/>
                <a:ea typeface="NanumGothic"/>
                <a:cs typeface="NanumGothic"/>
              </a:rPr>
              <a:t>기능 계약</a:t>
            </a:r>
          </a:p>
        </p:txBody>
      </p:sp>
      <p:sp>
        <p:nvSpPr>
          <p:cNvPr id="14" name="workflow-node-194-2">
            <a:extLst xmlns:a="http://schemas.openxmlformats.org/drawingml/2006/main">
              <a:ext uri="{FF2B5EF4-FFF2-40B4-BE49-F238E27FC236}">
                <a16:creationId xmlns:a16="http://schemas.microsoft.com/office/drawing/2014/main" id="{E42F19CB-8EF6-4E44-AE78-975FB41180E7}"/>
              </a:ext>
            </a:extLst>
          </p:cNvPr>
          <p:cNvSpPr>
            <a:spLocks xmlns:a="http://schemas.openxmlformats.org/drawingml/2006/main" noGrp="1"/>
          </p:cNvSpPr>
          <p:nvPr/>
        </p:nvSpPr>
        <p:spPr>
          <a:xfrm xmlns:a="http://schemas.openxmlformats.org/drawingml/2006/main">
            <a:off x="3257550" y="1847850"/>
            <a:ext cx="1047750" cy="876300"/>
          </a:xfrm>
          <a:prstGeom xmlns:a="http://schemas.openxmlformats.org/drawingml/2006/main" prst="roundRect">
            <a:avLst>
              <a:gd name="adj" fmla="val 8696"/>
            </a:avLst>
          </a:prstGeom>
          <a:solidFill xmlns:a="http://schemas.openxmlformats.org/drawingml/2006/main">
            <a:srgbClr val="E8F4F1"/>
          </a:solidFill>
          <a:ln xmlns:a="http://schemas.openxmlformats.org/drawingml/2006/main" w="13335">
            <a:solidFill>
              <a:srgbClr val="2C7A7B"/>
            </a:solidFill>
            <a:prstDash val="solid"/>
          </a:ln>
        </p:spPr>
      </p:sp>
      <p:sp>
        <p:nvSpPr>
          <p:cNvPr id="15" name="workflow-label-194-2">
            <a:extLst xmlns:a="http://schemas.openxmlformats.org/drawingml/2006/main">
              <a:ext uri="{FF2B5EF4-FFF2-40B4-BE49-F238E27FC236}">
                <a16:creationId xmlns:a16="http://schemas.microsoft.com/office/drawing/2014/main" id="{02A78B32-91A2-47D5-881C-287145189372}"/>
              </a:ext>
            </a:extLst>
          </p:cNvPr>
          <p:cNvSpPr>
            <a:spLocks xmlns:a="http://schemas.openxmlformats.org/drawingml/2006/main" noGrp="1"/>
          </p:cNvSpPr>
          <p:nvPr/>
        </p:nvSpPr>
        <p:spPr>
          <a:xfrm xmlns:a="http://schemas.openxmlformats.org/drawingml/2006/main">
            <a:off x="3333750" y="2076450"/>
            <a:ext cx="895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20000"/>
              </a:lnSpc>
              <a:buNone/>
              <a:defRPr sz="1200" b="1">
                <a:solidFill>
                  <a:srgbClr val="173A3F"/>
                </a:solidFill>
                <a:latin typeface="NanumGothic"/>
                <a:ea typeface="NanumGothic"/>
                <a:cs typeface="NanumGothic"/>
              </a:defRPr>
            </a:pPr>
            <a:r>
              <a:rPr sz="1200" b="1">
                <a:solidFill>
                  <a:srgbClr val="173A3F"/>
                </a:solidFill>
                <a:latin typeface="NanumGothic"/>
                <a:ea typeface="NanumGothic"/>
                <a:cs typeface="NanumGothic"/>
              </a:rPr>
              <a:t>전문 실행</a:t>
            </a:r>
          </a:p>
        </p:txBody>
      </p:sp>
      <p:sp>
        <p:nvSpPr>
          <p:cNvPr id="16" name="workflow-node-194-3">
            <a:extLst xmlns:a="http://schemas.openxmlformats.org/drawingml/2006/main">
              <a:ext uri="{FF2B5EF4-FFF2-40B4-BE49-F238E27FC236}">
                <a16:creationId xmlns:a16="http://schemas.microsoft.com/office/drawing/2014/main" id="{FD6DF122-99AF-4788-9A7E-36FE35218921}"/>
              </a:ext>
            </a:extLst>
          </p:cNvPr>
          <p:cNvSpPr>
            <a:spLocks xmlns:a="http://schemas.openxmlformats.org/drawingml/2006/main" noGrp="1"/>
          </p:cNvSpPr>
          <p:nvPr/>
        </p:nvSpPr>
        <p:spPr>
          <a:xfrm xmlns:a="http://schemas.openxmlformats.org/drawingml/2006/main">
            <a:off x="4619625" y="1847850"/>
            <a:ext cx="1047750" cy="876300"/>
          </a:xfrm>
          <a:prstGeom xmlns:a="http://schemas.openxmlformats.org/drawingml/2006/main" prst="roundRect">
            <a:avLst>
              <a:gd name="adj" fmla="val 8696"/>
            </a:avLst>
          </a:prstGeom>
          <a:solidFill xmlns:a="http://schemas.openxmlformats.org/drawingml/2006/main">
            <a:srgbClr val="FFF0EC"/>
          </a:solidFill>
          <a:ln xmlns:a="http://schemas.openxmlformats.org/drawingml/2006/main" w="13335">
            <a:solidFill>
              <a:srgbClr val="F47661"/>
            </a:solidFill>
            <a:prstDash val="solid"/>
          </a:ln>
        </p:spPr>
      </p:sp>
      <p:sp>
        <p:nvSpPr>
          <p:cNvPr id="17" name="workflow-label-194-3">
            <a:extLst xmlns:a="http://schemas.openxmlformats.org/drawingml/2006/main">
              <a:ext uri="{FF2B5EF4-FFF2-40B4-BE49-F238E27FC236}">
                <a16:creationId xmlns:a16="http://schemas.microsoft.com/office/drawing/2014/main" id="{5D2A1A3A-5DC8-4D0C-9DC8-BBA4972384B4}"/>
              </a:ext>
            </a:extLst>
          </p:cNvPr>
          <p:cNvSpPr>
            <a:spLocks xmlns:a="http://schemas.openxmlformats.org/drawingml/2006/main" noGrp="1"/>
          </p:cNvSpPr>
          <p:nvPr/>
        </p:nvSpPr>
        <p:spPr>
          <a:xfrm xmlns:a="http://schemas.openxmlformats.org/drawingml/2006/main">
            <a:off x="4695825" y="2076450"/>
            <a:ext cx="895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20000"/>
              </a:lnSpc>
              <a:buNone/>
              <a:defRPr sz="1200" b="1">
                <a:solidFill>
                  <a:srgbClr val="173A3F"/>
                </a:solidFill>
                <a:latin typeface="NanumGothic"/>
                <a:ea typeface="NanumGothic"/>
                <a:cs typeface="NanumGothic"/>
              </a:defRPr>
            </a:pPr>
            <a:r>
              <a:rPr sz="1200" b="1">
                <a:solidFill>
                  <a:srgbClr val="173A3F"/>
                </a:solidFill>
                <a:latin typeface="NanumGothic"/>
                <a:ea typeface="NanumGothic"/>
                <a:cs typeface="NanumGothic"/>
              </a:rPr>
              <a:t>독립 감사</a:t>
            </a:r>
          </a:p>
        </p:txBody>
      </p:sp>
      <p:sp>
        <p:nvSpPr>
          <p:cNvPr id="18" name="workflow-node-194-4">
            <a:extLst xmlns:a="http://schemas.openxmlformats.org/drawingml/2006/main">
              <a:ext uri="{FF2B5EF4-FFF2-40B4-BE49-F238E27FC236}">
                <a16:creationId xmlns:a16="http://schemas.microsoft.com/office/drawing/2014/main" id="{593A7934-CE95-4AB0-AF91-5A400756C1C2}"/>
              </a:ext>
            </a:extLst>
          </p:cNvPr>
          <p:cNvSpPr>
            <a:spLocks xmlns:a="http://schemas.openxmlformats.org/drawingml/2006/main" noGrp="1"/>
          </p:cNvSpPr>
          <p:nvPr/>
        </p:nvSpPr>
        <p:spPr>
          <a:xfrm xmlns:a="http://schemas.openxmlformats.org/drawingml/2006/main">
            <a:off x="5981700" y="1847850"/>
            <a:ext cx="1047750" cy="876300"/>
          </a:xfrm>
          <a:prstGeom xmlns:a="http://schemas.openxmlformats.org/drawingml/2006/main" prst="roundRect">
            <a:avLst>
              <a:gd name="adj" fmla="val 8696"/>
            </a:avLst>
          </a:prstGeom>
          <a:solidFill xmlns:a="http://schemas.openxmlformats.org/drawingml/2006/main">
            <a:srgbClr val="E8F4F1"/>
          </a:solidFill>
          <a:ln xmlns:a="http://schemas.openxmlformats.org/drawingml/2006/main" w="13335">
            <a:solidFill>
              <a:srgbClr val="2C7A7B"/>
            </a:solidFill>
            <a:prstDash val="solid"/>
          </a:ln>
        </p:spPr>
      </p:sp>
      <p:sp>
        <p:nvSpPr>
          <p:cNvPr id="19" name="workflow-label-194-4">
            <a:extLst xmlns:a="http://schemas.openxmlformats.org/drawingml/2006/main">
              <a:ext uri="{FF2B5EF4-FFF2-40B4-BE49-F238E27FC236}">
                <a16:creationId xmlns:a16="http://schemas.microsoft.com/office/drawing/2014/main" id="{3DC95D1C-2DD5-4F15-9EAE-16912A6661FD}"/>
              </a:ext>
            </a:extLst>
          </p:cNvPr>
          <p:cNvSpPr>
            <a:spLocks xmlns:a="http://schemas.openxmlformats.org/drawingml/2006/main" noGrp="1"/>
          </p:cNvSpPr>
          <p:nvPr/>
        </p:nvSpPr>
        <p:spPr>
          <a:xfrm xmlns:a="http://schemas.openxmlformats.org/drawingml/2006/main">
            <a:off x="6057900" y="2076450"/>
            <a:ext cx="895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20000"/>
              </a:lnSpc>
              <a:buNone/>
              <a:defRPr sz="1200" b="1">
                <a:solidFill>
                  <a:srgbClr val="173A3F"/>
                </a:solidFill>
                <a:latin typeface="NanumGothic"/>
                <a:ea typeface="NanumGothic"/>
                <a:cs typeface="NanumGothic"/>
              </a:defRPr>
            </a:pPr>
            <a:r>
              <a:rPr sz="1200" b="1">
                <a:solidFill>
                  <a:srgbClr val="173A3F"/>
                </a:solidFill>
                <a:latin typeface="NanumGothic"/>
                <a:ea typeface="NanumGothic"/>
                <a:cs typeface="NanumGothic"/>
              </a:rPr>
              <a:t>증거·통합</a:t>
            </a:r>
          </a:p>
        </p:txBody>
      </p:sp>
      <p:sp>
        <p:nvSpPr>
          <p:cNvPr id="20" name="workflow-note-194">
            <a:extLst xmlns:a="http://schemas.openxmlformats.org/drawingml/2006/main">
              <a:ext uri="{FF2B5EF4-FFF2-40B4-BE49-F238E27FC236}">
                <a16:creationId xmlns:a16="http://schemas.microsoft.com/office/drawing/2014/main" id="{42299B83-A471-41A3-A637-2A4063BF6004}"/>
              </a:ext>
            </a:extLst>
          </p:cNvPr>
          <p:cNvSpPr>
            <a:spLocks xmlns:a="http://schemas.openxmlformats.org/drawingml/2006/main" noGrp="1"/>
          </p:cNvSpPr>
          <p:nvPr/>
        </p:nvSpPr>
        <p:spPr>
          <a:xfrm xmlns:a="http://schemas.openxmlformats.org/drawingml/2006/main">
            <a:off x="533400" y="2914650"/>
            <a:ext cx="649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감사에서 문제가 발견되면 기능 계약 단계로 돌아간다.</a:t>
            </a:r>
          </a:p>
        </p:txBody>
      </p:sp>
      <p:sp>
        <p:nvSpPr>
          <p:cNvPr id="21" name="paragraph-360">
            <a:extLst xmlns:a="http://schemas.openxmlformats.org/drawingml/2006/main">
              <a:ext uri="{FF2B5EF4-FFF2-40B4-BE49-F238E27FC236}">
                <a16:creationId xmlns:a16="http://schemas.microsoft.com/office/drawing/2014/main" id="{CD40CCE7-AEC6-4489-B03E-E2C2B86EF841}"/>
              </a:ext>
            </a:extLst>
          </p:cNvPr>
          <p:cNvSpPr>
            <a:spLocks xmlns:a="http://schemas.openxmlformats.org/drawingml/2006/main" noGrp="1"/>
          </p:cNvSpPr>
          <p:nvPr/>
        </p:nvSpPr>
        <p:spPr>
          <a:xfrm xmlns:a="http://schemas.openxmlformats.org/drawingml/2006/main">
            <a:off x="533400" y="3429000"/>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사용자 피드백을 기능 계약으로 바꾸고, 담당 에이전트가 구현한 뒤 독립 감사와 실행 증거를 거쳐 통합했다. 감사에서 문제가 나오면 완료로 처리하지 않고 계약 단계로 되돌렸다.</a:t>
            </a:r>
          </a:p>
        </p:txBody>
      </p:sp>
      <p:sp>
        <p:nvSpPr>
          <p:cNvPr id="22" name="subheading-432.64">
            <a:extLst xmlns:a="http://schemas.openxmlformats.org/drawingml/2006/main">
              <a:ext uri="{FF2B5EF4-FFF2-40B4-BE49-F238E27FC236}">
                <a16:creationId xmlns:a16="http://schemas.microsoft.com/office/drawing/2014/main" id="{672F52C6-DC33-4ACA-8C0C-AD855EB92AB7}"/>
              </a:ext>
            </a:extLst>
          </p:cNvPr>
          <p:cNvSpPr>
            <a:spLocks xmlns:a="http://schemas.openxmlformats.org/drawingml/2006/main" noGrp="1"/>
          </p:cNvSpPr>
          <p:nvPr/>
        </p:nvSpPr>
        <p:spPr>
          <a:xfrm xmlns:a="http://schemas.openxmlformats.org/drawingml/2006/main">
            <a:off x="533400" y="4120896"/>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2.2 실제 프롬프트를 작업 계약으로 바꾼 예</a:t>
            </a:r>
          </a:p>
        </p:txBody>
      </p:sp>
      <p:sp>
        <p:nvSpPr>
          <p:cNvPr id="23" name="table-cell-486.64-0-0">
            <a:extLst xmlns:a="http://schemas.openxmlformats.org/drawingml/2006/main">
              <a:ext uri="{FF2B5EF4-FFF2-40B4-BE49-F238E27FC236}">
                <a16:creationId xmlns:a16="http://schemas.microsoft.com/office/drawing/2014/main" id="{958D03E2-CC9D-45AF-A9DA-6E44AB1469D4}"/>
              </a:ext>
            </a:extLst>
          </p:cNvPr>
          <p:cNvSpPr>
            <a:spLocks xmlns:a="http://schemas.openxmlformats.org/drawingml/2006/main" noGrp="1"/>
          </p:cNvSpPr>
          <p:nvPr/>
        </p:nvSpPr>
        <p:spPr>
          <a:xfrm xmlns:a="http://schemas.openxmlformats.org/drawingml/2006/main">
            <a:off x="533400" y="4635246"/>
            <a:ext cx="2165350"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24" name="table-text-486.64-0-0">
            <a:extLst xmlns:a="http://schemas.openxmlformats.org/drawingml/2006/main">
              <a:ext uri="{FF2B5EF4-FFF2-40B4-BE49-F238E27FC236}">
                <a16:creationId xmlns:a16="http://schemas.microsoft.com/office/drawing/2014/main" id="{579E8350-124B-4659-981C-53F1E648BA3B}"/>
              </a:ext>
            </a:extLst>
          </p:cNvPr>
          <p:cNvSpPr>
            <a:spLocks xmlns:a="http://schemas.openxmlformats.org/drawingml/2006/main" noGrp="1"/>
          </p:cNvSpPr>
          <p:nvPr/>
        </p:nvSpPr>
        <p:spPr>
          <a:xfrm xmlns:a="http://schemas.openxmlformats.org/drawingml/2006/main">
            <a:off x="619125" y="4701921"/>
            <a:ext cx="1993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실제 프롬프트 발췌</a:t>
            </a:r>
          </a:p>
        </p:txBody>
      </p:sp>
      <p:sp>
        <p:nvSpPr>
          <p:cNvPr id="25" name="table-cell-486.64-0-1">
            <a:extLst xmlns:a="http://schemas.openxmlformats.org/drawingml/2006/main">
              <a:ext uri="{FF2B5EF4-FFF2-40B4-BE49-F238E27FC236}">
                <a16:creationId xmlns:a16="http://schemas.microsoft.com/office/drawing/2014/main" id="{363C8A0E-0AA8-44D2-9C19-12197F75AF43}"/>
              </a:ext>
            </a:extLst>
          </p:cNvPr>
          <p:cNvSpPr>
            <a:spLocks xmlns:a="http://schemas.openxmlformats.org/drawingml/2006/main" noGrp="1"/>
          </p:cNvSpPr>
          <p:nvPr/>
        </p:nvSpPr>
        <p:spPr>
          <a:xfrm xmlns:a="http://schemas.openxmlformats.org/drawingml/2006/main">
            <a:off x="2698750" y="4635246"/>
            <a:ext cx="2165350"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26" name="table-text-486.64-0-1">
            <a:extLst xmlns:a="http://schemas.openxmlformats.org/drawingml/2006/main">
              <a:ext uri="{FF2B5EF4-FFF2-40B4-BE49-F238E27FC236}">
                <a16:creationId xmlns:a16="http://schemas.microsoft.com/office/drawing/2014/main" id="{617AF6C9-5145-45DE-ACBA-E817B29C021C}"/>
              </a:ext>
            </a:extLst>
          </p:cNvPr>
          <p:cNvSpPr>
            <a:spLocks xmlns:a="http://schemas.openxmlformats.org/drawingml/2006/main" noGrp="1"/>
          </p:cNvSpPr>
          <p:nvPr/>
        </p:nvSpPr>
        <p:spPr>
          <a:xfrm xmlns:a="http://schemas.openxmlformats.org/drawingml/2006/main">
            <a:off x="2784475" y="4701921"/>
            <a:ext cx="1993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계약으로 변환한 제약</a:t>
            </a:r>
          </a:p>
        </p:txBody>
      </p:sp>
      <p:sp>
        <p:nvSpPr>
          <p:cNvPr id="27" name="table-cell-486.64-0-2">
            <a:extLst xmlns:a="http://schemas.openxmlformats.org/drawingml/2006/main">
              <a:ext uri="{FF2B5EF4-FFF2-40B4-BE49-F238E27FC236}">
                <a16:creationId xmlns:a16="http://schemas.microsoft.com/office/drawing/2014/main" id="{7EF2F957-E8DA-4676-995D-A58FF723E526}"/>
              </a:ext>
            </a:extLst>
          </p:cNvPr>
          <p:cNvSpPr>
            <a:spLocks xmlns:a="http://schemas.openxmlformats.org/drawingml/2006/main" noGrp="1"/>
          </p:cNvSpPr>
          <p:nvPr/>
        </p:nvSpPr>
        <p:spPr>
          <a:xfrm xmlns:a="http://schemas.openxmlformats.org/drawingml/2006/main">
            <a:off x="4864100" y="4635246"/>
            <a:ext cx="2165350"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28" name="table-text-486.64-0-2">
            <a:extLst xmlns:a="http://schemas.openxmlformats.org/drawingml/2006/main">
              <a:ext uri="{FF2B5EF4-FFF2-40B4-BE49-F238E27FC236}">
                <a16:creationId xmlns:a16="http://schemas.microsoft.com/office/drawing/2014/main" id="{E809AE1D-350D-41E9-A846-8A85440518DE}"/>
              </a:ext>
            </a:extLst>
          </p:cNvPr>
          <p:cNvSpPr>
            <a:spLocks xmlns:a="http://schemas.openxmlformats.org/drawingml/2006/main" noGrp="1"/>
          </p:cNvSpPr>
          <p:nvPr/>
        </p:nvSpPr>
        <p:spPr>
          <a:xfrm xmlns:a="http://schemas.openxmlformats.org/drawingml/2006/main">
            <a:off x="4949825" y="4701921"/>
            <a:ext cx="1993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수행·검증 결과</a:t>
            </a:r>
          </a:p>
        </p:txBody>
      </p:sp>
      <p:sp>
        <p:nvSpPr>
          <p:cNvPr id="29" name="table-cell-486.64-1-0">
            <a:extLst xmlns:a="http://schemas.openxmlformats.org/drawingml/2006/main">
              <a:ext uri="{FF2B5EF4-FFF2-40B4-BE49-F238E27FC236}">
                <a16:creationId xmlns:a16="http://schemas.microsoft.com/office/drawing/2014/main" id="{164501FD-3E03-4345-9B08-A90002BFA044}"/>
              </a:ext>
            </a:extLst>
          </p:cNvPr>
          <p:cNvSpPr>
            <a:spLocks xmlns:a="http://schemas.openxmlformats.org/drawingml/2006/main" noGrp="1"/>
          </p:cNvSpPr>
          <p:nvPr/>
        </p:nvSpPr>
        <p:spPr>
          <a:xfrm xmlns:a="http://schemas.openxmlformats.org/drawingml/2006/main">
            <a:off x="533400" y="5092446"/>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30" name="table-text-486.64-1-0">
            <a:extLst xmlns:a="http://schemas.openxmlformats.org/drawingml/2006/main">
              <a:ext uri="{FF2B5EF4-FFF2-40B4-BE49-F238E27FC236}">
                <a16:creationId xmlns:a16="http://schemas.microsoft.com/office/drawing/2014/main" id="{222BB163-6D14-44B1-8241-669D2E092384}"/>
              </a:ext>
            </a:extLst>
          </p:cNvPr>
          <p:cNvSpPr>
            <a:spLocks xmlns:a="http://schemas.openxmlformats.org/drawingml/2006/main" noGrp="1"/>
          </p:cNvSpPr>
          <p:nvPr/>
        </p:nvSpPr>
        <p:spPr>
          <a:xfrm xmlns:a="http://schemas.openxmlformats.org/drawingml/2006/main">
            <a:off x="619125" y="5159121"/>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“모바일에서는 손가락 때문에 게이지가 잘 안 보인다.”</a:t>
            </a:r>
          </a:p>
        </p:txBody>
      </p:sp>
      <p:sp>
        <p:nvSpPr>
          <p:cNvPr id="31" name="table-cell-486.64-1-1">
            <a:extLst xmlns:a="http://schemas.openxmlformats.org/drawingml/2006/main">
              <a:ext uri="{FF2B5EF4-FFF2-40B4-BE49-F238E27FC236}">
                <a16:creationId xmlns:a16="http://schemas.microsoft.com/office/drawing/2014/main" id="{E11769AB-8782-4545-B889-5EBC28F3EF38}"/>
              </a:ext>
            </a:extLst>
          </p:cNvPr>
          <p:cNvSpPr>
            <a:spLocks xmlns:a="http://schemas.openxmlformats.org/drawingml/2006/main" noGrp="1"/>
          </p:cNvSpPr>
          <p:nvPr/>
        </p:nvSpPr>
        <p:spPr>
          <a:xfrm xmlns:a="http://schemas.openxmlformats.org/drawingml/2006/main">
            <a:off x="2698750" y="5092446"/>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32" name="table-text-486.64-1-1">
            <a:extLst xmlns:a="http://schemas.openxmlformats.org/drawingml/2006/main">
              <a:ext uri="{FF2B5EF4-FFF2-40B4-BE49-F238E27FC236}">
                <a16:creationId xmlns:a16="http://schemas.microsoft.com/office/drawing/2014/main" id="{BF6DA853-7AAE-4C61-84E4-C5338DA8F580}"/>
              </a:ext>
            </a:extLst>
          </p:cNvPr>
          <p:cNvSpPr>
            <a:spLocks xmlns:a="http://schemas.openxmlformats.org/drawingml/2006/main" noGrp="1"/>
          </p:cNvSpPr>
          <p:nvPr/>
        </p:nvSpPr>
        <p:spPr>
          <a:xfrm xmlns:a="http://schemas.openxmlformats.org/drawingml/2006/main">
            <a:off x="2784475" y="5159121"/>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입력 임계값과 물리는 유지, 기물·SafeArea·저모션을 보호</a:t>
            </a:r>
          </a:p>
        </p:txBody>
      </p:sp>
      <p:sp>
        <p:nvSpPr>
          <p:cNvPr id="33" name="table-cell-486.64-1-2">
            <a:extLst xmlns:a="http://schemas.openxmlformats.org/drawingml/2006/main">
              <a:ext uri="{FF2B5EF4-FFF2-40B4-BE49-F238E27FC236}">
                <a16:creationId xmlns:a16="http://schemas.microsoft.com/office/drawing/2014/main" id="{80C87922-3526-4F43-8839-1B751FC870DF}"/>
              </a:ext>
            </a:extLst>
          </p:cNvPr>
          <p:cNvSpPr>
            <a:spLocks xmlns:a="http://schemas.openxmlformats.org/drawingml/2006/main" noGrp="1"/>
          </p:cNvSpPr>
          <p:nvPr/>
        </p:nvSpPr>
        <p:spPr>
          <a:xfrm xmlns:a="http://schemas.openxmlformats.org/drawingml/2006/main">
            <a:off x="4864100" y="5092446"/>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34" name="table-text-486.64-1-2">
            <a:extLst xmlns:a="http://schemas.openxmlformats.org/drawingml/2006/main">
              <a:ext uri="{FF2B5EF4-FFF2-40B4-BE49-F238E27FC236}">
                <a16:creationId xmlns:a16="http://schemas.microsoft.com/office/drawing/2014/main" id="{8AFE4243-7388-4F0E-B84C-021EC12EA5E5}"/>
              </a:ext>
            </a:extLst>
          </p:cNvPr>
          <p:cNvSpPr>
            <a:spLocks xmlns:a="http://schemas.openxmlformats.org/drawingml/2006/main" noGrp="1"/>
          </p:cNvSpPr>
          <p:nvPr/>
        </p:nvSpPr>
        <p:spPr>
          <a:xfrm xmlns:a="http://schemas.openxmlformats.org/drawingml/2006/main">
            <a:off x="4949825" y="5159121"/>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부유 직선 게이지, 좌·우 선호, 접근성·Golden 검사</a:t>
            </a:r>
          </a:p>
        </p:txBody>
      </p:sp>
      <p:sp>
        <p:nvSpPr>
          <p:cNvPr id="35" name="table-cell-486.64-2-0">
            <a:extLst xmlns:a="http://schemas.openxmlformats.org/drawingml/2006/main">
              <a:ext uri="{FF2B5EF4-FFF2-40B4-BE49-F238E27FC236}">
                <a16:creationId xmlns:a16="http://schemas.microsoft.com/office/drawing/2014/main" id="{8069CB4A-D7B7-4A9F-985D-DC0BB6F336D3}"/>
              </a:ext>
            </a:extLst>
          </p:cNvPr>
          <p:cNvSpPr>
            <a:spLocks xmlns:a="http://schemas.openxmlformats.org/drawingml/2006/main" noGrp="1"/>
          </p:cNvSpPr>
          <p:nvPr/>
        </p:nvSpPr>
        <p:spPr>
          <a:xfrm xmlns:a="http://schemas.openxmlformats.org/drawingml/2006/main">
            <a:off x="533400" y="5623941"/>
            <a:ext cx="2165350"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6" name="table-text-486.64-2-0">
            <a:extLst xmlns:a="http://schemas.openxmlformats.org/drawingml/2006/main">
              <a:ext uri="{FF2B5EF4-FFF2-40B4-BE49-F238E27FC236}">
                <a16:creationId xmlns:a16="http://schemas.microsoft.com/office/drawing/2014/main" id="{B4FE133B-E132-4E8C-B089-8049704E65BE}"/>
              </a:ext>
            </a:extLst>
          </p:cNvPr>
          <p:cNvSpPr>
            <a:spLocks xmlns:a="http://schemas.openxmlformats.org/drawingml/2006/main" noGrp="1"/>
          </p:cNvSpPr>
          <p:nvPr/>
        </p:nvSpPr>
        <p:spPr>
          <a:xfrm xmlns:a="http://schemas.openxmlformats.org/drawingml/2006/main">
            <a:off x="619125" y="5690616"/>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“게임이 좀 어렵다. 튜토리얼을 조금만 더 쉽게.”</a:t>
            </a:r>
          </a:p>
        </p:txBody>
      </p:sp>
      <p:sp>
        <p:nvSpPr>
          <p:cNvPr id="37" name="table-cell-486.64-2-1">
            <a:extLst xmlns:a="http://schemas.openxmlformats.org/drawingml/2006/main">
              <a:ext uri="{FF2B5EF4-FFF2-40B4-BE49-F238E27FC236}">
                <a16:creationId xmlns:a16="http://schemas.microsoft.com/office/drawing/2014/main" id="{FDEC39EC-79DF-4A9E-9DD7-CF56255FA11E}"/>
              </a:ext>
            </a:extLst>
          </p:cNvPr>
          <p:cNvSpPr>
            <a:spLocks xmlns:a="http://schemas.openxmlformats.org/drawingml/2006/main" noGrp="1"/>
          </p:cNvSpPr>
          <p:nvPr/>
        </p:nvSpPr>
        <p:spPr>
          <a:xfrm xmlns:a="http://schemas.openxmlformats.org/drawingml/2006/main">
            <a:off x="2698750" y="5623941"/>
            <a:ext cx="2165350"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8" name="table-text-486.64-2-1">
            <a:extLst xmlns:a="http://schemas.openxmlformats.org/drawingml/2006/main">
              <a:ext uri="{FF2B5EF4-FFF2-40B4-BE49-F238E27FC236}">
                <a16:creationId xmlns:a16="http://schemas.microsoft.com/office/drawing/2014/main" id="{04BE262C-5CB2-4A28-A33C-28806842F36F}"/>
              </a:ext>
            </a:extLst>
          </p:cNvPr>
          <p:cNvSpPr>
            <a:spLocks xmlns:a="http://schemas.openxmlformats.org/drawingml/2006/main" noGrp="1"/>
          </p:cNvSpPr>
          <p:nvPr/>
        </p:nvSpPr>
        <p:spPr>
          <a:xfrm xmlns:a="http://schemas.openxmlformats.org/drawingml/2006/main">
            <a:off x="2784475" y="5690616"/>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캠페인 첫 학습만 완화, 오늘의 도전·리플레이·기록 공정성은 불변</a:t>
            </a:r>
          </a:p>
        </p:txBody>
      </p:sp>
      <p:sp>
        <p:nvSpPr>
          <p:cNvPr id="39" name="table-cell-486.64-2-2">
            <a:extLst xmlns:a="http://schemas.openxmlformats.org/drawingml/2006/main">
              <a:ext uri="{FF2B5EF4-FFF2-40B4-BE49-F238E27FC236}">
                <a16:creationId xmlns:a16="http://schemas.microsoft.com/office/drawing/2014/main" id="{8F298EC3-1FF8-41CF-9A80-46915AEFAF0F}"/>
              </a:ext>
            </a:extLst>
          </p:cNvPr>
          <p:cNvSpPr>
            <a:spLocks xmlns:a="http://schemas.openxmlformats.org/drawingml/2006/main" noGrp="1"/>
          </p:cNvSpPr>
          <p:nvPr/>
        </p:nvSpPr>
        <p:spPr>
          <a:xfrm xmlns:a="http://schemas.openxmlformats.org/drawingml/2006/main">
            <a:off x="4864100" y="5623941"/>
            <a:ext cx="2165350"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40" name="table-text-486.64-2-2">
            <a:extLst xmlns:a="http://schemas.openxmlformats.org/drawingml/2006/main">
              <a:ext uri="{FF2B5EF4-FFF2-40B4-BE49-F238E27FC236}">
                <a16:creationId xmlns:a16="http://schemas.microsoft.com/office/drawing/2014/main" id="{9DC96006-CE5E-41A6-BA4F-694CCDB07BF3}"/>
              </a:ext>
            </a:extLst>
          </p:cNvPr>
          <p:cNvSpPr>
            <a:spLocks xmlns:a="http://schemas.openxmlformats.org/drawingml/2006/main" noGrp="1"/>
          </p:cNvSpPr>
          <p:nvPr/>
        </p:nvSpPr>
        <p:spPr>
          <a:xfrm xmlns:a="http://schemas.openxmlformats.org/drawingml/2006/main">
            <a:off x="4949825" y="5690616"/>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기준 패턴 우선, 인과 힌트, 쉬움 예상 도착 표시</a:t>
            </a:r>
          </a:p>
        </p:txBody>
      </p:sp>
      <p:sp>
        <p:nvSpPr>
          <p:cNvPr id="41" name="table-cell-486.64-3-0">
            <a:extLst xmlns:a="http://schemas.openxmlformats.org/drawingml/2006/main">
              <a:ext uri="{FF2B5EF4-FFF2-40B4-BE49-F238E27FC236}">
                <a16:creationId xmlns:a16="http://schemas.microsoft.com/office/drawing/2014/main" id="{B2496365-F5D9-41AA-8251-6F65FC03F120}"/>
              </a:ext>
            </a:extLst>
          </p:cNvPr>
          <p:cNvSpPr>
            <a:spLocks xmlns:a="http://schemas.openxmlformats.org/drawingml/2006/main" noGrp="1"/>
          </p:cNvSpPr>
          <p:nvPr/>
        </p:nvSpPr>
        <p:spPr>
          <a:xfrm xmlns:a="http://schemas.openxmlformats.org/drawingml/2006/main">
            <a:off x="533400" y="6155436"/>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42" name="table-text-486.64-3-0">
            <a:extLst xmlns:a="http://schemas.openxmlformats.org/drawingml/2006/main">
              <a:ext uri="{FF2B5EF4-FFF2-40B4-BE49-F238E27FC236}">
                <a16:creationId xmlns:a16="http://schemas.microsoft.com/office/drawing/2014/main" id="{76AFC042-A347-4FD1-B538-FEDD993B5F29}"/>
              </a:ext>
            </a:extLst>
          </p:cNvPr>
          <p:cNvSpPr>
            <a:spLocks xmlns:a="http://schemas.openxmlformats.org/drawingml/2006/main" noGrp="1"/>
          </p:cNvSpPr>
          <p:nvPr/>
        </p:nvSpPr>
        <p:spPr>
          <a:xfrm xmlns:a="http://schemas.openxmlformats.org/drawingml/2006/main">
            <a:off x="619125" y="6222111"/>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“팁은 너무 추상적이면 안 된다.”</a:t>
            </a:r>
          </a:p>
        </p:txBody>
      </p:sp>
      <p:sp>
        <p:nvSpPr>
          <p:cNvPr id="43" name="table-cell-486.64-3-1">
            <a:extLst xmlns:a="http://schemas.openxmlformats.org/drawingml/2006/main">
              <a:ext uri="{FF2B5EF4-FFF2-40B4-BE49-F238E27FC236}">
                <a16:creationId xmlns:a16="http://schemas.microsoft.com/office/drawing/2014/main" id="{1EAEDB13-6ABA-47C5-9A9E-A56B99869B6E}"/>
              </a:ext>
            </a:extLst>
          </p:cNvPr>
          <p:cNvSpPr>
            <a:spLocks xmlns:a="http://schemas.openxmlformats.org/drawingml/2006/main" noGrp="1"/>
          </p:cNvSpPr>
          <p:nvPr/>
        </p:nvSpPr>
        <p:spPr>
          <a:xfrm xmlns:a="http://schemas.openxmlformats.org/drawingml/2006/main">
            <a:off x="2698750" y="6155436"/>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44" name="table-text-486.64-3-1">
            <a:extLst xmlns:a="http://schemas.openxmlformats.org/drawingml/2006/main">
              <a:ext uri="{FF2B5EF4-FFF2-40B4-BE49-F238E27FC236}">
                <a16:creationId xmlns:a16="http://schemas.microsoft.com/office/drawing/2014/main" id="{30141083-4640-48CB-9D39-918C7187C44A}"/>
              </a:ext>
            </a:extLst>
          </p:cNvPr>
          <p:cNvSpPr>
            <a:spLocks xmlns:a="http://schemas.openxmlformats.org/drawingml/2006/main" noGrp="1"/>
          </p:cNvSpPr>
          <p:nvPr/>
        </p:nvSpPr>
        <p:spPr>
          <a:xfrm xmlns:a="http://schemas.openxmlformats.org/drawingml/2006/main">
            <a:off x="2784475" y="6222111"/>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16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정답 숫자 직행 금지, 패턴·버전·대상 기물에 결속</a:t>
            </a:r>
          </a:p>
        </p:txBody>
      </p:sp>
      <p:sp>
        <p:nvSpPr>
          <p:cNvPr id="45" name="table-cell-486.64-3-2">
            <a:extLst xmlns:a="http://schemas.openxmlformats.org/drawingml/2006/main">
              <a:ext uri="{FF2B5EF4-FFF2-40B4-BE49-F238E27FC236}">
                <a16:creationId xmlns:a16="http://schemas.microsoft.com/office/drawing/2014/main" id="{748B570D-C814-420F-8B6B-5E305B6A70C5}"/>
              </a:ext>
            </a:extLst>
          </p:cNvPr>
          <p:cNvSpPr>
            <a:spLocks xmlns:a="http://schemas.openxmlformats.org/drawingml/2006/main" noGrp="1"/>
          </p:cNvSpPr>
          <p:nvPr/>
        </p:nvSpPr>
        <p:spPr>
          <a:xfrm xmlns:a="http://schemas.openxmlformats.org/drawingml/2006/main">
            <a:off x="4864100" y="6155436"/>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46" name="table-text-486.64-3-2">
            <a:extLst xmlns:a="http://schemas.openxmlformats.org/drawingml/2006/main">
              <a:ext uri="{FF2B5EF4-FFF2-40B4-BE49-F238E27FC236}">
                <a16:creationId xmlns:a16="http://schemas.microsoft.com/office/drawing/2014/main" id="{4D0478A5-C42E-44B9-BE3A-B117462A023F}"/>
              </a:ext>
            </a:extLst>
          </p:cNvPr>
          <p:cNvSpPr>
            <a:spLocks xmlns:a="http://schemas.openxmlformats.org/drawingml/2006/main" noGrp="1"/>
          </p:cNvSpPr>
          <p:nvPr/>
        </p:nvSpPr>
        <p:spPr>
          <a:xfrm xmlns:a="http://schemas.openxmlformats.org/drawingml/2006/main">
            <a:off x="4949825" y="6222111"/>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9125"/>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40패턴 L1/L2와 선택형 열쇠, 저장·복구 검증</a:t>
            </a:r>
          </a:p>
        </p:txBody>
      </p:sp>
      <p:sp>
        <p:nvSpPr>
          <p:cNvPr id="47" name="table-cell-486.64-4-0">
            <a:extLst xmlns:a="http://schemas.openxmlformats.org/drawingml/2006/main">
              <a:ext uri="{FF2B5EF4-FFF2-40B4-BE49-F238E27FC236}">
                <a16:creationId xmlns:a16="http://schemas.microsoft.com/office/drawing/2014/main" id="{A70A01E8-6117-4A59-9BA3-DA484E247F9C}"/>
              </a:ext>
            </a:extLst>
          </p:cNvPr>
          <p:cNvSpPr>
            <a:spLocks xmlns:a="http://schemas.openxmlformats.org/drawingml/2006/main" noGrp="1"/>
          </p:cNvSpPr>
          <p:nvPr/>
        </p:nvSpPr>
        <p:spPr>
          <a:xfrm xmlns:a="http://schemas.openxmlformats.org/drawingml/2006/main">
            <a:off x="533400" y="6555486"/>
            <a:ext cx="2165350"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48" name="table-text-486.64-4-0">
            <a:extLst xmlns:a="http://schemas.openxmlformats.org/drawingml/2006/main">
              <a:ext uri="{FF2B5EF4-FFF2-40B4-BE49-F238E27FC236}">
                <a16:creationId xmlns:a16="http://schemas.microsoft.com/office/drawing/2014/main" id="{90A3C6C0-AB0A-4A6F-AE89-98E7B72D53FD}"/>
              </a:ext>
            </a:extLst>
          </p:cNvPr>
          <p:cNvSpPr>
            <a:spLocks xmlns:a="http://schemas.openxmlformats.org/drawingml/2006/main" noGrp="1"/>
          </p:cNvSpPr>
          <p:nvPr/>
        </p:nvSpPr>
        <p:spPr>
          <a:xfrm xmlns:a="http://schemas.openxmlformats.org/drawingml/2006/main">
            <a:off x="619125" y="6622161"/>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“모든 스테이지에서 기믹 활용이 매우 유리하도록 검증.”</a:t>
            </a:r>
          </a:p>
        </p:txBody>
      </p:sp>
      <p:sp>
        <p:nvSpPr>
          <p:cNvPr id="49" name="table-cell-486.64-4-1">
            <a:extLst xmlns:a="http://schemas.openxmlformats.org/drawingml/2006/main">
              <a:ext uri="{FF2B5EF4-FFF2-40B4-BE49-F238E27FC236}">
                <a16:creationId xmlns:a16="http://schemas.microsoft.com/office/drawing/2014/main" id="{7FB7C8C5-73DD-4236-B375-3AA32C9E91A7}"/>
              </a:ext>
            </a:extLst>
          </p:cNvPr>
          <p:cNvSpPr>
            <a:spLocks xmlns:a="http://schemas.openxmlformats.org/drawingml/2006/main" noGrp="1"/>
          </p:cNvSpPr>
          <p:nvPr/>
        </p:nvSpPr>
        <p:spPr>
          <a:xfrm xmlns:a="http://schemas.openxmlformats.org/drawingml/2006/main">
            <a:off x="2698750" y="6555486"/>
            <a:ext cx="2165350"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50" name="table-text-486.64-4-1">
            <a:extLst xmlns:a="http://schemas.openxmlformats.org/drawingml/2006/main">
              <a:ext uri="{FF2B5EF4-FFF2-40B4-BE49-F238E27FC236}">
                <a16:creationId xmlns:a16="http://schemas.microsoft.com/office/drawing/2014/main" id="{F63A1F5F-1048-4A78-B98F-5E2BD532885B}"/>
              </a:ext>
            </a:extLst>
          </p:cNvPr>
          <p:cNvSpPr>
            <a:spLocks xmlns:a="http://schemas.openxmlformats.org/drawingml/2006/main" noGrp="1"/>
          </p:cNvSpPr>
          <p:nvPr/>
        </p:nvSpPr>
        <p:spPr>
          <a:xfrm xmlns:a="http://schemas.openxmlformats.org/drawingml/2006/main">
            <a:off x="2784475" y="6622161"/>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준비 전·후를 같은 입력 집합에서 비교, 실제 기믹 사건 필수</a:t>
            </a:r>
          </a:p>
        </p:txBody>
      </p:sp>
      <p:sp>
        <p:nvSpPr>
          <p:cNvPr id="51" name="table-cell-486.64-4-2">
            <a:extLst xmlns:a="http://schemas.openxmlformats.org/drawingml/2006/main">
              <a:ext uri="{FF2B5EF4-FFF2-40B4-BE49-F238E27FC236}">
                <a16:creationId xmlns:a16="http://schemas.microsoft.com/office/drawing/2014/main" id="{41BC766E-4065-4875-B1CC-0A708CE08DE9}"/>
              </a:ext>
            </a:extLst>
          </p:cNvPr>
          <p:cNvSpPr>
            <a:spLocks xmlns:a="http://schemas.openxmlformats.org/drawingml/2006/main" noGrp="1"/>
          </p:cNvSpPr>
          <p:nvPr/>
        </p:nvSpPr>
        <p:spPr>
          <a:xfrm xmlns:a="http://schemas.openxmlformats.org/drawingml/2006/main">
            <a:off x="4864100" y="6555486"/>
            <a:ext cx="2165350"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52" name="table-text-486.64-4-2">
            <a:extLst xmlns:a="http://schemas.openxmlformats.org/drawingml/2006/main">
              <a:ext uri="{FF2B5EF4-FFF2-40B4-BE49-F238E27FC236}">
                <a16:creationId xmlns:a16="http://schemas.microsoft.com/office/drawing/2014/main" id="{75EF1F39-6FB9-4B4B-A9AD-1A4E504B9CFD}"/>
              </a:ext>
            </a:extLst>
          </p:cNvPr>
          <p:cNvSpPr>
            <a:spLocks xmlns:a="http://schemas.openxmlformats.org/drawingml/2006/main" noGrp="1"/>
          </p:cNvSpPr>
          <p:nvPr/>
        </p:nvSpPr>
        <p:spPr>
          <a:xfrm xmlns:a="http://schemas.openxmlformats.org/drawingml/2006/main">
            <a:off x="4949825" y="6622161"/>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잘못된 1차 지표를 반려하고 레벨·검증 계약 재설계</a:t>
            </a:r>
          </a:p>
        </p:txBody>
      </p:sp>
      <p:sp>
        <p:nvSpPr>
          <p:cNvPr id="53" name="paragraph-760.04">
            <a:extLst xmlns:a="http://schemas.openxmlformats.org/drawingml/2006/main">
              <a:ext uri="{FF2B5EF4-FFF2-40B4-BE49-F238E27FC236}">
                <a16:creationId xmlns:a16="http://schemas.microsoft.com/office/drawing/2014/main" id="{51B683C4-C90C-4740-980C-415E44465866}"/>
              </a:ext>
            </a:extLst>
          </p:cNvPr>
          <p:cNvSpPr>
            <a:spLocks xmlns:a="http://schemas.openxmlformats.org/drawingml/2006/main" noGrp="1"/>
          </p:cNvSpPr>
          <p:nvPr/>
        </p:nvSpPr>
        <p:spPr>
          <a:xfrm xmlns:a="http://schemas.openxmlformats.org/drawingml/2006/main">
            <a:off x="533400" y="7239381"/>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프롬프트 전문과 결과 이력은 harness_docs/prompts/prompt_history.md에 요약되어 있으며, 원래 요구·역할별 지시·최종 변경 기록을 분리해 보존한다.</a:t>
            </a:r>
          </a:p>
        </p:txBody>
      </p:sp>
    </p:spTree>
    <p:extLst>
      <p:ext uri="{BB962C8B-B14F-4D97-AF65-F5344CB8AC3E}">
        <p14:creationId xmlns:p14="http://schemas.microsoft.com/office/powerpoint/2010/main" val="94672253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running-label">
            <a:extLst xmlns:a="http://schemas.openxmlformats.org/drawingml/2006/main">
              <a:ext uri="{FF2B5EF4-FFF2-40B4-BE49-F238E27FC236}">
                <a16:creationId xmlns:a16="http://schemas.microsoft.com/office/drawing/2014/main" id="{1C1DCEA2-4987-4566-BC7A-E6DE26CD65DF}"/>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49E76635-BE5C-4F2B-A936-D956C62B275C}"/>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4</a:t>
            </a:r>
          </a:p>
        </p:txBody>
      </p:sp>
      <p:sp>
        <p:nvSpPr>
          <p:cNvPr id="3" name="header-rule">
            <a:extLst xmlns:a="http://schemas.openxmlformats.org/drawingml/2006/main">
              <a:ext uri="{FF2B5EF4-FFF2-40B4-BE49-F238E27FC236}">
                <a16:creationId xmlns:a16="http://schemas.microsoft.com/office/drawing/2014/main" id="{5EB46AB4-5463-4693-85AA-DD7B112C0E4B}"/>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079685C4-162B-4899-AE2F-4CCBF632739B}"/>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3. 주요 프롬프트 → 작업 → 결과</a:t>
            </a:r>
          </a:p>
        </p:txBody>
      </p:sp>
      <p:sp>
        <p:nvSpPr>
          <p:cNvPr id="5" name="subheading-140">
            <a:extLst xmlns:a="http://schemas.openxmlformats.org/drawingml/2006/main">
              <a:ext uri="{FF2B5EF4-FFF2-40B4-BE49-F238E27FC236}">
                <a16:creationId xmlns:a16="http://schemas.microsoft.com/office/drawing/2014/main" id="{B4C6B15E-E9DC-40D2-9F05-DC6C8D070F86}"/>
              </a:ext>
            </a:extLst>
          </p:cNvPr>
          <p:cNvSpPr>
            <a:spLocks xmlns:a="http://schemas.openxmlformats.org/drawingml/2006/main" noGrp="1"/>
          </p:cNvSpPr>
          <p:nvPr/>
        </p:nvSpPr>
        <p:spPr>
          <a:xfrm xmlns:a="http://schemas.openxmlformats.org/drawingml/2006/main">
            <a:off x="533400" y="1333500"/>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3.1 손가락에 가리는 파워 게이지</a:t>
            </a:r>
          </a:p>
        </p:txBody>
      </p:sp>
      <p:sp>
        <p:nvSpPr>
          <p:cNvPr id="6" name="paragraph-194">
            <a:extLst xmlns:a="http://schemas.openxmlformats.org/drawingml/2006/main">
              <a:ext uri="{FF2B5EF4-FFF2-40B4-BE49-F238E27FC236}">
                <a16:creationId xmlns:a16="http://schemas.microsoft.com/office/drawing/2014/main" id="{6E6C1FA2-2958-493A-9B24-BB1CEFC84814}"/>
              </a:ext>
            </a:extLst>
          </p:cNvPr>
          <p:cNvSpPr>
            <a:spLocks xmlns:a="http://schemas.openxmlformats.org/drawingml/2006/main" noGrp="1"/>
          </p:cNvSpPr>
          <p:nvPr/>
        </p:nvSpPr>
        <p:spPr>
          <a:xfrm xmlns:a="http://schemas.openxmlformats.org/drawingml/2006/main">
            <a:off x="533400" y="1847850"/>
            <a:ext cx="6496050" cy="8092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사용자는 모바일에서 공 주변 게이지가 손가락에 가린다고 설명했다. 발사 감각이 달라지지 않도록 입력 임계값은 그대로 두고, 표시만 공 가까이의 직선형 게이지로 옮겼다. 화면 안의 홀·풍선·슬라이더·열쇠와 겹치지 않는 후보를 고르고, 좌우 손 선호도 반영했다.</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3755d92f29904c7a"/>
          <a:stretch xmlns:a="http://schemas.openxmlformats.org/drawingml/2006/main"/>
        </p:blipFill>
        <p:spPr>
          <a:xfrm xmlns:a="http://schemas.openxmlformats.org/drawingml/2006/main">
            <a:off x="3055200" y="2771394"/>
            <a:ext cx="1452450" cy="3143250"/>
          </a:xfrm>
          <a:prstGeom xmlns:a="http://schemas.openxmlformats.org/drawingml/2006/main" prst="roundRect">
            <a:avLst>
              <a:gd name="adj" fmla="val 3636"/>
            </a:avLst>
          </a:prstGeom>
        </p:spPr>
      </p:pic>
      <p:sp>
        <p:nvSpPr>
          <p:cNvPr id="8" name="image-caption-290.96000000000004">
            <a:extLst xmlns:a="http://schemas.openxmlformats.org/drawingml/2006/main">
              <a:ext uri="{FF2B5EF4-FFF2-40B4-BE49-F238E27FC236}">
                <a16:creationId xmlns:a16="http://schemas.microsoft.com/office/drawing/2014/main" id="{A89E058F-5978-4BDC-B73A-A6AA08AF779C}"/>
              </a:ext>
            </a:extLst>
          </p:cNvPr>
          <p:cNvSpPr>
            <a:spLocks xmlns:a="http://schemas.openxmlformats.org/drawingml/2006/main" noGrp="1"/>
          </p:cNvSpPr>
          <p:nvPr/>
        </p:nvSpPr>
        <p:spPr>
          <a:xfrm xmlns:a="http://schemas.openxmlformats.org/drawingml/2006/main">
            <a:off x="666750" y="5971794"/>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기믹을 피하며 경고 상태를 보여 주는 충전 게이지</a:t>
            </a:r>
          </a:p>
        </p:txBody>
      </p:sp>
      <p:sp>
        <p:nvSpPr>
          <p:cNvPr id="9" name="paragraph-674.96">
            <a:extLst xmlns:a="http://schemas.openxmlformats.org/drawingml/2006/main">
              <a:ext uri="{FF2B5EF4-FFF2-40B4-BE49-F238E27FC236}">
                <a16:creationId xmlns:a16="http://schemas.microsoft.com/office/drawing/2014/main" id="{D47F01FA-6D3B-4A9C-AE8E-BEDB1719066E}"/>
              </a:ext>
            </a:extLst>
          </p:cNvPr>
          <p:cNvSpPr>
            <a:spLocks xmlns:a="http://schemas.openxmlformats.org/drawingml/2006/main" noGrp="1"/>
          </p:cNvSpPr>
          <p:nvPr/>
        </p:nvSpPr>
        <p:spPr>
          <a:xfrm xmlns:a="http://schemas.openxmlformats.org/drawingml/2006/main">
            <a:off x="533400" y="6428994"/>
            <a:ext cx="6496050" cy="8092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독립 감사에서 퍼센트를 80ms마다 읽어 주는 접근성 과다 알림과, 실제 충전 전 50%가 보이는 불일치를 발견했다. live 상태와 non-live 퍼센트를 분리하고 450ms 실제 충전 시작 전에는 레일을 숨겨 해결했다.</a:t>
            </a:r>
          </a:p>
        </p:txBody>
      </p:sp>
      <p:sp>
        <p:nvSpPr>
          <p:cNvPr id="10" name="subheading-771.9200000000001">
            <a:extLst xmlns:a="http://schemas.openxmlformats.org/drawingml/2006/main">
              <a:ext uri="{FF2B5EF4-FFF2-40B4-BE49-F238E27FC236}">
                <a16:creationId xmlns:a16="http://schemas.microsoft.com/office/drawing/2014/main" id="{7AA2253B-5C46-4A20-A371-80CF0E152036}"/>
              </a:ext>
            </a:extLst>
          </p:cNvPr>
          <p:cNvSpPr>
            <a:spLocks xmlns:a="http://schemas.openxmlformats.org/drawingml/2006/main" noGrp="1"/>
          </p:cNvSpPr>
          <p:nvPr/>
        </p:nvSpPr>
        <p:spPr>
          <a:xfrm xmlns:a="http://schemas.openxmlformats.org/drawingml/2006/main">
            <a:off x="533400" y="7352538"/>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3.2 게임이 어렵다는 피드백</a:t>
            </a:r>
          </a:p>
        </p:txBody>
      </p:sp>
      <p:sp>
        <p:nvSpPr>
          <p:cNvPr id="11" name="paragraph-825.9200000000001">
            <a:extLst xmlns:a="http://schemas.openxmlformats.org/drawingml/2006/main">
              <a:ext uri="{FF2B5EF4-FFF2-40B4-BE49-F238E27FC236}">
                <a16:creationId xmlns:a16="http://schemas.microsoft.com/office/drawing/2014/main" id="{7724FB8F-1894-4526-8DB7-CB729E632334}"/>
              </a:ext>
            </a:extLst>
          </p:cNvPr>
          <p:cNvSpPr>
            <a:spLocks xmlns:a="http://schemas.openxmlformats.org/drawingml/2006/main" noGrp="1"/>
          </p:cNvSpPr>
          <p:nvPr/>
        </p:nvSpPr>
        <p:spPr>
          <a:xfrm xmlns:a="http://schemas.openxmlformats.org/drawingml/2006/main">
            <a:off x="533400" y="7866888"/>
            <a:ext cx="6496050" cy="8092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첫 플레이에서 복잡한 변형이 바로 나오는 문제부터 줄였다. 1–4단계의 첫 진입만 기준 패턴을 먼저 보여 주고, 이후 셔플과 리플레이 규칙은 건드리지 않았다. 쉬움 모드는 별도 근사 물리를 만들지 않고 실제 판정기의 결과를 읽어 첫 도착 위치만 표시한다.</a:t>
            </a:r>
          </a:p>
        </p:txBody>
      </p:sp>
    </p:spTree>
    <p:extLst>
      <p:ext uri="{BB962C8B-B14F-4D97-AF65-F5344CB8AC3E}">
        <p14:creationId xmlns:p14="http://schemas.microsoft.com/office/powerpoint/2010/main" val="153390608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running-label">
            <a:extLst xmlns:a="http://schemas.openxmlformats.org/drawingml/2006/main">
              <a:ext uri="{FF2B5EF4-FFF2-40B4-BE49-F238E27FC236}">
                <a16:creationId xmlns:a16="http://schemas.microsoft.com/office/drawing/2014/main" id="{EF582200-34BC-4F2A-A5CF-7C89ADB64C56}"/>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CD4154A4-6FD0-4CF1-B05C-9E184BB65B61}"/>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5</a:t>
            </a:r>
          </a:p>
        </p:txBody>
      </p:sp>
      <p:sp>
        <p:nvSpPr>
          <p:cNvPr id="3" name="header-rule">
            <a:extLst xmlns:a="http://schemas.openxmlformats.org/drawingml/2006/main">
              <a:ext uri="{FF2B5EF4-FFF2-40B4-BE49-F238E27FC236}">
                <a16:creationId xmlns:a16="http://schemas.microsoft.com/office/drawing/2014/main" id="{BE9F42C6-00CE-485C-9ABC-CF4BC0087F43}"/>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9F429C89-FC70-495D-B14B-7225A00F46B9}"/>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3. 주요 프롬프트 → 작업 → 결과 · 계속</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393e61e09cd2471c"/>
          <a:stretch xmlns:a="http://schemas.openxmlformats.org/drawingml/2006/main"/>
        </p:blipFill>
        <p:spPr>
          <a:xfrm xmlns:a="http://schemas.openxmlformats.org/drawingml/2006/main">
            <a:off x="3055200" y="1333500"/>
            <a:ext cx="1452450" cy="3143250"/>
          </a:xfrm>
          <a:prstGeom xmlns:a="http://schemas.openxmlformats.org/drawingml/2006/main" prst="roundRect">
            <a:avLst>
              <a:gd name="adj" fmla="val 3636"/>
            </a:avLst>
          </a:prstGeom>
        </p:spPr>
      </p:pic>
      <p:sp>
        <p:nvSpPr>
          <p:cNvPr id="6" name="image-caption-140">
            <a:extLst xmlns:a="http://schemas.openxmlformats.org/drawingml/2006/main">
              <a:ext uri="{FF2B5EF4-FFF2-40B4-BE49-F238E27FC236}">
                <a16:creationId xmlns:a16="http://schemas.microsoft.com/office/drawing/2014/main" id="{2804A4A4-B16F-42C8-B3E8-BF503090BE4E}"/>
              </a:ext>
            </a:extLst>
          </p:cNvPr>
          <p:cNvSpPr>
            <a:spLocks xmlns:a="http://schemas.openxmlformats.org/drawingml/2006/main" noGrp="1"/>
          </p:cNvSpPr>
          <p:nvPr/>
        </p:nvSpPr>
        <p:spPr>
          <a:xfrm xmlns:a="http://schemas.openxmlformats.org/drawingml/2006/main">
            <a:off x="666750" y="4533900"/>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실제 판정 결과를 이용한 쉬움 모드 예상 위치</a:t>
            </a:r>
          </a:p>
        </p:txBody>
      </p:sp>
      <p:sp>
        <p:nvSpPr>
          <p:cNvPr id="7" name="paragraph-524">
            <a:extLst xmlns:a="http://schemas.openxmlformats.org/drawingml/2006/main">
              <a:ext uri="{FF2B5EF4-FFF2-40B4-BE49-F238E27FC236}">
                <a16:creationId xmlns:a16="http://schemas.microsoft.com/office/drawing/2014/main" id="{0CA7E565-B56D-4BC7-8D10-E65E6161B22C}"/>
              </a:ext>
            </a:extLst>
          </p:cNvPr>
          <p:cNvSpPr>
            <a:spLocks xmlns:a="http://schemas.openxmlformats.org/drawingml/2006/main" noGrp="1"/>
          </p:cNvSpPr>
          <p:nvPr/>
        </p:nvSpPr>
        <p:spPr>
          <a:xfrm xmlns:a="http://schemas.openxmlformats.org/drawingml/2006/main">
            <a:off x="533400" y="4991100"/>
            <a:ext cx="6496050" cy="8092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감사 과정에서 앱 재개 시 현재 설정이 완료 당시 난이도를 덮을 수 있음을 발견했다. 완료 건의 정체성에 난이도를 한 번만 귀속하고, 정상 완료·완료 복구·성공 직후 크래시 복구를 같은 규칙으로 검증했다.</a:t>
            </a:r>
          </a:p>
        </p:txBody>
      </p:sp>
      <p:sp>
        <p:nvSpPr>
          <p:cNvPr id="8" name="subheading-620.96">
            <a:extLst xmlns:a="http://schemas.openxmlformats.org/drawingml/2006/main">
              <a:ext uri="{FF2B5EF4-FFF2-40B4-BE49-F238E27FC236}">
                <a16:creationId xmlns:a16="http://schemas.microsoft.com/office/drawing/2014/main" id="{E5114D8C-3912-4909-9392-B1089895FCBE}"/>
              </a:ext>
            </a:extLst>
          </p:cNvPr>
          <p:cNvSpPr>
            <a:spLocks xmlns:a="http://schemas.openxmlformats.org/drawingml/2006/main" noGrp="1"/>
          </p:cNvSpPr>
          <p:nvPr/>
        </p:nvSpPr>
        <p:spPr>
          <a:xfrm xmlns:a="http://schemas.openxmlformats.org/drawingml/2006/main">
            <a:off x="533400" y="5914644"/>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3.3 추상적인 팁을 구체적인 플레이 도움으로</a:t>
            </a:r>
          </a:p>
        </p:txBody>
      </p:sp>
      <p:sp>
        <p:nvSpPr>
          <p:cNvPr id="9" name="paragraph-674.96">
            <a:extLst xmlns:a="http://schemas.openxmlformats.org/drawingml/2006/main">
              <a:ext uri="{FF2B5EF4-FFF2-40B4-BE49-F238E27FC236}">
                <a16:creationId xmlns:a16="http://schemas.microsoft.com/office/drawing/2014/main" id="{87FAEDF5-67A3-4DCF-8E0A-E2B64BE952B4}"/>
              </a:ext>
            </a:extLst>
          </p:cNvPr>
          <p:cNvSpPr>
            <a:spLocks xmlns:a="http://schemas.openxmlformats.org/drawingml/2006/main" noGrp="1"/>
          </p:cNvSpPr>
          <p:nvPr/>
        </p:nvSpPr>
        <p:spPr>
          <a:xfrm xmlns:a="http://schemas.openxmlformats.org/drawingml/2006/main">
            <a:off x="533400" y="6428994"/>
            <a:ext cx="6496050" cy="8092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“기믹을 활용하세요” 같은 문장은 실제 행동으로 이어지지 않았다. 그래서 40개 패턴마다 L1과 L2를 따로 썼다. L1은 첫 행동을, L2는 조준 위치·세기·순서·예상 결과를 설명한다. 팁은 보상이나 열쇠를 선택한 플레이어에게만 열린다.</a:t>
            </a:r>
          </a:p>
        </p:txBody>
      </p:sp>
      <p:sp>
        <p:nvSpPr>
          <p:cNvPr id="10" name="paragraph-771.9200000000001">
            <a:extLst xmlns:a="http://schemas.openxmlformats.org/drawingml/2006/main">
              <a:ext uri="{FF2B5EF4-FFF2-40B4-BE49-F238E27FC236}">
                <a16:creationId xmlns:a16="http://schemas.microsoft.com/office/drawing/2014/main" id="{70584921-A7C5-4293-8DCE-C2628155AE61}"/>
              </a:ext>
            </a:extLst>
          </p:cNvPr>
          <p:cNvSpPr>
            <a:spLocks xmlns:a="http://schemas.openxmlformats.org/drawingml/2006/main" noGrp="1"/>
          </p:cNvSpPr>
          <p:nvPr/>
        </p:nvSpPr>
        <p:spPr>
          <a:xfrm xmlns:a="http://schemas.openxmlformats.org/drawingml/2006/main">
            <a:off x="533400" y="7352538"/>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힌트는 stageId + patternId + hintVersion에 결속되어 잘못된 패턴의 답을 보여 주지 않는다. 열쇠 수집과 힌트 열람은 재시작·복구 뒤에도 유지된다.</a:t>
            </a:r>
          </a:p>
        </p:txBody>
      </p:sp>
      <p:sp>
        <p:nvSpPr>
          <p:cNvPr id="11" name="subheading-844.5600000000001">
            <a:extLst xmlns:a="http://schemas.openxmlformats.org/drawingml/2006/main">
              <a:ext uri="{FF2B5EF4-FFF2-40B4-BE49-F238E27FC236}">
                <a16:creationId xmlns:a16="http://schemas.microsoft.com/office/drawing/2014/main" id="{9E80A88E-43DE-4080-AB48-F1ECA33C7E40}"/>
              </a:ext>
            </a:extLst>
          </p:cNvPr>
          <p:cNvSpPr>
            <a:spLocks xmlns:a="http://schemas.openxmlformats.org/drawingml/2006/main" noGrp="1"/>
          </p:cNvSpPr>
          <p:nvPr/>
        </p:nvSpPr>
        <p:spPr>
          <a:xfrm xmlns:a="http://schemas.openxmlformats.org/drawingml/2006/main">
            <a:off x="533400" y="8044434"/>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3.4 기믹이 장식으로 끝나는 레벨</a:t>
            </a:r>
          </a:p>
        </p:txBody>
      </p:sp>
      <p:sp>
        <p:nvSpPr>
          <p:cNvPr id="12" name="paragraph-898.5600000000001">
            <a:extLst xmlns:a="http://schemas.openxmlformats.org/drawingml/2006/main">
              <a:ext uri="{FF2B5EF4-FFF2-40B4-BE49-F238E27FC236}">
                <a16:creationId xmlns:a16="http://schemas.microsoft.com/office/drawing/2014/main" id="{95D29E55-06BB-4D22-AA60-AB9ACAE165B3}"/>
              </a:ext>
            </a:extLst>
          </p:cNvPr>
          <p:cNvSpPr>
            <a:spLocks xmlns:a="http://schemas.openxmlformats.org/drawingml/2006/main" noGrp="1"/>
          </p:cNvSpPr>
          <p:nvPr/>
        </p:nvSpPr>
        <p:spPr>
          <a:xfrm xmlns:a="http://schemas.openxmlformats.org/drawingml/2006/main">
            <a:off x="533400" y="8558784"/>
            <a:ext cx="6496050" cy="8092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초기 프롬프트는 모든 단계에서 기믹 사용이 유리해야 한다는 것이었다. 첫 자동 검증은 서로 크기가 다른 입력 표본의 성공 개수를 비교하는 오류가 있었고, 독립 감사 에이전트가 이를 반려했다.</a:t>
            </a:r>
          </a:p>
        </p:txBody>
      </p:sp>
    </p:spTree>
    <p:extLst>
      <p:ext uri="{BB962C8B-B14F-4D97-AF65-F5344CB8AC3E}">
        <p14:creationId xmlns:p14="http://schemas.microsoft.com/office/powerpoint/2010/main" val="44003315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running-label">
            <a:extLst xmlns:a="http://schemas.openxmlformats.org/drawingml/2006/main">
              <a:ext uri="{FF2B5EF4-FFF2-40B4-BE49-F238E27FC236}">
                <a16:creationId xmlns:a16="http://schemas.microsoft.com/office/drawing/2014/main" id="{3461029D-9FA3-4E0F-AD4F-ECA532D362AA}"/>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C15E1C9C-6D02-4CA8-A069-7D22ADB61778}"/>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6</a:t>
            </a:r>
          </a:p>
        </p:txBody>
      </p:sp>
      <p:sp>
        <p:nvSpPr>
          <p:cNvPr id="3" name="header-rule">
            <a:extLst xmlns:a="http://schemas.openxmlformats.org/drawingml/2006/main">
              <a:ext uri="{FF2B5EF4-FFF2-40B4-BE49-F238E27FC236}">
                <a16:creationId xmlns:a16="http://schemas.microsoft.com/office/drawing/2014/main" id="{922C631C-1182-41B1-BEBF-BE7CEFEC4FA7}"/>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9BF6E6B0-1FC0-4D0F-9211-52F3C744E51A}"/>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3. 주요 프롬프트 → 작업 → 결과 · 계속</a:t>
            </a:r>
          </a:p>
        </p:txBody>
      </p:sp>
      <p:sp>
        <p:nvSpPr>
          <p:cNvPr id="5" name="paragraph-140">
            <a:extLst xmlns:a="http://schemas.openxmlformats.org/drawingml/2006/main">
              <a:ext uri="{FF2B5EF4-FFF2-40B4-BE49-F238E27FC236}">
                <a16:creationId xmlns:a16="http://schemas.microsoft.com/office/drawing/2014/main" id="{4D0613F1-B0F8-4B10-993C-429446A66EE5}"/>
              </a:ext>
            </a:extLst>
          </p:cNvPr>
          <p:cNvSpPr>
            <a:spLocks xmlns:a="http://schemas.openxmlformats.org/drawingml/2006/main" noGrp="1"/>
          </p:cNvSpPr>
          <p:nvPr/>
        </p:nvSpPr>
        <p:spPr>
          <a:xfrm xmlns:a="http://schemas.openxmlformats.org/drawingml/2006/main">
            <a:off x="533400" y="1333500"/>
            <a:ext cx="6496050" cy="10408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수정된 계약은 준비 전과 준비 후를 같은 입력 격자에서 비교하고, 같은 마지막 샷이 준비 전에는 실패하는지, 기믹을 실제로 사용했는지, 대표 해법 주변에도 성공 여유가 있는지를 함께 확인한다. 이 과정에서 단순히 테스트를 통과시키지 않고 문·스위치·슬라이더·점착 표면의 인과를 레벨 데이터와 물리에 다시 연결했다.</a:t>
            </a:r>
          </a:p>
        </p:txBody>
      </p:sp>
      <p:sp>
        <p:nvSpPr>
          <p:cNvPr id="6" name="table-cell-261.28-0-0">
            <a:extLst xmlns:a="http://schemas.openxmlformats.org/drawingml/2006/main">
              <a:ext uri="{FF2B5EF4-FFF2-40B4-BE49-F238E27FC236}">
                <a16:creationId xmlns:a16="http://schemas.microsoft.com/office/drawing/2014/main" id="{BA39F750-72B9-42BD-BE84-13A0EEC4DE0D}"/>
              </a:ext>
            </a:extLst>
          </p:cNvPr>
          <p:cNvSpPr>
            <a:spLocks xmlns:a="http://schemas.openxmlformats.org/drawingml/2006/main" noGrp="1"/>
          </p:cNvSpPr>
          <p:nvPr/>
        </p:nvSpPr>
        <p:spPr>
          <a:xfrm xmlns:a="http://schemas.openxmlformats.org/drawingml/2006/main">
            <a:off x="533400" y="2488692"/>
            <a:ext cx="3248025"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7" name="table-text-261.28-0-0">
            <a:extLst xmlns:a="http://schemas.openxmlformats.org/drawingml/2006/main">
              <a:ext uri="{FF2B5EF4-FFF2-40B4-BE49-F238E27FC236}">
                <a16:creationId xmlns:a16="http://schemas.microsoft.com/office/drawing/2014/main" id="{97461884-44C8-4875-B54A-8E5A02AFFA9C}"/>
              </a:ext>
            </a:extLst>
          </p:cNvPr>
          <p:cNvSpPr>
            <a:spLocks xmlns:a="http://schemas.openxmlformats.org/drawingml/2006/main" noGrp="1"/>
          </p:cNvSpPr>
          <p:nvPr/>
        </p:nvSpPr>
        <p:spPr>
          <a:xfrm xmlns:a="http://schemas.openxmlformats.org/drawingml/2006/main">
            <a:off x="619125" y="2555367"/>
            <a:ext cx="30765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결과</a:t>
            </a:r>
          </a:p>
        </p:txBody>
      </p:sp>
      <p:sp>
        <p:nvSpPr>
          <p:cNvPr id="8" name="table-cell-261.28-0-1">
            <a:extLst xmlns:a="http://schemas.openxmlformats.org/drawingml/2006/main">
              <a:ext uri="{FF2B5EF4-FFF2-40B4-BE49-F238E27FC236}">
                <a16:creationId xmlns:a16="http://schemas.microsoft.com/office/drawing/2014/main" id="{6C3133B7-9196-48FC-A3DB-2FB56D176458}"/>
              </a:ext>
            </a:extLst>
          </p:cNvPr>
          <p:cNvSpPr>
            <a:spLocks xmlns:a="http://schemas.openxmlformats.org/drawingml/2006/main" noGrp="1"/>
          </p:cNvSpPr>
          <p:nvPr/>
        </p:nvSpPr>
        <p:spPr>
          <a:xfrm xmlns:a="http://schemas.openxmlformats.org/drawingml/2006/main">
            <a:off x="3781425" y="2488692"/>
            <a:ext cx="3248025"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9" name="table-text-261.28-0-1">
            <a:extLst xmlns:a="http://schemas.openxmlformats.org/drawingml/2006/main">
              <a:ext uri="{FF2B5EF4-FFF2-40B4-BE49-F238E27FC236}">
                <a16:creationId xmlns:a16="http://schemas.microsoft.com/office/drawing/2014/main" id="{949D0E09-AB73-41BA-BDCA-17138D128B71}"/>
              </a:ext>
            </a:extLst>
          </p:cNvPr>
          <p:cNvSpPr>
            <a:spLocks xmlns:a="http://schemas.openxmlformats.org/drawingml/2006/main" noGrp="1"/>
          </p:cNvSpPr>
          <p:nvPr/>
        </p:nvSpPr>
        <p:spPr>
          <a:xfrm xmlns:a="http://schemas.openxmlformats.org/drawingml/2006/main">
            <a:off x="3867150" y="2555367"/>
            <a:ext cx="30765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의미</a:t>
            </a:r>
          </a:p>
        </p:txBody>
      </p:sp>
      <p:sp>
        <p:nvSpPr>
          <p:cNvPr id="10" name="table-cell-261.28-1-0">
            <a:extLst xmlns:a="http://schemas.openxmlformats.org/drawingml/2006/main">
              <a:ext uri="{FF2B5EF4-FFF2-40B4-BE49-F238E27FC236}">
                <a16:creationId xmlns:a16="http://schemas.microsoft.com/office/drawing/2014/main" id="{723D38A0-3C25-4031-86FF-40FD85C0ADAD}"/>
              </a:ext>
            </a:extLst>
          </p:cNvPr>
          <p:cNvSpPr>
            <a:spLocks xmlns:a="http://schemas.openxmlformats.org/drawingml/2006/main" noGrp="1"/>
          </p:cNvSpPr>
          <p:nvPr/>
        </p:nvSpPr>
        <p:spPr>
          <a:xfrm xmlns:a="http://schemas.openxmlformats.org/drawingml/2006/main">
            <a:off x="533400" y="2945892"/>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1" name="table-text-261.28-1-0">
            <a:extLst xmlns:a="http://schemas.openxmlformats.org/drawingml/2006/main">
              <a:ext uri="{FF2B5EF4-FFF2-40B4-BE49-F238E27FC236}">
                <a16:creationId xmlns:a16="http://schemas.microsoft.com/office/drawing/2014/main" id="{DFD6FA0A-DB6F-4293-82E0-041B8A2A9510}"/>
              </a:ext>
            </a:extLst>
          </p:cNvPr>
          <p:cNvSpPr>
            <a:spLocks xmlns:a="http://schemas.openxmlformats.org/drawingml/2006/main" noGrp="1"/>
          </p:cNvSpPr>
          <p:nvPr/>
        </p:nvSpPr>
        <p:spPr>
          <a:xfrm xmlns:a="http://schemas.openxmlformats.org/drawingml/2006/main">
            <a:off x="619125" y="3012567"/>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단발형 32패턴 각각 ≥1.40배</a:t>
            </a:r>
          </a:p>
        </p:txBody>
      </p:sp>
      <p:sp>
        <p:nvSpPr>
          <p:cNvPr id="12" name="table-cell-261.28-1-1">
            <a:extLst xmlns:a="http://schemas.openxmlformats.org/drawingml/2006/main">
              <a:ext uri="{FF2B5EF4-FFF2-40B4-BE49-F238E27FC236}">
                <a16:creationId xmlns:a16="http://schemas.microsoft.com/office/drawing/2014/main" id="{B5716ADE-7AF8-4E7D-8CC2-E430E2C4D6EB}"/>
              </a:ext>
            </a:extLst>
          </p:cNvPr>
          <p:cNvSpPr>
            <a:spLocks xmlns:a="http://schemas.openxmlformats.org/drawingml/2006/main" noGrp="1"/>
          </p:cNvSpPr>
          <p:nvPr/>
        </p:nvSpPr>
        <p:spPr>
          <a:xfrm xmlns:a="http://schemas.openxmlformats.org/drawingml/2006/main">
            <a:off x="3781425" y="2945892"/>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3" name="table-text-261.28-1-1">
            <a:extLst xmlns:a="http://schemas.openxmlformats.org/drawingml/2006/main">
              <a:ext uri="{FF2B5EF4-FFF2-40B4-BE49-F238E27FC236}">
                <a16:creationId xmlns:a16="http://schemas.microsoft.com/office/drawing/2014/main" id="{0660A563-AF11-43A1-83DD-2B9C5F49825D}"/>
              </a:ext>
            </a:extLst>
          </p:cNvPr>
          <p:cNvSpPr>
            <a:spLocks xmlns:a="http://schemas.openxmlformats.org/drawingml/2006/main" noGrp="1"/>
          </p:cNvSpPr>
          <p:nvPr/>
        </p:nvSpPr>
        <p:spPr>
          <a:xfrm xmlns:a="http://schemas.openxmlformats.org/drawingml/2006/main">
            <a:off x="3867150" y="3012567"/>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각 변형에서도 기믹 경로가 더 넓다</a:t>
            </a:r>
          </a:p>
        </p:txBody>
      </p:sp>
      <p:sp>
        <p:nvSpPr>
          <p:cNvPr id="14" name="table-cell-261.28-2-0">
            <a:extLst xmlns:a="http://schemas.openxmlformats.org/drawingml/2006/main">
              <a:ext uri="{FF2B5EF4-FFF2-40B4-BE49-F238E27FC236}">
                <a16:creationId xmlns:a16="http://schemas.microsoft.com/office/drawing/2014/main" id="{0A779D0C-AA4F-4A8F-9BEB-28CE35DA8F1A}"/>
              </a:ext>
            </a:extLst>
          </p:cNvPr>
          <p:cNvSpPr>
            <a:spLocks xmlns:a="http://schemas.openxmlformats.org/drawingml/2006/main" noGrp="1"/>
          </p:cNvSpPr>
          <p:nvPr/>
        </p:nvSpPr>
        <p:spPr>
          <a:xfrm xmlns:a="http://schemas.openxmlformats.org/drawingml/2006/main">
            <a:off x="533400" y="3345942"/>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15" name="table-text-261.28-2-0">
            <a:extLst xmlns:a="http://schemas.openxmlformats.org/drawingml/2006/main">
              <a:ext uri="{FF2B5EF4-FFF2-40B4-BE49-F238E27FC236}">
                <a16:creationId xmlns:a16="http://schemas.microsoft.com/office/drawing/2014/main" id="{4F078F82-38C4-4323-BA0E-6BC32F6ECEFC}"/>
              </a:ext>
            </a:extLst>
          </p:cNvPr>
          <p:cNvSpPr>
            <a:spLocks xmlns:a="http://schemas.openxmlformats.org/drawingml/2006/main" noGrp="1"/>
          </p:cNvSpPr>
          <p:nvPr/>
        </p:nvSpPr>
        <p:spPr>
          <a:xfrm xmlns:a="http://schemas.openxmlformats.org/drawingml/2006/main">
            <a:off x="619125" y="3412617"/>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잔류 공 단계 합계 1.92배</a:t>
            </a:r>
          </a:p>
        </p:txBody>
      </p:sp>
      <p:sp>
        <p:nvSpPr>
          <p:cNvPr id="16" name="table-cell-261.28-2-1">
            <a:extLst xmlns:a="http://schemas.openxmlformats.org/drawingml/2006/main">
              <a:ext uri="{FF2B5EF4-FFF2-40B4-BE49-F238E27FC236}">
                <a16:creationId xmlns:a16="http://schemas.microsoft.com/office/drawing/2014/main" id="{4453C99A-17BC-4F1B-B81C-43DDC6A6B887}"/>
              </a:ext>
            </a:extLst>
          </p:cNvPr>
          <p:cNvSpPr>
            <a:spLocks xmlns:a="http://schemas.openxmlformats.org/drawingml/2006/main" noGrp="1"/>
          </p:cNvSpPr>
          <p:nvPr/>
        </p:nvSpPr>
        <p:spPr>
          <a:xfrm xmlns:a="http://schemas.openxmlformats.org/drawingml/2006/main">
            <a:off x="3781425" y="3345942"/>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17" name="table-text-261.28-2-1">
            <a:extLst xmlns:a="http://schemas.openxmlformats.org/drawingml/2006/main">
              <a:ext uri="{FF2B5EF4-FFF2-40B4-BE49-F238E27FC236}">
                <a16:creationId xmlns:a16="http://schemas.microsoft.com/office/drawing/2014/main" id="{AE13475C-E999-47FC-BF59-09B1FF623653}"/>
              </a:ext>
            </a:extLst>
          </p:cNvPr>
          <p:cNvSpPr>
            <a:spLocks xmlns:a="http://schemas.openxmlformats.org/drawingml/2006/main" noGrp="1"/>
          </p:cNvSpPr>
          <p:nvPr/>
        </p:nvSpPr>
        <p:spPr>
          <a:xfrm xmlns:a="http://schemas.openxmlformats.org/drawingml/2006/main">
            <a:off x="3867150" y="3412617"/>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118"/>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첫 샷으로 준비한 상태가 다음 성공을 유의미하게 넓힌다</a:t>
            </a:r>
          </a:p>
        </p:txBody>
      </p:sp>
      <p:sp>
        <p:nvSpPr>
          <p:cNvPr id="18" name="table-cell-261.28-3-0">
            <a:extLst xmlns:a="http://schemas.openxmlformats.org/drawingml/2006/main">
              <a:ext uri="{FF2B5EF4-FFF2-40B4-BE49-F238E27FC236}">
                <a16:creationId xmlns:a16="http://schemas.microsoft.com/office/drawing/2014/main" id="{2674ED34-FA79-449D-812C-F4CA2D841AF3}"/>
              </a:ext>
            </a:extLst>
          </p:cNvPr>
          <p:cNvSpPr>
            <a:spLocks xmlns:a="http://schemas.openxmlformats.org/drawingml/2006/main" noGrp="1"/>
          </p:cNvSpPr>
          <p:nvPr/>
        </p:nvSpPr>
        <p:spPr>
          <a:xfrm xmlns:a="http://schemas.openxmlformats.org/drawingml/2006/main">
            <a:off x="533400" y="3745992"/>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9" name="table-text-261.28-3-0">
            <a:extLst xmlns:a="http://schemas.openxmlformats.org/drawingml/2006/main">
              <a:ext uri="{FF2B5EF4-FFF2-40B4-BE49-F238E27FC236}">
                <a16:creationId xmlns:a16="http://schemas.microsoft.com/office/drawing/2014/main" id="{CF49A5E6-CEE0-4537-83BD-3F61D6FA250A}"/>
              </a:ext>
            </a:extLst>
          </p:cNvPr>
          <p:cNvSpPr>
            <a:spLocks xmlns:a="http://schemas.openxmlformats.org/drawingml/2006/main" noGrp="1"/>
          </p:cNvSpPr>
          <p:nvPr/>
        </p:nvSpPr>
        <p:spPr>
          <a:xfrm xmlns:a="http://schemas.openxmlformats.org/drawingml/2006/main">
            <a:off x="619125" y="3812667"/>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속성 통합 4패턴 모두 우위</a:t>
            </a:r>
          </a:p>
        </p:txBody>
      </p:sp>
      <p:sp>
        <p:nvSpPr>
          <p:cNvPr id="20" name="table-cell-261.28-3-1">
            <a:extLst xmlns:a="http://schemas.openxmlformats.org/drawingml/2006/main">
              <a:ext uri="{FF2B5EF4-FFF2-40B4-BE49-F238E27FC236}">
                <a16:creationId xmlns:a16="http://schemas.microsoft.com/office/drawing/2014/main" id="{6F670480-4978-4FE9-AD99-30642ADAFCEF}"/>
              </a:ext>
            </a:extLst>
          </p:cNvPr>
          <p:cNvSpPr>
            <a:spLocks xmlns:a="http://schemas.openxmlformats.org/drawingml/2006/main" noGrp="1"/>
          </p:cNvSpPr>
          <p:nvPr/>
        </p:nvSpPr>
        <p:spPr>
          <a:xfrm xmlns:a="http://schemas.openxmlformats.org/drawingml/2006/main">
            <a:off x="3781425" y="3745992"/>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1" name="table-text-261.28-3-1">
            <a:extLst xmlns:a="http://schemas.openxmlformats.org/drawingml/2006/main">
              <a:ext uri="{FF2B5EF4-FFF2-40B4-BE49-F238E27FC236}">
                <a16:creationId xmlns:a16="http://schemas.microsoft.com/office/drawing/2014/main" id="{8269BD6A-7B30-4A43-A08A-D2219D4F8676}"/>
              </a:ext>
            </a:extLst>
          </p:cNvPr>
          <p:cNvSpPr>
            <a:spLocks xmlns:a="http://schemas.openxmlformats.org/drawingml/2006/main" noGrp="1"/>
          </p:cNvSpPr>
          <p:nvPr/>
        </p:nvSpPr>
        <p:spPr>
          <a:xfrm xmlns:a="http://schemas.openxmlformats.org/drawingml/2006/main">
            <a:off x="3867150" y="3812667"/>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스위치·문·점착·슬라이더의 준비가 핵심 해법이다</a:t>
            </a:r>
          </a:p>
        </p:txBody>
      </p:sp>
      <p:sp>
        <p:nvSpPr>
          <p:cNvPr id="22" name="paragraph-451.28">
            <a:extLst xmlns:a="http://schemas.openxmlformats.org/drawingml/2006/main">
              <a:ext uri="{FF2B5EF4-FFF2-40B4-BE49-F238E27FC236}">
                <a16:creationId xmlns:a16="http://schemas.microsoft.com/office/drawing/2014/main" id="{E5DD073B-5F32-4258-AF5F-26242AF9A795}"/>
              </a:ext>
            </a:extLst>
          </p:cNvPr>
          <p:cNvSpPr>
            <a:spLocks xmlns:a="http://schemas.openxmlformats.org/drawingml/2006/main" noGrp="1"/>
          </p:cNvSpPr>
          <p:nvPr/>
        </p:nvSpPr>
        <p:spPr>
          <a:xfrm xmlns:a="http://schemas.openxmlformats.org/drawingml/2006/main">
            <a:off x="533400" y="4298442"/>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이 사례는 AI의 장점뿐 아니라, AI가 만든 지표도 독립 검증 없이는 틀릴 수 있다는 운영 원칙을 보여 준다.</a:t>
            </a:r>
          </a:p>
        </p:txBody>
      </p:sp>
    </p:spTree>
    <p:extLst>
      <p:ext uri="{BB962C8B-B14F-4D97-AF65-F5344CB8AC3E}">
        <p14:creationId xmlns:p14="http://schemas.microsoft.com/office/powerpoint/2010/main" val="109942144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running-label">
            <a:extLst xmlns:a="http://schemas.openxmlformats.org/drawingml/2006/main">
              <a:ext uri="{FF2B5EF4-FFF2-40B4-BE49-F238E27FC236}">
                <a16:creationId xmlns:a16="http://schemas.microsoft.com/office/drawing/2014/main" id="{1DACFE04-EDE1-4EF6-A9D1-4B1986348A8E}"/>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19033C7A-3EDE-4094-A7FA-ED37F902AF0F}"/>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7</a:t>
            </a:r>
          </a:p>
        </p:txBody>
      </p:sp>
      <p:sp>
        <p:nvSpPr>
          <p:cNvPr id="3" name="header-rule">
            <a:extLst xmlns:a="http://schemas.openxmlformats.org/drawingml/2006/main">
              <a:ext uri="{FF2B5EF4-FFF2-40B4-BE49-F238E27FC236}">
                <a16:creationId xmlns:a16="http://schemas.microsoft.com/office/drawing/2014/main" id="{761E3DF7-CFFE-48CC-A935-506773AE8761}"/>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75BB8F4F-7269-4D23-BD0B-CD64D5EA5822}"/>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4. 작업을 나눈 방식</a:t>
            </a:r>
          </a:p>
        </p:txBody>
      </p:sp>
      <p:sp>
        <p:nvSpPr>
          <p:cNvPr id="5" name="paragraph-140">
            <a:extLst xmlns:a="http://schemas.openxmlformats.org/drawingml/2006/main">
              <a:ext uri="{FF2B5EF4-FFF2-40B4-BE49-F238E27FC236}">
                <a16:creationId xmlns:a16="http://schemas.microsoft.com/office/drawing/2014/main" id="{5F786744-1BF2-4AEC-A3A2-46A1599C7098}"/>
              </a:ext>
            </a:extLst>
          </p:cNvPr>
          <p:cNvSpPr>
            <a:spLocks xmlns:a="http://schemas.openxmlformats.org/drawingml/2006/main" noGrp="1"/>
          </p:cNvSpPr>
          <p:nvPr/>
        </p:nvSpPr>
        <p:spPr>
          <a:xfrm xmlns:a="http://schemas.openxmlformats.org/drawingml/2006/main">
            <a:off x="533400" y="1333500"/>
            <a:ext cx="6496050" cy="10408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통합 조정 역할은 요구를 나누고 공유 파일의 편집 순서를 정했다. 기능 담당은 코드와 표적 테스트를 맡았고, 레벨 담당은 대표 해법과 성공 영역을 확인했다. 독립 검사 역할은 코드를 수정하지 않고 주장과 증거가 맞는지 살폈다. 병렬 작업의 이점이 없거나 일이 끝난 에이전트는 중지했다.</a:t>
            </a:r>
          </a:p>
        </p:txBody>
      </p:sp>
      <p:sp>
        <p:nvSpPr>
          <p:cNvPr id="6" name="subheading-261.28">
            <a:extLst xmlns:a="http://schemas.openxmlformats.org/drawingml/2006/main">
              <a:ext uri="{FF2B5EF4-FFF2-40B4-BE49-F238E27FC236}">
                <a16:creationId xmlns:a16="http://schemas.microsoft.com/office/drawing/2014/main" id="{B52F79FA-6417-4ABC-B8EB-35D8BBACD92F}"/>
              </a:ext>
            </a:extLst>
          </p:cNvPr>
          <p:cNvSpPr>
            <a:spLocks xmlns:a="http://schemas.openxmlformats.org/drawingml/2006/main" noGrp="1"/>
          </p:cNvSpPr>
          <p:nvPr/>
        </p:nvSpPr>
        <p:spPr>
          <a:xfrm xmlns:a="http://schemas.openxmlformats.org/drawingml/2006/main">
            <a:off x="533400" y="2488692"/>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4.1 사용한 AI 도구와 역할</a:t>
            </a:r>
          </a:p>
        </p:txBody>
      </p:sp>
      <p:sp>
        <p:nvSpPr>
          <p:cNvPr id="7" name="table-cell-315.28-0-0">
            <a:extLst xmlns:a="http://schemas.openxmlformats.org/drawingml/2006/main">
              <a:ext uri="{FF2B5EF4-FFF2-40B4-BE49-F238E27FC236}">
                <a16:creationId xmlns:a16="http://schemas.microsoft.com/office/drawing/2014/main" id="{9D492774-888B-4B40-B9BB-5351E333DE43}"/>
              </a:ext>
            </a:extLst>
          </p:cNvPr>
          <p:cNvSpPr>
            <a:spLocks xmlns:a="http://schemas.openxmlformats.org/drawingml/2006/main" noGrp="1"/>
          </p:cNvSpPr>
          <p:nvPr/>
        </p:nvSpPr>
        <p:spPr>
          <a:xfrm xmlns:a="http://schemas.openxmlformats.org/drawingml/2006/main">
            <a:off x="533400" y="3003042"/>
            <a:ext cx="3248025"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8" name="table-text-315.28-0-0">
            <a:extLst xmlns:a="http://schemas.openxmlformats.org/drawingml/2006/main">
              <a:ext uri="{FF2B5EF4-FFF2-40B4-BE49-F238E27FC236}">
                <a16:creationId xmlns:a16="http://schemas.microsoft.com/office/drawing/2014/main" id="{28363478-F373-4A91-8F3B-7DE39A335BB8}"/>
              </a:ext>
            </a:extLst>
          </p:cNvPr>
          <p:cNvSpPr>
            <a:spLocks xmlns:a="http://schemas.openxmlformats.org/drawingml/2006/main" noGrp="1"/>
          </p:cNvSpPr>
          <p:nvPr/>
        </p:nvSpPr>
        <p:spPr>
          <a:xfrm xmlns:a="http://schemas.openxmlformats.org/drawingml/2006/main">
            <a:off x="619125" y="3069717"/>
            <a:ext cx="30765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도구</a:t>
            </a:r>
          </a:p>
        </p:txBody>
      </p:sp>
      <p:sp>
        <p:nvSpPr>
          <p:cNvPr id="9" name="table-cell-315.28-0-1">
            <a:extLst xmlns:a="http://schemas.openxmlformats.org/drawingml/2006/main">
              <a:ext uri="{FF2B5EF4-FFF2-40B4-BE49-F238E27FC236}">
                <a16:creationId xmlns:a16="http://schemas.microsoft.com/office/drawing/2014/main" id="{15AD99D5-8649-490B-8090-6D131B3450DA}"/>
              </a:ext>
            </a:extLst>
          </p:cNvPr>
          <p:cNvSpPr>
            <a:spLocks xmlns:a="http://schemas.openxmlformats.org/drawingml/2006/main" noGrp="1"/>
          </p:cNvSpPr>
          <p:nvPr/>
        </p:nvSpPr>
        <p:spPr>
          <a:xfrm xmlns:a="http://schemas.openxmlformats.org/drawingml/2006/main">
            <a:off x="3781425" y="3003042"/>
            <a:ext cx="3248025"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10" name="table-text-315.28-0-1">
            <a:extLst xmlns:a="http://schemas.openxmlformats.org/drawingml/2006/main">
              <a:ext uri="{FF2B5EF4-FFF2-40B4-BE49-F238E27FC236}">
                <a16:creationId xmlns:a16="http://schemas.microsoft.com/office/drawing/2014/main" id="{8F4EB17A-B18A-4B16-898C-B154FCABB0DE}"/>
              </a:ext>
            </a:extLst>
          </p:cNvPr>
          <p:cNvSpPr>
            <a:spLocks xmlns:a="http://schemas.openxmlformats.org/drawingml/2006/main" noGrp="1"/>
          </p:cNvSpPr>
          <p:nvPr/>
        </p:nvSpPr>
        <p:spPr>
          <a:xfrm xmlns:a="http://schemas.openxmlformats.org/drawingml/2006/main">
            <a:off x="3867150" y="3069717"/>
            <a:ext cx="30765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사용 방식</a:t>
            </a:r>
          </a:p>
        </p:txBody>
      </p:sp>
      <p:sp>
        <p:nvSpPr>
          <p:cNvPr id="11" name="table-cell-315.28-1-0">
            <a:extLst xmlns:a="http://schemas.openxmlformats.org/drawingml/2006/main">
              <a:ext uri="{FF2B5EF4-FFF2-40B4-BE49-F238E27FC236}">
                <a16:creationId xmlns:a16="http://schemas.microsoft.com/office/drawing/2014/main" id="{B6BF310F-0EE3-4B79-A022-3FE0C2E9613A}"/>
              </a:ext>
            </a:extLst>
          </p:cNvPr>
          <p:cNvSpPr>
            <a:spLocks xmlns:a="http://schemas.openxmlformats.org/drawingml/2006/main" noGrp="1"/>
          </p:cNvSpPr>
          <p:nvPr/>
        </p:nvSpPr>
        <p:spPr>
          <a:xfrm xmlns:a="http://schemas.openxmlformats.org/drawingml/2006/main">
            <a:off x="533400" y="3460242"/>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2" name="table-text-315.28-1-0">
            <a:extLst xmlns:a="http://schemas.openxmlformats.org/drawingml/2006/main">
              <a:ext uri="{FF2B5EF4-FFF2-40B4-BE49-F238E27FC236}">
                <a16:creationId xmlns:a16="http://schemas.microsoft.com/office/drawing/2014/main" id="{F2551C0C-BF3F-49CB-A2F4-39A70149AE70}"/>
              </a:ext>
            </a:extLst>
          </p:cNvPr>
          <p:cNvSpPr>
            <a:spLocks xmlns:a="http://schemas.openxmlformats.org/drawingml/2006/main" noGrp="1"/>
          </p:cNvSpPr>
          <p:nvPr/>
        </p:nvSpPr>
        <p:spPr>
          <a:xfrm xmlns:a="http://schemas.openxmlformats.org/drawingml/2006/main">
            <a:off x="619125" y="3526917"/>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Codex 코드 에이전트</a:t>
            </a:r>
          </a:p>
        </p:txBody>
      </p:sp>
      <p:sp>
        <p:nvSpPr>
          <p:cNvPr id="13" name="table-cell-315.28-1-1">
            <a:extLst xmlns:a="http://schemas.openxmlformats.org/drawingml/2006/main">
              <a:ext uri="{FF2B5EF4-FFF2-40B4-BE49-F238E27FC236}">
                <a16:creationId xmlns:a16="http://schemas.microsoft.com/office/drawing/2014/main" id="{D616FA77-CB7F-48EF-BB4F-40B9A8BA64FA}"/>
              </a:ext>
            </a:extLst>
          </p:cNvPr>
          <p:cNvSpPr>
            <a:spLocks xmlns:a="http://schemas.openxmlformats.org/drawingml/2006/main" noGrp="1"/>
          </p:cNvSpPr>
          <p:nvPr/>
        </p:nvSpPr>
        <p:spPr>
          <a:xfrm xmlns:a="http://schemas.openxmlformats.org/drawingml/2006/main">
            <a:off x="3781425" y="3460242"/>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4" name="table-text-315.28-1-1">
            <a:extLst xmlns:a="http://schemas.openxmlformats.org/drawingml/2006/main">
              <a:ext uri="{FF2B5EF4-FFF2-40B4-BE49-F238E27FC236}">
                <a16:creationId xmlns:a16="http://schemas.microsoft.com/office/drawing/2014/main" id="{4C8B8418-0266-4214-8C2B-6DC472FFB5C6}"/>
              </a:ext>
            </a:extLst>
          </p:cNvPr>
          <p:cNvSpPr>
            <a:spLocks xmlns:a="http://schemas.openxmlformats.org/drawingml/2006/main" noGrp="1"/>
          </p:cNvSpPr>
          <p:nvPr/>
        </p:nvSpPr>
        <p:spPr>
          <a:xfrm xmlns:a="http://schemas.openxmlformats.org/drawingml/2006/main">
            <a:off x="3867150" y="3526917"/>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268"/>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저장소 탐색, Flutter/Dart 구현, 테스트·문서 파이프라인 실행</a:t>
            </a:r>
          </a:p>
        </p:txBody>
      </p:sp>
      <p:sp>
        <p:nvSpPr>
          <p:cNvPr id="15" name="table-cell-315.28-2-0">
            <a:extLst xmlns:a="http://schemas.openxmlformats.org/drawingml/2006/main">
              <a:ext uri="{FF2B5EF4-FFF2-40B4-BE49-F238E27FC236}">
                <a16:creationId xmlns:a16="http://schemas.microsoft.com/office/drawing/2014/main" id="{4C316932-FF68-4F87-ADFB-3FCA45DAABAB}"/>
              </a:ext>
            </a:extLst>
          </p:cNvPr>
          <p:cNvSpPr>
            <a:spLocks xmlns:a="http://schemas.openxmlformats.org/drawingml/2006/main" noGrp="1"/>
          </p:cNvSpPr>
          <p:nvPr/>
        </p:nvSpPr>
        <p:spPr>
          <a:xfrm xmlns:a="http://schemas.openxmlformats.org/drawingml/2006/main">
            <a:off x="533400" y="3860292"/>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16" name="table-text-315.28-2-0">
            <a:extLst xmlns:a="http://schemas.openxmlformats.org/drawingml/2006/main">
              <a:ext uri="{FF2B5EF4-FFF2-40B4-BE49-F238E27FC236}">
                <a16:creationId xmlns:a16="http://schemas.microsoft.com/office/drawing/2014/main" id="{7345B413-DA41-467A-9D50-74412F77DDD7}"/>
              </a:ext>
            </a:extLst>
          </p:cNvPr>
          <p:cNvSpPr>
            <a:spLocks xmlns:a="http://schemas.openxmlformats.org/drawingml/2006/main" noGrp="1"/>
          </p:cNvSpPr>
          <p:nvPr/>
        </p:nvSpPr>
        <p:spPr>
          <a:xfrm xmlns:a="http://schemas.openxmlformats.org/drawingml/2006/main">
            <a:off x="619125" y="3926967"/>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gpt-5.6-terra 실행 에이전트</a:t>
            </a:r>
          </a:p>
        </p:txBody>
      </p:sp>
      <p:sp>
        <p:nvSpPr>
          <p:cNvPr id="17" name="table-cell-315.28-2-1">
            <a:extLst xmlns:a="http://schemas.openxmlformats.org/drawingml/2006/main">
              <a:ext uri="{FF2B5EF4-FFF2-40B4-BE49-F238E27FC236}">
                <a16:creationId xmlns:a16="http://schemas.microsoft.com/office/drawing/2014/main" id="{BADA62B5-20C7-4A4A-8672-A3B4A1E57901}"/>
              </a:ext>
            </a:extLst>
          </p:cNvPr>
          <p:cNvSpPr>
            <a:spLocks xmlns:a="http://schemas.openxmlformats.org/drawingml/2006/main" noGrp="1"/>
          </p:cNvSpPr>
          <p:nvPr/>
        </p:nvSpPr>
        <p:spPr>
          <a:xfrm xmlns:a="http://schemas.openxmlformats.org/drawingml/2006/main">
            <a:off x="3781425" y="3860292"/>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18" name="table-text-315.28-2-1">
            <a:extLst xmlns:a="http://schemas.openxmlformats.org/drawingml/2006/main">
              <a:ext uri="{FF2B5EF4-FFF2-40B4-BE49-F238E27FC236}">
                <a16:creationId xmlns:a16="http://schemas.microsoft.com/office/drawing/2014/main" id="{7AA0C65A-4CC7-457E-B8EF-FF16C02DC3D3}"/>
              </a:ext>
            </a:extLst>
          </p:cNvPr>
          <p:cNvSpPr>
            <a:spLocks xmlns:a="http://schemas.openxmlformats.org/drawingml/2006/main" noGrp="1"/>
          </p:cNvSpPr>
          <p:nvPr/>
        </p:nvSpPr>
        <p:spPr>
          <a:xfrm xmlns:a="http://schemas.openxmlformats.org/drawingml/2006/main">
            <a:off x="3867150" y="3926967"/>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기능별 분석·구현과 표적 회귀</a:t>
            </a:r>
          </a:p>
        </p:txBody>
      </p:sp>
      <p:sp>
        <p:nvSpPr>
          <p:cNvPr id="19" name="table-cell-315.28-3-0">
            <a:extLst xmlns:a="http://schemas.openxmlformats.org/drawingml/2006/main">
              <a:ext uri="{FF2B5EF4-FFF2-40B4-BE49-F238E27FC236}">
                <a16:creationId xmlns:a16="http://schemas.microsoft.com/office/drawing/2014/main" id="{4AB6D901-DDF4-4C0D-ADE8-07FD41737AE5}"/>
              </a:ext>
            </a:extLst>
          </p:cNvPr>
          <p:cNvSpPr>
            <a:spLocks xmlns:a="http://schemas.openxmlformats.org/drawingml/2006/main" noGrp="1"/>
          </p:cNvSpPr>
          <p:nvPr/>
        </p:nvSpPr>
        <p:spPr>
          <a:xfrm xmlns:a="http://schemas.openxmlformats.org/drawingml/2006/main">
            <a:off x="533400" y="4260342"/>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0" name="table-text-315.28-3-0">
            <a:extLst xmlns:a="http://schemas.openxmlformats.org/drawingml/2006/main">
              <a:ext uri="{FF2B5EF4-FFF2-40B4-BE49-F238E27FC236}">
                <a16:creationId xmlns:a16="http://schemas.microsoft.com/office/drawing/2014/main" id="{EE48110A-B613-497A-9050-1EB04AED8CBB}"/>
              </a:ext>
            </a:extLst>
          </p:cNvPr>
          <p:cNvSpPr>
            <a:spLocks xmlns:a="http://schemas.openxmlformats.org/drawingml/2006/main" noGrp="1"/>
          </p:cNvSpPr>
          <p:nvPr/>
        </p:nvSpPr>
        <p:spPr>
          <a:xfrm xmlns:a="http://schemas.openxmlformats.org/drawingml/2006/main">
            <a:off x="619125" y="4327017"/>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gpt-5.6-sol 감사 에이전트</a:t>
            </a:r>
          </a:p>
        </p:txBody>
      </p:sp>
      <p:sp>
        <p:nvSpPr>
          <p:cNvPr id="21" name="table-cell-315.28-3-1">
            <a:extLst xmlns:a="http://schemas.openxmlformats.org/drawingml/2006/main">
              <a:ext uri="{FF2B5EF4-FFF2-40B4-BE49-F238E27FC236}">
                <a16:creationId xmlns:a16="http://schemas.microsoft.com/office/drawing/2014/main" id="{075853CC-FF33-4CC2-B7DF-6CB74CE02967}"/>
              </a:ext>
            </a:extLst>
          </p:cNvPr>
          <p:cNvSpPr>
            <a:spLocks xmlns:a="http://schemas.openxmlformats.org/drawingml/2006/main" noGrp="1"/>
          </p:cNvSpPr>
          <p:nvPr/>
        </p:nvSpPr>
        <p:spPr>
          <a:xfrm xmlns:a="http://schemas.openxmlformats.org/drawingml/2006/main">
            <a:off x="3781425" y="4260342"/>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2" name="table-text-315.28-3-1">
            <a:extLst xmlns:a="http://schemas.openxmlformats.org/drawingml/2006/main">
              <a:ext uri="{FF2B5EF4-FFF2-40B4-BE49-F238E27FC236}">
                <a16:creationId xmlns:a16="http://schemas.microsoft.com/office/drawing/2014/main" id="{0CF3EF0F-B70A-4C80-A02B-C78C9C8C920B}"/>
              </a:ext>
            </a:extLst>
          </p:cNvPr>
          <p:cNvSpPr>
            <a:spLocks xmlns:a="http://schemas.openxmlformats.org/drawingml/2006/main" noGrp="1"/>
          </p:cNvSpPr>
          <p:nvPr/>
        </p:nvSpPr>
        <p:spPr>
          <a:xfrm xmlns:a="http://schemas.openxmlformats.org/drawingml/2006/main">
            <a:off x="3867150" y="4327017"/>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코드를 수정하지 않는 독립 P0/P1/P2 감사와 재검증</a:t>
            </a:r>
          </a:p>
        </p:txBody>
      </p:sp>
      <p:sp>
        <p:nvSpPr>
          <p:cNvPr id="23" name="table-cell-315.28-4-0">
            <a:extLst xmlns:a="http://schemas.openxmlformats.org/drawingml/2006/main">
              <a:ext uri="{FF2B5EF4-FFF2-40B4-BE49-F238E27FC236}">
                <a16:creationId xmlns:a16="http://schemas.microsoft.com/office/drawing/2014/main" id="{1F77B1E1-27C0-4911-A75B-AFAEF5868BAC}"/>
              </a:ext>
            </a:extLst>
          </p:cNvPr>
          <p:cNvSpPr>
            <a:spLocks xmlns:a="http://schemas.openxmlformats.org/drawingml/2006/main" noGrp="1"/>
          </p:cNvSpPr>
          <p:nvPr/>
        </p:nvSpPr>
        <p:spPr>
          <a:xfrm xmlns:a="http://schemas.openxmlformats.org/drawingml/2006/main">
            <a:off x="533400" y="4660392"/>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4" name="table-text-315.28-4-0">
            <a:extLst xmlns:a="http://schemas.openxmlformats.org/drawingml/2006/main">
              <a:ext uri="{FF2B5EF4-FFF2-40B4-BE49-F238E27FC236}">
                <a16:creationId xmlns:a16="http://schemas.microsoft.com/office/drawing/2014/main" id="{9F670077-B7E1-4115-8F97-8264EB109788}"/>
              </a:ext>
            </a:extLst>
          </p:cNvPr>
          <p:cNvSpPr>
            <a:spLocks xmlns:a="http://schemas.openxmlformats.org/drawingml/2006/main" noGrp="1"/>
          </p:cNvSpPr>
          <p:nvPr/>
        </p:nvSpPr>
        <p:spPr>
          <a:xfrm xmlns:a="http://schemas.openxmlformats.org/drawingml/2006/main">
            <a:off x="619125" y="4727067"/>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이미지 생성 도구</a:t>
            </a:r>
          </a:p>
        </p:txBody>
      </p:sp>
      <p:sp>
        <p:nvSpPr>
          <p:cNvPr id="25" name="table-cell-315.28-4-1">
            <a:extLst xmlns:a="http://schemas.openxmlformats.org/drawingml/2006/main">
              <a:ext uri="{FF2B5EF4-FFF2-40B4-BE49-F238E27FC236}">
                <a16:creationId xmlns:a16="http://schemas.microsoft.com/office/drawing/2014/main" id="{BEE0347D-3066-4B1D-8EC9-BB7ED7B01D39}"/>
              </a:ext>
            </a:extLst>
          </p:cNvPr>
          <p:cNvSpPr>
            <a:spLocks xmlns:a="http://schemas.openxmlformats.org/drawingml/2006/main" noGrp="1"/>
          </p:cNvSpPr>
          <p:nvPr/>
        </p:nvSpPr>
        <p:spPr>
          <a:xfrm xmlns:a="http://schemas.openxmlformats.org/drawingml/2006/main">
            <a:off x="3781425" y="4660392"/>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6" name="table-text-315.28-4-1">
            <a:extLst xmlns:a="http://schemas.openxmlformats.org/drawingml/2006/main">
              <a:ext uri="{FF2B5EF4-FFF2-40B4-BE49-F238E27FC236}">
                <a16:creationId xmlns:a16="http://schemas.microsoft.com/office/drawing/2014/main" id="{AE548851-B840-4D0E-87CC-30C57A111E68}"/>
              </a:ext>
            </a:extLst>
          </p:cNvPr>
          <p:cNvSpPr>
            <a:spLocks xmlns:a="http://schemas.openxmlformats.org/drawingml/2006/main" noGrp="1"/>
          </p:cNvSpPr>
          <p:nvPr/>
        </p:nvSpPr>
        <p:spPr>
          <a:xfrm xmlns:a="http://schemas.openxmlformats.org/drawingml/2006/main">
            <a:off x="3867150" y="4727067"/>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0404"/>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돌·젤리·상자 원본 생성; 투명화·권리대장·실제 번들 여부를 별도 관리</a:t>
            </a:r>
          </a:p>
        </p:txBody>
      </p:sp>
      <p:sp>
        <p:nvSpPr>
          <p:cNvPr id="27" name="paragraph-547.28">
            <a:extLst xmlns:a="http://schemas.openxmlformats.org/drawingml/2006/main">
              <a:ext uri="{FF2B5EF4-FFF2-40B4-BE49-F238E27FC236}">
                <a16:creationId xmlns:a16="http://schemas.microsoft.com/office/drawing/2014/main" id="{382FF731-F9B7-47A3-BA66-25BD5FE8C8DF}"/>
              </a:ext>
            </a:extLst>
          </p:cNvPr>
          <p:cNvSpPr>
            <a:spLocks xmlns:a="http://schemas.openxmlformats.org/drawingml/2006/main" noGrp="1"/>
          </p:cNvSpPr>
          <p:nvPr/>
        </p:nvSpPr>
        <p:spPr>
          <a:xfrm xmlns:a="http://schemas.openxmlformats.org/drawingml/2006/main">
            <a:off x="533400" y="5212842"/>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모델 이름보다 중요한 운영 원칙은 구현과 감사를 분리하고, 실행 증거가 없는 주장은 채택하지 않는 것이었다.</a:t>
            </a:r>
          </a:p>
        </p:txBody>
      </p:sp>
    </p:spTree>
    <p:extLst>
      <p:ext uri="{BB962C8B-B14F-4D97-AF65-F5344CB8AC3E}">
        <p14:creationId xmlns:p14="http://schemas.microsoft.com/office/powerpoint/2010/main" val="203775290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running-label">
            <a:extLst xmlns:a="http://schemas.openxmlformats.org/drawingml/2006/main">
              <a:ext uri="{FF2B5EF4-FFF2-40B4-BE49-F238E27FC236}">
                <a16:creationId xmlns:a16="http://schemas.microsoft.com/office/drawing/2014/main" id="{56796E6F-1DDE-4452-94EF-286B7ECB140F}"/>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148DADE9-7075-422E-953A-340F44DF7FF7}"/>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8</a:t>
            </a:r>
          </a:p>
        </p:txBody>
      </p:sp>
      <p:sp>
        <p:nvSpPr>
          <p:cNvPr id="3" name="header-rule">
            <a:extLst xmlns:a="http://schemas.openxmlformats.org/drawingml/2006/main">
              <a:ext uri="{FF2B5EF4-FFF2-40B4-BE49-F238E27FC236}">
                <a16:creationId xmlns:a16="http://schemas.microsoft.com/office/drawing/2014/main" id="{7730A1F1-6CD2-44F8-B67A-FDF78AC419B8}"/>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2A52ECDA-1013-4F0C-8D21-420A62834BBA}"/>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5. 게임과 AI 시스템 구조</a:t>
            </a:r>
          </a:p>
        </p:txBody>
      </p:sp>
      <p:sp>
        <p:nvSpPr>
          <p:cNvPr id="5" name="table-cell-140-0-0">
            <a:extLst xmlns:a="http://schemas.openxmlformats.org/drawingml/2006/main">
              <a:ext uri="{FF2B5EF4-FFF2-40B4-BE49-F238E27FC236}">
                <a16:creationId xmlns:a16="http://schemas.microsoft.com/office/drawing/2014/main" id="{8F3E314F-44B6-4924-A293-C23A5A5AB5A5}"/>
              </a:ext>
            </a:extLst>
          </p:cNvPr>
          <p:cNvSpPr>
            <a:spLocks xmlns:a="http://schemas.openxmlformats.org/drawingml/2006/main" noGrp="1"/>
          </p:cNvSpPr>
          <p:nvPr/>
        </p:nvSpPr>
        <p:spPr>
          <a:xfrm xmlns:a="http://schemas.openxmlformats.org/drawingml/2006/main">
            <a:off x="533400" y="1333500"/>
            <a:ext cx="3248025"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6" name="table-text-140-0-0">
            <a:extLst xmlns:a="http://schemas.openxmlformats.org/drawingml/2006/main">
              <a:ext uri="{FF2B5EF4-FFF2-40B4-BE49-F238E27FC236}">
                <a16:creationId xmlns:a16="http://schemas.microsoft.com/office/drawing/2014/main" id="{CC506889-2E4B-4820-9B1B-FA2D794DA195}"/>
              </a:ext>
            </a:extLst>
          </p:cNvPr>
          <p:cNvSpPr>
            <a:spLocks xmlns:a="http://schemas.openxmlformats.org/drawingml/2006/main" noGrp="1"/>
          </p:cNvSpPr>
          <p:nvPr/>
        </p:nvSpPr>
        <p:spPr>
          <a:xfrm xmlns:a="http://schemas.openxmlformats.org/drawingml/2006/main">
            <a:off x="619125" y="1400175"/>
            <a:ext cx="30765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계층</a:t>
            </a:r>
          </a:p>
        </p:txBody>
      </p:sp>
      <p:sp>
        <p:nvSpPr>
          <p:cNvPr id="7" name="table-cell-140-0-1">
            <a:extLst xmlns:a="http://schemas.openxmlformats.org/drawingml/2006/main">
              <a:ext uri="{FF2B5EF4-FFF2-40B4-BE49-F238E27FC236}">
                <a16:creationId xmlns:a16="http://schemas.microsoft.com/office/drawing/2014/main" id="{6B17DE43-7263-4992-A1D3-0B5C9BC2D9C1}"/>
              </a:ext>
            </a:extLst>
          </p:cNvPr>
          <p:cNvSpPr>
            <a:spLocks xmlns:a="http://schemas.openxmlformats.org/drawingml/2006/main" noGrp="1"/>
          </p:cNvSpPr>
          <p:nvPr/>
        </p:nvSpPr>
        <p:spPr>
          <a:xfrm xmlns:a="http://schemas.openxmlformats.org/drawingml/2006/main">
            <a:off x="3781425" y="1333500"/>
            <a:ext cx="3248025"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8" name="table-text-140-0-1">
            <a:extLst xmlns:a="http://schemas.openxmlformats.org/drawingml/2006/main">
              <a:ext uri="{FF2B5EF4-FFF2-40B4-BE49-F238E27FC236}">
                <a16:creationId xmlns:a16="http://schemas.microsoft.com/office/drawing/2014/main" id="{11E8623A-B30D-4E52-BBA0-C1E247E518E1}"/>
              </a:ext>
            </a:extLst>
          </p:cNvPr>
          <p:cNvSpPr>
            <a:spLocks xmlns:a="http://schemas.openxmlformats.org/drawingml/2006/main" noGrp="1"/>
          </p:cNvSpPr>
          <p:nvPr/>
        </p:nvSpPr>
        <p:spPr>
          <a:xfrm xmlns:a="http://schemas.openxmlformats.org/drawingml/2006/main">
            <a:off x="3867150" y="1400175"/>
            <a:ext cx="30765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역할</a:t>
            </a:r>
          </a:p>
        </p:txBody>
      </p:sp>
      <p:sp>
        <p:nvSpPr>
          <p:cNvPr id="9" name="table-cell-140-1-0">
            <a:extLst xmlns:a="http://schemas.openxmlformats.org/drawingml/2006/main">
              <a:ext uri="{FF2B5EF4-FFF2-40B4-BE49-F238E27FC236}">
                <a16:creationId xmlns:a16="http://schemas.microsoft.com/office/drawing/2014/main" id="{F65F1086-7808-47BE-B7CB-273A16C8A2CF}"/>
              </a:ext>
            </a:extLst>
          </p:cNvPr>
          <p:cNvSpPr>
            <a:spLocks xmlns:a="http://schemas.openxmlformats.org/drawingml/2006/main" noGrp="1"/>
          </p:cNvSpPr>
          <p:nvPr/>
        </p:nvSpPr>
        <p:spPr>
          <a:xfrm xmlns:a="http://schemas.openxmlformats.org/drawingml/2006/main">
            <a:off x="533400" y="1790700"/>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0" name="table-text-140-1-0">
            <a:extLst xmlns:a="http://schemas.openxmlformats.org/drawingml/2006/main">
              <a:ext uri="{FF2B5EF4-FFF2-40B4-BE49-F238E27FC236}">
                <a16:creationId xmlns:a16="http://schemas.microsoft.com/office/drawing/2014/main" id="{8047F647-88E7-4AE5-B27F-527112268E3B}"/>
              </a:ext>
            </a:extLst>
          </p:cNvPr>
          <p:cNvSpPr>
            <a:spLocks xmlns:a="http://schemas.openxmlformats.org/drawingml/2006/main" noGrp="1"/>
          </p:cNvSpPr>
          <p:nvPr/>
        </p:nvSpPr>
        <p:spPr>
          <a:xfrm xmlns:a="http://schemas.openxmlformats.org/drawingml/2006/main">
            <a:off x="619125" y="1857375"/>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Stage data</a:t>
            </a:r>
          </a:p>
        </p:txBody>
      </p:sp>
      <p:sp>
        <p:nvSpPr>
          <p:cNvPr id="11" name="table-cell-140-1-1">
            <a:extLst xmlns:a="http://schemas.openxmlformats.org/drawingml/2006/main">
              <a:ext uri="{FF2B5EF4-FFF2-40B4-BE49-F238E27FC236}">
                <a16:creationId xmlns:a16="http://schemas.microsoft.com/office/drawing/2014/main" id="{A7714441-AF1C-4DCB-90DB-B497B2F79D3F}"/>
              </a:ext>
            </a:extLst>
          </p:cNvPr>
          <p:cNvSpPr>
            <a:spLocks xmlns:a="http://schemas.openxmlformats.org/drawingml/2006/main" noGrp="1"/>
          </p:cNvSpPr>
          <p:nvPr/>
        </p:nvSpPr>
        <p:spPr>
          <a:xfrm xmlns:a="http://schemas.openxmlformats.org/drawingml/2006/main">
            <a:off x="3781425" y="1790700"/>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2" name="table-text-140-1-1">
            <a:extLst xmlns:a="http://schemas.openxmlformats.org/drawingml/2006/main">
              <a:ext uri="{FF2B5EF4-FFF2-40B4-BE49-F238E27FC236}">
                <a16:creationId xmlns:a16="http://schemas.microsoft.com/office/drawing/2014/main" id="{20AC4E44-F4DC-478A-B6E7-EF1F25D8E8C8}"/>
              </a:ext>
            </a:extLst>
          </p:cNvPr>
          <p:cNvSpPr>
            <a:spLocks xmlns:a="http://schemas.openxmlformats.org/drawingml/2006/main" noGrp="1"/>
          </p:cNvSpPr>
          <p:nvPr/>
        </p:nvSpPr>
        <p:spPr>
          <a:xfrm xmlns:a="http://schemas.openxmlformats.org/drawingml/2006/main">
            <a:off x="3867150" y="1857375"/>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10단계·40패턴, 오브젝트·해법·힌트 메타데이터</a:t>
            </a:r>
          </a:p>
        </p:txBody>
      </p:sp>
      <p:sp>
        <p:nvSpPr>
          <p:cNvPr id="13" name="table-cell-140-2-0">
            <a:extLst xmlns:a="http://schemas.openxmlformats.org/drawingml/2006/main">
              <a:ext uri="{FF2B5EF4-FFF2-40B4-BE49-F238E27FC236}">
                <a16:creationId xmlns:a16="http://schemas.microsoft.com/office/drawing/2014/main" id="{3D1125C6-700B-4F01-8FB2-66F4C65C925B}"/>
              </a:ext>
            </a:extLst>
          </p:cNvPr>
          <p:cNvSpPr>
            <a:spLocks xmlns:a="http://schemas.openxmlformats.org/drawingml/2006/main" noGrp="1"/>
          </p:cNvSpPr>
          <p:nvPr/>
        </p:nvSpPr>
        <p:spPr>
          <a:xfrm xmlns:a="http://schemas.openxmlformats.org/drawingml/2006/main">
            <a:off x="533400" y="2190750"/>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14" name="table-text-140-2-0">
            <a:extLst xmlns:a="http://schemas.openxmlformats.org/drawingml/2006/main">
              <a:ext uri="{FF2B5EF4-FFF2-40B4-BE49-F238E27FC236}">
                <a16:creationId xmlns:a16="http://schemas.microsoft.com/office/drawing/2014/main" id="{91BD9AA3-C070-48D6-9F06-96646D269CD5}"/>
              </a:ext>
            </a:extLst>
          </p:cNvPr>
          <p:cNvSpPr>
            <a:spLocks xmlns:a="http://schemas.openxmlformats.org/drawingml/2006/main" noGrp="1"/>
          </p:cNvSpPr>
          <p:nvPr/>
        </p:nvSpPr>
        <p:spPr>
          <a:xfrm xmlns:a="http://schemas.openxmlformats.org/drawingml/2006/main">
            <a:off x="619125" y="2257425"/>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ShotResolver</a:t>
            </a:r>
          </a:p>
        </p:txBody>
      </p:sp>
      <p:sp>
        <p:nvSpPr>
          <p:cNvPr id="15" name="table-cell-140-2-1">
            <a:extLst xmlns:a="http://schemas.openxmlformats.org/drawingml/2006/main">
              <a:ext uri="{FF2B5EF4-FFF2-40B4-BE49-F238E27FC236}">
                <a16:creationId xmlns:a16="http://schemas.microsoft.com/office/drawing/2014/main" id="{69AD597D-B941-4328-B8AB-86AF0CDA782D}"/>
              </a:ext>
            </a:extLst>
          </p:cNvPr>
          <p:cNvSpPr>
            <a:spLocks xmlns:a="http://schemas.openxmlformats.org/drawingml/2006/main" noGrp="1"/>
          </p:cNvSpPr>
          <p:nvPr/>
        </p:nvSpPr>
        <p:spPr>
          <a:xfrm xmlns:a="http://schemas.openxmlformats.org/drawingml/2006/main">
            <a:off x="3781425" y="2190750"/>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16" name="table-text-140-2-1">
            <a:extLst xmlns:a="http://schemas.openxmlformats.org/drawingml/2006/main">
              <a:ext uri="{FF2B5EF4-FFF2-40B4-BE49-F238E27FC236}">
                <a16:creationId xmlns:a16="http://schemas.microsoft.com/office/drawing/2014/main" id="{941EDF1A-7ADF-477A-A01C-2B3678E95F21}"/>
              </a:ext>
            </a:extLst>
          </p:cNvPr>
          <p:cNvSpPr>
            <a:spLocks xmlns:a="http://schemas.openxmlformats.org/drawingml/2006/main" noGrp="1"/>
          </p:cNvSpPr>
          <p:nvPr/>
        </p:nvSpPr>
        <p:spPr>
          <a:xfrm xmlns:a="http://schemas.openxmlformats.org/drawingml/2006/main">
            <a:off x="3867150" y="2257425"/>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방향·힘·속성으로 결정론적 결과 계산</a:t>
            </a:r>
          </a:p>
        </p:txBody>
      </p:sp>
      <p:sp>
        <p:nvSpPr>
          <p:cNvPr id="17" name="table-cell-140-3-0">
            <a:extLst xmlns:a="http://schemas.openxmlformats.org/drawingml/2006/main">
              <a:ext uri="{FF2B5EF4-FFF2-40B4-BE49-F238E27FC236}">
                <a16:creationId xmlns:a16="http://schemas.microsoft.com/office/drawing/2014/main" id="{BFA7FBE0-5B61-4DEC-9B87-999CB0EA69B4}"/>
              </a:ext>
            </a:extLst>
          </p:cNvPr>
          <p:cNvSpPr>
            <a:spLocks xmlns:a="http://schemas.openxmlformats.org/drawingml/2006/main" noGrp="1"/>
          </p:cNvSpPr>
          <p:nvPr/>
        </p:nvSpPr>
        <p:spPr>
          <a:xfrm xmlns:a="http://schemas.openxmlformats.org/drawingml/2006/main">
            <a:off x="533400" y="2590800"/>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8" name="table-text-140-3-0">
            <a:extLst xmlns:a="http://schemas.openxmlformats.org/drawingml/2006/main">
              <a:ext uri="{FF2B5EF4-FFF2-40B4-BE49-F238E27FC236}">
                <a16:creationId xmlns:a16="http://schemas.microsoft.com/office/drawing/2014/main" id="{FED1D28E-90A2-4A4F-A3B6-A3147D76D6B3}"/>
              </a:ext>
            </a:extLst>
          </p:cNvPr>
          <p:cNvSpPr>
            <a:spLocks xmlns:a="http://schemas.openxmlformats.org/drawingml/2006/main" noGrp="1"/>
          </p:cNvSpPr>
          <p:nvPr/>
        </p:nvSpPr>
        <p:spPr>
          <a:xfrm xmlns:a="http://schemas.openxmlformats.org/drawingml/2006/main">
            <a:off x="619125" y="2657475"/>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RunState</a:t>
            </a:r>
          </a:p>
        </p:txBody>
      </p:sp>
      <p:sp>
        <p:nvSpPr>
          <p:cNvPr id="19" name="table-cell-140-3-1">
            <a:extLst xmlns:a="http://schemas.openxmlformats.org/drawingml/2006/main">
              <a:ext uri="{FF2B5EF4-FFF2-40B4-BE49-F238E27FC236}">
                <a16:creationId xmlns:a16="http://schemas.microsoft.com/office/drawing/2014/main" id="{BF977C0A-47CC-47E6-B3FC-26DD9E6BA2EC}"/>
              </a:ext>
            </a:extLst>
          </p:cNvPr>
          <p:cNvSpPr>
            <a:spLocks xmlns:a="http://schemas.openxmlformats.org/drawingml/2006/main" noGrp="1"/>
          </p:cNvSpPr>
          <p:nvPr/>
        </p:nvSpPr>
        <p:spPr>
          <a:xfrm xmlns:a="http://schemas.openxmlformats.org/drawingml/2006/main">
            <a:off x="3781425" y="2590800"/>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0" name="table-text-140-3-1">
            <a:extLst xmlns:a="http://schemas.openxmlformats.org/drawingml/2006/main">
              <a:ext uri="{FF2B5EF4-FFF2-40B4-BE49-F238E27FC236}">
                <a16:creationId xmlns:a16="http://schemas.microsoft.com/office/drawing/2014/main" id="{1D7ADC97-CEEF-452C-A0C8-94A9EBB2449E}"/>
              </a:ext>
            </a:extLst>
          </p:cNvPr>
          <p:cNvSpPr>
            <a:spLocks xmlns:a="http://schemas.openxmlformats.org/drawingml/2006/main" noGrp="1"/>
          </p:cNvSpPr>
          <p:nvPr/>
        </p:nvSpPr>
        <p:spPr>
          <a:xfrm xmlns:a="http://schemas.openxmlformats.org/drawingml/2006/main">
            <a:off x="3867150" y="2657475"/>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진행, 잔류 공, 보상, 힌트 권한, 열쇠 수집을 저장</a:t>
            </a:r>
          </a:p>
        </p:txBody>
      </p:sp>
      <p:sp>
        <p:nvSpPr>
          <p:cNvPr id="21" name="table-cell-140-4-0">
            <a:extLst xmlns:a="http://schemas.openxmlformats.org/drawingml/2006/main">
              <a:ext uri="{FF2B5EF4-FFF2-40B4-BE49-F238E27FC236}">
                <a16:creationId xmlns:a16="http://schemas.microsoft.com/office/drawing/2014/main" id="{D821C2C2-7AD4-4E9D-99F3-325FD5F547E4}"/>
              </a:ext>
            </a:extLst>
          </p:cNvPr>
          <p:cNvSpPr>
            <a:spLocks xmlns:a="http://schemas.openxmlformats.org/drawingml/2006/main" noGrp="1"/>
          </p:cNvSpPr>
          <p:nvPr/>
        </p:nvSpPr>
        <p:spPr>
          <a:xfrm xmlns:a="http://schemas.openxmlformats.org/drawingml/2006/main">
            <a:off x="533400" y="2990850"/>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2" name="table-text-140-4-0">
            <a:extLst xmlns:a="http://schemas.openxmlformats.org/drawingml/2006/main">
              <a:ext uri="{FF2B5EF4-FFF2-40B4-BE49-F238E27FC236}">
                <a16:creationId xmlns:a16="http://schemas.microsoft.com/office/drawing/2014/main" id="{0A01B7C5-B3B6-474A-AFB4-F48EF9E2C7D7}"/>
              </a:ext>
            </a:extLst>
          </p:cNvPr>
          <p:cNvSpPr>
            <a:spLocks xmlns:a="http://schemas.openxmlformats.org/drawingml/2006/main" noGrp="1"/>
          </p:cNvSpPr>
          <p:nvPr/>
        </p:nvSpPr>
        <p:spPr>
          <a:xfrm xmlns:a="http://schemas.openxmlformats.org/drawingml/2006/main">
            <a:off x="619125" y="3057525"/>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GameScreen / Flame</a:t>
            </a:r>
          </a:p>
        </p:txBody>
      </p:sp>
      <p:sp>
        <p:nvSpPr>
          <p:cNvPr id="23" name="table-cell-140-4-1">
            <a:extLst xmlns:a="http://schemas.openxmlformats.org/drawingml/2006/main">
              <a:ext uri="{FF2B5EF4-FFF2-40B4-BE49-F238E27FC236}">
                <a16:creationId xmlns:a16="http://schemas.microsoft.com/office/drawing/2014/main" id="{2805B91F-FCAC-4379-AF7C-852AF6DF6E8E}"/>
              </a:ext>
            </a:extLst>
          </p:cNvPr>
          <p:cNvSpPr>
            <a:spLocks xmlns:a="http://schemas.openxmlformats.org/drawingml/2006/main" noGrp="1"/>
          </p:cNvSpPr>
          <p:nvPr/>
        </p:nvSpPr>
        <p:spPr>
          <a:xfrm xmlns:a="http://schemas.openxmlformats.org/drawingml/2006/main">
            <a:off x="3781425" y="2990850"/>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4" name="table-text-140-4-1">
            <a:extLst xmlns:a="http://schemas.openxmlformats.org/drawingml/2006/main">
              <a:ext uri="{FF2B5EF4-FFF2-40B4-BE49-F238E27FC236}">
                <a16:creationId xmlns:a16="http://schemas.microsoft.com/office/drawing/2014/main" id="{8BADA16D-AD84-4EEA-A4FD-55AED3B5FABD}"/>
              </a:ext>
            </a:extLst>
          </p:cNvPr>
          <p:cNvSpPr>
            <a:spLocks xmlns:a="http://schemas.openxmlformats.org/drawingml/2006/main" noGrp="1"/>
          </p:cNvSpPr>
          <p:nvPr/>
        </p:nvSpPr>
        <p:spPr>
          <a:xfrm xmlns:a="http://schemas.openxmlformats.org/drawingml/2006/main">
            <a:off x="3867150" y="3057525"/>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입력·Canvas 렌더·접근성·피드백</a:t>
            </a:r>
          </a:p>
        </p:txBody>
      </p:sp>
      <p:sp>
        <p:nvSpPr>
          <p:cNvPr id="25" name="table-cell-140-5-0">
            <a:extLst xmlns:a="http://schemas.openxmlformats.org/drawingml/2006/main">
              <a:ext uri="{FF2B5EF4-FFF2-40B4-BE49-F238E27FC236}">
                <a16:creationId xmlns:a16="http://schemas.microsoft.com/office/drawing/2014/main" id="{EB5A7435-DD3B-4BAD-B102-8209A71C8F5B}"/>
              </a:ext>
            </a:extLst>
          </p:cNvPr>
          <p:cNvSpPr>
            <a:spLocks xmlns:a="http://schemas.openxmlformats.org/drawingml/2006/main" noGrp="1"/>
          </p:cNvSpPr>
          <p:nvPr/>
        </p:nvSpPr>
        <p:spPr>
          <a:xfrm xmlns:a="http://schemas.openxmlformats.org/drawingml/2006/main">
            <a:off x="533400" y="3390900"/>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6" name="table-text-140-5-0">
            <a:extLst xmlns:a="http://schemas.openxmlformats.org/drawingml/2006/main">
              <a:ext uri="{FF2B5EF4-FFF2-40B4-BE49-F238E27FC236}">
                <a16:creationId xmlns:a16="http://schemas.microsoft.com/office/drawing/2014/main" id="{493535A0-2D60-47DA-8EB9-C13BF4DB4DFA}"/>
              </a:ext>
            </a:extLst>
          </p:cNvPr>
          <p:cNvSpPr>
            <a:spLocks xmlns:a="http://schemas.openxmlformats.org/drawingml/2006/main" noGrp="1"/>
          </p:cNvSpPr>
          <p:nvPr/>
        </p:nvSpPr>
        <p:spPr>
          <a:xfrm xmlns:a="http://schemas.openxmlformats.org/drawingml/2006/main">
            <a:off x="619125" y="3457575"/>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Validator / tests</a:t>
            </a:r>
          </a:p>
        </p:txBody>
      </p:sp>
      <p:sp>
        <p:nvSpPr>
          <p:cNvPr id="27" name="table-cell-140-5-1">
            <a:extLst xmlns:a="http://schemas.openxmlformats.org/drawingml/2006/main">
              <a:ext uri="{FF2B5EF4-FFF2-40B4-BE49-F238E27FC236}">
                <a16:creationId xmlns:a16="http://schemas.microsoft.com/office/drawing/2014/main" id="{AC03A495-77C4-4361-9257-1E8031EA225D}"/>
              </a:ext>
            </a:extLst>
          </p:cNvPr>
          <p:cNvSpPr>
            <a:spLocks xmlns:a="http://schemas.openxmlformats.org/drawingml/2006/main" noGrp="1"/>
          </p:cNvSpPr>
          <p:nvPr/>
        </p:nvSpPr>
        <p:spPr>
          <a:xfrm xmlns:a="http://schemas.openxmlformats.org/drawingml/2006/main">
            <a:off x="3781425" y="3390900"/>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8" name="table-text-140-5-1">
            <a:extLst xmlns:a="http://schemas.openxmlformats.org/drawingml/2006/main">
              <a:ext uri="{FF2B5EF4-FFF2-40B4-BE49-F238E27FC236}">
                <a16:creationId xmlns:a16="http://schemas.microsoft.com/office/drawing/2014/main" id="{25DC2317-BB12-4442-A481-0FDA141012CA}"/>
              </a:ext>
            </a:extLst>
          </p:cNvPr>
          <p:cNvSpPr>
            <a:spLocks xmlns:a="http://schemas.openxmlformats.org/drawingml/2006/main" noGrp="1"/>
          </p:cNvSpPr>
          <p:nvPr/>
        </p:nvSpPr>
        <p:spPr>
          <a:xfrm xmlns:a="http://schemas.openxmlformats.org/drawingml/2006/main">
            <a:off x="3867150" y="3457575"/>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패턴 구조, 인과, 결정론, 화면, 복구, 기믹 우위 검증</a:t>
            </a:r>
          </a:p>
        </p:txBody>
      </p:sp>
      <p:sp>
        <p:nvSpPr>
          <p:cNvPr id="29" name="table-cell-140-6-0">
            <a:extLst xmlns:a="http://schemas.openxmlformats.org/drawingml/2006/main">
              <a:ext uri="{FF2B5EF4-FFF2-40B4-BE49-F238E27FC236}">
                <a16:creationId xmlns:a16="http://schemas.microsoft.com/office/drawing/2014/main" id="{93E49CF6-37D6-4180-86CA-CBEAAAAB092F}"/>
              </a:ext>
            </a:extLst>
          </p:cNvPr>
          <p:cNvSpPr>
            <a:spLocks xmlns:a="http://schemas.openxmlformats.org/drawingml/2006/main" noGrp="1"/>
          </p:cNvSpPr>
          <p:nvPr/>
        </p:nvSpPr>
        <p:spPr>
          <a:xfrm xmlns:a="http://schemas.openxmlformats.org/drawingml/2006/main">
            <a:off x="533400" y="3790950"/>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0" name="table-text-140-6-0">
            <a:extLst xmlns:a="http://schemas.openxmlformats.org/drawingml/2006/main">
              <a:ext uri="{FF2B5EF4-FFF2-40B4-BE49-F238E27FC236}">
                <a16:creationId xmlns:a16="http://schemas.microsoft.com/office/drawing/2014/main" id="{017D0E36-FA0B-44E1-AC7F-055C527FBD85}"/>
              </a:ext>
            </a:extLst>
          </p:cNvPr>
          <p:cNvSpPr>
            <a:spLocks xmlns:a="http://schemas.openxmlformats.org/drawingml/2006/main" noGrp="1"/>
          </p:cNvSpPr>
          <p:nvPr/>
        </p:nvSpPr>
        <p:spPr>
          <a:xfrm xmlns:a="http://schemas.openxmlformats.org/drawingml/2006/main">
            <a:off x="619125" y="3857625"/>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Report pipeline</a:t>
            </a:r>
          </a:p>
        </p:txBody>
      </p:sp>
      <p:sp>
        <p:nvSpPr>
          <p:cNvPr id="31" name="table-cell-140-6-1">
            <a:extLst xmlns:a="http://schemas.openxmlformats.org/drawingml/2006/main">
              <a:ext uri="{FF2B5EF4-FFF2-40B4-BE49-F238E27FC236}">
                <a16:creationId xmlns:a16="http://schemas.microsoft.com/office/drawing/2014/main" id="{625BE330-87E7-4ADC-A2C4-B7C2980846DC}"/>
              </a:ext>
            </a:extLst>
          </p:cNvPr>
          <p:cNvSpPr>
            <a:spLocks xmlns:a="http://schemas.openxmlformats.org/drawingml/2006/main" noGrp="1"/>
          </p:cNvSpPr>
          <p:nvPr/>
        </p:nvSpPr>
        <p:spPr>
          <a:xfrm xmlns:a="http://schemas.openxmlformats.org/drawingml/2006/main">
            <a:off x="3781425" y="3790950"/>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2" name="table-text-140-6-1">
            <a:extLst xmlns:a="http://schemas.openxmlformats.org/drawingml/2006/main">
              <a:ext uri="{FF2B5EF4-FFF2-40B4-BE49-F238E27FC236}">
                <a16:creationId xmlns:a16="http://schemas.microsoft.com/office/drawing/2014/main" id="{1A7C2671-1CDB-45A2-961E-926E2AE312D5}"/>
              </a:ext>
            </a:extLst>
          </p:cNvPr>
          <p:cNvSpPr>
            <a:spLocks xmlns:a="http://schemas.openxmlformats.org/drawingml/2006/main" noGrp="1"/>
          </p:cNvSpPr>
          <p:nvPr/>
        </p:nvSpPr>
        <p:spPr>
          <a:xfrm xmlns:a="http://schemas.openxmlformats.org/drawingml/2006/main">
            <a:off x="3867150" y="3857625"/>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PDF·A4 세로 PPT의 재생성과 시각 검사</a:t>
            </a:r>
          </a:p>
        </p:txBody>
      </p:sp>
    </p:spTree>
    <p:extLst>
      <p:ext uri="{BB962C8B-B14F-4D97-AF65-F5344CB8AC3E}">
        <p14:creationId xmlns:p14="http://schemas.microsoft.com/office/powerpoint/2010/main" val="114446104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running-label">
            <a:extLst xmlns:a="http://schemas.openxmlformats.org/drawingml/2006/main">
              <a:ext uri="{FF2B5EF4-FFF2-40B4-BE49-F238E27FC236}">
                <a16:creationId xmlns:a16="http://schemas.microsoft.com/office/drawing/2014/main" id="{28D21C99-8E97-40E0-9E74-F18C91F2ABDA}"/>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1F474664-8C63-49C0-B6BA-2DDAD1F9009F}"/>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9</a:t>
            </a:r>
          </a:p>
        </p:txBody>
      </p:sp>
      <p:sp>
        <p:nvSpPr>
          <p:cNvPr id="3" name="header-rule">
            <a:extLst xmlns:a="http://schemas.openxmlformats.org/drawingml/2006/main">
              <a:ext uri="{FF2B5EF4-FFF2-40B4-BE49-F238E27FC236}">
                <a16:creationId xmlns:a16="http://schemas.microsoft.com/office/drawing/2014/main" id="{42E97680-67CA-4BEF-9755-E46FC21AC074}"/>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75DF3141-9F51-428E-A4C9-3D1F4487AD99}"/>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6. AI 활용의 구체적 성과</a:t>
            </a:r>
          </a:p>
        </p:txBody>
      </p:sp>
      <p:sp>
        <p:nvSpPr>
          <p:cNvPr id="5" name="bullets-140">
            <a:extLst xmlns:a="http://schemas.openxmlformats.org/drawingml/2006/main">
              <a:ext uri="{FF2B5EF4-FFF2-40B4-BE49-F238E27FC236}">
                <a16:creationId xmlns:a16="http://schemas.microsoft.com/office/drawing/2014/main" id="{A8F2635B-2F9E-4D58-B6A1-3CAF7E8507F8}"/>
              </a:ext>
            </a:extLst>
          </p:cNvPr>
          <p:cNvSpPr>
            <a:spLocks xmlns:a="http://schemas.openxmlformats.org/drawingml/2006/main" noGrp="1"/>
          </p:cNvSpPr>
          <p:nvPr/>
        </p:nvSpPr>
        <p:spPr>
          <a:xfrm xmlns:a="http://schemas.openxmlformats.org/drawingml/2006/main">
            <a:off x="533400" y="1333500"/>
            <a:ext cx="6496050" cy="2037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자연어 피드백을 40패턴 데이터와 실행 가능한 테스트 계약으로 전환했다.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물리·리플레이를 바꾸지 않고 쉬움 미리보기와 튜토리얼 완화를 추가했다.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접근성, 저장 복구, 기록 공정성처럼 화면만 봐서는 놓치기 쉬운 결함을 독립 감사로 발견했다.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잘못된 통계 검증을 스스로 반려하고 같은 표본공간의 지표로 다시 설계했다.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보고서와 PPT도 코드처럼 재생성하고 렌더 결과를 확인했다.</a:t>
            </a:r>
          </a:p>
        </p:txBody>
      </p:sp>
    </p:spTree>
    <p:extLst>
      <p:ext uri="{BB962C8B-B14F-4D97-AF65-F5344CB8AC3E}">
        <p14:creationId xmlns:p14="http://schemas.microsoft.com/office/powerpoint/2010/main" val="93271374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4" name="running-label">
            <a:extLst xmlns:a="http://schemas.openxmlformats.org/drawingml/2006/main">
              <a:ext uri="{FF2B5EF4-FFF2-40B4-BE49-F238E27FC236}">
                <a16:creationId xmlns:a16="http://schemas.microsoft.com/office/drawing/2014/main" id="{0DAA715B-8179-41B4-8528-73AF353EB667}"/>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99916A87-5596-4B68-A69D-27FABA872063}"/>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10</a:t>
            </a:r>
          </a:p>
        </p:txBody>
      </p:sp>
      <p:sp>
        <p:nvSpPr>
          <p:cNvPr id="3" name="header-rule">
            <a:extLst xmlns:a="http://schemas.openxmlformats.org/drawingml/2006/main">
              <a:ext uri="{FF2B5EF4-FFF2-40B4-BE49-F238E27FC236}">
                <a16:creationId xmlns:a16="http://schemas.microsoft.com/office/drawing/2014/main" id="{E828380B-CF26-48D1-B011-E4A1DD2777D9}"/>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1B32875F-86FF-4BC6-8882-19670D4A5A67}"/>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7. 외부 에셋과 오픈소스</a:t>
            </a:r>
          </a:p>
        </p:txBody>
      </p:sp>
      <p:sp>
        <p:nvSpPr>
          <p:cNvPr id="5" name="table-cell-140-0-0">
            <a:extLst xmlns:a="http://schemas.openxmlformats.org/drawingml/2006/main">
              <a:ext uri="{FF2B5EF4-FFF2-40B4-BE49-F238E27FC236}">
                <a16:creationId xmlns:a16="http://schemas.microsoft.com/office/drawing/2014/main" id="{601BA27C-90D3-4FEA-9D04-59E96F08EAC0}"/>
              </a:ext>
            </a:extLst>
          </p:cNvPr>
          <p:cNvSpPr>
            <a:spLocks xmlns:a="http://schemas.openxmlformats.org/drawingml/2006/main" noGrp="1"/>
          </p:cNvSpPr>
          <p:nvPr/>
        </p:nvSpPr>
        <p:spPr>
          <a:xfrm xmlns:a="http://schemas.openxmlformats.org/drawingml/2006/main">
            <a:off x="533400" y="1333500"/>
            <a:ext cx="2165350"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6" name="table-text-140-0-0">
            <a:extLst xmlns:a="http://schemas.openxmlformats.org/drawingml/2006/main">
              <a:ext uri="{FF2B5EF4-FFF2-40B4-BE49-F238E27FC236}">
                <a16:creationId xmlns:a16="http://schemas.microsoft.com/office/drawing/2014/main" id="{E03D7507-0C0D-4F51-8428-028849BAD56C}"/>
              </a:ext>
            </a:extLst>
          </p:cNvPr>
          <p:cNvSpPr>
            <a:spLocks xmlns:a="http://schemas.openxmlformats.org/drawingml/2006/main" noGrp="1"/>
          </p:cNvSpPr>
          <p:nvPr/>
        </p:nvSpPr>
        <p:spPr>
          <a:xfrm xmlns:a="http://schemas.openxmlformats.org/drawingml/2006/main">
            <a:off x="619125" y="1400175"/>
            <a:ext cx="1993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구성</a:t>
            </a:r>
          </a:p>
        </p:txBody>
      </p:sp>
      <p:sp>
        <p:nvSpPr>
          <p:cNvPr id="7" name="table-cell-140-0-1">
            <a:extLst xmlns:a="http://schemas.openxmlformats.org/drawingml/2006/main">
              <a:ext uri="{FF2B5EF4-FFF2-40B4-BE49-F238E27FC236}">
                <a16:creationId xmlns:a16="http://schemas.microsoft.com/office/drawing/2014/main" id="{7E46D068-13A7-42D0-8308-AF0D23522A04}"/>
              </a:ext>
            </a:extLst>
          </p:cNvPr>
          <p:cNvSpPr>
            <a:spLocks xmlns:a="http://schemas.openxmlformats.org/drawingml/2006/main" noGrp="1"/>
          </p:cNvSpPr>
          <p:nvPr/>
        </p:nvSpPr>
        <p:spPr>
          <a:xfrm xmlns:a="http://schemas.openxmlformats.org/drawingml/2006/main">
            <a:off x="2698750" y="1333500"/>
            <a:ext cx="2165350"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8" name="table-text-140-0-1">
            <a:extLst xmlns:a="http://schemas.openxmlformats.org/drawingml/2006/main">
              <a:ext uri="{FF2B5EF4-FFF2-40B4-BE49-F238E27FC236}">
                <a16:creationId xmlns:a16="http://schemas.microsoft.com/office/drawing/2014/main" id="{1E08CEFF-3C30-4922-93B7-F7925FAD814F}"/>
              </a:ext>
            </a:extLst>
          </p:cNvPr>
          <p:cNvSpPr>
            <a:spLocks xmlns:a="http://schemas.openxmlformats.org/drawingml/2006/main" noGrp="1"/>
          </p:cNvSpPr>
          <p:nvPr/>
        </p:nvSpPr>
        <p:spPr>
          <a:xfrm xmlns:a="http://schemas.openxmlformats.org/drawingml/2006/main">
            <a:off x="2784475" y="1400175"/>
            <a:ext cx="1993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용도</a:t>
            </a:r>
          </a:p>
        </p:txBody>
      </p:sp>
      <p:sp>
        <p:nvSpPr>
          <p:cNvPr id="9" name="table-cell-140-0-2">
            <a:extLst xmlns:a="http://schemas.openxmlformats.org/drawingml/2006/main">
              <a:ext uri="{FF2B5EF4-FFF2-40B4-BE49-F238E27FC236}">
                <a16:creationId xmlns:a16="http://schemas.microsoft.com/office/drawing/2014/main" id="{28D069E7-3757-4934-A2C9-BC3BF06A6040}"/>
              </a:ext>
            </a:extLst>
          </p:cNvPr>
          <p:cNvSpPr>
            <a:spLocks xmlns:a="http://schemas.openxmlformats.org/drawingml/2006/main" noGrp="1"/>
          </p:cNvSpPr>
          <p:nvPr/>
        </p:nvSpPr>
        <p:spPr>
          <a:xfrm xmlns:a="http://schemas.openxmlformats.org/drawingml/2006/main">
            <a:off x="4864100" y="1333500"/>
            <a:ext cx="2165350"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10" name="table-text-140-0-2">
            <a:extLst xmlns:a="http://schemas.openxmlformats.org/drawingml/2006/main">
              <a:ext uri="{FF2B5EF4-FFF2-40B4-BE49-F238E27FC236}">
                <a16:creationId xmlns:a16="http://schemas.microsoft.com/office/drawing/2014/main" id="{EF2D776A-824F-40A1-B33D-8237632DE3E1}"/>
              </a:ext>
            </a:extLst>
          </p:cNvPr>
          <p:cNvSpPr>
            <a:spLocks xmlns:a="http://schemas.openxmlformats.org/drawingml/2006/main" noGrp="1"/>
          </p:cNvSpPr>
          <p:nvPr/>
        </p:nvSpPr>
        <p:spPr>
          <a:xfrm xmlns:a="http://schemas.openxmlformats.org/drawingml/2006/main">
            <a:off x="4949825" y="1400175"/>
            <a:ext cx="1993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출처·라이선스</a:t>
            </a:r>
          </a:p>
        </p:txBody>
      </p:sp>
      <p:sp>
        <p:nvSpPr>
          <p:cNvPr id="11" name="table-cell-140-1-0">
            <a:extLst xmlns:a="http://schemas.openxmlformats.org/drawingml/2006/main">
              <a:ext uri="{FF2B5EF4-FFF2-40B4-BE49-F238E27FC236}">
                <a16:creationId xmlns:a16="http://schemas.microsoft.com/office/drawing/2014/main" id="{0EB7CCC4-ED1C-4F78-BDC0-AC467979B721}"/>
              </a:ext>
            </a:extLst>
          </p:cNvPr>
          <p:cNvSpPr>
            <a:spLocks xmlns:a="http://schemas.openxmlformats.org/drawingml/2006/main" noGrp="1"/>
          </p:cNvSpPr>
          <p:nvPr/>
        </p:nvSpPr>
        <p:spPr>
          <a:xfrm xmlns:a="http://schemas.openxmlformats.org/drawingml/2006/main">
            <a:off x="533400" y="1790700"/>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2" name="table-text-140-1-0">
            <a:extLst xmlns:a="http://schemas.openxmlformats.org/drawingml/2006/main">
              <a:ext uri="{FF2B5EF4-FFF2-40B4-BE49-F238E27FC236}">
                <a16:creationId xmlns:a16="http://schemas.microsoft.com/office/drawing/2014/main" id="{1A71411B-C09E-4BF4-BE23-DECFF3251925}"/>
              </a:ext>
            </a:extLst>
          </p:cNvPr>
          <p:cNvSpPr>
            <a:spLocks xmlns:a="http://schemas.openxmlformats.org/drawingml/2006/main" noGrp="1"/>
          </p:cNvSpPr>
          <p:nvPr/>
        </p:nvSpPr>
        <p:spPr>
          <a:xfrm xmlns:a="http://schemas.openxmlformats.org/drawingml/2006/main">
            <a:off x="619125" y="1857375"/>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Flutter</a:t>
            </a:r>
          </a:p>
        </p:txBody>
      </p:sp>
      <p:sp>
        <p:nvSpPr>
          <p:cNvPr id="13" name="table-cell-140-1-1">
            <a:extLst xmlns:a="http://schemas.openxmlformats.org/drawingml/2006/main">
              <a:ext uri="{FF2B5EF4-FFF2-40B4-BE49-F238E27FC236}">
                <a16:creationId xmlns:a16="http://schemas.microsoft.com/office/drawing/2014/main" id="{BC193CA8-48F8-47F8-80B0-2380A997A1B5}"/>
              </a:ext>
            </a:extLst>
          </p:cNvPr>
          <p:cNvSpPr>
            <a:spLocks xmlns:a="http://schemas.openxmlformats.org/drawingml/2006/main" noGrp="1"/>
          </p:cNvSpPr>
          <p:nvPr/>
        </p:nvSpPr>
        <p:spPr>
          <a:xfrm xmlns:a="http://schemas.openxmlformats.org/drawingml/2006/main">
            <a:off x="2698750" y="1790700"/>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4" name="table-text-140-1-1">
            <a:extLst xmlns:a="http://schemas.openxmlformats.org/drawingml/2006/main">
              <a:ext uri="{FF2B5EF4-FFF2-40B4-BE49-F238E27FC236}">
                <a16:creationId xmlns:a16="http://schemas.microsoft.com/office/drawing/2014/main" id="{50E147BA-0340-4E57-9556-EEE5B51EBD59}"/>
              </a:ext>
            </a:extLst>
          </p:cNvPr>
          <p:cNvSpPr>
            <a:spLocks xmlns:a="http://schemas.openxmlformats.org/drawingml/2006/main" noGrp="1"/>
          </p:cNvSpPr>
          <p:nvPr/>
        </p:nvSpPr>
        <p:spPr>
          <a:xfrm xmlns:a="http://schemas.openxmlformats.org/drawingml/2006/main">
            <a:off x="2784475" y="1857375"/>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앱 UI·멀티플랫폼</a:t>
            </a:r>
          </a:p>
        </p:txBody>
      </p:sp>
      <p:sp>
        <p:nvSpPr>
          <p:cNvPr id="15" name="table-cell-140-1-2">
            <a:extLst xmlns:a="http://schemas.openxmlformats.org/drawingml/2006/main">
              <a:ext uri="{FF2B5EF4-FFF2-40B4-BE49-F238E27FC236}">
                <a16:creationId xmlns:a16="http://schemas.microsoft.com/office/drawing/2014/main" id="{3A7D0148-85B1-42C7-BBD4-F9D6960B1270}"/>
              </a:ext>
            </a:extLst>
          </p:cNvPr>
          <p:cNvSpPr>
            <a:spLocks xmlns:a="http://schemas.openxmlformats.org/drawingml/2006/main" noGrp="1"/>
          </p:cNvSpPr>
          <p:nvPr/>
        </p:nvSpPr>
        <p:spPr>
          <a:xfrm xmlns:a="http://schemas.openxmlformats.org/drawingml/2006/main">
            <a:off x="4864100" y="1790700"/>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6" name="table-text-140-1-2">
            <a:extLst xmlns:a="http://schemas.openxmlformats.org/drawingml/2006/main">
              <a:ext uri="{FF2B5EF4-FFF2-40B4-BE49-F238E27FC236}">
                <a16:creationId xmlns:a16="http://schemas.microsoft.com/office/drawing/2014/main" id="{D92E17D2-DED6-4DF5-87E3-D9E35974F9D3}"/>
              </a:ext>
            </a:extLst>
          </p:cNvPr>
          <p:cNvSpPr>
            <a:spLocks xmlns:a="http://schemas.openxmlformats.org/drawingml/2006/main" noGrp="1"/>
          </p:cNvSpPr>
          <p:nvPr/>
        </p:nvSpPr>
        <p:spPr>
          <a:xfrm xmlns:a="http://schemas.openxmlformats.org/drawingml/2006/main">
            <a:off x="4949825" y="1857375"/>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BSD-3-Clause · flutter.dev (https://flutter.dev/)</a:t>
            </a:r>
          </a:p>
        </p:txBody>
      </p:sp>
      <p:sp>
        <p:nvSpPr>
          <p:cNvPr id="17" name="table-cell-140-2-0">
            <a:extLst xmlns:a="http://schemas.openxmlformats.org/drawingml/2006/main">
              <a:ext uri="{FF2B5EF4-FFF2-40B4-BE49-F238E27FC236}">
                <a16:creationId xmlns:a16="http://schemas.microsoft.com/office/drawing/2014/main" id="{3DF0EE1E-1FF7-459B-AB5B-3DA3216AE7A9}"/>
              </a:ext>
            </a:extLst>
          </p:cNvPr>
          <p:cNvSpPr>
            <a:spLocks xmlns:a="http://schemas.openxmlformats.org/drawingml/2006/main" noGrp="1"/>
          </p:cNvSpPr>
          <p:nvPr/>
        </p:nvSpPr>
        <p:spPr>
          <a:xfrm xmlns:a="http://schemas.openxmlformats.org/drawingml/2006/main">
            <a:off x="533400" y="2322195"/>
            <a:ext cx="2165350"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18" name="table-text-140-2-0">
            <a:extLst xmlns:a="http://schemas.openxmlformats.org/drawingml/2006/main">
              <a:ext uri="{FF2B5EF4-FFF2-40B4-BE49-F238E27FC236}">
                <a16:creationId xmlns:a16="http://schemas.microsoft.com/office/drawing/2014/main" id="{84639B77-A487-4A60-822D-1432036B581C}"/>
              </a:ext>
            </a:extLst>
          </p:cNvPr>
          <p:cNvSpPr>
            <a:spLocks xmlns:a="http://schemas.openxmlformats.org/drawingml/2006/main" noGrp="1"/>
          </p:cNvSpPr>
          <p:nvPr/>
        </p:nvSpPr>
        <p:spPr>
          <a:xfrm xmlns:a="http://schemas.openxmlformats.org/drawingml/2006/main">
            <a:off x="619125" y="2388870"/>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Flame</a:t>
            </a:r>
          </a:p>
        </p:txBody>
      </p:sp>
      <p:sp>
        <p:nvSpPr>
          <p:cNvPr id="19" name="table-cell-140-2-1">
            <a:extLst xmlns:a="http://schemas.openxmlformats.org/drawingml/2006/main">
              <a:ext uri="{FF2B5EF4-FFF2-40B4-BE49-F238E27FC236}">
                <a16:creationId xmlns:a16="http://schemas.microsoft.com/office/drawing/2014/main" id="{1B4315CA-BC09-4643-992D-5CAACF71B2C8}"/>
              </a:ext>
            </a:extLst>
          </p:cNvPr>
          <p:cNvSpPr>
            <a:spLocks xmlns:a="http://schemas.openxmlformats.org/drawingml/2006/main" noGrp="1"/>
          </p:cNvSpPr>
          <p:nvPr/>
        </p:nvSpPr>
        <p:spPr>
          <a:xfrm xmlns:a="http://schemas.openxmlformats.org/drawingml/2006/main">
            <a:off x="2698750" y="2322195"/>
            <a:ext cx="2165350"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0" name="table-text-140-2-1">
            <a:extLst xmlns:a="http://schemas.openxmlformats.org/drawingml/2006/main">
              <a:ext uri="{FF2B5EF4-FFF2-40B4-BE49-F238E27FC236}">
                <a16:creationId xmlns:a16="http://schemas.microsoft.com/office/drawing/2014/main" id="{B7C15D4A-12B7-4246-90F5-65F61A551461}"/>
              </a:ext>
            </a:extLst>
          </p:cNvPr>
          <p:cNvSpPr>
            <a:spLocks xmlns:a="http://schemas.openxmlformats.org/drawingml/2006/main" noGrp="1"/>
          </p:cNvSpPr>
          <p:nvPr/>
        </p:nvSpPr>
        <p:spPr>
          <a:xfrm xmlns:a="http://schemas.openxmlformats.org/drawingml/2006/main">
            <a:off x="2784475" y="2388870"/>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게임 루프·Canvas</a:t>
            </a:r>
          </a:p>
        </p:txBody>
      </p:sp>
      <p:sp>
        <p:nvSpPr>
          <p:cNvPr id="21" name="table-cell-140-2-2">
            <a:extLst xmlns:a="http://schemas.openxmlformats.org/drawingml/2006/main">
              <a:ext uri="{FF2B5EF4-FFF2-40B4-BE49-F238E27FC236}">
                <a16:creationId xmlns:a16="http://schemas.microsoft.com/office/drawing/2014/main" id="{4D37B598-2420-4C7E-8255-A9ADF1991492}"/>
              </a:ext>
            </a:extLst>
          </p:cNvPr>
          <p:cNvSpPr>
            <a:spLocks xmlns:a="http://schemas.openxmlformats.org/drawingml/2006/main" noGrp="1"/>
          </p:cNvSpPr>
          <p:nvPr/>
        </p:nvSpPr>
        <p:spPr>
          <a:xfrm xmlns:a="http://schemas.openxmlformats.org/drawingml/2006/main">
            <a:off x="4864100" y="2322195"/>
            <a:ext cx="2165350"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2" name="table-text-140-2-2">
            <a:extLst xmlns:a="http://schemas.openxmlformats.org/drawingml/2006/main">
              <a:ext uri="{FF2B5EF4-FFF2-40B4-BE49-F238E27FC236}">
                <a16:creationId xmlns:a16="http://schemas.microsoft.com/office/drawing/2014/main" id="{02066012-A588-4263-9E2E-D097D5463ACC}"/>
              </a:ext>
            </a:extLst>
          </p:cNvPr>
          <p:cNvSpPr>
            <a:spLocks xmlns:a="http://schemas.openxmlformats.org/drawingml/2006/main" noGrp="1"/>
          </p:cNvSpPr>
          <p:nvPr/>
        </p:nvSpPr>
        <p:spPr>
          <a:xfrm xmlns:a="http://schemas.openxmlformats.org/drawingml/2006/main">
            <a:off x="4949825" y="2388870"/>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754"/>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MIT · pub.dev/flame (https://pub.dev/packages/flame)</a:t>
            </a:r>
          </a:p>
        </p:txBody>
      </p:sp>
      <p:sp>
        <p:nvSpPr>
          <p:cNvPr id="23" name="table-cell-140-3-0">
            <a:extLst xmlns:a="http://schemas.openxmlformats.org/drawingml/2006/main">
              <a:ext uri="{FF2B5EF4-FFF2-40B4-BE49-F238E27FC236}">
                <a16:creationId xmlns:a16="http://schemas.microsoft.com/office/drawing/2014/main" id="{8BBF0A6E-63D0-4D7C-8F4B-CF33B3FB145C}"/>
              </a:ext>
            </a:extLst>
          </p:cNvPr>
          <p:cNvSpPr>
            <a:spLocks xmlns:a="http://schemas.openxmlformats.org/drawingml/2006/main" noGrp="1"/>
          </p:cNvSpPr>
          <p:nvPr/>
        </p:nvSpPr>
        <p:spPr>
          <a:xfrm xmlns:a="http://schemas.openxmlformats.org/drawingml/2006/main">
            <a:off x="533400" y="2853690"/>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4" name="table-text-140-3-0">
            <a:extLst xmlns:a="http://schemas.openxmlformats.org/drawingml/2006/main">
              <a:ext uri="{FF2B5EF4-FFF2-40B4-BE49-F238E27FC236}">
                <a16:creationId xmlns:a16="http://schemas.microsoft.com/office/drawing/2014/main" id="{BAB5A9CA-DC73-4E20-BB65-367ABCE625A2}"/>
              </a:ext>
            </a:extLst>
          </p:cNvPr>
          <p:cNvSpPr>
            <a:spLocks xmlns:a="http://schemas.openxmlformats.org/drawingml/2006/main" noGrp="1"/>
          </p:cNvSpPr>
          <p:nvPr/>
        </p:nvSpPr>
        <p:spPr>
          <a:xfrm xmlns:a="http://schemas.openxmlformats.org/drawingml/2006/main">
            <a:off x="619125" y="2920365"/>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shared_preferences</a:t>
            </a:r>
          </a:p>
        </p:txBody>
      </p:sp>
      <p:sp>
        <p:nvSpPr>
          <p:cNvPr id="25" name="table-cell-140-3-1">
            <a:extLst xmlns:a="http://schemas.openxmlformats.org/drawingml/2006/main">
              <a:ext uri="{FF2B5EF4-FFF2-40B4-BE49-F238E27FC236}">
                <a16:creationId xmlns:a16="http://schemas.microsoft.com/office/drawing/2014/main" id="{AAE2299D-2DEE-45C5-B46C-9446E83E23DB}"/>
              </a:ext>
            </a:extLst>
          </p:cNvPr>
          <p:cNvSpPr>
            <a:spLocks xmlns:a="http://schemas.openxmlformats.org/drawingml/2006/main" noGrp="1"/>
          </p:cNvSpPr>
          <p:nvPr/>
        </p:nvSpPr>
        <p:spPr>
          <a:xfrm xmlns:a="http://schemas.openxmlformats.org/drawingml/2006/main">
            <a:off x="2698750" y="2853690"/>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6" name="table-text-140-3-1">
            <a:extLst xmlns:a="http://schemas.openxmlformats.org/drawingml/2006/main">
              <a:ext uri="{FF2B5EF4-FFF2-40B4-BE49-F238E27FC236}">
                <a16:creationId xmlns:a16="http://schemas.microsoft.com/office/drawing/2014/main" id="{31D5716B-C08E-4EE1-8965-77AA18E5F263}"/>
              </a:ext>
            </a:extLst>
          </p:cNvPr>
          <p:cNvSpPr>
            <a:spLocks xmlns:a="http://schemas.openxmlformats.org/drawingml/2006/main" noGrp="1"/>
          </p:cNvSpPr>
          <p:nvPr/>
        </p:nvSpPr>
        <p:spPr>
          <a:xfrm xmlns:a="http://schemas.openxmlformats.org/drawingml/2006/main">
            <a:off x="2784475" y="2920365"/>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로컬 설정·저장</a:t>
            </a:r>
          </a:p>
        </p:txBody>
      </p:sp>
      <p:sp>
        <p:nvSpPr>
          <p:cNvPr id="27" name="table-cell-140-3-2">
            <a:extLst xmlns:a="http://schemas.openxmlformats.org/drawingml/2006/main">
              <a:ext uri="{FF2B5EF4-FFF2-40B4-BE49-F238E27FC236}">
                <a16:creationId xmlns:a16="http://schemas.microsoft.com/office/drawing/2014/main" id="{B3F1696C-29A8-4EAF-B0FF-C553C7E0AE8F}"/>
              </a:ext>
            </a:extLst>
          </p:cNvPr>
          <p:cNvSpPr>
            <a:spLocks xmlns:a="http://schemas.openxmlformats.org/drawingml/2006/main" noGrp="1"/>
          </p:cNvSpPr>
          <p:nvPr/>
        </p:nvSpPr>
        <p:spPr>
          <a:xfrm xmlns:a="http://schemas.openxmlformats.org/drawingml/2006/main">
            <a:off x="4864100" y="2853690"/>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8" name="table-text-140-3-2">
            <a:extLst xmlns:a="http://schemas.openxmlformats.org/drawingml/2006/main">
              <a:ext uri="{FF2B5EF4-FFF2-40B4-BE49-F238E27FC236}">
                <a16:creationId xmlns:a16="http://schemas.microsoft.com/office/drawing/2014/main" id="{8BFAB161-0D4D-496E-AD8F-4B39B9C5CF93}"/>
              </a:ext>
            </a:extLst>
          </p:cNvPr>
          <p:cNvSpPr>
            <a:spLocks xmlns:a="http://schemas.openxmlformats.org/drawingml/2006/main" noGrp="1"/>
          </p:cNvSpPr>
          <p:nvPr/>
        </p:nvSpPr>
        <p:spPr>
          <a:xfrm xmlns:a="http://schemas.openxmlformats.org/drawingml/2006/main">
            <a:off x="4949825" y="2920365"/>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6793"/>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BSD-3-Clause · pub.dev (https://pub.dev/packages/shared_preferences)</a:t>
            </a:r>
          </a:p>
        </p:txBody>
      </p:sp>
      <p:sp>
        <p:nvSpPr>
          <p:cNvPr id="29" name="table-cell-140-4-0">
            <a:extLst xmlns:a="http://schemas.openxmlformats.org/drawingml/2006/main">
              <a:ext uri="{FF2B5EF4-FFF2-40B4-BE49-F238E27FC236}">
                <a16:creationId xmlns:a16="http://schemas.microsoft.com/office/drawing/2014/main" id="{9CE5F73A-3688-4F2E-9B20-C74F57A69C64}"/>
              </a:ext>
            </a:extLst>
          </p:cNvPr>
          <p:cNvSpPr>
            <a:spLocks xmlns:a="http://schemas.openxmlformats.org/drawingml/2006/main" noGrp="1"/>
          </p:cNvSpPr>
          <p:nvPr/>
        </p:nvSpPr>
        <p:spPr>
          <a:xfrm xmlns:a="http://schemas.openxmlformats.org/drawingml/2006/main">
            <a:off x="533400" y="3385185"/>
            <a:ext cx="2165350"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0" name="table-text-140-4-0">
            <a:extLst xmlns:a="http://schemas.openxmlformats.org/drawingml/2006/main">
              <a:ext uri="{FF2B5EF4-FFF2-40B4-BE49-F238E27FC236}">
                <a16:creationId xmlns:a16="http://schemas.microsoft.com/office/drawing/2014/main" id="{5CEBE7C2-E4D3-4BF2-AE43-849A971FE5A7}"/>
              </a:ext>
            </a:extLst>
          </p:cNvPr>
          <p:cNvSpPr>
            <a:spLocks xmlns:a="http://schemas.openxmlformats.org/drawingml/2006/main" noGrp="1"/>
          </p:cNvSpPr>
          <p:nvPr/>
        </p:nvSpPr>
        <p:spPr>
          <a:xfrm xmlns:a="http://schemas.openxmlformats.org/drawingml/2006/main">
            <a:off x="619125" y="3451860"/>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crypto</a:t>
            </a:r>
          </a:p>
        </p:txBody>
      </p:sp>
      <p:sp>
        <p:nvSpPr>
          <p:cNvPr id="31" name="table-cell-140-4-1">
            <a:extLst xmlns:a="http://schemas.openxmlformats.org/drawingml/2006/main">
              <a:ext uri="{FF2B5EF4-FFF2-40B4-BE49-F238E27FC236}">
                <a16:creationId xmlns:a16="http://schemas.microsoft.com/office/drawing/2014/main" id="{4F82DB0D-96AF-48AA-9B16-21B77750D092}"/>
              </a:ext>
            </a:extLst>
          </p:cNvPr>
          <p:cNvSpPr>
            <a:spLocks xmlns:a="http://schemas.openxmlformats.org/drawingml/2006/main" noGrp="1"/>
          </p:cNvSpPr>
          <p:nvPr/>
        </p:nvSpPr>
        <p:spPr>
          <a:xfrm xmlns:a="http://schemas.openxmlformats.org/drawingml/2006/main">
            <a:off x="2698750" y="3385185"/>
            <a:ext cx="2165350"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2" name="table-text-140-4-1">
            <a:extLst xmlns:a="http://schemas.openxmlformats.org/drawingml/2006/main">
              <a:ext uri="{FF2B5EF4-FFF2-40B4-BE49-F238E27FC236}">
                <a16:creationId xmlns:a16="http://schemas.microsoft.com/office/drawing/2014/main" id="{B584C5D3-3550-4575-AC3B-4B8EF05DCB02}"/>
              </a:ext>
            </a:extLst>
          </p:cNvPr>
          <p:cNvSpPr>
            <a:spLocks xmlns:a="http://schemas.openxmlformats.org/drawingml/2006/main" noGrp="1"/>
          </p:cNvSpPr>
          <p:nvPr/>
        </p:nvSpPr>
        <p:spPr>
          <a:xfrm xmlns:a="http://schemas.openxmlformats.org/drawingml/2006/main">
            <a:off x="2784475" y="3451860"/>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리플레이·산출물 무결성 해시</a:t>
            </a:r>
          </a:p>
        </p:txBody>
      </p:sp>
      <p:sp>
        <p:nvSpPr>
          <p:cNvPr id="33" name="table-cell-140-4-2">
            <a:extLst xmlns:a="http://schemas.openxmlformats.org/drawingml/2006/main">
              <a:ext uri="{FF2B5EF4-FFF2-40B4-BE49-F238E27FC236}">
                <a16:creationId xmlns:a16="http://schemas.microsoft.com/office/drawing/2014/main" id="{698EAC90-708C-4019-B116-8B6B773ECB62}"/>
              </a:ext>
            </a:extLst>
          </p:cNvPr>
          <p:cNvSpPr>
            <a:spLocks xmlns:a="http://schemas.openxmlformats.org/drawingml/2006/main" noGrp="1"/>
          </p:cNvSpPr>
          <p:nvPr/>
        </p:nvSpPr>
        <p:spPr>
          <a:xfrm xmlns:a="http://schemas.openxmlformats.org/drawingml/2006/main">
            <a:off x="4864100" y="3385185"/>
            <a:ext cx="2165350"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4" name="table-text-140-4-2">
            <a:extLst xmlns:a="http://schemas.openxmlformats.org/drawingml/2006/main">
              <a:ext uri="{FF2B5EF4-FFF2-40B4-BE49-F238E27FC236}">
                <a16:creationId xmlns:a16="http://schemas.microsoft.com/office/drawing/2014/main" id="{D575333E-497C-4EC6-8CF9-72B3268243FE}"/>
              </a:ext>
            </a:extLst>
          </p:cNvPr>
          <p:cNvSpPr>
            <a:spLocks xmlns:a="http://schemas.openxmlformats.org/drawingml/2006/main" noGrp="1"/>
          </p:cNvSpPr>
          <p:nvPr/>
        </p:nvSpPr>
        <p:spPr>
          <a:xfrm xmlns:a="http://schemas.openxmlformats.org/drawingml/2006/main">
            <a:off x="4949825" y="3451860"/>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675"/>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BSD-3-Clause · pub.dev (https://pub.dev/packages/crypto)</a:t>
            </a:r>
          </a:p>
        </p:txBody>
      </p:sp>
      <p:sp>
        <p:nvSpPr>
          <p:cNvPr id="35" name="table-cell-140-5-0">
            <a:extLst xmlns:a="http://schemas.openxmlformats.org/drawingml/2006/main">
              <a:ext uri="{FF2B5EF4-FFF2-40B4-BE49-F238E27FC236}">
                <a16:creationId xmlns:a16="http://schemas.microsoft.com/office/drawing/2014/main" id="{8B8DE30F-4C96-405D-8DC0-472B22433282}"/>
              </a:ext>
            </a:extLst>
          </p:cNvPr>
          <p:cNvSpPr>
            <a:spLocks xmlns:a="http://schemas.openxmlformats.org/drawingml/2006/main" noGrp="1"/>
          </p:cNvSpPr>
          <p:nvPr/>
        </p:nvSpPr>
        <p:spPr>
          <a:xfrm xmlns:a="http://schemas.openxmlformats.org/drawingml/2006/main">
            <a:off x="533400" y="3916680"/>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36" name="table-text-140-5-0">
            <a:extLst xmlns:a="http://schemas.openxmlformats.org/drawingml/2006/main">
              <a:ext uri="{FF2B5EF4-FFF2-40B4-BE49-F238E27FC236}">
                <a16:creationId xmlns:a16="http://schemas.microsoft.com/office/drawing/2014/main" id="{876DE0A7-C4D5-46AE-9F11-47C87F454AA0}"/>
              </a:ext>
            </a:extLst>
          </p:cNvPr>
          <p:cNvSpPr>
            <a:spLocks xmlns:a="http://schemas.openxmlformats.org/drawingml/2006/main" noGrp="1"/>
          </p:cNvSpPr>
          <p:nvPr/>
        </p:nvSpPr>
        <p:spPr>
          <a:xfrm xmlns:a="http://schemas.openxmlformats.org/drawingml/2006/main">
            <a:off x="619125" y="3983355"/>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audioplayers</a:t>
            </a:r>
          </a:p>
        </p:txBody>
      </p:sp>
      <p:sp>
        <p:nvSpPr>
          <p:cNvPr id="37" name="table-cell-140-5-1">
            <a:extLst xmlns:a="http://schemas.openxmlformats.org/drawingml/2006/main">
              <a:ext uri="{FF2B5EF4-FFF2-40B4-BE49-F238E27FC236}">
                <a16:creationId xmlns:a16="http://schemas.microsoft.com/office/drawing/2014/main" id="{23F63DAB-641D-44ED-8C05-57D3B86021F9}"/>
              </a:ext>
            </a:extLst>
          </p:cNvPr>
          <p:cNvSpPr>
            <a:spLocks xmlns:a="http://schemas.openxmlformats.org/drawingml/2006/main" noGrp="1"/>
          </p:cNvSpPr>
          <p:nvPr/>
        </p:nvSpPr>
        <p:spPr>
          <a:xfrm xmlns:a="http://schemas.openxmlformats.org/drawingml/2006/main">
            <a:off x="2698750" y="3916680"/>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38" name="table-text-140-5-1">
            <a:extLst xmlns:a="http://schemas.openxmlformats.org/drawingml/2006/main">
              <a:ext uri="{FF2B5EF4-FFF2-40B4-BE49-F238E27FC236}">
                <a16:creationId xmlns:a16="http://schemas.microsoft.com/office/drawing/2014/main" id="{773DBB9A-6034-427F-B787-3C9F754F2723}"/>
              </a:ext>
            </a:extLst>
          </p:cNvPr>
          <p:cNvSpPr>
            <a:spLocks xmlns:a="http://schemas.openxmlformats.org/drawingml/2006/main" noGrp="1"/>
          </p:cNvSpPr>
          <p:nvPr/>
        </p:nvSpPr>
        <p:spPr>
          <a:xfrm xmlns:a="http://schemas.openxmlformats.org/drawingml/2006/main">
            <a:off x="2784475" y="3983355"/>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배경음·효과음 재생</a:t>
            </a:r>
          </a:p>
        </p:txBody>
      </p:sp>
      <p:sp>
        <p:nvSpPr>
          <p:cNvPr id="39" name="table-cell-140-5-2">
            <a:extLst xmlns:a="http://schemas.openxmlformats.org/drawingml/2006/main">
              <a:ext uri="{FF2B5EF4-FFF2-40B4-BE49-F238E27FC236}">
                <a16:creationId xmlns:a16="http://schemas.microsoft.com/office/drawing/2014/main" id="{7D0F32CF-0B17-4F0A-AC9B-35C072EBF24D}"/>
              </a:ext>
            </a:extLst>
          </p:cNvPr>
          <p:cNvSpPr>
            <a:spLocks xmlns:a="http://schemas.openxmlformats.org/drawingml/2006/main" noGrp="1"/>
          </p:cNvSpPr>
          <p:nvPr/>
        </p:nvSpPr>
        <p:spPr>
          <a:xfrm xmlns:a="http://schemas.openxmlformats.org/drawingml/2006/main">
            <a:off x="4864100" y="3916680"/>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40" name="table-text-140-5-2">
            <a:extLst xmlns:a="http://schemas.openxmlformats.org/drawingml/2006/main">
              <a:ext uri="{FF2B5EF4-FFF2-40B4-BE49-F238E27FC236}">
                <a16:creationId xmlns:a16="http://schemas.microsoft.com/office/drawing/2014/main" id="{A0BC2B92-D239-41DF-8727-F4AFCA64063C}"/>
              </a:ext>
            </a:extLst>
          </p:cNvPr>
          <p:cNvSpPr>
            <a:spLocks xmlns:a="http://schemas.openxmlformats.org/drawingml/2006/main" noGrp="1"/>
          </p:cNvSpPr>
          <p:nvPr/>
        </p:nvSpPr>
        <p:spPr>
          <a:xfrm xmlns:a="http://schemas.openxmlformats.org/drawingml/2006/main">
            <a:off x="4949825" y="3983355"/>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9789"/>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MIT · pub.dev (https://pub.dev/packages/audioplayers)</a:t>
            </a:r>
          </a:p>
        </p:txBody>
      </p:sp>
      <p:sp>
        <p:nvSpPr>
          <p:cNvPr id="41" name="table-cell-140-6-0">
            <a:extLst xmlns:a="http://schemas.openxmlformats.org/drawingml/2006/main">
              <a:ext uri="{FF2B5EF4-FFF2-40B4-BE49-F238E27FC236}">
                <a16:creationId xmlns:a16="http://schemas.microsoft.com/office/drawing/2014/main" id="{CDD844A7-CD18-4C9B-9D54-AC71DBFA5CA7}"/>
              </a:ext>
            </a:extLst>
          </p:cNvPr>
          <p:cNvSpPr>
            <a:spLocks xmlns:a="http://schemas.openxmlformats.org/drawingml/2006/main" noGrp="1"/>
          </p:cNvSpPr>
          <p:nvPr/>
        </p:nvSpPr>
        <p:spPr>
          <a:xfrm xmlns:a="http://schemas.openxmlformats.org/drawingml/2006/main">
            <a:off x="533400" y="4448175"/>
            <a:ext cx="2165350"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42" name="table-text-140-6-0">
            <a:extLst xmlns:a="http://schemas.openxmlformats.org/drawingml/2006/main">
              <a:ext uri="{FF2B5EF4-FFF2-40B4-BE49-F238E27FC236}">
                <a16:creationId xmlns:a16="http://schemas.microsoft.com/office/drawing/2014/main" id="{8F2B8EB9-97B1-43D6-8D50-AF4A40CFD3D3}"/>
              </a:ext>
            </a:extLst>
          </p:cNvPr>
          <p:cNvSpPr>
            <a:spLocks xmlns:a="http://schemas.openxmlformats.org/drawingml/2006/main" noGrp="1"/>
          </p:cNvSpPr>
          <p:nvPr/>
        </p:nvSpPr>
        <p:spPr>
          <a:xfrm xmlns:a="http://schemas.openxmlformats.org/drawingml/2006/main">
            <a:off x="619125" y="4514850"/>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NanumGothic</a:t>
            </a:r>
          </a:p>
        </p:txBody>
      </p:sp>
      <p:sp>
        <p:nvSpPr>
          <p:cNvPr id="43" name="table-cell-140-6-1">
            <a:extLst xmlns:a="http://schemas.openxmlformats.org/drawingml/2006/main">
              <a:ext uri="{FF2B5EF4-FFF2-40B4-BE49-F238E27FC236}">
                <a16:creationId xmlns:a16="http://schemas.microsoft.com/office/drawing/2014/main" id="{8BBD65EA-FEDB-4ED2-AA25-B1182E658FD6}"/>
              </a:ext>
            </a:extLst>
          </p:cNvPr>
          <p:cNvSpPr>
            <a:spLocks xmlns:a="http://schemas.openxmlformats.org/drawingml/2006/main" noGrp="1"/>
          </p:cNvSpPr>
          <p:nvPr/>
        </p:nvSpPr>
        <p:spPr>
          <a:xfrm xmlns:a="http://schemas.openxmlformats.org/drawingml/2006/main">
            <a:off x="2698750" y="4448175"/>
            <a:ext cx="2165350"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44" name="table-text-140-6-1">
            <a:extLst xmlns:a="http://schemas.openxmlformats.org/drawingml/2006/main">
              <a:ext uri="{FF2B5EF4-FFF2-40B4-BE49-F238E27FC236}">
                <a16:creationId xmlns:a16="http://schemas.microsoft.com/office/drawing/2014/main" id="{1F42F0C4-5313-4C65-A0C2-E82D4332B0D7}"/>
              </a:ext>
            </a:extLst>
          </p:cNvPr>
          <p:cNvSpPr>
            <a:spLocks xmlns:a="http://schemas.openxmlformats.org/drawingml/2006/main" noGrp="1"/>
          </p:cNvSpPr>
          <p:nvPr/>
        </p:nvSpPr>
        <p:spPr>
          <a:xfrm xmlns:a="http://schemas.openxmlformats.org/drawingml/2006/main">
            <a:off x="2784475" y="4514850"/>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한글 UI·문서</a:t>
            </a:r>
          </a:p>
        </p:txBody>
      </p:sp>
      <p:sp>
        <p:nvSpPr>
          <p:cNvPr id="45" name="table-cell-140-6-2">
            <a:extLst xmlns:a="http://schemas.openxmlformats.org/drawingml/2006/main">
              <a:ext uri="{FF2B5EF4-FFF2-40B4-BE49-F238E27FC236}">
                <a16:creationId xmlns:a16="http://schemas.microsoft.com/office/drawing/2014/main" id="{DC89F084-3D1D-4930-BEB6-50AB1D690715}"/>
              </a:ext>
            </a:extLst>
          </p:cNvPr>
          <p:cNvSpPr>
            <a:spLocks xmlns:a="http://schemas.openxmlformats.org/drawingml/2006/main" noGrp="1"/>
          </p:cNvSpPr>
          <p:nvPr/>
        </p:nvSpPr>
        <p:spPr>
          <a:xfrm xmlns:a="http://schemas.openxmlformats.org/drawingml/2006/main">
            <a:off x="4864100" y="4448175"/>
            <a:ext cx="2165350"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46" name="table-text-140-6-2">
            <a:extLst xmlns:a="http://schemas.openxmlformats.org/drawingml/2006/main">
              <a:ext uri="{FF2B5EF4-FFF2-40B4-BE49-F238E27FC236}">
                <a16:creationId xmlns:a16="http://schemas.microsoft.com/office/drawing/2014/main" id="{474D0C77-D5A7-4C38-A276-C23D788A6FCA}"/>
              </a:ext>
            </a:extLst>
          </p:cNvPr>
          <p:cNvSpPr>
            <a:spLocks xmlns:a="http://schemas.openxmlformats.org/drawingml/2006/main" noGrp="1"/>
          </p:cNvSpPr>
          <p:nvPr/>
        </p:nvSpPr>
        <p:spPr>
          <a:xfrm xmlns:a="http://schemas.openxmlformats.org/drawingml/2006/main">
            <a:off x="4949825" y="4514850"/>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54"/>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SIL OFL 1.1 · NAVER Nanum (https://hangeul.naver.com/font)</a:t>
            </a:r>
          </a:p>
        </p:txBody>
      </p:sp>
      <p:sp>
        <p:nvSpPr>
          <p:cNvPr id="47" name="table-cell-140-7-0">
            <a:extLst xmlns:a="http://schemas.openxmlformats.org/drawingml/2006/main">
              <a:ext uri="{FF2B5EF4-FFF2-40B4-BE49-F238E27FC236}">
                <a16:creationId xmlns:a16="http://schemas.microsoft.com/office/drawing/2014/main" id="{9D7E9C6E-7115-4E9B-838F-0C63AB0D8C70}"/>
              </a:ext>
            </a:extLst>
          </p:cNvPr>
          <p:cNvSpPr>
            <a:spLocks xmlns:a="http://schemas.openxmlformats.org/drawingml/2006/main" noGrp="1"/>
          </p:cNvSpPr>
          <p:nvPr/>
        </p:nvSpPr>
        <p:spPr>
          <a:xfrm xmlns:a="http://schemas.openxmlformats.org/drawingml/2006/main">
            <a:off x="533400" y="4979670"/>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48" name="table-text-140-7-0">
            <a:extLst xmlns:a="http://schemas.openxmlformats.org/drawingml/2006/main">
              <a:ext uri="{FF2B5EF4-FFF2-40B4-BE49-F238E27FC236}">
                <a16:creationId xmlns:a16="http://schemas.microsoft.com/office/drawing/2014/main" id="{669717C8-B366-492C-9657-6BE5F0A6711D}"/>
              </a:ext>
            </a:extLst>
          </p:cNvPr>
          <p:cNvSpPr>
            <a:spLocks xmlns:a="http://schemas.openxmlformats.org/drawingml/2006/main" noGrp="1"/>
          </p:cNvSpPr>
          <p:nvPr/>
        </p:nvSpPr>
        <p:spPr>
          <a:xfrm xmlns:a="http://schemas.openxmlformats.org/drawingml/2006/main">
            <a:off x="619125" y="5046345"/>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Material Icons</a:t>
            </a:r>
          </a:p>
        </p:txBody>
      </p:sp>
      <p:sp>
        <p:nvSpPr>
          <p:cNvPr id="49" name="table-cell-140-7-1">
            <a:extLst xmlns:a="http://schemas.openxmlformats.org/drawingml/2006/main">
              <a:ext uri="{FF2B5EF4-FFF2-40B4-BE49-F238E27FC236}">
                <a16:creationId xmlns:a16="http://schemas.microsoft.com/office/drawing/2014/main" id="{265DC27D-81C9-4A19-A7E1-B7C28FFD8428}"/>
              </a:ext>
            </a:extLst>
          </p:cNvPr>
          <p:cNvSpPr>
            <a:spLocks xmlns:a="http://schemas.openxmlformats.org/drawingml/2006/main" noGrp="1"/>
          </p:cNvSpPr>
          <p:nvPr/>
        </p:nvSpPr>
        <p:spPr>
          <a:xfrm xmlns:a="http://schemas.openxmlformats.org/drawingml/2006/main">
            <a:off x="2698750" y="4979670"/>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50" name="table-text-140-7-1">
            <a:extLst xmlns:a="http://schemas.openxmlformats.org/drawingml/2006/main">
              <a:ext uri="{FF2B5EF4-FFF2-40B4-BE49-F238E27FC236}">
                <a16:creationId xmlns:a16="http://schemas.microsoft.com/office/drawing/2014/main" id="{4579999D-5527-497F-B6CB-73B292EB103F}"/>
              </a:ext>
            </a:extLst>
          </p:cNvPr>
          <p:cNvSpPr>
            <a:spLocks xmlns:a="http://schemas.openxmlformats.org/drawingml/2006/main" noGrp="1"/>
          </p:cNvSpPr>
          <p:nvPr/>
        </p:nvSpPr>
        <p:spPr>
          <a:xfrm xmlns:a="http://schemas.openxmlformats.org/drawingml/2006/main">
            <a:off x="2784475" y="5046345"/>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런 보상 9종</a:t>
            </a:r>
          </a:p>
        </p:txBody>
      </p:sp>
      <p:sp>
        <p:nvSpPr>
          <p:cNvPr id="51" name="table-cell-140-7-2">
            <a:extLst xmlns:a="http://schemas.openxmlformats.org/drawingml/2006/main">
              <a:ext uri="{FF2B5EF4-FFF2-40B4-BE49-F238E27FC236}">
                <a16:creationId xmlns:a16="http://schemas.microsoft.com/office/drawing/2014/main" id="{781C2565-164A-42C7-A945-42867CEA965B}"/>
              </a:ext>
            </a:extLst>
          </p:cNvPr>
          <p:cNvSpPr>
            <a:spLocks xmlns:a="http://schemas.openxmlformats.org/drawingml/2006/main" noGrp="1"/>
          </p:cNvSpPr>
          <p:nvPr/>
        </p:nvSpPr>
        <p:spPr>
          <a:xfrm xmlns:a="http://schemas.openxmlformats.org/drawingml/2006/main">
            <a:off x="4864100" y="4979670"/>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52" name="table-text-140-7-2">
            <a:extLst xmlns:a="http://schemas.openxmlformats.org/drawingml/2006/main">
              <a:ext uri="{FF2B5EF4-FFF2-40B4-BE49-F238E27FC236}">
                <a16:creationId xmlns:a16="http://schemas.microsoft.com/office/drawing/2014/main" id="{859B8BC3-8957-4A4B-927F-0DB3D77C69E7}"/>
              </a:ext>
            </a:extLst>
          </p:cNvPr>
          <p:cNvSpPr>
            <a:spLocks xmlns:a="http://schemas.openxmlformats.org/drawingml/2006/main" noGrp="1"/>
          </p:cNvSpPr>
          <p:nvPr/>
        </p:nvSpPr>
        <p:spPr>
          <a:xfrm xmlns:a="http://schemas.openxmlformats.org/drawingml/2006/main">
            <a:off x="4949825" y="5046345"/>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6793"/>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Apache-2.0 · Google Material Icons (https://github.com/google/material-design-icons)</a:t>
            </a:r>
          </a:p>
        </p:txBody>
      </p:sp>
      <p:sp>
        <p:nvSpPr>
          <p:cNvPr id="53" name="paragraph-594.6000000000001">
            <a:extLst xmlns:a="http://schemas.openxmlformats.org/drawingml/2006/main">
              <a:ext uri="{FF2B5EF4-FFF2-40B4-BE49-F238E27FC236}">
                <a16:creationId xmlns:a16="http://schemas.microsoft.com/office/drawing/2014/main" id="{AB754A7C-F117-400A-B9E9-807E214686BE}"/>
              </a:ext>
            </a:extLst>
          </p:cNvPr>
          <p:cNvSpPr>
            <a:spLocks xmlns:a="http://schemas.openxmlformats.org/drawingml/2006/main" noGrp="1"/>
          </p:cNvSpPr>
          <p:nvPr/>
        </p:nvSpPr>
        <p:spPr>
          <a:xfrm xmlns:a="http://schemas.openxmlformats.org/drawingml/2006/main">
            <a:off x="533400" y="5663565"/>
            <a:ext cx="6496050" cy="8092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무거움 돌·탄성 젤리·상자는 AI 생성 후 투명화한 프로젝트 애셋이다. 풍선·뾰족함·공 표현은 외부 PNG가 아니라 Canvas 코드로 직접 그린다. OpenGameArt의 CC0 원본 3종은 레거시 증빙으로만 보관하고 제품 화면에는 사용하지 않는다.</a:t>
            </a:r>
          </a:p>
        </p:txBody>
      </p:sp>
    </p:spTree>
    <p:extLst>
      <p:ext uri="{BB962C8B-B14F-4D97-AF65-F5344CB8AC3E}">
        <p14:creationId xmlns:p14="http://schemas.microsoft.com/office/powerpoint/2010/main" val="28258042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running-label">
            <a:extLst xmlns:a="http://schemas.openxmlformats.org/drawingml/2006/main">
              <a:ext uri="{FF2B5EF4-FFF2-40B4-BE49-F238E27FC236}">
                <a16:creationId xmlns:a16="http://schemas.microsoft.com/office/drawing/2014/main" id="{C7EAD4C1-5BD4-4D98-AFE1-9E2BE60FB3B1}"/>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949280FA-AA82-4A91-B4CD-910C8FA87E0A}"/>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11</a:t>
            </a:r>
          </a:p>
        </p:txBody>
      </p:sp>
      <p:sp>
        <p:nvSpPr>
          <p:cNvPr id="3" name="header-rule">
            <a:extLst xmlns:a="http://schemas.openxmlformats.org/drawingml/2006/main">
              <a:ext uri="{FF2B5EF4-FFF2-40B4-BE49-F238E27FC236}">
                <a16:creationId xmlns:a16="http://schemas.microsoft.com/office/drawing/2014/main" id="{6C8657D1-6707-48B8-9BE9-DC1E1DB339B9}"/>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3065A7A5-5752-4D71-BA37-EBD51E32C766}"/>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7. 외부 에셋과 오픈소스 · 계속</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e04084e5f0614543"/>
          <a:stretch xmlns:a="http://schemas.openxmlformats.org/drawingml/2006/main"/>
        </p:blipFill>
        <p:spPr>
          <a:xfrm xmlns:a="http://schemas.openxmlformats.org/drawingml/2006/main">
            <a:off x="3055200" y="1333500"/>
            <a:ext cx="1452450" cy="3143250"/>
          </a:xfrm>
          <a:prstGeom xmlns:a="http://schemas.openxmlformats.org/drawingml/2006/main" prst="roundRect">
            <a:avLst>
              <a:gd name="adj" fmla="val 3636"/>
            </a:avLst>
          </a:prstGeom>
        </p:spPr>
      </p:pic>
      <p:sp>
        <p:nvSpPr>
          <p:cNvPr id="6" name="image-caption-140">
            <a:extLst xmlns:a="http://schemas.openxmlformats.org/drawingml/2006/main">
              <a:ext uri="{FF2B5EF4-FFF2-40B4-BE49-F238E27FC236}">
                <a16:creationId xmlns:a16="http://schemas.microsoft.com/office/drawing/2014/main" id="{528C54B4-0A1C-451C-BE8B-A9B8328285C1}"/>
              </a:ext>
            </a:extLst>
          </p:cNvPr>
          <p:cNvSpPr>
            <a:spLocks xmlns:a="http://schemas.openxmlformats.org/drawingml/2006/main" noGrp="1"/>
          </p:cNvSpPr>
          <p:nvPr/>
        </p:nvSpPr>
        <p:spPr>
          <a:xfrm xmlns:a="http://schemas.openxmlformats.org/drawingml/2006/main">
            <a:off x="666750" y="4533900"/>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AI 생성 후 게임에 적용한 돌·젤리·상자 애셋</a:t>
            </a:r>
          </a:p>
        </p:txBody>
      </p:sp>
    </p:spTree>
    <p:extLst>
      <p:ext uri="{BB962C8B-B14F-4D97-AF65-F5344CB8AC3E}">
        <p14:creationId xmlns:p14="http://schemas.microsoft.com/office/powerpoint/2010/main" val="6176202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2026-08-10T12:16:30.2970000Z</dcterms:created>
  <dcterms:modified xsi:type="dcterms:W3CDTF">2026-08-10T12:16:30.2970000Z</dcterms:modified>
</coreProperties>
</file>