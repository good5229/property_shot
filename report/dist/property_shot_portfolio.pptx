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2202e1e4aab4e69" /><Relationship Type="http://schemas.openxmlformats.org/officeDocument/2006/relationships/extended-properties" Target="/docProps/app.xml" Id="R7aaaded8fe894f5e" /><Relationship Type="http://schemas.openxmlformats.org/officeDocument/2006/relationships/officeDocument" Target="/ppt/presentation.xml" Id="R341e551335fe466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26dd50f012749a6"/>
  </p:sldMasterIdLst>
  <p:notesMasterIdLst>
    <p:notesMasterId xmlns:r="http://schemas.openxmlformats.org/officeDocument/2006/relationships" r:id="R05fe1985bee34edb"/>
  </p:notesMasterIdLst>
  <p:sldIdLst>
    <p:sldId xmlns:r="http://schemas.openxmlformats.org/officeDocument/2006/relationships" id="256" r:id="R786a8b96e8e24a12"/>
    <p:sldId xmlns:r="http://schemas.openxmlformats.org/officeDocument/2006/relationships" id="257" r:id="Rac13d281afee4c46"/>
    <p:sldId xmlns:r="http://schemas.openxmlformats.org/officeDocument/2006/relationships" id="258" r:id="R2ac9227231414521"/>
    <p:sldId xmlns:r="http://schemas.openxmlformats.org/officeDocument/2006/relationships" id="259" r:id="Rfd125b9d062c48c0"/>
    <p:sldId xmlns:r="http://schemas.openxmlformats.org/officeDocument/2006/relationships" id="260" r:id="R19918ea61a3e4c9e"/>
    <p:sldId xmlns:r="http://schemas.openxmlformats.org/officeDocument/2006/relationships" id="261" r:id="R3f574c71c4e441c9"/>
    <p:sldId xmlns:r="http://schemas.openxmlformats.org/officeDocument/2006/relationships" id="262" r:id="Ra3343ec573e04acf"/>
    <p:sldId xmlns:r="http://schemas.openxmlformats.org/officeDocument/2006/relationships" id="263" r:id="Rcc76812d39464282"/>
    <p:sldId xmlns:r="http://schemas.openxmlformats.org/officeDocument/2006/relationships" id="264" r:id="R859112319c384a02"/>
    <p:sldId xmlns:r="http://schemas.openxmlformats.org/officeDocument/2006/relationships" id="265" r:id="R85c24c4021584919"/>
  </p:sldIdLst>
  <p:sldSz cx="7562850" cy="1069657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0c67b0c5dd74222" /><Relationship Type="http://schemas.openxmlformats.org/officeDocument/2006/relationships/slideMaster" Target="/ppt/slideMasters/slideMaster1.xml" Id="R126dd50f012749a6" /><Relationship Type="http://schemas.openxmlformats.org/officeDocument/2006/relationships/notesMaster" Target="/ppt/notesMasters/notesMaster1.xml" Id="R05fe1985bee34edb" /><Relationship Type="http://schemas.openxmlformats.org/officeDocument/2006/relationships/presProps" Target="/ppt/presProps.xml" Id="R322e205a68e04531" /><Relationship Type="http://schemas.openxmlformats.org/officeDocument/2006/relationships/tableStyles" Target="/ppt/tableStyles.xml" Id="R4d79af661930400f" /><Relationship Type="http://schemas.openxmlformats.org/officeDocument/2006/relationships/slide" Target="/ppt/slides/slide1.xml" Id="R786a8b96e8e24a12" /><Relationship Type="http://schemas.openxmlformats.org/officeDocument/2006/relationships/slide" Target="/ppt/slides/slide2.xml" Id="Rac13d281afee4c46" /><Relationship Type="http://schemas.openxmlformats.org/officeDocument/2006/relationships/slide" Target="/ppt/slides/slide3.xml" Id="R2ac9227231414521" /><Relationship Type="http://schemas.openxmlformats.org/officeDocument/2006/relationships/slide" Target="/ppt/slides/slide4.xml" Id="Rfd125b9d062c48c0" /><Relationship Type="http://schemas.openxmlformats.org/officeDocument/2006/relationships/slide" Target="/ppt/slides/slide5.xml" Id="R19918ea61a3e4c9e" /><Relationship Type="http://schemas.openxmlformats.org/officeDocument/2006/relationships/slide" Target="/ppt/slides/slide6.xml" Id="R3f574c71c4e441c9" /><Relationship Type="http://schemas.openxmlformats.org/officeDocument/2006/relationships/slide" Target="/ppt/slides/slide7.xml" Id="Ra3343ec573e04acf" /><Relationship Type="http://schemas.openxmlformats.org/officeDocument/2006/relationships/slide" Target="/ppt/slides/slide8.xml" Id="Rcc76812d39464282" /><Relationship Type="http://schemas.openxmlformats.org/officeDocument/2006/relationships/slide" Target="/ppt/slides/slide9.xml" Id="R859112319c384a02" /><Relationship Type="http://schemas.openxmlformats.org/officeDocument/2006/relationships/slide" Target="/ppt/slides/slide10.xml" Id="R85c24c402158491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1c29386e6944de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a0ead883ec549e1" /><Relationship Type="http://schemas.openxmlformats.org/officeDocument/2006/relationships/notesMaster" Target="/ppt/notesMasters/notesMaster1.xml" Id="R1893c93f9be3464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04d0854962f495a" /><Relationship Type="http://schemas.openxmlformats.org/officeDocument/2006/relationships/notesMaster" Target="/ppt/notesMasters/notesMaster1.xml" Id="R10160e1d1849475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2e027f278664967" /><Relationship Type="http://schemas.openxmlformats.org/officeDocument/2006/relationships/notesMaster" Target="/ppt/notesMasters/notesMaster1.xml" Id="Rd597653819714f9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9e57a80f4564f77" /><Relationship Type="http://schemas.openxmlformats.org/officeDocument/2006/relationships/notesMaster" Target="/ppt/notesMasters/notesMaster1.xml" Id="Rb4d9ee0495164c9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b3bf79b7a51455c" /><Relationship Type="http://schemas.openxmlformats.org/officeDocument/2006/relationships/notesMaster" Target="/ppt/notesMasters/notesMaster1.xml" Id="R2a5e53c315264e8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35fdb0aa12e46fa" /><Relationship Type="http://schemas.openxmlformats.org/officeDocument/2006/relationships/notesMaster" Target="/ppt/notesMasters/notesMaster1.xml" Id="R6b5c93a56ee045f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be26201c288433e" /><Relationship Type="http://schemas.openxmlformats.org/officeDocument/2006/relationships/notesMaster" Target="/ppt/notesMasters/notesMaster1.xml" Id="R1bbe0406a4ae45f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20d566bb9d24dc7" /><Relationship Type="http://schemas.openxmlformats.org/officeDocument/2006/relationships/notesMaster" Target="/ppt/notesMasters/notesMaster1.xml" Id="Rddf742b971bb449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6d7e3796fdc4e41" /><Relationship Type="http://schemas.openxmlformats.org/officeDocument/2006/relationships/notesMaster" Target="/ppt/notesMasters/notesMaster1.xml" Id="R8547ffd4238a464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cb89f81846649ea" /><Relationship Type="http://schemas.openxmlformats.org/officeDocument/2006/relationships/notesMaster" Target="/ppt/notesMasters/notesMaster1.xml" Id="Rd918f961be0b44b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report source and local repository assets</a:t>
            </a:r>
          </a:p>
          <a:p xmlns:a="http://schemas.openxmlformats.org/drawingml/2006/main">
            <a:r>
              <a:t>- https://nan2026.nhn.com/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report/portfolio.md</a:t>
            </a:r>
          </a:p>
          <a:p xmlns:a="http://schemas.openxmlformats.org/drawingml/2006/main">
            <a:r>
              <a:t>- screenshots/commercial-vertical-slice/390x844-current-play-audit.png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report/portfolio.md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report/portfolio.md</a:t>
            </a:r>
          </a:p>
          <a:p xmlns:a="http://schemas.openxmlformats.org/drawingml/2006/main">
            <a:r>
              <a:t>- screenshots/commercial-vertical-slice/390x844-material-source-popup.png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report/portfolio.md</a:t>
            </a:r>
          </a:p>
          <a:p xmlns:a="http://schemas.openxmlformats.org/drawingml/2006/main">
            <a:r>
              <a:t>- test/goldens/charge_gauge_green_right_390x844.png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report/portfolio.md</a:t>
            </a:r>
          </a:p>
          <a:p xmlns:a="http://schemas.openxmlformats.org/drawingml/2006/main">
            <a:r>
              <a:t>- test/goldens/difficulty_easy_first_arrival_390x844.png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report/portfolio.md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report/portfolio.md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report/portfolio.md</a:t>
            </a:r>
          </a:p>
          <a:p xmlns:a="http://schemas.openxmlformats.org/drawingml/2006/main">
            <a:r>
              <a:t>- test/goldens/run_reward_320x568_hint_first.png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report/portfolio.md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08d3ce6e77411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b860de408174108" /><Relationship Type="http://schemas.openxmlformats.org/officeDocument/2006/relationships/slideLayout" Target="/ppt/slideLayouts/slideLayout1.xml" Id="R2c7b66cd4df2458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c7b66cd4df2458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2ef253a85c4c94" /><Relationship Type="http://schemas.openxmlformats.org/officeDocument/2006/relationships/image" Target="/ppt/media/image.png" Id="R712076002f104047" /><Relationship Type="http://schemas.openxmlformats.org/officeDocument/2006/relationships/notesSlide" Target="/ppt/notesSlides/notesSlide1.xml" Id="Rc864b408d806475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7243580ef146f0" /><Relationship Type="http://schemas.openxmlformats.org/officeDocument/2006/relationships/image" Target="/ppt/media/image2.png" Id="R2cb46e767ba64d16" /><Relationship Type="http://schemas.openxmlformats.org/officeDocument/2006/relationships/notesSlide" Target="/ppt/notesSlides/notesSlide2.xml" Id="R6431d052a21a4ed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b461e192b54de2" /><Relationship Type="http://schemas.openxmlformats.org/officeDocument/2006/relationships/notesSlide" Target="/ppt/notesSlides/notesSlide3.xml" Id="Rc94e67c288e048a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437f1232c54b56" /><Relationship Type="http://schemas.openxmlformats.org/officeDocument/2006/relationships/image" Target="/ppt/media/image3.png" Id="Rfa36df8e6c424983" /><Relationship Type="http://schemas.openxmlformats.org/officeDocument/2006/relationships/notesSlide" Target="/ppt/notesSlides/notesSlide4.xml" Id="R417b318a6296484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4d89cce81145da" /><Relationship Type="http://schemas.openxmlformats.org/officeDocument/2006/relationships/image" Target="/ppt/media/image4.png" Id="R2828751b52d94926" /><Relationship Type="http://schemas.openxmlformats.org/officeDocument/2006/relationships/notesSlide" Target="/ppt/notesSlides/notesSlide5.xml" Id="R927392dc03534fc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c78fca1dec44ec" /><Relationship Type="http://schemas.openxmlformats.org/officeDocument/2006/relationships/image" Target="/ppt/media/image5.png" Id="R77900a6a9404405a" /><Relationship Type="http://schemas.openxmlformats.org/officeDocument/2006/relationships/notesSlide" Target="/ppt/notesSlides/notesSlide6.xml" Id="R0d70ca578b50408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412f6593af44ea" /><Relationship Type="http://schemas.openxmlformats.org/officeDocument/2006/relationships/notesSlide" Target="/ppt/notesSlides/notesSlide7.xml" Id="R6280f56ce00f48a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c454a636a3409c" /><Relationship Type="http://schemas.openxmlformats.org/officeDocument/2006/relationships/notesSlide" Target="/ppt/notesSlides/notesSlide8.xml" Id="R0491b676315944c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92c2ffa360435d" /><Relationship Type="http://schemas.openxmlformats.org/officeDocument/2006/relationships/image" Target="/ppt/media/image6.png" Id="R65fa1550ef5c47e4" /><Relationship Type="http://schemas.openxmlformats.org/officeDocument/2006/relationships/notesSlide" Target="/ppt/notesSlides/notesSlide9.xml" Id="R675ca3f17164404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752f6c44a74d64" /><Relationship Type="http://schemas.openxmlformats.org/officeDocument/2006/relationships/notesSlide" Target="/ppt/notesSlides/notesSlide10.xml" Id="R542c7f43620b467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9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6DE6BCD3-204F-4EF7-A2A4-59C683D5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10696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6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9651352D-E41D-449F-8452-9A2438492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24000"/>
            <a:ext cx="561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50" b="1">
                <a:solidFill>
                  <a:srgbClr val="D7A23D"/>
                </a:solidFill>
                <a:latin typeface="NanumGothic"/>
                <a:ea typeface="NanumGothic"/>
                <a:cs typeface="NanumGothic"/>
              </a:defRPr>
            </a:pPr>
            <a:r>
              <a:rPr sz="1350" b="1">
                <a:solidFill>
                  <a:srgbClr val="D7A23D"/>
                </a:solidFill>
                <a:latin typeface="NanumGothic"/>
                <a:ea typeface="NanumGothic"/>
                <a:cs typeface="NanumGothic"/>
              </a:rPr>
              <a:t>GAME · AI · PRODUCT CASE STUDY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4AFA5C76-4AE2-40B0-9EF5-D3F6027EB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6096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7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37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속성 한방(Property Shot)</a:t>
            </a:r>
          </a:p>
        </p:txBody>
      </p:sp>
      <p:sp>
        <p:nvSpPr>
          <p:cNvPr id="4" name="cover-rule">
            <a:extLst xmlns:a="http://schemas.openxmlformats.org/drawingml/2006/main">
              <a:ext uri="{FF2B5EF4-FFF2-40B4-BE49-F238E27FC236}">
                <a16:creationId xmlns:a16="http://schemas.microsoft.com/office/drawing/2014/main" id="{4B09FC5D-1AA8-4684-B271-366A71569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over-description">
            <a:extLst xmlns:a="http://schemas.openxmlformats.org/drawingml/2006/main">
              <a:ext uri="{FF2B5EF4-FFF2-40B4-BE49-F238E27FC236}">
                <a16:creationId xmlns:a16="http://schemas.microsoft.com/office/drawing/2014/main" id="{DF0FB64D-D985-4A6B-80DE-C7D38EEBC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52950"/>
            <a:ext cx="3238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6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게임 디렉팅, AI 오케스트레이션, 검증 가능한 제품 제작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2076002f104047"/>
          <a:stretch xmlns:a="http://schemas.openxmlformats.org/drawingml/2006/main"/>
        </p:blipFill>
        <p:spPr>
          <a:xfrm xmlns:a="http://schemas.openxmlformats.org/drawingml/2006/main">
            <a:off x="4845900" y="4457700"/>
            <a:ext cx="1452450" cy="3143250"/>
          </a:xfrm>
          <a:prstGeom xmlns:a="http://schemas.openxmlformats.org/drawingml/2006/main" prst="roundRect">
            <a:avLst>
              <a:gd name="adj" fmla="val 5217"/>
            </a:avLst>
          </a:prstGeom>
        </p:spPr>
      </p:pic>
      <p:sp>
        <p:nvSpPr>
          <p:cNvPr id="7" name="cover-meta">
            <a:extLst xmlns:a="http://schemas.openxmlformats.org/drawingml/2006/main">
              <a:ext uri="{FF2B5EF4-FFF2-40B4-BE49-F238E27FC236}">
                <a16:creationId xmlns:a16="http://schemas.microsoft.com/office/drawing/2014/main" id="{79D1B24B-D6C3-4228-96F5-85CD1C14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572500"/>
            <a:ext cx="5810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NAN 2026 Game × AI 해커톤 사전 과제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275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75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2026-08-10</a:t>
            </a:r>
          </a:p>
        </p:txBody>
      </p:sp>
      <p:sp>
        <p:nvSpPr>
          <p:cNvPr id="8" name="cover-page">
            <a:extLst xmlns:a="http://schemas.openxmlformats.org/drawingml/2006/main">
              <a:ext uri="{FF2B5EF4-FFF2-40B4-BE49-F238E27FC236}">
                <a16:creationId xmlns:a16="http://schemas.microsoft.com/office/drawing/2014/main" id="{A9AA9630-E432-4243-8624-9519E7D71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99631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398855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86E5B507-9403-4CC6-9C90-C494384D7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Portfolio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5B9B850-EC0E-47D4-93C7-D248A3803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2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DEBEF830-3C77-4C25-B844-C2E42CE30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5560A71-90F5-4CEC-BF43-28EEA66FE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1. 프로젝트 요약</a:t>
            </a:r>
          </a:p>
        </p:txBody>
      </p:sp>
      <p:sp>
        <p:nvSpPr>
          <p:cNvPr id="5" name="paragraph-140">
            <a:extLst xmlns:a="http://schemas.openxmlformats.org/drawingml/2006/main">
              <a:ext uri="{FF2B5EF4-FFF2-40B4-BE49-F238E27FC236}">
                <a16:creationId xmlns:a16="http://schemas.microsoft.com/office/drawing/2014/main" id="{57862925-00F7-4C4D-9291-05F4B4929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8092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속성 한방은 환경 오브젝트의 물리 속성을 공에 옮기고, 바뀐 장면과 잔류 공을 다음 해법으로 사용하는 세로형 물리 퍼즐이다. 10단계 × 4패턴의 플레이 가능한 수직 프로토타입을 기획·구현·검증하고, AI 에이전트를 작은 제작 조직처럼 운영했다.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b46e767ba64d16"/>
          <a:stretch xmlns:a="http://schemas.openxmlformats.org/drawingml/2006/main"/>
        </p:blipFill>
        <p:spPr>
          <a:xfrm xmlns:a="http://schemas.openxmlformats.org/drawingml/2006/main">
            <a:off x="3055200" y="2257044"/>
            <a:ext cx="14524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7" name="image-caption-236.96">
            <a:extLst xmlns:a="http://schemas.openxmlformats.org/drawingml/2006/main">
              <a:ext uri="{FF2B5EF4-FFF2-40B4-BE49-F238E27FC236}">
                <a16:creationId xmlns:a16="http://schemas.microsoft.com/office/drawing/2014/main" id="{209785EA-D1EE-4CC6-9C46-2944313CF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57444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속성 한방의 실제 모바일 플레이 화면</a:t>
            </a:r>
          </a:p>
        </p:txBody>
      </p:sp>
      <p:sp>
        <p:nvSpPr>
          <p:cNvPr id="8" name="table-cell-620.96-0-0">
            <a:extLst xmlns:a="http://schemas.openxmlformats.org/drawingml/2006/main">
              <a:ext uri="{FF2B5EF4-FFF2-40B4-BE49-F238E27FC236}">
                <a16:creationId xmlns:a16="http://schemas.microsoft.com/office/drawing/2014/main" id="{8B66A84E-2F59-4FEC-AAD8-9908E2A7C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14644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9" name="table-text-620.96-0-0">
            <a:extLst xmlns:a="http://schemas.openxmlformats.org/drawingml/2006/main">
              <a:ext uri="{FF2B5EF4-FFF2-40B4-BE49-F238E27FC236}">
                <a16:creationId xmlns:a16="http://schemas.microsoft.com/office/drawing/2014/main" id="{C5A07985-8D3A-45AF-94C4-9FC81E3E5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81319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항목</a:t>
            </a:r>
          </a:p>
        </p:txBody>
      </p:sp>
      <p:sp>
        <p:nvSpPr>
          <p:cNvPr id="10" name="table-cell-620.96-0-1">
            <a:extLst xmlns:a="http://schemas.openxmlformats.org/drawingml/2006/main">
              <a:ext uri="{FF2B5EF4-FFF2-40B4-BE49-F238E27FC236}">
                <a16:creationId xmlns:a16="http://schemas.microsoft.com/office/drawing/2014/main" id="{22AEF182-9143-407C-8542-7B8C39A04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5914644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1" name="table-text-620.96-0-1">
            <a:extLst xmlns:a="http://schemas.openxmlformats.org/drawingml/2006/main">
              <a:ext uri="{FF2B5EF4-FFF2-40B4-BE49-F238E27FC236}">
                <a16:creationId xmlns:a16="http://schemas.microsoft.com/office/drawing/2014/main" id="{ADC65C9C-B034-4CE8-8398-FC67F79C6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981319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내용</a:t>
            </a:r>
          </a:p>
        </p:txBody>
      </p:sp>
      <p:sp>
        <p:nvSpPr>
          <p:cNvPr id="12" name="table-cell-620.96-1-0">
            <a:extLst xmlns:a="http://schemas.openxmlformats.org/drawingml/2006/main">
              <a:ext uri="{FF2B5EF4-FFF2-40B4-BE49-F238E27FC236}">
                <a16:creationId xmlns:a16="http://schemas.microsoft.com/office/drawing/2014/main" id="{3774FD7F-D19D-4311-BFAA-6A8508201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7184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3" name="table-text-620.96-1-0">
            <a:extLst xmlns:a="http://schemas.openxmlformats.org/drawingml/2006/main">
              <a:ext uri="{FF2B5EF4-FFF2-40B4-BE49-F238E27FC236}">
                <a16:creationId xmlns:a16="http://schemas.microsoft.com/office/drawing/2014/main" id="{109A1828-D123-4764-A012-080D901DA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3851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역할</a:t>
            </a:r>
          </a:p>
        </p:txBody>
      </p:sp>
      <p:sp>
        <p:nvSpPr>
          <p:cNvPr id="14" name="table-cell-620.96-1-1">
            <a:extLst xmlns:a="http://schemas.openxmlformats.org/drawingml/2006/main">
              <a:ext uri="{FF2B5EF4-FFF2-40B4-BE49-F238E27FC236}">
                <a16:creationId xmlns:a16="http://schemas.microsoft.com/office/drawing/2014/main" id="{B5D97C90-6EE1-495B-986F-75F87CDF0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637184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5" name="table-text-620.96-1-1">
            <a:extLst xmlns:a="http://schemas.openxmlformats.org/drawingml/2006/main">
              <a:ext uri="{FF2B5EF4-FFF2-40B4-BE49-F238E27FC236}">
                <a16:creationId xmlns:a16="http://schemas.microsoft.com/office/drawing/2014/main" id="{4F4A8F7C-9D3F-47D4-AC2D-FE32FD97E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643851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26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게임 디렉팅, 시스템 설계, AI 오케스트레이션, 품질 기준 결정</a:t>
            </a:r>
          </a:p>
        </p:txBody>
      </p:sp>
      <p:sp>
        <p:nvSpPr>
          <p:cNvPr id="16" name="table-cell-620.96-2-0">
            <a:extLst xmlns:a="http://schemas.openxmlformats.org/drawingml/2006/main">
              <a:ext uri="{FF2B5EF4-FFF2-40B4-BE49-F238E27FC236}">
                <a16:creationId xmlns:a16="http://schemas.microsoft.com/office/drawing/2014/main" id="{539B3059-F0FE-46FB-BF44-E9A1948A5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77189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7" name="table-text-620.96-2-0">
            <a:extLst xmlns:a="http://schemas.openxmlformats.org/drawingml/2006/main">
              <a:ext uri="{FF2B5EF4-FFF2-40B4-BE49-F238E27FC236}">
                <a16:creationId xmlns:a16="http://schemas.microsoft.com/office/drawing/2014/main" id="{028775E8-01C4-48EA-9C17-3627D43D7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3856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플랫폼</a:t>
            </a:r>
          </a:p>
        </p:txBody>
      </p:sp>
      <p:sp>
        <p:nvSpPr>
          <p:cNvPr id="18" name="table-cell-620.96-2-1">
            <a:extLst xmlns:a="http://schemas.openxmlformats.org/drawingml/2006/main">
              <a:ext uri="{FF2B5EF4-FFF2-40B4-BE49-F238E27FC236}">
                <a16:creationId xmlns:a16="http://schemas.microsoft.com/office/drawing/2014/main" id="{077F09B5-8C9C-4D09-83D6-E2727D30B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677189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9" name="table-text-620.96-2-1">
            <a:extLst xmlns:a="http://schemas.openxmlformats.org/drawingml/2006/main">
              <a:ext uri="{FF2B5EF4-FFF2-40B4-BE49-F238E27FC236}">
                <a16:creationId xmlns:a16="http://schemas.microsoft.com/office/drawing/2014/main" id="{60CA0E9E-B4EC-4463-ABE3-B3723B349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683856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Flutter / Flame · Web / Android</a:t>
            </a:r>
          </a:p>
        </p:txBody>
      </p:sp>
      <p:sp>
        <p:nvSpPr>
          <p:cNvPr id="20" name="table-cell-620.96-3-0">
            <a:extLst xmlns:a="http://schemas.openxmlformats.org/drawingml/2006/main">
              <a:ext uri="{FF2B5EF4-FFF2-40B4-BE49-F238E27FC236}">
                <a16:creationId xmlns:a16="http://schemas.microsoft.com/office/drawing/2014/main" id="{A87C7B6A-E72C-4C04-81C1-E3637FF12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17194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1" name="table-text-620.96-3-0">
            <a:extLst xmlns:a="http://schemas.openxmlformats.org/drawingml/2006/main">
              <a:ext uri="{FF2B5EF4-FFF2-40B4-BE49-F238E27FC236}">
                <a16:creationId xmlns:a16="http://schemas.microsoft.com/office/drawing/2014/main" id="{F73DD1EA-8226-4714-92F3-FACE77CD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723861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범위</a:t>
            </a:r>
          </a:p>
        </p:txBody>
      </p:sp>
      <p:sp>
        <p:nvSpPr>
          <p:cNvPr id="22" name="table-cell-620.96-3-1">
            <a:extLst xmlns:a="http://schemas.openxmlformats.org/drawingml/2006/main">
              <a:ext uri="{FF2B5EF4-FFF2-40B4-BE49-F238E27FC236}">
                <a16:creationId xmlns:a16="http://schemas.microsoft.com/office/drawing/2014/main" id="{9E57DB30-C730-48AD-8C56-3BFA0FCD9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717194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3" name="table-text-620.96-3-1">
            <a:extLst xmlns:a="http://schemas.openxmlformats.org/drawingml/2006/main">
              <a:ext uri="{FF2B5EF4-FFF2-40B4-BE49-F238E27FC236}">
                <a16:creationId xmlns:a16="http://schemas.microsoft.com/office/drawing/2014/main" id="{C2ED987C-8607-4AAC-B3EF-56F1445CB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723861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06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10단계·40패턴, 난이도, 힌트, 보상, 리플레이, 오늘의 도전</a:t>
            </a:r>
          </a:p>
        </p:txBody>
      </p:sp>
      <p:sp>
        <p:nvSpPr>
          <p:cNvPr id="24" name="table-cell-620.96-4-0">
            <a:extLst xmlns:a="http://schemas.openxmlformats.org/drawingml/2006/main">
              <a:ext uri="{FF2B5EF4-FFF2-40B4-BE49-F238E27FC236}">
                <a16:creationId xmlns:a16="http://schemas.microsoft.com/office/drawing/2014/main" id="{B12A7C4D-83D6-4BC3-B10E-6A8B8D61A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57199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5" name="table-text-620.96-4-0">
            <a:extLst xmlns:a="http://schemas.openxmlformats.org/drawingml/2006/main">
              <a:ext uri="{FF2B5EF4-FFF2-40B4-BE49-F238E27FC236}">
                <a16:creationId xmlns:a16="http://schemas.microsoft.com/office/drawing/2014/main" id="{9811D0DB-0A42-45FA-B6C4-715FBAEAF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763866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핵심 성과</a:t>
            </a:r>
          </a:p>
        </p:txBody>
      </p:sp>
      <p:sp>
        <p:nvSpPr>
          <p:cNvPr id="26" name="table-cell-620.96-4-1">
            <a:extLst xmlns:a="http://schemas.openxmlformats.org/drawingml/2006/main">
              <a:ext uri="{FF2B5EF4-FFF2-40B4-BE49-F238E27FC236}">
                <a16:creationId xmlns:a16="http://schemas.microsoft.com/office/drawing/2014/main" id="{43101957-BA0B-44D1-AFCF-069B381A4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7571994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7" name="table-text-620.96-4-1">
            <a:extLst xmlns:a="http://schemas.openxmlformats.org/drawingml/2006/main">
              <a:ext uri="{FF2B5EF4-FFF2-40B4-BE49-F238E27FC236}">
                <a16:creationId xmlns:a16="http://schemas.microsoft.com/office/drawing/2014/main" id="{8867F3CA-AA92-4B56-AEE5-7F10107DA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7638669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상태가 누적되는 물리 퍼즐, 검증 가능한 AI 협업, 완성된 Web·Android 빌드</a:t>
            </a:r>
          </a:p>
        </p:txBody>
      </p:sp>
    </p:spTree>
    <p:extLst>
      <p:ext uri="{BB962C8B-B14F-4D97-AF65-F5344CB8AC3E}">
        <p14:creationId xmlns:p14="http://schemas.microsoft.com/office/powerpoint/2010/main" val="88423594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8669D035-EB79-4C40-8AE5-E2D7F2603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Portfolio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0C2F065-E6B7-4502-A664-4BC5C7C72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3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8F169046-F95E-43B9-A614-14D9FCDBE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B2438F6-602A-45B9-BD55-709D905D4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2. 해결하려 한 문제</a:t>
            </a:r>
          </a:p>
        </p:txBody>
      </p:sp>
      <p:sp>
        <p:nvSpPr>
          <p:cNvPr id="5" name="paragraph-140">
            <a:extLst xmlns:a="http://schemas.openxmlformats.org/drawingml/2006/main">
              <a:ext uri="{FF2B5EF4-FFF2-40B4-BE49-F238E27FC236}">
                <a16:creationId xmlns:a16="http://schemas.microsoft.com/office/drawing/2014/main" id="{A2063A5D-B55B-451F-A03F-D480DFF8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조준 퍼즐은 방향과 힘만 맞추면 반복적으로 느껴지기 쉽다. 반대로 기믹이 많아지면 초보자는 무엇을 해야 하는지 모른다. 이 프로젝트는 두 문제를 함께 풀었다.</a:t>
            </a:r>
          </a:p>
        </p:txBody>
      </p:sp>
      <p:sp>
        <p:nvSpPr>
          <p:cNvPr id="6" name="bullets-212.64">
            <a:extLst xmlns:a="http://schemas.openxmlformats.org/drawingml/2006/main">
              <a:ext uri="{FF2B5EF4-FFF2-40B4-BE49-F238E27FC236}">
                <a16:creationId xmlns:a16="http://schemas.microsoft.com/office/drawing/2014/main" id="{3EA893F5-1E4F-46ED-9968-96F39C60B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25396"/>
            <a:ext cx="6496050" cy="1114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속성을 옮겨 장면 자체를 바꾸므로 매 샷의 의미를 늘린다.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실패한 공과 기물 상태가 남아 시행착오가 정보와 자원이 된다.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쉬움 모드·구체적 L1/L2 힌트·선택형 열쇠로 정답 공개 없이 진입 장벽을 낮춘다.</a:t>
            </a:r>
          </a:p>
        </p:txBody>
      </p:sp>
    </p:spTree>
    <p:extLst>
      <p:ext uri="{BB962C8B-B14F-4D97-AF65-F5344CB8AC3E}">
        <p14:creationId xmlns:p14="http://schemas.microsoft.com/office/powerpoint/2010/main" val="19530424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C032F9B2-327A-4532-98A1-A286835F2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Portfolio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F9496D8-7BF0-4580-AD80-7CEBFEA04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4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0FECE91C-9375-485B-9B7D-416651FA6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56C12BC-6AA6-4F76-8D0B-7460D3E32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3. 핵심 경험 설계</a:t>
            </a:r>
          </a:p>
        </p:txBody>
      </p:sp>
      <p:sp>
        <p:nvSpPr>
          <p:cNvPr id="5" name="subheading-140">
            <a:extLst xmlns:a="http://schemas.openxmlformats.org/drawingml/2006/main">
              <a:ext uri="{FF2B5EF4-FFF2-40B4-BE49-F238E27FC236}">
                <a16:creationId xmlns:a16="http://schemas.microsoft.com/office/drawing/2014/main" id="{43135C36-937B-4249-B25C-060667201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3.1 플레이 루프</a:t>
            </a:r>
          </a:p>
        </p:txBody>
      </p:sp>
      <p:sp>
        <p:nvSpPr>
          <p:cNvPr id="6" name="paragraph-194">
            <a:extLst xmlns:a="http://schemas.openxmlformats.org/drawingml/2006/main">
              <a:ext uri="{FF2B5EF4-FFF2-40B4-BE49-F238E27FC236}">
                <a16:creationId xmlns:a16="http://schemas.microsoft.com/office/drawing/2014/main" id="{B6D43BA2-8A58-4159-BAA9-5ECFCEE7D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관찰 → 속성 선택 → 방향·힘 결정 → 물리 연쇄 → 바뀐 상태 재사용의 순환을 만들었다.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36df8e6c424983"/>
          <a:stretch xmlns:a="http://schemas.openxmlformats.org/drawingml/2006/main"/>
        </p:blipFill>
        <p:spPr>
          <a:xfrm xmlns:a="http://schemas.openxmlformats.org/drawingml/2006/main">
            <a:off x="3055200" y="2539746"/>
            <a:ext cx="14524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8" name="image-caption-266.64">
            <a:extLst xmlns:a="http://schemas.openxmlformats.org/drawingml/2006/main">
              <a:ext uri="{FF2B5EF4-FFF2-40B4-BE49-F238E27FC236}">
                <a16:creationId xmlns:a16="http://schemas.microsoft.com/office/drawing/2014/main" id="{1BEDD69B-4E37-4F88-92E5-DB8704C2F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40146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속성 원본에서 공으로 능력을 옮기는 선택 화면</a:t>
            </a:r>
          </a:p>
        </p:txBody>
      </p:sp>
      <p:sp>
        <p:nvSpPr>
          <p:cNvPr id="9" name="subheading-650.64">
            <a:extLst xmlns:a="http://schemas.openxmlformats.org/drawingml/2006/main">
              <a:ext uri="{FF2B5EF4-FFF2-40B4-BE49-F238E27FC236}">
                <a16:creationId xmlns:a16="http://schemas.microsoft.com/office/drawing/2014/main" id="{71414570-3634-4716-A49E-C132D07C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7346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3.2 실패를 자원으로 바꾸기</a:t>
            </a:r>
          </a:p>
        </p:txBody>
      </p:sp>
      <p:sp>
        <p:nvSpPr>
          <p:cNvPr id="10" name="paragraph-704.64">
            <a:extLst xmlns:a="http://schemas.openxmlformats.org/drawingml/2006/main">
              <a:ext uri="{FF2B5EF4-FFF2-40B4-BE49-F238E27FC236}">
                <a16:creationId xmlns:a16="http://schemas.microsoft.com/office/drawing/2014/main" id="{FB245787-E81D-42B3-AD26-D377E070C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711696"/>
            <a:ext cx="6496050" cy="8092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첫 샷이 홀에 들어가지 않아도 공이 남고 문·스위치·반사판 상태가 유지된다. 플레이어는 실패를 초기화하지 않고 다음 샷의 발판으로 바꾼다. 이는 속성 한방의 가장 중요한 차별점이다.</a:t>
            </a:r>
          </a:p>
        </p:txBody>
      </p:sp>
      <p:sp>
        <p:nvSpPr>
          <p:cNvPr id="11" name="subheading-801.6">
            <a:extLst xmlns:a="http://schemas.openxmlformats.org/drawingml/2006/main">
              <a:ext uri="{FF2B5EF4-FFF2-40B4-BE49-F238E27FC236}">
                <a16:creationId xmlns:a16="http://schemas.microsoft.com/office/drawing/2014/main" id="{07A98A1A-C68A-4A78-A297-029E1514E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35240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3.3 10단계 학습 설계</a:t>
            </a:r>
          </a:p>
        </p:txBody>
      </p:sp>
      <p:sp>
        <p:nvSpPr>
          <p:cNvPr id="12" name="paragraph-855.6">
            <a:extLst xmlns:a="http://schemas.openxmlformats.org/drawingml/2006/main">
              <a:ext uri="{FF2B5EF4-FFF2-40B4-BE49-F238E27FC236}">
                <a16:creationId xmlns:a16="http://schemas.microsoft.com/office/drawing/2014/main" id="{8458D814-6052-4B56-83D6-2973CA645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149590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무거움과 탄성에서 시작해 스위치·풍선·비워진 원본·파워 발판·잔류 공·회전 반사판·속성 통합으로 확장했다. 단계별 4개 변형은 같은 규칙을 다른 공간에서 다시 적용하게 한다.</a:t>
            </a:r>
          </a:p>
        </p:txBody>
      </p:sp>
    </p:spTree>
    <p:extLst>
      <p:ext uri="{BB962C8B-B14F-4D97-AF65-F5344CB8AC3E}">
        <p14:creationId xmlns:p14="http://schemas.microsoft.com/office/powerpoint/2010/main" val="170250324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D4BF0F0D-A84F-431C-85BE-1907AC0A9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Portfolio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AF088E6-6EEC-4638-AB85-6171A5B73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5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B6222BAF-7FAD-4C62-B006-7D228FADD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6D70A09-BE32-4C26-98C9-7D6B7493D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4. 대표 UX 개선 사례</a:t>
            </a:r>
          </a:p>
        </p:txBody>
      </p:sp>
      <p:sp>
        <p:nvSpPr>
          <p:cNvPr id="5" name="subheading-140">
            <a:extLst xmlns:a="http://schemas.openxmlformats.org/drawingml/2006/main">
              <a:ext uri="{FF2B5EF4-FFF2-40B4-BE49-F238E27FC236}">
                <a16:creationId xmlns:a16="http://schemas.microsoft.com/office/drawing/2014/main" id="{044EA392-FEC0-4E01-B396-A3A6C9BAE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4.1 손가락에 가리는 게이지</a:t>
            </a:r>
          </a:p>
        </p:txBody>
      </p:sp>
      <p:sp>
        <p:nvSpPr>
          <p:cNvPr id="6" name="paragraph-194">
            <a:extLst xmlns:a="http://schemas.openxmlformats.org/drawingml/2006/main">
              <a:ext uri="{FF2B5EF4-FFF2-40B4-BE49-F238E27FC236}">
                <a16:creationId xmlns:a16="http://schemas.microsoft.com/office/drawing/2014/main" id="{D39408FF-4AC4-4012-BFD2-9FBB67910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6496050" cy="3459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문제: 공 주변 원형 게이지가 모바일에서 손가락에 가렸다.</a:t>
            </a:r>
          </a:p>
        </p:txBody>
      </p:sp>
      <p:sp>
        <p:nvSpPr>
          <p:cNvPr id="7" name="paragraph-242.32">
            <a:extLst xmlns:a="http://schemas.openxmlformats.org/drawingml/2006/main">
              <a:ext uri="{FF2B5EF4-FFF2-40B4-BE49-F238E27FC236}">
                <a16:creationId xmlns:a16="http://schemas.microsoft.com/office/drawing/2014/main" id="{D942EA86-7491-4247-BC55-9827C3209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8098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결정: 입력 규칙은 유지하고 게이지를 공 가까이의 부유 직선 rail로 분리했다. 핵심 기물과 열쇠를 피하고, 좌·우 손 선호와 저모션을 지원했다.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28751b52d94926"/>
          <a:stretch xmlns:a="http://schemas.openxmlformats.org/drawingml/2006/main"/>
        </p:blipFill>
        <p:spPr>
          <a:xfrm xmlns:a="http://schemas.openxmlformats.org/drawingml/2006/main">
            <a:off x="3055200" y="2999994"/>
            <a:ext cx="14524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9" name="image-caption-314.96">
            <a:extLst xmlns:a="http://schemas.openxmlformats.org/drawingml/2006/main">
              <a:ext uri="{FF2B5EF4-FFF2-40B4-BE49-F238E27FC236}">
                <a16:creationId xmlns:a16="http://schemas.microsoft.com/office/drawing/2014/main" id="{B659FF8C-71C9-4F02-B8FE-219E62A26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00394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모바일 화면에서 기물을 피하는 부유 충전 게이지</a:t>
            </a:r>
          </a:p>
        </p:txBody>
      </p:sp>
      <p:sp>
        <p:nvSpPr>
          <p:cNvPr id="10" name="subheading-698.96">
            <a:extLst xmlns:a="http://schemas.openxmlformats.org/drawingml/2006/main">
              <a:ext uri="{FF2B5EF4-FFF2-40B4-BE49-F238E27FC236}">
                <a16:creationId xmlns:a16="http://schemas.microsoft.com/office/drawing/2014/main" id="{913B0129-FDDB-4A02-8905-6C3A2B0D3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57594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4.2 너무 어려운 첫 경험</a:t>
            </a:r>
          </a:p>
        </p:txBody>
      </p:sp>
      <p:sp>
        <p:nvSpPr>
          <p:cNvPr id="11" name="paragraph-752.96">
            <a:extLst xmlns:a="http://schemas.openxmlformats.org/drawingml/2006/main">
              <a:ext uri="{FF2B5EF4-FFF2-40B4-BE49-F238E27FC236}">
                <a16:creationId xmlns:a16="http://schemas.microsoft.com/office/drawing/2014/main" id="{9AA5B733-9DA4-4D3A-B7ED-288026DB5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171944"/>
            <a:ext cx="6496050" cy="3459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문제: 첫 플레이에서 복잡한 변형이 무작위로 나올 수 있었다.</a:t>
            </a:r>
          </a:p>
        </p:txBody>
      </p:sp>
      <p:sp>
        <p:nvSpPr>
          <p:cNvPr id="12" name="paragraph-801.2800000000001">
            <a:extLst xmlns:a="http://schemas.openxmlformats.org/drawingml/2006/main">
              <a:ext uri="{FF2B5EF4-FFF2-40B4-BE49-F238E27FC236}">
                <a16:creationId xmlns:a16="http://schemas.microsoft.com/office/drawing/2014/main" id="{94DA66F1-22C2-4D26-846D-F239F9208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32192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결정: 첫 1–4단계만 기준 패턴을 우선하고, 쉬움 모드에서는 실제 판정 결과의 첫 도착점을 표시했다. 물리와 보통 기록은 바꾸지 않았다.</a:t>
            </a:r>
          </a:p>
        </p:txBody>
      </p:sp>
    </p:spTree>
    <p:extLst>
      <p:ext uri="{BB962C8B-B14F-4D97-AF65-F5344CB8AC3E}">
        <p14:creationId xmlns:p14="http://schemas.microsoft.com/office/powerpoint/2010/main" val="130281208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31C910FA-C387-4C28-B8A4-6DFA6170D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Portfolio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A64D4DF-4480-45DF-A14A-B13206B55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6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7403A017-B054-45BF-99E8-3883BB6D6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6896AD0-C137-42CE-BFBA-B6E78A72B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4. 대표 UX 개선 사례 · 계속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900a6a9404405a"/>
          <a:stretch xmlns:a="http://schemas.openxmlformats.org/drawingml/2006/main"/>
        </p:blipFill>
        <p:spPr>
          <a:xfrm xmlns:a="http://schemas.openxmlformats.org/drawingml/2006/main">
            <a:off x="3055200" y="1333500"/>
            <a:ext cx="14524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6" name="image-caption-140">
            <a:extLst xmlns:a="http://schemas.openxmlformats.org/drawingml/2006/main">
              <a:ext uri="{FF2B5EF4-FFF2-40B4-BE49-F238E27FC236}">
                <a16:creationId xmlns:a16="http://schemas.microsoft.com/office/drawing/2014/main" id="{1256298B-B204-4C25-9498-211535059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쉬움 모드 예상 도착 표시</a:t>
            </a:r>
          </a:p>
        </p:txBody>
      </p:sp>
      <p:sp>
        <p:nvSpPr>
          <p:cNvPr id="7" name="subheading-524">
            <a:extLst xmlns:a="http://schemas.openxmlformats.org/drawingml/2006/main">
              <a:ext uri="{FF2B5EF4-FFF2-40B4-BE49-F238E27FC236}">
                <a16:creationId xmlns:a16="http://schemas.microsoft.com/office/drawing/2014/main" id="{B46C3C55-5A33-4AAD-83FD-1F9AC361A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91100"/>
            <a:ext cx="649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18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4.3 추상적인 도움말</a:t>
            </a:r>
          </a:p>
        </p:txBody>
      </p:sp>
      <p:sp>
        <p:nvSpPr>
          <p:cNvPr id="8" name="paragraph-578">
            <a:extLst xmlns:a="http://schemas.openxmlformats.org/drawingml/2006/main">
              <a:ext uri="{FF2B5EF4-FFF2-40B4-BE49-F238E27FC236}">
                <a16:creationId xmlns:a16="http://schemas.microsoft.com/office/drawing/2014/main" id="{52A86F99-BEB0-41BD-BBCB-7B9256717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05450"/>
            <a:ext cx="6496050" cy="3459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문제: ‘기믹을 활용하세요’는 실제 행동을 안내하지 못했다.</a:t>
            </a:r>
          </a:p>
        </p:txBody>
      </p:sp>
      <p:sp>
        <p:nvSpPr>
          <p:cNvPr id="9" name="paragraph-626.32">
            <a:extLst xmlns:a="http://schemas.openxmlformats.org/drawingml/2006/main">
              <a:ext uri="{FF2B5EF4-FFF2-40B4-BE49-F238E27FC236}">
                <a16:creationId xmlns:a16="http://schemas.microsoft.com/office/drawing/2014/main" id="{53955DD9-60F8-4F58-8C17-DF3667CE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65698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결정: 40패턴마다 L1은 첫 행동, L2는 위치·세기·순서·결과를 안내한다. 도움을 선택한 사람만 보상 또는 열쇠로 열 수 있게 했다.</a:t>
            </a:r>
          </a:p>
        </p:txBody>
      </p:sp>
    </p:spTree>
    <p:extLst>
      <p:ext uri="{BB962C8B-B14F-4D97-AF65-F5344CB8AC3E}">
        <p14:creationId xmlns:p14="http://schemas.microsoft.com/office/powerpoint/2010/main" val="90547205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0C9361EB-66AC-4B73-B91B-D8913EF5F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Portfolio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4ABC5BA-F631-4DD9-8EF2-75083F041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7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6BF0506C-ED5E-4B8E-9D6B-03997646B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4BFF0C8-0807-4215-86B2-A092EE139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5. AI 디렉팅 방식</a:t>
            </a:r>
          </a:p>
        </p:txBody>
      </p:sp>
      <p:sp>
        <p:nvSpPr>
          <p:cNvPr id="5" name="paragraph-140">
            <a:extLst xmlns:a="http://schemas.openxmlformats.org/drawingml/2006/main">
              <a:ext uri="{FF2B5EF4-FFF2-40B4-BE49-F238E27FC236}">
                <a16:creationId xmlns:a16="http://schemas.microsoft.com/office/drawing/2014/main" id="{C09FA894-89F8-472C-93F1-686A81D39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5775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AI를 한 명의 만능 개발자로 쓰지 않고 기능 담당·레벨 담당·문서 담당·독립 검사로 나눴다. 프롬프트는 목적, 보호해야 할 규칙, 테스트 기준, 종료 조건을 포함했다.</a:t>
            </a:r>
          </a:p>
        </p:txBody>
      </p:sp>
      <p:sp>
        <p:nvSpPr>
          <p:cNvPr id="6" name="workflow-arrow-212.64-0">
            <a:extLst xmlns:a="http://schemas.openxmlformats.org/drawingml/2006/main">
              <a:ext uri="{FF2B5EF4-FFF2-40B4-BE49-F238E27FC236}">
                <a16:creationId xmlns:a16="http://schemas.microsoft.com/office/drawing/2014/main" id="{E1F70513-EF80-41A7-926A-0C3638669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2311146"/>
            <a:ext cx="2190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workflow-arrow-212.64-1">
            <a:extLst xmlns:a="http://schemas.openxmlformats.org/drawingml/2006/main">
              <a:ext uri="{FF2B5EF4-FFF2-40B4-BE49-F238E27FC236}">
                <a16:creationId xmlns:a16="http://schemas.microsoft.com/office/drawing/2014/main" id="{F116EF8D-90E3-45E6-B761-B2C41C0CC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311146"/>
            <a:ext cx="2190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workflow-arrow-212.64-2">
            <a:extLst xmlns:a="http://schemas.openxmlformats.org/drawingml/2006/main">
              <a:ext uri="{FF2B5EF4-FFF2-40B4-BE49-F238E27FC236}">
                <a16:creationId xmlns:a16="http://schemas.microsoft.com/office/drawing/2014/main" id="{53F2AEC7-432D-46A7-B194-163975B10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311146"/>
            <a:ext cx="2190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workflow-arrow-212.64-3">
            <a:extLst xmlns:a="http://schemas.openxmlformats.org/drawingml/2006/main">
              <a:ext uri="{FF2B5EF4-FFF2-40B4-BE49-F238E27FC236}">
                <a16:creationId xmlns:a16="http://schemas.microsoft.com/office/drawing/2014/main" id="{99A77716-FDC7-41CB-9B82-131F7147A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311146"/>
            <a:ext cx="219075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workflow-node-212.64-0">
            <a:extLst xmlns:a="http://schemas.openxmlformats.org/drawingml/2006/main">
              <a:ext uri="{FF2B5EF4-FFF2-40B4-BE49-F238E27FC236}">
                <a16:creationId xmlns:a16="http://schemas.microsoft.com/office/drawing/2014/main" id="{F8940ADC-5F56-4D39-9A24-315297E65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25396"/>
            <a:ext cx="1047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3335">
            <a:solidFill>
              <a:srgbClr val="2C7A7B"/>
            </a:solidFill>
            <a:prstDash val="solid"/>
          </a:ln>
        </p:spPr>
      </p:sp>
      <p:sp>
        <p:nvSpPr>
          <p:cNvPr id="11" name="workflow-label-212.64-0">
            <a:extLst xmlns:a="http://schemas.openxmlformats.org/drawingml/2006/main">
              <a:ext uri="{FF2B5EF4-FFF2-40B4-BE49-F238E27FC236}">
                <a16:creationId xmlns:a16="http://schemas.microsoft.com/office/drawing/2014/main" id="{212C9D19-1E52-48EA-9590-5CB84717E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53996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915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사용자 피드백</a:t>
            </a:r>
          </a:p>
        </p:txBody>
      </p:sp>
      <p:sp>
        <p:nvSpPr>
          <p:cNvPr id="12" name="workflow-node-212.64-1">
            <a:extLst xmlns:a="http://schemas.openxmlformats.org/drawingml/2006/main">
              <a:ext uri="{FF2B5EF4-FFF2-40B4-BE49-F238E27FC236}">
                <a16:creationId xmlns:a16="http://schemas.microsoft.com/office/drawing/2014/main" id="{F1C44D3F-210D-49DF-A7F1-92FC0179E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2025396"/>
            <a:ext cx="1047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3335">
            <a:solidFill>
              <a:srgbClr val="2C7A7B"/>
            </a:solidFill>
            <a:prstDash val="solid"/>
          </a:ln>
        </p:spPr>
      </p:sp>
      <p:sp>
        <p:nvSpPr>
          <p:cNvPr id="13" name="workflow-label-212.64-1">
            <a:extLst xmlns:a="http://schemas.openxmlformats.org/drawingml/2006/main">
              <a:ext uri="{FF2B5EF4-FFF2-40B4-BE49-F238E27FC236}">
                <a16:creationId xmlns:a16="http://schemas.microsoft.com/office/drawing/2014/main" id="{53C7D44A-0A38-43F6-889B-2085537FE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253996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기능 계약</a:t>
            </a:r>
          </a:p>
        </p:txBody>
      </p:sp>
      <p:sp>
        <p:nvSpPr>
          <p:cNvPr id="14" name="workflow-node-212.64-2">
            <a:extLst xmlns:a="http://schemas.openxmlformats.org/drawingml/2006/main">
              <a:ext uri="{FF2B5EF4-FFF2-40B4-BE49-F238E27FC236}">
                <a16:creationId xmlns:a16="http://schemas.microsoft.com/office/drawing/2014/main" id="{389915D6-1F31-48CE-8B8C-7CBC2F1D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25396"/>
            <a:ext cx="1047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3335">
            <a:solidFill>
              <a:srgbClr val="2C7A7B"/>
            </a:solidFill>
            <a:prstDash val="solid"/>
          </a:ln>
        </p:spPr>
      </p:sp>
      <p:sp>
        <p:nvSpPr>
          <p:cNvPr id="15" name="workflow-label-212.64-2">
            <a:extLst xmlns:a="http://schemas.openxmlformats.org/drawingml/2006/main">
              <a:ext uri="{FF2B5EF4-FFF2-40B4-BE49-F238E27FC236}">
                <a16:creationId xmlns:a16="http://schemas.microsoft.com/office/drawing/2014/main" id="{2EEE5B23-D54F-4BCD-8708-9137D9255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253996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전문 실행</a:t>
            </a:r>
          </a:p>
        </p:txBody>
      </p:sp>
      <p:sp>
        <p:nvSpPr>
          <p:cNvPr id="16" name="workflow-node-212.64-3">
            <a:extLst xmlns:a="http://schemas.openxmlformats.org/drawingml/2006/main">
              <a:ext uri="{FF2B5EF4-FFF2-40B4-BE49-F238E27FC236}">
                <a16:creationId xmlns:a16="http://schemas.microsoft.com/office/drawing/2014/main" id="{321DE54D-54FE-4A4F-8AE4-87D11C3D4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25396"/>
            <a:ext cx="1047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3335">
            <a:solidFill>
              <a:srgbClr val="F47661"/>
            </a:solidFill>
            <a:prstDash val="solid"/>
          </a:ln>
        </p:spPr>
      </p:sp>
      <p:sp>
        <p:nvSpPr>
          <p:cNvPr id="17" name="workflow-label-212.64-3">
            <a:extLst xmlns:a="http://schemas.openxmlformats.org/drawingml/2006/main">
              <a:ext uri="{FF2B5EF4-FFF2-40B4-BE49-F238E27FC236}">
                <a16:creationId xmlns:a16="http://schemas.microsoft.com/office/drawing/2014/main" id="{6C43F9A7-58DB-43B9-B124-3C9E09969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253996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독립 감사</a:t>
            </a:r>
          </a:p>
        </p:txBody>
      </p:sp>
      <p:sp>
        <p:nvSpPr>
          <p:cNvPr id="18" name="workflow-node-212.64-4">
            <a:extLst xmlns:a="http://schemas.openxmlformats.org/drawingml/2006/main">
              <a:ext uri="{FF2B5EF4-FFF2-40B4-BE49-F238E27FC236}">
                <a16:creationId xmlns:a16="http://schemas.microsoft.com/office/drawing/2014/main" id="{A485B9BF-496D-47D4-BB0F-A706ED6A0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025396"/>
            <a:ext cx="1047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8F4F1"/>
          </a:solidFill>
          <a:ln xmlns:a="http://schemas.openxmlformats.org/drawingml/2006/main" w="13335">
            <a:solidFill>
              <a:srgbClr val="2C7A7B"/>
            </a:solidFill>
            <a:prstDash val="solid"/>
          </a:ln>
        </p:spPr>
      </p:sp>
      <p:sp>
        <p:nvSpPr>
          <p:cNvPr id="19" name="workflow-label-212.64-4">
            <a:extLst xmlns:a="http://schemas.openxmlformats.org/drawingml/2006/main">
              <a:ext uri="{FF2B5EF4-FFF2-40B4-BE49-F238E27FC236}">
                <a16:creationId xmlns:a16="http://schemas.microsoft.com/office/drawing/2014/main" id="{B2A82A1D-9509-47AB-821C-EF3A431B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253996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증거·통합</a:t>
            </a:r>
          </a:p>
        </p:txBody>
      </p:sp>
      <p:sp>
        <p:nvSpPr>
          <p:cNvPr id="20" name="workflow-note-212.64">
            <a:extLst xmlns:a="http://schemas.openxmlformats.org/drawingml/2006/main">
              <a:ext uri="{FF2B5EF4-FFF2-40B4-BE49-F238E27FC236}">
                <a16:creationId xmlns:a16="http://schemas.microsoft.com/office/drawing/2014/main" id="{675A8CC5-2812-4D36-AA9B-C2E2DBB40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92196"/>
            <a:ext cx="649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감사에서 문제가 발견되면 기능 계약 단계로 돌아간다.</a:t>
            </a:r>
          </a:p>
        </p:txBody>
      </p:sp>
      <p:sp>
        <p:nvSpPr>
          <p:cNvPr id="21" name="table-cell-378.64-0-0">
            <a:extLst xmlns:a="http://schemas.openxmlformats.org/drawingml/2006/main">
              <a:ext uri="{FF2B5EF4-FFF2-40B4-BE49-F238E27FC236}">
                <a16:creationId xmlns:a16="http://schemas.microsoft.com/office/drawing/2014/main" id="{330B3C10-8D52-4D4A-9D7B-F4A5B1C9D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06546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2" name="table-text-378.64-0-0">
            <a:extLst xmlns:a="http://schemas.openxmlformats.org/drawingml/2006/main">
              <a:ext uri="{FF2B5EF4-FFF2-40B4-BE49-F238E27FC236}">
                <a16:creationId xmlns:a16="http://schemas.microsoft.com/office/drawing/2014/main" id="{A59C1C28-3D66-4D7B-A78E-C0D1BFBDE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73221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단계</a:t>
            </a:r>
          </a:p>
        </p:txBody>
      </p:sp>
      <p:sp>
        <p:nvSpPr>
          <p:cNvPr id="23" name="table-cell-378.64-0-1">
            <a:extLst xmlns:a="http://schemas.openxmlformats.org/drawingml/2006/main">
              <a:ext uri="{FF2B5EF4-FFF2-40B4-BE49-F238E27FC236}">
                <a16:creationId xmlns:a16="http://schemas.microsoft.com/office/drawing/2014/main" id="{827FCA83-8B0C-4CC3-B8C5-18824D0AD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3606546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4" name="table-text-378.64-0-1">
            <a:extLst xmlns:a="http://schemas.openxmlformats.org/drawingml/2006/main">
              <a:ext uri="{FF2B5EF4-FFF2-40B4-BE49-F238E27FC236}">
                <a16:creationId xmlns:a16="http://schemas.microsoft.com/office/drawing/2014/main" id="{AD07BF4B-6775-48F9-91A8-D8E5736D4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3673221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내 결정</a:t>
            </a:r>
          </a:p>
        </p:txBody>
      </p:sp>
      <p:sp>
        <p:nvSpPr>
          <p:cNvPr id="25" name="table-cell-378.64-0-2">
            <a:extLst xmlns:a="http://schemas.openxmlformats.org/drawingml/2006/main">
              <a:ext uri="{FF2B5EF4-FFF2-40B4-BE49-F238E27FC236}">
                <a16:creationId xmlns:a16="http://schemas.microsoft.com/office/drawing/2014/main" id="{433EDA28-2BBF-44CD-8B65-3E89AA02E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3606546"/>
            <a:ext cx="2165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6" name="table-text-378.64-0-2">
            <a:extLst xmlns:a="http://schemas.openxmlformats.org/drawingml/2006/main">
              <a:ext uri="{FF2B5EF4-FFF2-40B4-BE49-F238E27FC236}">
                <a16:creationId xmlns:a16="http://schemas.microsoft.com/office/drawing/2014/main" id="{B6362BF5-9C5F-429F-B85C-A84D467AB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3673221"/>
            <a:ext cx="199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AI의 기여</a:t>
            </a:r>
          </a:p>
        </p:txBody>
      </p:sp>
      <p:sp>
        <p:nvSpPr>
          <p:cNvPr id="27" name="table-cell-378.64-1-0">
            <a:extLst xmlns:a="http://schemas.openxmlformats.org/drawingml/2006/main">
              <a:ext uri="{FF2B5EF4-FFF2-40B4-BE49-F238E27FC236}">
                <a16:creationId xmlns:a16="http://schemas.microsoft.com/office/drawing/2014/main" id="{61DAAA8A-FCC3-4DDC-BC22-A04C74034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6374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8" name="table-text-378.64-1-0">
            <a:extLst xmlns:a="http://schemas.openxmlformats.org/drawingml/2006/main">
              <a:ext uri="{FF2B5EF4-FFF2-40B4-BE49-F238E27FC236}">
                <a16:creationId xmlns:a16="http://schemas.microsoft.com/office/drawing/2014/main" id="{BE122DEF-A6A9-46AC-A2CD-C50F897FF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13042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문제 정의</a:t>
            </a:r>
          </a:p>
        </p:txBody>
      </p:sp>
      <p:sp>
        <p:nvSpPr>
          <p:cNvPr id="29" name="table-cell-378.64-1-1">
            <a:extLst xmlns:a="http://schemas.openxmlformats.org/drawingml/2006/main">
              <a:ext uri="{FF2B5EF4-FFF2-40B4-BE49-F238E27FC236}">
                <a16:creationId xmlns:a16="http://schemas.microsoft.com/office/drawing/2014/main" id="{5ADB1E93-5E11-4167-8B8C-C7A7F4E7C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406374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0" name="table-text-378.64-1-1">
            <a:extLst xmlns:a="http://schemas.openxmlformats.org/drawingml/2006/main">
              <a:ext uri="{FF2B5EF4-FFF2-40B4-BE49-F238E27FC236}">
                <a16:creationId xmlns:a16="http://schemas.microsoft.com/office/drawing/2014/main" id="{4882839F-5680-47E1-BE90-46E02AFE5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413042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어떤 플레이 경험을 바꿀지 결정</a:t>
            </a:r>
          </a:p>
        </p:txBody>
      </p:sp>
      <p:sp>
        <p:nvSpPr>
          <p:cNvPr id="31" name="table-cell-378.64-1-2">
            <a:extLst xmlns:a="http://schemas.openxmlformats.org/drawingml/2006/main">
              <a:ext uri="{FF2B5EF4-FFF2-40B4-BE49-F238E27FC236}">
                <a16:creationId xmlns:a16="http://schemas.microsoft.com/office/drawing/2014/main" id="{341529F0-173E-4279-84B8-F3DD6781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406374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2" name="table-text-378.64-1-2">
            <a:extLst xmlns:a="http://schemas.openxmlformats.org/drawingml/2006/main">
              <a:ext uri="{FF2B5EF4-FFF2-40B4-BE49-F238E27FC236}">
                <a16:creationId xmlns:a16="http://schemas.microsoft.com/office/drawing/2014/main" id="{9B48B38D-5B27-4750-806D-D4BD4AD1D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413042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코드·화면·데이터에서 원인 탐색</a:t>
            </a:r>
          </a:p>
        </p:txBody>
      </p:sp>
      <p:sp>
        <p:nvSpPr>
          <p:cNvPr id="33" name="table-cell-378.64-2-0">
            <a:extLst xmlns:a="http://schemas.openxmlformats.org/drawingml/2006/main">
              <a:ext uri="{FF2B5EF4-FFF2-40B4-BE49-F238E27FC236}">
                <a16:creationId xmlns:a16="http://schemas.microsoft.com/office/drawing/2014/main" id="{B9A97A49-39D6-416F-91A9-5905D0BC2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6379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4" name="table-text-378.64-2-0">
            <a:extLst xmlns:a="http://schemas.openxmlformats.org/drawingml/2006/main">
              <a:ext uri="{FF2B5EF4-FFF2-40B4-BE49-F238E27FC236}">
                <a16:creationId xmlns:a16="http://schemas.microsoft.com/office/drawing/2014/main" id="{F8C7FA4B-0F12-41DD-B063-9DA6E792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3047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설계</a:t>
            </a:r>
          </a:p>
        </p:txBody>
      </p:sp>
      <p:sp>
        <p:nvSpPr>
          <p:cNvPr id="35" name="table-cell-378.64-2-1">
            <a:extLst xmlns:a="http://schemas.openxmlformats.org/drawingml/2006/main">
              <a:ext uri="{FF2B5EF4-FFF2-40B4-BE49-F238E27FC236}">
                <a16:creationId xmlns:a16="http://schemas.microsoft.com/office/drawing/2014/main" id="{08FABA80-C455-4043-A4B1-B9316C7BB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446379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6" name="table-text-378.64-2-1">
            <a:extLst xmlns:a="http://schemas.openxmlformats.org/drawingml/2006/main">
              <a:ext uri="{FF2B5EF4-FFF2-40B4-BE49-F238E27FC236}">
                <a16:creationId xmlns:a16="http://schemas.microsoft.com/office/drawing/2014/main" id="{C1B54BAA-0BD2-4A98-83AB-94810804F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453047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공정성·접근성·기록 정책 확정</a:t>
            </a:r>
          </a:p>
        </p:txBody>
      </p:sp>
      <p:sp>
        <p:nvSpPr>
          <p:cNvPr id="37" name="table-cell-378.64-2-2">
            <a:extLst xmlns:a="http://schemas.openxmlformats.org/drawingml/2006/main">
              <a:ext uri="{FF2B5EF4-FFF2-40B4-BE49-F238E27FC236}">
                <a16:creationId xmlns:a16="http://schemas.microsoft.com/office/drawing/2014/main" id="{3E70098E-3503-44AE-BCEA-3DD7C3594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446379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38" name="table-text-378.64-2-2">
            <a:extLst xmlns:a="http://schemas.openxmlformats.org/drawingml/2006/main">
              <a:ext uri="{FF2B5EF4-FFF2-40B4-BE49-F238E27FC236}">
                <a16:creationId xmlns:a16="http://schemas.microsoft.com/office/drawing/2014/main" id="{A50A3BAA-FD29-4E79-9E04-A5DDB186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453047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대안과 영향 범위 비교</a:t>
            </a:r>
          </a:p>
        </p:txBody>
      </p:sp>
      <p:sp>
        <p:nvSpPr>
          <p:cNvPr id="39" name="table-cell-378.64-3-0">
            <a:extLst xmlns:a="http://schemas.openxmlformats.org/drawingml/2006/main">
              <a:ext uri="{FF2B5EF4-FFF2-40B4-BE49-F238E27FC236}">
                <a16:creationId xmlns:a16="http://schemas.microsoft.com/office/drawing/2014/main" id="{EC3A1C5B-7811-4397-A4CA-B7483BD79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6384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0" name="table-text-378.64-3-0">
            <a:extLst xmlns:a="http://schemas.openxmlformats.org/drawingml/2006/main">
              <a:ext uri="{FF2B5EF4-FFF2-40B4-BE49-F238E27FC236}">
                <a16:creationId xmlns:a16="http://schemas.microsoft.com/office/drawing/2014/main" id="{17F578DC-B688-4B33-B390-8F66DD56F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93052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구현</a:t>
            </a:r>
          </a:p>
        </p:txBody>
      </p:sp>
      <p:sp>
        <p:nvSpPr>
          <p:cNvPr id="41" name="table-cell-378.64-3-1">
            <a:extLst xmlns:a="http://schemas.openxmlformats.org/drawingml/2006/main">
              <a:ext uri="{FF2B5EF4-FFF2-40B4-BE49-F238E27FC236}">
                <a16:creationId xmlns:a16="http://schemas.microsoft.com/office/drawing/2014/main" id="{28080B77-7DCC-4B96-855D-03C26D3B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486384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2" name="table-text-378.64-3-1">
            <a:extLst xmlns:a="http://schemas.openxmlformats.org/drawingml/2006/main">
              <a:ext uri="{FF2B5EF4-FFF2-40B4-BE49-F238E27FC236}">
                <a16:creationId xmlns:a16="http://schemas.microsoft.com/office/drawing/2014/main" id="{3CC52ED0-EE83-4E32-BA19-E083D1B61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493052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우선순위와 공유 파일 소유권 관리</a:t>
            </a:r>
          </a:p>
        </p:txBody>
      </p:sp>
      <p:sp>
        <p:nvSpPr>
          <p:cNvPr id="43" name="table-cell-378.64-3-2">
            <a:extLst xmlns:a="http://schemas.openxmlformats.org/drawingml/2006/main">
              <a:ext uri="{FF2B5EF4-FFF2-40B4-BE49-F238E27FC236}">
                <a16:creationId xmlns:a16="http://schemas.microsoft.com/office/drawing/2014/main" id="{08AF5F15-3BC1-4627-8A16-4DDFA358F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486384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4" name="table-text-378.64-3-2">
            <a:extLst xmlns:a="http://schemas.openxmlformats.org/drawingml/2006/main">
              <a:ext uri="{FF2B5EF4-FFF2-40B4-BE49-F238E27FC236}">
                <a16:creationId xmlns:a16="http://schemas.microsoft.com/office/drawing/2014/main" id="{A271FDE7-EB9E-421A-A932-5C06F3489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493052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기능·테스트·문서 구현</a:t>
            </a:r>
          </a:p>
        </p:txBody>
      </p:sp>
      <p:sp>
        <p:nvSpPr>
          <p:cNvPr id="45" name="table-cell-378.64-4-0">
            <a:extLst xmlns:a="http://schemas.openxmlformats.org/drawingml/2006/main">
              <a:ext uri="{FF2B5EF4-FFF2-40B4-BE49-F238E27FC236}">
                <a16:creationId xmlns:a16="http://schemas.microsoft.com/office/drawing/2014/main" id="{6CE9EB52-16A4-4DEF-A967-2018E3A41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6389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6" name="table-text-378.64-4-0">
            <a:extLst xmlns:a="http://schemas.openxmlformats.org/drawingml/2006/main">
              <a:ext uri="{FF2B5EF4-FFF2-40B4-BE49-F238E27FC236}">
                <a16:creationId xmlns:a16="http://schemas.microsoft.com/office/drawing/2014/main" id="{D2E2CBB4-BCAB-4E26-888F-B32584DA8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33057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검증</a:t>
            </a:r>
          </a:p>
        </p:txBody>
      </p:sp>
      <p:sp>
        <p:nvSpPr>
          <p:cNvPr id="47" name="table-cell-378.64-4-1">
            <a:extLst xmlns:a="http://schemas.openxmlformats.org/drawingml/2006/main">
              <a:ext uri="{FF2B5EF4-FFF2-40B4-BE49-F238E27FC236}">
                <a16:creationId xmlns:a16="http://schemas.microsoft.com/office/drawing/2014/main" id="{30C7E2E2-A758-4F05-AD69-0FD9FEE73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8750" y="526389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48" name="table-text-378.64-4-1">
            <a:extLst xmlns:a="http://schemas.openxmlformats.org/drawingml/2006/main">
              <a:ext uri="{FF2B5EF4-FFF2-40B4-BE49-F238E27FC236}">
                <a16:creationId xmlns:a16="http://schemas.microsoft.com/office/drawing/2014/main" id="{36F8BE9D-DEA8-429B-8077-15AA28D97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533057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통과 기준과 반려 여부 결정</a:t>
            </a:r>
          </a:p>
        </p:txBody>
      </p:sp>
      <p:sp>
        <p:nvSpPr>
          <p:cNvPr id="49" name="table-cell-378.64-4-2">
            <a:extLst xmlns:a="http://schemas.openxmlformats.org/drawingml/2006/main">
              <a:ext uri="{FF2B5EF4-FFF2-40B4-BE49-F238E27FC236}">
                <a16:creationId xmlns:a16="http://schemas.microsoft.com/office/drawing/2014/main" id="{F79FC590-08F9-4F0A-AFDE-259A91380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100" y="5263896"/>
            <a:ext cx="2165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50" name="table-text-378.64-4-2">
            <a:extLst xmlns:a="http://schemas.openxmlformats.org/drawingml/2006/main">
              <a:ext uri="{FF2B5EF4-FFF2-40B4-BE49-F238E27FC236}">
                <a16:creationId xmlns:a16="http://schemas.microsoft.com/office/drawing/2014/main" id="{F0343CB4-F1BD-4295-B504-17E7EA924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9825" y="5330571"/>
            <a:ext cx="199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독립 감사, 회귀·시각·결정론 확인</a:t>
            </a:r>
          </a:p>
        </p:txBody>
      </p:sp>
      <p:sp>
        <p:nvSpPr>
          <p:cNvPr id="51" name="paragraph-610.64">
            <a:extLst xmlns:a="http://schemas.openxmlformats.org/drawingml/2006/main">
              <a:ext uri="{FF2B5EF4-FFF2-40B4-BE49-F238E27FC236}">
                <a16:creationId xmlns:a16="http://schemas.microsoft.com/office/drawing/2014/main" id="{DCDD2749-4167-4595-8ABB-962DF2A1F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16346"/>
            <a:ext cx="6496050" cy="8092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가장 중요한 학습은 AI가 만든 검증 지표도 틀릴 수 있다는 점이었다. 레벨 우위 계산에서 서로 다른 표본 수를 나눈 오류를 감사 에이전트가 찾아냈고, 동일 입력 격자 비교로 계약을 다시 만들었다.</a:t>
            </a:r>
          </a:p>
        </p:txBody>
      </p:sp>
    </p:spTree>
    <p:extLst>
      <p:ext uri="{BB962C8B-B14F-4D97-AF65-F5344CB8AC3E}">
        <p14:creationId xmlns:p14="http://schemas.microsoft.com/office/powerpoint/2010/main" val="20143800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DC72B1A6-8028-419C-A834-6FBCCF251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Portfolio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2563383-E515-4451-AEB4-EEFB3952E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8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9C1F2A44-7B2A-48AC-98B2-3E8F93EF6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C5E8F15-9372-40EA-9E47-028DF6DE6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6. 기술 구조</a:t>
            </a:r>
          </a:p>
        </p:txBody>
      </p:sp>
      <p:sp>
        <p:nvSpPr>
          <p:cNvPr id="5" name="table-cell-140-0-0">
            <a:extLst xmlns:a="http://schemas.openxmlformats.org/drawingml/2006/main">
              <a:ext uri="{FF2B5EF4-FFF2-40B4-BE49-F238E27FC236}">
                <a16:creationId xmlns:a16="http://schemas.microsoft.com/office/drawing/2014/main" id="{CD3D5263-3040-44CF-9F0E-3D5897D2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6" name="table-text-140-0-0">
            <a:extLst xmlns:a="http://schemas.openxmlformats.org/drawingml/2006/main">
              <a:ext uri="{FF2B5EF4-FFF2-40B4-BE49-F238E27FC236}">
                <a16:creationId xmlns:a16="http://schemas.microsoft.com/office/drawing/2014/main" id="{25093B7B-7833-4916-AE54-3EF462004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00175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계층</a:t>
            </a:r>
          </a:p>
        </p:txBody>
      </p:sp>
      <p:sp>
        <p:nvSpPr>
          <p:cNvPr id="7" name="table-cell-140-0-1">
            <a:extLst xmlns:a="http://schemas.openxmlformats.org/drawingml/2006/main">
              <a:ext uri="{FF2B5EF4-FFF2-40B4-BE49-F238E27FC236}">
                <a16:creationId xmlns:a16="http://schemas.microsoft.com/office/drawing/2014/main" id="{31283B4D-8712-496D-BAA5-C9BC1E696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1333500"/>
            <a:ext cx="32480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8" name="table-text-140-0-1">
            <a:extLst xmlns:a="http://schemas.openxmlformats.org/drawingml/2006/main">
              <a:ext uri="{FF2B5EF4-FFF2-40B4-BE49-F238E27FC236}">
                <a16:creationId xmlns:a16="http://schemas.microsoft.com/office/drawing/2014/main" id="{90DC714F-85AE-4859-ACC8-42D6C037F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400175"/>
            <a:ext cx="307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설계 의도</a:t>
            </a:r>
          </a:p>
        </p:txBody>
      </p:sp>
      <p:sp>
        <p:nvSpPr>
          <p:cNvPr id="9" name="table-cell-140-1-0">
            <a:extLst xmlns:a="http://schemas.openxmlformats.org/drawingml/2006/main">
              <a:ext uri="{FF2B5EF4-FFF2-40B4-BE49-F238E27FC236}">
                <a16:creationId xmlns:a16="http://schemas.microsoft.com/office/drawing/2014/main" id="{A8919E46-4418-44A8-9A56-0E4880A8F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0" name="table-text-140-1-0">
            <a:extLst xmlns:a="http://schemas.openxmlformats.org/drawingml/2006/main">
              <a:ext uri="{FF2B5EF4-FFF2-40B4-BE49-F238E27FC236}">
                <a16:creationId xmlns:a16="http://schemas.microsoft.com/office/drawing/2014/main" id="{4E5032F5-8AD3-45BB-83AD-A28EB7364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573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데이터 기반 StageCatalog</a:t>
            </a:r>
          </a:p>
        </p:txBody>
      </p:sp>
      <p:sp>
        <p:nvSpPr>
          <p:cNvPr id="11" name="table-cell-140-1-1">
            <a:extLst xmlns:a="http://schemas.openxmlformats.org/drawingml/2006/main">
              <a:ext uri="{FF2B5EF4-FFF2-40B4-BE49-F238E27FC236}">
                <a16:creationId xmlns:a16="http://schemas.microsoft.com/office/drawing/2014/main" id="{9DED3E6A-284F-4E42-A512-F2EA8F4C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17907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2" name="table-text-140-1-1">
            <a:extLst xmlns:a="http://schemas.openxmlformats.org/drawingml/2006/main">
              <a:ext uri="{FF2B5EF4-FFF2-40B4-BE49-F238E27FC236}">
                <a16:creationId xmlns:a16="http://schemas.microsoft.com/office/drawing/2014/main" id="{A66A4B3E-39AD-44C7-BDF6-2EA90B9C8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8573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40패턴을 코드 수정 없이 검증·생성</a:t>
            </a:r>
          </a:p>
        </p:txBody>
      </p:sp>
      <p:sp>
        <p:nvSpPr>
          <p:cNvPr id="13" name="table-cell-140-2-0">
            <a:extLst xmlns:a="http://schemas.openxmlformats.org/drawingml/2006/main">
              <a:ext uri="{FF2B5EF4-FFF2-40B4-BE49-F238E27FC236}">
                <a16:creationId xmlns:a16="http://schemas.microsoft.com/office/drawing/2014/main" id="{84314D56-79D4-4E5E-8AB1-98451AC95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907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4" name="table-text-140-2-0">
            <a:extLst xmlns:a="http://schemas.openxmlformats.org/drawingml/2006/main">
              <a:ext uri="{FF2B5EF4-FFF2-40B4-BE49-F238E27FC236}">
                <a16:creationId xmlns:a16="http://schemas.microsoft.com/office/drawing/2014/main" id="{5C50A852-A2D6-40D2-B5C3-FA8D88300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574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결정론 ShotResolver</a:t>
            </a:r>
          </a:p>
        </p:txBody>
      </p:sp>
      <p:sp>
        <p:nvSpPr>
          <p:cNvPr id="15" name="table-cell-140-2-1">
            <a:extLst xmlns:a="http://schemas.openxmlformats.org/drawingml/2006/main">
              <a:ext uri="{FF2B5EF4-FFF2-40B4-BE49-F238E27FC236}">
                <a16:creationId xmlns:a16="http://schemas.microsoft.com/office/drawing/2014/main" id="{32F3A0E4-0590-4791-A4E7-3C24A90B3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1907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6" name="table-text-140-2-1">
            <a:extLst xmlns:a="http://schemas.openxmlformats.org/drawingml/2006/main">
              <a:ext uri="{FF2B5EF4-FFF2-40B4-BE49-F238E27FC236}">
                <a16:creationId xmlns:a16="http://schemas.microsoft.com/office/drawing/2014/main" id="{052DEA45-A3AF-4C4F-8DC5-449A41297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2574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리플레이와 미리보기, 테스트가 같은 판정 사용</a:t>
            </a:r>
          </a:p>
        </p:txBody>
      </p:sp>
      <p:sp>
        <p:nvSpPr>
          <p:cNvPr id="17" name="table-cell-140-3-0">
            <a:extLst xmlns:a="http://schemas.openxmlformats.org/drawingml/2006/main">
              <a:ext uri="{FF2B5EF4-FFF2-40B4-BE49-F238E27FC236}">
                <a16:creationId xmlns:a16="http://schemas.microsoft.com/office/drawing/2014/main" id="{557573DA-707B-40BA-9EF6-F6A877796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908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18" name="table-text-140-3-0">
            <a:extLst xmlns:a="http://schemas.openxmlformats.org/drawingml/2006/main">
              <a:ext uri="{FF2B5EF4-FFF2-40B4-BE49-F238E27FC236}">
                <a16:creationId xmlns:a16="http://schemas.microsoft.com/office/drawing/2014/main" id="{65A40354-B7EB-47B6-80D4-D44799EDA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574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RunState v3</a:t>
            </a:r>
          </a:p>
        </p:txBody>
      </p:sp>
      <p:sp>
        <p:nvSpPr>
          <p:cNvPr id="19" name="table-cell-140-3-1">
            <a:extLst xmlns:a="http://schemas.openxmlformats.org/drawingml/2006/main">
              <a:ext uri="{FF2B5EF4-FFF2-40B4-BE49-F238E27FC236}">
                <a16:creationId xmlns:a16="http://schemas.microsoft.com/office/drawing/2014/main" id="{D2AE5881-B657-4D73-A430-975AE5193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5908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0" name="table-text-140-3-1">
            <a:extLst xmlns:a="http://schemas.openxmlformats.org/drawingml/2006/main">
              <a:ext uri="{FF2B5EF4-FFF2-40B4-BE49-F238E27FC236}">
                <a16:creationId xmlns:a16="http://schemas.microsoft.com/office/drawing/2014/main" id="{02CC03B4-1305-4DFC-8B57-9C94B8CC7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6574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잔류 공·보상·힌트·열쇠를 안전하게 복구</a:t>
            </a:r>
          </a:p>
        </p:txBody>
      </p:sp>
      <p:sp>
        <p:nvSpPr>
          <p:cNvPr id="21" name="table-cell-140-4-0">
            <a:extLst xmlns:a="http://schemas.openxmlformats.org/drawingml/2006/main">
              <a:ext uri="{FF2B5EF4-FFF2-40B4-BE49-F238E27FC236}">
                <a16:creationId xmlns:a16="http://schemas.microsoft.com/office/drawing/2014/main" id="{A9035A91-9DA3-44FE-B026-53D9A1993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908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2" name="table-text-140-4-0">
            <a:extLst xmlns:a="http://schemas.openxmlformats.org/drawingml/2006/main">
              <a:ext uri="{FF2B5EF4-FFF2-40B4-BE49-F238E27FC236}">
                <a16:creationId xmlns:a16="http://schemas.microsoft.com/office/drawing/2014/main" id="{DF9D8485-71A0-4510-B21E-08BCF3B1B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575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Flutter + Flame</a:t>
            </a:r>
          </a:p>
        </p:txBody>
      </p:sp>
      <p:sp>
        <p:nvSpPr>
          <p:cNvPr id="23" name="table-cell-140-4-1">
            <a:extLst xmlns:a="http://schemas.openxmlformats.org/drawingml/2006/main">
              <a:ext uri="{FF2B5EF4-FFF2-40B4-BE49-F238E27FC236}">
                <a16:creationId xmlns:a16="http://schemas.microsoft.com/office/drawing/2014/main" id="{1E6B1C0D-28B4-44A8-B76D-FB73FCB1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99085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B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4" name="table-text-140-4-1">
            <a:extLst xmlns:a="http://schemas.openxmlformats.org/drawingml/2006/main">
              <a:ext uri="{FF2B5EF4-FFF2-40B4-BE49-F238E27FC236}">
                <a16:creationId xmlns:a16="http://schemas.microsoft.com/office/drawing/2014/main" id="{FE93694B-2F01-41DA-8501-EC8D273DD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05752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적응형 UI와 Canvas 게임판 분리</a:t>
            </a:r>
          </a:p>
        </p:txBody>
      </p:sp>
      <p:sp>
        <p:nvSpPr>
          <p:cNvPr id="25" name="table-cell-140-5-0">
            <a:extLst xmlns:a="http://schemas.openxmlformats.org/drawingml/2006/main">
              <a:ext uri="{FF2B5EF4-FFF2-40B4-BE49-F238E27FC236}">
                <a16:creationId xmlns:a16="http://schemas.microsoft.com/office/drawing/2014/main" id="{9AA7CA3D-54A4-4327-9348-A9B7897C1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909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6" name="table-text-140-5-0">
            <a:extLst xmlns:a="http://schemas.openxmlformats.org/drawingml/2006/main">
              <a:ext uri="{FF2B5EF4-FFF2-40B4-BE49-F238E27FC236}">
                <a16:creationId xmlns:a16="http://schemas.microsoft.com/office/drawing/2014/main" id="{C1003CE0-BBC0-4C8B-9B68-203A9D19E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575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Validator + Golden</a:t>
            </a:r>
          </a:p>
        </p:txBody>
      </p:sp>
      <p:sp>
        <p:nvSpPr>
          <p:cNvPr id="27" name="table-cell-140-5-1">
            <a:extLst xmlns:a="http://schemas.openxmlformats.org/drawingml/2006/main">
              <a:ext uri="{FF2B5EF4-FFF2-40B4-BE49-F238E27FC236}">
                <a16:creationId xmlns:a16="http://schemas.microsoft.com/office/drawing/2014/main" id="{8D51B901-C630-422E-AFE3-E69FE71C4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3390900"/>
            <a:ext cx="32480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1DE"/>
            </a:solidFill>
            <a:prstDash val="solid"/>
          </a:ln>
        </p:spPr>
      </p:sp>
      <p:sp>
        <p:nvSpPr>
          <p:cNvPr id="28" name="table-text-140-5-1">
            <a:extLst xmlns:a="http://schemas.openxmlformats.org/drawingml/2006/main">
              <a:ext uri="{FF2B5EF4-FFF2-40B4-BE49-F238E27FC236}">
                <a16:creationId xmlns:a16="http://schemas.microsoft.com/office/drawing/2014/main" id="{7FBF4A94-980D-43D3-A494-7F02C79DA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457575"/>
            <a:ext cx="3076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구조·물리·접근성·화면을 자동 검사</a:t>
            </a:r>
          </a:p>
        </p:txBody>
      </p:sp>
    </p:spTree>
    <p:extLst>
      <p:ext uri="{BB962C8B-B14F-4D97-AF65-F5344CB8AC3E}">
        <p14:creationId xmlns:p14="http://schemas.microsoft.com/office/powerpoint/2010/main" val="55415240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E449E6E5-14FE-43BF-96C1-4FAE09BF5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Portfolio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B7288FF-5F06-4547-B6D0-084BFCDB4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9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7B3A872A-A811-4C71-B70A-2E6ACCEEF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C8447C5-3884-4141-B2CC-636D8FE8E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7. 결과와 품질 증거</a:t>
            </a:r>
          </a:p>
        </p:txBody>
      </p:sp>
      <p:sp>
        <p:nvSpPr>
          <p:cNvPr id="5" name="bullets-140">
            <a:extLst xmlns:a="http://schemas.openxmlformats.org/drawingml/2006/main">
              <a:ext uri="{FF2B5EF4-FFF2-40B4-BE49-F238E27FC236}">
                <a16:creationId xmlns:a16="http://schemas.microsoft.com/office/drawing/2014/main" id="{DCE5DBC4-8776-41FB-B87C-4A424B76A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14599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10단계·40패턴 모두 플레이 가능하며 각 단계에서 기믹 사용이 우회보다 유리하다.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320×568 모바일부터 태블릿까지 보드·보상·게이지·SafeArea 화면을 검증했다.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난이도 변경·앱 재개·크래시 복구에서도 보통 기록이 오염되지 않는다.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Web 공개 빌드와 Android release 빌드를 생성했다.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fa1550ef5c47e4"/>
          <a:stretch xmlns:a="http://schemas.openxmlformats.org/drawingml/2006/main"/>
        </p:blipFill>
        <p:spPr>
          <a:xfrm xmlns:a="http://schemas.openxmlformats.org/drawingml/2006/main">
            <a:off x="2896002" y="2888742"/>
            <a:ext cx="1770845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7" name="image-caption-303.28">
            <a:extLst xmlns:a="http://schemas.openxmlformats.org/drawingml/2006/main">
              <a:ext uri="{FF2B5EF4-FFF2-40B4-BE49-F238E27FC236}">
                <a16:creationId xmlns:a16="http://schemas.microsoft.com/office/drawing/2014/main" id="{3E8A90AD-AFD2-48FF-A489-849F8D533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89142"/>
            <a:ext cx="6229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105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모바일 클리어 보상 화면</a:t>
            </a:r>
          </a:p>
        </p:txBody>
      </p:sp>
    </p:spTree>
    <p:extLst>
      <p:ext uri="{BB962C8B-B14F-4D97-AF65-F5344CB8AC3E}">
        <p14:creationId xmlns:p14="http://schemas.microsoft.com/office/powerpoint/2010/main" val="194719829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running-label">
            <a:extLst xmlns:a="http://schemas.openxmlformats.org/drawingml/2006/main">
              <a:ext uri="{FF2B5EF4-FFF2-40B4-BE49-F238E27FC236}">
                <a16:creationId xmlns:a16="http://schemas.microsoft.com/office/drawing/2014/main" id="{E3682DCE-A075-4E24-8FF3-9FC7DF3C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defRPr>
            </a:pPr>
            <a:r>
              <a:rPr sz="900" b="1">
                <a:solidFill>
                  <a:srgbClr val="2C7A7B"/>
                </a:solidFill>
                <a:latin typeface="NanumGothic"/>
                <a:ea typeface="NanumGothic"/>
                <a:cs typeface="NanumGothic"/>
              </a:rPr>
              <a:t>Property Shot · Portfolio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BA3FD0C-EBF7-457B-98FC-1AD386AB0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48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defRPr>
            </a:pPr>
            <a:r>
              <a:rPr sz="900" b="0">
                <a:solidFill>
                  <a:srgbClr val="607477"/>
                </a:solidFill>
                <a:latin typeface="NanumGothic"/>
                <a:ea typeface="NanumGothic"/>
                <a:cs typeface="NanumGothic"/>
              </a:rPr>
              <a:t>10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1AB9450B-8A46-4BD4-971E-60D42C6B0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6496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2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460E15E-4839-4653-94B5-2C995C219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649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2625" b="1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8. 내가 만든 가치</a:t>
            </a:r>
          </a:p>
        </p:txBody>
      </p:sp>
      <p:sp>
        <p:nvSpPr>
          <p:cNvPr id="5" name="bullets-140">
            <a:extLst xmlns:a="http://schemas.openxmlformats.org/drawingml/2006/main">
              <a:ext uri="{FF2B5EF4-FFF2-40B4-BE49-F238E27FC236}">
                <a16:creationId xmlns:a16="http://schemas.microsoft.com/office/drawing/2014/main" id="{5D96BEFC-76CC-4718-9BD1-BF1467000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496050" cy="18059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단순 조준 게임을 ‘장면 상태를 편집하는 퍼즐’로 확장했다.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초보 지원과 기록 공정성을 동시에 만족하는 난이도 정책을 만들었다.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자연어 피드백을 데이터와 테스트 증거로 전환하는 AI 제작 체계를 설계했다.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잘못된 AI 결과를 독립 감사로 반려하고 수정하는 운영 문화를 만들었다.</a:t>
            </a:r>
          </a:p>
          <a:p xmlns:a="http://schemas.openxmlformats.org/drawingml/2006/main">
            <a:pPr marL="20" indent="-12">
              <a:lnSpc>
                <a:spcPct val="118000"/>
              </a:lnSpc>
              <a:spcAft>
                <a:spcPts val="8"/>
              </a:spcAft>
              <a:buNone/>
              <a:def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defRPr>
            </a:pPr>
            <a:r>
              <a:rPr sz="1200">
                <a:solidFill>
                  <a:srgbClr val="173A3F"/>
                </a:solidFill>
                <a:latin typeface="NanumGothic"/>
                <a:ea typeface="NanumGothic"/>
                <a:cs typeface="NanumGothic"/>
              </a:rPr>
              <a:t>게임, 기술 문서와 편집 가능한 발표 자료를 하나의 결과물로 정리했다.</a:t>
            </a:r>
          </a:p>
        </p:txBody>
      </p:sp>
    </p:spTree>
    <p:extLst>
      <p:ext uri="{BB962C8B-B14F-4D97-AF65-F5344CB8AC3E}">
        <p14:creationId xmlns:p14="http://schemas.microsoft.com/office/powerpoint/2010/main" val="85927623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2026-08-10T12:16:31.3870000Z</dcterms:created>
  <dcterms:modified xsi:type="dcterms:W3CDTF">2026-08-10T12:16:31.3870000Z</dcterms:modified>
</coreProperties>
</file>