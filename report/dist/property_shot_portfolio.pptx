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21426fa0f94016" /><Relationship Type="http://schemas.openxmlformats.org/officeDocument/2006/relationships/extended-properties" Target="/docProps/app.xml" Id="R01d58fbc62a946e5" /><Relationship Type="http://schemas.openxmlformats.org/officeDocument/2006/relationships/officeDocument" Target="/ppt/presentation.xml" Id="R5217a3830fc44e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eadb92f1724d30"/>
  </p:sldMasterIdLst>
  <p:notesMasterIdLst>
    <p:notesMasterId xmlns:r="http://schemas.openxmlformats.org/officeDocument/2006/relationships" r:id="R55c8ff8f0a154131"/>
  </p:notesMasterIdLst>
  <p:sldIdLst>
    <p:sldId xmlns:r="http://schemas.openxmlformats.org/officeDocument/2006/relationships" id="256" r:id="R863969c1d3574224"/>
    <p:sldId xmlns:r="http://schemas.openxmlformats.org/officeDocument/2006/relationships" id="257" r:id="R58b2872483fb4e0d"/>
    <p:sldId xmlns:r="http://schemas.openxmlformats.org/officeDocument/2006/relationships" id="258" r:id="Rd7bfe43653894ab1"/>
    <p:sldId xmlns:r="http://schemas.openxmlformats.org/officeDocument/2006/relationships" id="259" r:id="Rcce8f8dc11f243a5"/>
    <p:sldId xmlns:r="http://schemas.openxmlformats.org/officeDocument/2006/relationships" id="260" r:id="R9b4d8599b0ad403f"/>
    <p:sldId xmlns:r="http://schemas.openxmlformats.org/officeDocument/2006/relationships" id="261" r:id="R0eafaa31b0c14ec2"/>
    <p:sldId xmlns:r="http://schemas.openxmlformats.org/officeDocument/2006/relationships" id="262" r:id="Rae0d4f1e16bb4302"/>
    <p:sldId xmlns:r="http://schemas.openxmlformats.org/officeDocument/2006/relationships" id="263" r:id="R0c56189c970940ed"/>
    <p:sldId xmlns:r="http://schemas.openxmlformats.org/officeDocument/2006/relationships" id="264" r:id="R81789649cb124486"/>
    <p:sldId xmlns:r="http://schemas.openxmlformats.org/officeDocument/2006/relationships" id="265" r:id="Rac4f91be525f4db6"/>
    <p:sldId xmlns:r="http://schemas.openxmlformats.org/officeDocument/2006/relationships" id="266" r:id="Re219774f979342f9"/>
    <p:sldId xmlns:r="http://schemas.openxmlformats.org/officeDocument/2006/relationships" id="267" r:id="R7f665ceb49854af5"/>
    <p:sldId xmlns:r="http://schemas.openxmlformats.org/officeDocument/2006/relationships" id="268" r:id="Rc0d68b0e348e4b73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dfbc07745141b4" /><Relationship Type="http://schemas.openxmlformats.org/officeDocument/2006/relationships/slideMaster" Target="/ppt/slideMasters/slideMaster1.xml" Id="R15eadb92f1724d30" /><Relationship Type="http://schemas.openxmlformats.org/officeDocument/2006/relationships/notesMaster" Target="/ppt/notesMasters/notesMaster1.xml" Id="R55c8ff8f0a154131" /><Relationship Type="http://schemas.openxmlformats.org/officeDocument/2006/relationships/presProps" Target="/ppt/presProps.xml" Id="R0ba9146ceabe41d7" /><Relationship Type="http://schemas.openxmlformats.org/officeDocument/2006/relationships/tableStyles" Target="/ppt/tableStyles.xml" Id="R0418e8f2bf0a4e83" /><Relationship Type="http://schemas.openxmlformats.org/officeDocument/2006/relationships/slide" Target="/ppt/slides/slide1.xml" Id="R863969c1d3574224" /><Relationship Type="http://schemas.openxmlformats.org/officeDocument/2006/relationships/slide" Target="/ppt/slides/slide2.xml" Id="R58b2872483fb4e0d" /><Relationship Type="http://schemas.openxmlformats.org/officeDocument/2006/relationships/slide" Target="/ppt/slides/slide3.xml" Id="Rd7bfe43653894ab1" /><Relationship Type="http://schemas.openxmlformats.org/officeDocument/2006/relationships/slide" Target="/ppt/slides/slide4.xml" Id="Rcce8f8dc11f243a5" /><Relationship Type="http://schemas.openxmlformats.org/officeDocument/2006/relationships/slide" Target="/ppt/slides/slide5.xml" Id="R9b4d8599b0ad403f" /><Relationship Type="http://schemas.openxmlformats.org/officeDocument/2006/relationships/slide" Target="/ppt/slides/slide6.xml" Id="R0eafaa31b0c14ec2" /><Relationship Type="http://schemas.openxmlformats.org/officeDocument/2006/relationships/slide" Target="/ppt/slides/slide7.xml" Id="Rae0d4f1e16bb4302" /><Relationship Type="http://schemas.openxmlformats.org/officeDocument/2006/relationships/slide" Target="/ppt/slides/slide8.xml" Id="R0c56189c970940ed" /><Relationship Type="http://schemas.openxmlformats.org/officeDocument/2006/relationships/slide" Target="/ppt/slides/slide9.xml" Id="R81789649cb124486" /><Relationship Type="http://schemas.openxmlformats.org/officeDocument/2006/relationships/slide" Target="/ppt/slides/slide10.xml" Id="Rac4f91be525f4db6" /><Relationship Type="http://schemas.openxmlformats.org/officeDocument/2006/relationships/slide" Target="/ppt/slides/slide11.xml" Id="Re219774f979342f9" /><Relationship Type="http://schemas.openxmlformats.org/officeDocument/2006/relationships/slide" Target="/ppt/slides/slide12.xml" Id="R7f665ceb49854af5" /><Relationship Type="http://schemas.openxmlformats.org/officeDocument/2006/relationships/slide" Target="/ppt/slides/slide13.xml" Id="Rc0d68b0e348e4b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df0825061140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6601e01c864c0a" /><Relationship Type="http://schemas.openxmlformats.org/officeDocument/2006/relationships/notesMaster" Target="/ppt/notesMasters/notesMaster1.xml" Id="R433177f87d1645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84d819b8d74f83" /><Relationship Type="http://schemas.openxmlformats.org/officeDocument/2006/relationships/notesMaster" Target="/ppt/notesMasters/notesMaster1.xml" Id="Recffd6e5770e44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2b403ca0d34f07" /><Relationship Type="http://schemas.openxmlformats.org/officeDocument/2006/relationships/notesMaster" Target="/ppt/notesMasters/notesMaster1.xml" Id="Reaa68ab2d93446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2afe9f8dc14ed2" /><Relationship Type="http://schemas.openxmlformats.org/officeDocument/2006/relationships/notesMaster" Target="/ppt/notesMasters/notesMaster1.xml" Id="R06f167eb9cb148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44f914a8ba4cf6" /><Relationship Type="http://schemas.openxmlformats.org/officeDocument/2006/relationships/notesMaster" Target="/ppt/notesMasters/notesMaster1.xml" Id="Rad6da1b21e7142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57ab88289c4d78" /><Relationship Type="http://schemas.openxmlformats.org/officeDocument/2006/relationships/notesMaster" Target="/ppt/notesMasters/notesMaster1.xml" Id="R2d841867c7d344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8209de3cf74674" /><Relationship Type="http://schemas.openxmlformats.org/officeDocument/2006/relationships/notesMaster" Target="/ppt/notesMasters/notesMaster1.xml" Id="Rf911a15d4b714e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fd51be982b4ece" /><Relationship Type="http://schemas.openxmlformats.org/officeDocument/2006/relationships/notesMaster" Target="/ppt/notesMasters/notesMaster1.xml" Id="R19b0e82d57a34e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76873e0a3d4f59" /><Relationship Type="http://schemas.openxmlformats.org/officeDocument/2006/relationships/notesMaster" Target="/ppt/notesMasters/notesMaster1.xml" Id="R9c90cd204e9f4f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cd94ae4672499b" /><Relationship Type="http://schemas.openxmlformats.org/officeDocument/2006/relationships/notesMaster" Target="/ppt/notesMasters/notesMaster1.xml" Id="R25619821366744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a265d05978e42f5" /><Relationship Type="http://schemas.openxmlformats.org/officeDocument/2006/relationships/notesMaster" Target="/ppt/notesMasters/notesMaster1.xml" Id="Rca3966c78f634a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c9789ad5534c5a" /><Relationship Type="http://schemas.openxmlformats.org/officeDocument/2006/relationships/notesMaster" Target="/ppt/notesMasters/notesMaster1.xml" Id="Rd6ec73aa4c434a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bdca5a9859345f0" /><Relationship Type="http://schemas.openxmlformats.org/officeDocument/2006/relationships/notesMaster" Target="/ppt/notesMasters/notesMaster1.xml" Id="R71d7087ef40349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screenshots/commercial-vertical-slice/390x844-current-play-audit.png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screenshots/commercial-vertical-slice/390x844-material-source-popup.png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test/goldens/charge_gauge_green_right_390x844.png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test/goldens/hint_key_sheet_l1_390x844.png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test/goldens/run_reward_320x568_hint_first.png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5a8d6a7f0242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27f75d69d04ad8" /><Relationship Type="http://schemas.openxmlformats.org/officeDocument/2006/relationships/slideLayout" Target="/ppt/slideLayouts/slideLayout1.xml" Id="R87ffc000b72940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ffc000b72940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8360afdf24d34" /><Relationship Type="http://schemas.openxmlformats.org/officeDocument/2006/relationships/image" Target="/ppt/media/image.png" Id="Rc49c8f627fdb48a3" /><Relationship Type="http://schemas.openxmlformats.org/officeDocument/2006/relationships/notesSlide" Target="/ppt/notesSlides/notesSlide1.xml" Id="R6f3510250dff41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e16656eb54ede" /><Relationship Type="http://schemas.openxmlformats.org/officeDocument/2006/relationships/image" Target="/ppt/media/image2.png" Id="R15320ad8d7a44b8e" /><Relationship Type="http://schemas.openxmlformats.org/officeDocument/2006/relationships/notesSlide" Target="/ppt/notesSlides/notesSlide2.xml" Id="R091baf411a5c4f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6593893d94f0e" /><Relationship Type="http://schemas.openxmlformats.org/officeDocument/2006/relationships/notesSlide" Target="/ppt/notesSlides/notesSlide3.xml" Id="R8a0925fc509b42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3470b62a34862" /><Relationship Type="http://schemas.openxmlformats.org/officeDocument/2006/relationships/image" Target="/ppt/media/image3.png" Id="Rac609272bd1c47fb" /><Relationship Type="http://schemas.openxmlformats.org/officeDocument/2006/relationships/notesSlide" Target="/ppt/notesSlides/notesSlide4.xml" Id="R64e66cab35e84e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29f5a3337402a" /><Relationship Type="http://schemas.openxmlformats.org/officeDocument/2006/relationships/image" Target="/ppt/media/image4.png" Id="R9b52a67deabb4493" /><Relationship Type="http://schemas.openxmlformats.org/officeDocument/2006/relationships/notesSlide" Target="/ppt/notesSlides/notesSlide5.xml" Id="R0d892f99d56948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0cd3dc8b5454e" /><Relationship Type="http://schemas.openxmlformats.org/officeDocument/2006/relationships/image" Target="/ppt/media/image5.png" Id="R8bff62bed7ee483a" /><Relationship Type="http://schemas.openxmlformats.org/officeDocument/2006/relationships/notesSlide" Target="/ppt/notesSlides/notesSlide6.xml" Id="Rbca4f87c886040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e8fd14cf94e45" /><Relationship Type="http://schemas.openxmlformats.org/officeDocument/2006/relationships/image" Target="/ppt/media/image6.png" Id="R2f8bf1c558574b86" /><Relationship Type="http://schemas.openxmlformats.org/officeDocument/2006/relationships/notesSlide" Target="/ppt/notesSlides/notesSlide7.xml" Id="Rddb42fd8cd2143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96e875f334e86" /><Relationship Type="http://schemas.openxmlformats.org/officeDocument/2006/relationships/notesSlide" Target="/ppt/notesSlides/notesSlide8.xml" Id="Rdad5b8eba5af4b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7f185f6ba4fd2" /><Relationship Type="http://schemas.openxmlformats.org/officeDocument/2006/relationships/notesSlide" Target="/ppt/notesSlides/notesSlide9.xml" Id="R3380341e9d204b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b9ae60a0445ce" /><Relationship Type="http://schemas.openxmlformats.org/officeDocument/2006/relationships/notesSlide" Target="/ppt/notesSlides/notesSlide10.xml" Id="Rc1a7286dbf4544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b298dad214271" /><Relationship Type="http://schemas.openxmlformats.org/officeDocument/2006/relationships/image" Target="/ppt/media/image7.png" Id="Rc6bed140f64a427f" /><Relationship Type="http://schemas.openxmlformats.org/officeDocument/2006/relationships/notesSlide" Target="/ppt/notesSlides/notesSlide11.xml" Id="Rcf2826ea134541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a96a7df0c4987" /><Relationship Type="http://schemas.openxmlformats.org/officeDocument/2006/relationships/notesSlide" Target="/ppt/notesSlides/notesSlide12.xml" Id="R316c872e12e44f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fb76ea81d4fbf" /><Relationship Type="http://schemas.openxmlformats.org/officeDocument/2006/relationships/notesSlide" Target="/ppt/notesSlides/notesSlide13.xml" Id="R699254183d2b43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047EF74C-647A-4FBC-A20C-6B95D76D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8732AAF6-AA2A-46E6-B647-070FF240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GAME · AI · PRODUCT CASE STUDY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67E1FBA-8348-4186-A63C-3C3FB2B9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2F6AE9A7-BCA4-4003-B4D1-937E533E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c8f627fdb48a3"/>
          <a:stretch xmlns:a="http://schemas.openxmlformats.org/drawingml/2006/main"/>
        </p:blipFill>
        <p:spPr>
          <a:xfrm xmlns:a="http://schemas.openxmlformats.org/drawingml/2006/main">
            <a:off x="3055200" y="44577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68E58609-FBA1-4DE4-BA86-5FBA2326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5725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2FA670A3-E599-40F1-8BF6-EFDF526C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528806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906AF77E-B0CF-4E1E-81A3-ED523999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C182AB-EFEE-4835-8019-C31B7656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D757883-1744-488B-9215-F3470AFC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9D5541-49BD-4EC2-B254-51836A02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프로젝트 요약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E62BA0A2-8A16-495F-8C5B-3CFB9702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한방은 환경 오브젝트의 물리 속성을 공에 옮기고, 바뀐 장면과 잔류 공을 다음 해법으로 사용하는 세로형 물리 퍼즐이다. 10단계 × 4패턴의 플레이 가능한 수직 프로토타입을 기획·구현·검증하고, AI 에이전트를 작은 제작 조직처럼 운영했다.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20ad8d7a44b8e"/>
          <a:stretch xmlns:a="http://schemas.openxmlformats.org/drawingml/2006/main"/>
        </p:blipFill>
        <p:spPr>
          <a:xfrm xmlns:a="http://schemas.openxmlformats.org/drawingml/2006/main">
            <a:off x="3055200" y="2257044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236.96">
            <a:extLst xmlns:a="http://schemas.openxmlformats.org/drawingml/2006/main">
              <a:ext uri="{FF2B5EF4-FFF2-40B4-BE49-F238E27FC236}">
                <a16:creationId xmlns:a16="http://schemas.microsoft.com/office/drawing/2014/main" id="{EE671B4B-DFF9-4E8B-92A5-2F90B717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444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한방의 실제 모바일 플레이 화면</a:t>
            </a:r>
          </a:p>
        </p:txBody>
      </p:sp>
      <p:sp>
        <p:nvSpPr>
          <p:cNvPr id="8" name="table-cell-620.96-0-0">
            <a:extLst xmlns:a="http://schemas.openxmlformats.org/drawingml/2006/main">
              <a:ext uri="{FF2B5EF4-FFF2-40B4-BE49-F238E27FC236}">
                <a16:creationId xmlns:a16="http://schemas.microsoft.com/office/drawing/2014/main" id="{3E2DCEF1-29BF-427C-8F8C-A819F39A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46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620.96-0-0">
            <a:extLst xmlns:a="http://schemas.openxmlformats.org/drawingml/2006/main">
              <a:ext uri="{FF2B5EF4-FFF2-40B4-BE49-F238E27FC236}">
                <a16:creationId xmlns:a16="http://schemas.microsoft.com/office/drawing/2014/main" id="{EA682069-13C3-40FC-A727-7D152A41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813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항목</a:t>
            </a:r>
          </a:p>
        </p:txBody>
      </p:sp>
      <p:sp>
        <p:nvSpPr>
          <p:cNvPr id="10" name="table-cell-620.96-0-1">
            <a:extLst xmlns:a="http://schemas.openxmlformats.org/drawingml/2006/main">
              <a:ext uri="{FF2B5EF4-FFF2-40B4-BE49-F238E27FC236}">
                <a16:creationId xmlns:a16="http://schemas.microsoft.com/office/drawing/2014/main" id="{50235954-346C-4E6C-8D0E-F74399CF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146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620.96-0-1">
            <a:extLst xmlns:a="http://schemas.openxmlformats.org/drawingml/2006/main">
              <a:ext uri="{FF2B5EF4-FFF2-40B4-BE49-F238E27FC236}">
                <a16:creationId xmlns:a16="http://schemas.microsoft.com/office/drawing/2014/main" id="{56487A8F-DF1C-404C-8C56-1CC3A1F8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9813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2" name="table-cell-620.96-1-0">
            <a:extLst xmlns:a="http://schemas.openxmlformats.org/drawingml/2006/main">
              <a:ext uri="{FF2B5EF4-FFF2-40B4-BE49-F238E27FC236}">
                <a16:creationId xmlns:a16="http://schemas.microsoft.com/office/drawing/2014/main" id="{95CEB7D1-3190-43A0-9B81-5233189A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18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620.96-1-0">
            <a:extLst xmlns:a="http://schemas.openxmlformats.org/drawingml/2006/main">
              <a:ext uri="{FF2B5EF4-FFF2-40B4-BE49-F238E27FC236}">
                <a16:creationId xmlns:a16="http://schemas.microsoft.com/office/drawing/2014/main" id="{F397D9C6-92A7-4717-848E-EC1CED2B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385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14" name="table-cell-620.96-1-1">
            <a:extLst xmlns:a="http://schemas.openxmlformats.org/drawingml/2006/main">
              <a:ext uri="{FF2B5EF4-FFF2-40B4-BE49-F238E27FC236}">
                <a16:creationId xmlns:a16="http://schemas.microsoft.com/office/drawing/2014/main" id="{626E5CC8-E8E7-40A4-A62F-997B84AC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3718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620.96-1-1">
            <a:extLst xmlns:a="http://schemas.openxmlformats.org/drawingml/2006/main">
              <a:ext uri="{FF2B5EF4-FFF2-40B4-BE49-F238E27FC236}">
                <a16:creationId xmlns:a16="http://schemas.microsoft.com/office/drawing/2014/main" id="{8AEED357-2BED-4B69-B02D-8C6137D5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4385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 디렉팅, 시스템 설계, AI 오케스트레이션, 품질 기준 결정</a:t>
            </a:r>
          </a:p>
        </p:txBody>
      </p:sp>
      <p:sp>
        <p:nvSpPr>
          <p:cNvPr id="16" name="table-cell-620.96-2-0">
            <a:extLst xmlns:a="http://schemas.openxmlformats.org/drawingml/2006/main">
              <a:ext uri="{FF2B5EF4-FFF2-40B4-BE49-F238E27FC236}">
                <a16:creationId xmlns:a16="http://schemas.microsoft.com/office/drawing/2014/main" id="{9273B3D9-0C71-4A75-802A-9D833E5D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718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620.96-2-0">
            <a:extLst xmlns:a="http://schemas.openxmlformats.org/drawingml/2006/main">
              <a:ext uri="{FF2B5EF4-FFF2-40B4-BE49-F238E27FC236}">
                <a16:creationId xmlns:a16="http://schemas.microsoft.com/office/drawing/2014/main" id="{B1EEFF1B-3DBE-467D-AF32-3137E44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385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플랫폼</a:t>
            </a:r>
          </a:p>
        </p:txBody>
      </p:sp>
      <p:sp>
        <p:nvSpPr>
          <p:cNvPr id="18" name="table-cell-620.96-2-1">
            <a:extLst xmlns:a="http://schemas.openxmlformats.org/drawingml/2006/main">
              <a:ext uri="{FF2B5EF4-FFF2-40B4-BE49-F238E27FC236}">
                <a16:creationId xmlns:a16="http://schemas.microsoft.com/office/drawing/2014/main" id="{75051AE2-43F7-462D-917B-75612813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7718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620.96-2-1">
            <a:extLst xmlns:a="http://schemas.openxmlformats.org/drawingml/2006/main">
              <a:ext uri="{FF2B5EF4-FFF2-40B4-BE49-F238E27FC236}">
                <a16:creationId xmlns:a16="http://schemas.microsoft.com/office/drawing/2014/main" id="{02A3E7F5-A527-4480-837E-49AA9B95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385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 / Flame · Web / Android</a:t>
            </a:r>
          </a:p>
        </p:txBody>
      </p:sp>
      <p:sp>
        <p:nvSpPr>
          <p:cNvPr id="20" name="table-cell-620.96-3-0">
            <a:extLst xmlns:a="http://schemas.openxmlformats.org/drawingml/2006/main">
              <a:ext uri="{FF2B5EF4-FFF2-40B4-BE49-F238E27FC236}">
                <a16:creationId xmlns:a16="http://schemas.microsoft.com/office/drawing/2014/main" id="{4149655A-54FB-4A2B-981A-98EDED82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719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620.96-3-0">
            <a:extLst xmlns:a="http://schemas.openxmlformats.org/drawingml/2006/main">
              <a:ext uri="{FF2B5EF4-FFF2-40B4-BE49-F238E27FC236}">
                <a16:creationId xmlns:a16="http://schemas.microsoft.com/office/drawing/2014/main" id="{20ED0E25-D18C-4284-B3B8-13B7D6E5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386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범위</a:t>
            </a:r>
          </a:p>
        </p:txBody>
      </p:sp>
      <p:sp>
        <p:nvSpPr>
          <p:cNvPr id="22" name="table-cell-620.96-3-1">
            <a:extLst xmlns:a="http://schemas.openxmlformats.org/drawingml/2006/main">
              <a:ext uri="{FF2B5EF4-FFF2-40B4-BE49-F238E27FC236}">
                <a16:creationId xmlns:a16="http://schemas.microsoft.com/office/drawing/2014/main" id="{0F259982-D582-4212-A260-4A0EFA99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1719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620.96-3-1">
            <a:extLst xmlns:a="http://schemas.openxmlformats.org/drawingml/2006/main">
              <a:ext uri="{FF2B5EF4-FFF2-40B4-BE49-F238E27FC236}">
                <a16:creationId xmlns:a16="http://schemas.microsoft.com/office/drawing/2014/main" id="{177C2ABD-9173-4646-BFB0-B025D957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2386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난이도, 힌트, 보상, 리플레이, 오늘의 도전</a:t>
            </a:r>
          </a:p>
        </p:txBody>
      </p:sp>
      <p:sp>
        <p:nvSpPr>
          <p:cNvPr id="24" name="table-cell-620.96-4-0">
            <a:extLst xmlns:a="http://schemas.openxmlformats.org/drawingml/2006/main">
              <a:ext uri="{FF2B5EF4-FFF2-40B4-BE49-F238E27FC236}">
                <a16:creationId xmlns:a16="http://schemas.microsoft.com/office/drawing/2014/main" id="{B8DF6717-8241-4B14-85A6-4D839FED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719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620.96-4-0">
            <a:extLst xmlns:a="http://schemas.openxmlformats.org/drawingml/2006/main">
              <a:ext uri="{FF2B5EF4-FFF2-40B4-BE49-F238E27FC236}">
                <a16:creationId xmlns:a16="http://schemas.microsoft.com/office/drawing/2014/main" id="{9A8E3221-0515-4517-B5ED-2E36CEF3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386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핵심 성과</a:t>
            </a:r>
          </a:p>
        </p:txBody>
      </p:sp>
      <p:sp>
        <p:nvSpPr>
          <p:cNvPr id="26" name="table-cell-620.96-4-1">
            <a:extLst xmlns:a="http://schemas.openxmlformats.org/drawingml/2006/main">
              <a:ext uri="{FF2B5EF4-FFF2-40B4-BE49-F238E27FC236}">
                <a16:creationId xmlns:a16="http://schemas.microsoft.com/office/drawing/2014/main" id="{6067EEEC-A598-413E-9ED1-D5F9405B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5719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620.96-4-1">
            <a:extLst xmlns:a="http://schemas.openxmlformats.org/drawingml/2006/main">
              <a:ext uri="{FF2B5EF4-FFF2-40B4-BE49-F238E27FC236}">
                <a16:creationId xmlns:a16="http://schemas.microsoft.com/office/drawing/2014/main" id="{2FC53F05-05CF-4E84-BE78-C21DF364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6386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상태가 누적되는 물리 퍼즐, 검증 가능한 AI 협업, 완성된 Web·Android 빌드</a:t>
            </a:r>
          </a:p>
        </p:txBody>
      </p:sp>
    </p:spTree>
    <p:extLst>
      <p:ext uri="{BB962C8B-B14F-4D97-AF65-F5344CB8AC3E}">
        <p14:creationId xmlns:p14="http://schemas.microsoft.com/office/powerpoint/2010/main" val="12794073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FAAC7F34-4E79-4DEA-99C8-CDF17A31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AB45FE-3A37-4273-9993-49E21486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BDF3ADC-5E71-4935-99A8-12E69F81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565D24-D90D-443A-BFF8-B026451E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해결하려 한 문제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414BFB20-D392-4BBF-BEEC-946FA863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조준 퍼즐은 방향과 힘만 맞추면 반복적으로 느껴지기 쉽다. 반대로 기믹이 많아지면 초보자는 무엇을 해야 하는지 모른다. 이 프로젝트는 두 문제를 함께 풀었다.</a:t>
            </a:r>
          </a:p>
        </p:txBody>
      </p:sp>
      <p:sp>
        <p:nvSpPr>
          <p:cNvPr id="6" name="bullets-212.64">
            <a:extLst xmlns:a="http://schemas.openxmlformats.org/drawingml/2006/main">
              <a:ext uri="{FF2B5EF4-FFF2-40B4-BE49-F238E27FC236}">
                <a16:creationId xmlns:a16="http://schemas.microsoft.com/office/drawing/2014/main" id="{8537DAE0-7963-4D3F-9D10-590865C2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6496050" cy="1114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속성을 옮겨 장면 자체를 바꾸므로 매 샷의 의미를 늘린다.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공과 기물 상태가 남아 시행착오가 정보와 자원이 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모드·구체적 L1/L2 힌트·선택형 열쇠로 정답 공개 없이 진입 장벽을 낮춘다.</a:t>
            </a:r>
          </a:p>
        </p:txBody>
      </p:sp>
    </p:spTree>
    <p:extLst>
      <p:ext uri="{BB962C8B-B14F-4D97-AF65-F5344CB8AC3E}">
        <p14:creationId xmlns:p14="http://schemas.microsoft.com/office/powerpoint/2010/main" val="6926745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BBD3E356-3FED-42C4-A7C6-BA09816B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FF5446-3067-4EC7-9498-B3932A12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586187A-9EC3-4FE0-976B-8B66F26B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BFBB37-1C77-412F-A705-5AED76E69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경험 설계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48ADFAC0-3424-435F-8A5F-41F10A3C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플레이 루프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8904E3B8-529B-4393-AD14-5B509683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관찰 → 속성 선택 → 방향·힘 결정 → 물리 연쇄 → 바뀐 상태 재사용의 순환을 만들었다.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09272bd1c47fb"/>
          <a:stretch xmlns:a="http://schemas.openxmlformats.org/drawingml/2006/main"/>
        </p:blipFill>
        <p:spPr>
          <a:xfrm xmlns:a="http://schemas.openxmlformats.org/drawingml/2006/main">
            <a:off x="3055200" y="253974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266.64">
            <a:extLst xmlns:a="http://schemas.openxmlformats.org/drawingml/2006/main">
              <a:ext uri="{FF2B5EF4-FFF2-40B4-BE49-F238E27FC236}">
                <a16:creationId xmlns:a16="http://schemas.microsoft.com/office/drawing/2014/main" id="{A179C1A0-02B0-410B-99FF-4B257BF6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014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원본에서 공으로 능력을 옮기는 선택 화면</a:t>
            </a:r>
          </a:p>
        </p:txBody>
      </p:sp>
      <p:sp>
        <p:nvSpPr>
          <p:cNvPr id="9" name="subheading-650.64">
            <a:extLst xmlns:a="http://schemas.openxmlformats.org/drawingml/2006/main">
              <a:ext uri="{FF2B5EF4-FFF2-40B4-BE49-F238E27FC236}">
                <a16:creationId xmlns:a16="http://schemas.microsoft.com/office/drawing/2014/main" id="{723DE5C2-38D4-4797-BB7A-F6409EF4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734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실패를 자원으로 바꾸기</a:t>
            </a:r>
          </a:p>
        </p:txBody>
      </p:sp>
      <p:sp>
        <p:nvSpPr>
          <p:cNvPr id="10" name="paragraph-704.64">
            <a:extLst xmlns:a="http://schemas.openxmlformats.org/drawingml/2006/main">
              <a:ext uri="{FF2B5EF4-FFF2-40B4-BE49-F238E27FC236}">
                <a16:creationId xmlns:a16="http://schemas.microsoft.com/office/drawing/2014/main" id="{B35074E5-D928-479F-9EE7-3CBEB17B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1169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샷이 홀에 들어가지 않아도 공이 남고 문·스위치·반사판 상태가 유지된다. 플레이어는 실패를 초기화하지 않고 다음 샷의 발판으로 바꾼다. 이는 속성 한방의 가장 중요한 차별점이다.</a:t>
            </a:r>
          </a:p>
        </p:txBody>
      </p:sp>
      <p:sp>
        <p:nvSpPr>
          <p:cNvPr id="11" name="subheading-801.6">
            <a:extLst xmlns:a="http://schemas.openxmlformats.org/drawingml/2006/main">
              <a:ext uri="{FF2B5EF4-FFF2-40B4-BE49-F238E27FC236}">
                <a16:creationId xmlns:a16="http://schemas.microsoft.com/office/drawing/2014/main" id="{53B64936-3C89-4A53-9082-E99EE3D5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524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3.3 10단계 학습 설계</a:t>
            </a:r>
          </a:p>
        </p:txBody>
      </p:sp>
      <p:sp>
        <p:nvSpPr>
          <p:cNvPr id="12" name="paragraph-855.6">
            <a:extLst xmlns:a="http://schemas.openxmlformats.org/drawingml/2006/main">
              <a:ext uri="{FF2B5EF4-FFF2-40B4-BE49-F238E27FC236}">
                <a16:creationId xmlns:a16="http://schemas.microsoft.com/office/drawing/2014/main" id="{92D2984A-43EB-4F1B-8473-AA006259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4959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무거움과 탄성에서 시작해 스위치·풍선·비워진 원본·파워 발판·잔류 공·회전 반사판·속성 통합으로 확장했다. 단계별 4개 변형은 같은 규칙을 다른 공간에서 다시 적용하게 한다.</a:t>
            </a:r>
          </a:p>
        </p:txBody>
      </p:sp>
    </p:spTree>
    <p:extLst>
      <p:ext uri="{BB962C8B-B14F-4D97-AF65-F5344CB8AC3E}">
        <p14:creationId xmlns:p14="http://schemas.microsoft.com/office/powerpoint/2010/main" val="158913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1DF16C36-29EA-4882-9CDE-01E53DA9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D4F5FC-66D2-4D68-9F18-E02E9472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162436B-EB8D-42A5-B6EB-0E507599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7574AC-64DE-4296-9560-10CF5061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36A5A3D5-E401-4C83-B129-5C79C376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손가락에 가리는 게이지</a:t>
            </a:r>
          </a:p>
        </p:txBody>
      </p:sp>
      <p:sp>
        <p:nvSpPr>
          <p:cNvPr id="6" name="table-cell-194-0-0">
            <a:extLst xmlns:a="http://schemas.openxmlformats.org/drawingml/2006/main">
              <a:ext uri="{FF2B5EF4-FFF2-40B4-BE49-F238E27FC236}">
                <a16:creationId xmlns:a16="http://schemas.microsoft.com/office/drawing/2014/main" id="{8A16C442-8D4F-4046-8CA2-E525D01C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194-0-0">
            <a:extLst xmlns:a="http://schemas.openxmlformats.org/drawingml/2006/main">
              <a:ext uri="{FF2B5EF4-FFF2-40B4-BE49-F238E27FC236}">
                <a16:creationId xmlns:a16="http://schemas.microsoft.com/office/drawing/2014/main" id="{D4B2F347-9FB6-41BC-85E7-D5F3D5379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1452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구분</a:t>
            </a:r>
          </a:p>
        </p:txBody>
      </p:sp>
      <p:sp>
        <p:nvSpPr>
          <p:cNvPr id="8" name="table-cell-194-0-1">
            <a:extLst xmlns:a="http://schemas.openxmlformats.org/drawingml/2006/main">
              <a:ext uri="{FF2B5EF4-FFF2-40B4-BE49-F238E27FC236}">
                <a16:creationId xmlns:a16="http://schemas.microsoft.com/office/drawing/2014/main" id="{6268F165-DE2F-4658-9035-6F8AA10C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84785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194-0-1">
            <a:extLst xmlns:a="http://schemas.openxmlformats.org/drawingml/2006/main">
              <a:ext uri="{FF2B5EF4-FFF2-40B4-BE49-F238E27FC236}">
                <a16:creationId xmlns:a16="http://schemas.microsoft.com/office/drawing/2014/main" id="{5224A0E9-C0AB-48EB-A516-41670F5F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91452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0" name="table-cell-194-1-0">
            <a:extLst xmlns:a="http://schemas.openxmlformats.org/drawingml/2006/main">
              <a:ext uri="{FF2B5EF4-FFF2-40B4-BE49-F238E27FC236}">
                <a16:creationId xmlns:a16="http://schemas.microsoft.com/office/drawing/2014/main" id="{556F4F5B-0329-4B1C-9279-EC197351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194-1-0">
            <a:extLst xmlns:a="http://schemas.openxmlformats.org/drawingml/2006/main">
              <a:ext uri="{FF2B5EF4-FFF2-40B4-BE49-F238E27FC236}">
                <a16:creationId xmlns:a16="http://schemas.microsoft.com/office/drawing/2014/main" id="{F11C2EE9-25B1-4B34-B69D-4A42F93B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717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</a:t>
            </a:r>
          </a:p>
        </p:txBody>
      </p:sp>
      <p:sp>
        <p:nvSpPr>
          <p:cNvPr id="12" name="table-cell-194-1-1">
            <a:extLst xmlns:a="http://schemas.openxmlformats.org/drawingml/2006/main">
              <a:ext uri="{FF2B5EF4-FFF2-40B4-BE49-F238E27FC236}">
                <a16:creationId xmlns:a16="http://schemas.microsoft.com/office/drawing/2014/main" id="{2F96FA5D-CE70-44A4-AD9D-84BE15B9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3050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194-1-1">
            <a:extLst xmlns:a="http://schemas.openxmlformats.org/drawingml/2006/main">
              <a:ext uri="{FF2B5EF4-FFF2-40B4-BE49-F238E27FC236}">
                <a16:creationId xmlns:a16="http://schemas.microsoft.com/office/drawing/2014/main" id="{630FA0D2-2FB6-4B98-B144-2C58503D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3717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 주변 원형 게이지가 모바일에서 손가락에 가렸다.</a:t>
            </a:r>
          </a:p>
        </p:txBody>
      </p:sp>
      <p:sp>
        <p:nvSpPr>
          <p:cNvPr id="14" name="table-cell-194-2-0">
            <a:extLst xmlns:a="http://schemas.openxmlformats.org/drawingml/2006/main">
              <a:ext uri="{FF2B5EF4-FFF2-40B4-BE49-F238E27FC236}">
                <a16:creationId xmlns:a16="http://schemas.microsoft.com/office/drawing/2014/main" id="{0A107A42-B1B3-429C-B1B7-443CB471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194-2-0">
            <a:extLst xmlns:a="http://schemas.openxmlformats.org/drawingml/2006/main">
              <a:ext uri="{FF2B5EF4-FFF2-40B4-BE49-F238E27FC236}">
                <a16:creationId xmlns:a16="http://schemas.microsoft.com/office/drawing/2014/main" id="{07BDAF09-50D0-4656-811A-F18D422E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717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판단</a:t>
            </a:r>
          </a:p>
        </p:txBody>
      </p:sp>
      <p:sp>
        <p:nvSpPr>
          <p:cNvPr id="16" name="table-cell-194-2-1">
            <a:extLst xmlns:a="http://schemas.openxmlformats.org/drawingml/2006/main">
              <a:ext uri="{FF2B5EF4-FFF2-40B4-BE49-F238E27FC236}">
                <a16:creationId xmlns:a16="http://schemas.microsoft.com/office/drawing/2014/main" id="{89ACE219-4E25-4ADF-9809-6A1961F1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7051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194-2-1">
            <a:extLst xmlns:a="http://schemas.openxmlformats.org/drawingml/2006/main">
              <a:ext uri="{FF2B5EF4-FFF2-40B4-BE49-F238E27FC236}">
                <a16:creationId xmlns:a16="http://schemas.microsoft.com/office/drawing/2014/main" id="{ED482703-199C-476B-8428-35673082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717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발사 감각과 입력 임계값은 바꾸지 않고 표시 위치만 분리했다.</a:t>
            </a:r>
          </a:p>
        </p:txBody>
      </p:sp>
      <p:sp>
        <p:nvSpPr>
          <p:cNvPr id="18" name="table-cell-194-3-0">
            <a:extLst xmlns:a="http://schemas.openxmlformats.org/drawingml/2006/main">
              <a:ext uri="{FF2B5EF4-FFF2-40B4-BE49-F238E27FC236}">
                <a16:creationId xmlns:a16="http://schemas.microsoft.com/office/drawing/2014/main" id="{DC063AB9-7165-4CC0-BFF0-5E08AB2C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194-3-0">
            <a:extLst xmlns:a="http://schemas.openxmlformats.org/drawingml/2006/main">
              <a:ext uri="{FF2B5EF4-FFF2-40B4-BE49-F238E27FC236}">
                <a16:creationId xmlns:a16="http://schemas.microsoft.com/office/drawing/2014/main" id="{7B9C95A8-A9A6-4A94-844E-FCF5522E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7182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20" name="table-cell-194-3-1">
            <a:extLst xmlns:a="http://schemas.openxmlformats.org/drawingml/2006/main">
              <a:ext uri="{FF2B5EF4-FFF2-40B4-BE49-F238E27FC236}">
                <a16:creationId xmlns:a16="http://schemas.microsoft.com/office/drawing/2014/main" id="{A5739267-7CE5-4A56-ABD9-2F9C9540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10515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194-3-1">
            <a:extLst xmlns:a="http://schemas.openxmlformats.org/drawingml/2006/main">
              <a:ext uri="{FF2B5EF4-FFF2-40B4-BE49-F238E27FC236}">
                <a16:creationId xmlns:a16="http://schemas.microsoft.com/office/drawing/2014/main" id="{37C76D16-075A-437C-92BF-FEF71E5D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7182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 가까이의 부유 직선 rail이 핵심 기물과 열쇠를 피하며, 좌·우 손 선호와 저모션을 지원한다.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2a67deabb4493"/>
          <a:stretch xmlns:a="http://schemas.openxmlformats.org/drawingml/2006/main"/>
        </p:blipFill>
        <p:spPr>
          <a:xfrm xmlns:a="http://schemas.openxmlformats.org/drawingml/2006/main">
            <a:off x="3055200" y="3789045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23" name="image-caption-397.8">
            <a:extLst xmlns:a="http://schemas.openxmlformats.org/drawingml/2006/main">
              <a:ext uri="{FF2B5EF4-FFF2-40B4-BE49-F238E27FC236}">
                <a16:creationId xmlns:a16="http://schemas.microsoft.com/office/drawing/2014/main" id="{E5C010E9-8506-4A6C-81CA-9E5D20AF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989445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 화면에서 기물을 피하는 부유 충전 게이지</a:t>
            </a:r>
          </a:p>
        </p:txBody>
      </p:sp>
      <p:sp>
        <p:nvSpPr>
          <p:cNvPr id="24" name="subheading-781.8">
            <a:extLst xmlns:a="http://schemas.openxmlformats.org/drawingml/2006/main">
              <a:ext uri="{FF2B5EF4-FFF2-40B4-BE49-F238E27FC236}">
                <a16:creationId xmlns:a16="http://schemas.microsoft.com/office/drawing/2014/main" id="{EF814047-BD85-4C19-B4F4-5B1973E3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6645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4.2 너무 어려운 첫 경험</a:t>
            </a:r>
          </a:p>
        </p:txBody>
      </p:sp>
      <p:sp>
        <p:nvSpPr>
          <p:cNvPr id="25" name="table-cell-835.8-0-0">
            <a:extLst xmlns:a="http://schemas.openxmlformats.org/drawingml/2006/main">
              <a:ext uri="{FF2B5EF4-FFF2-40B4-BE49-F238E27FC236}">
                <a16:creationId xmlns:a16="http://schemas.microsoft.com/office/drawing/2014/main" id="{558E97EF-6025-418B-867E-849E1A09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960995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835.8-0-0">
            <a:extLst xmlns:a="http://schemas.openxmlformats.org/drawingml/2006/main">
              <a:ext uri="{FF2B5EF4-FFF2-40B4-BE49-F238E27FC236}">
                <a16:creationId xmlns:a16="http://schemas.microsoft.com/office/drawing/2014/main" id="{A8365B49-093D-4F8F-80DB-51A67E86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027670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구분</a:t>
            </a:r>
          </a:p>
        </p:txBody>
      </p:sp>
      <p:sp>
        <p:nvSpPr>
          <p:cNvPr id="27" name="table-cell-835.8-0-1">
            <a:extLst xmlns:a="http://schemas.openxmlformats.org/drawingml/2006/main">
              <a:ext uri="{FF2B5EF4-FFF2-40B4-BE49-F238E27FC236}">
                <a16:creationId xmlns:a16="http://schemas.microsoft.com/office/drawing/2014/main" id="{0062A405-62D2-4FC3-810B-03EEF65B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960995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835.8-0-1">
            <a:extLst xmlns:a="http://schemas.openxmlformats.org/drawingml/2006/main">
              <a:ext uri="{FF2B5EF4-FFF2-40B4-BE49-F238E27FC236}">
                <a16:creationId xmlns:a16="http://schemas.microsoft.com/office/drawing/2014/main" id="{B3B4AB2B-EA3B-48A0-8D85-81C8617F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027670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29" name="table-cell-835.8-1-0">
            <a:extLst xmlns:a="http://schemas.openxmlformats.org/drawingml/2006/main">
              <a:ext uri="{FF2B5EF4-FFF2-40B4-BE49-F238E27FC236}">
                <a16:creationId xmlns:a16="http://schemas.microsoft.com/office/drawing/2014/main" id="{9D2BB3F3-785C-431F-968A-BA9522F5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18195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835.8-1-0">
            <a:extLst xmlns:a="http://schemas.openxmlformats.org/drawingml/2006/main">
              <a:ext uri="{FF2B5EF4-FFF2-40B4-BE49-F238E27FC236}">
                <a16:creationId xmlns:a16="http://schemas.microsoft.com/office/drawing/2014/main" id="{2FEF9770-A029-4691-A426-4741C0EC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484870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</a:t>
            </a:r>
          </a:p>
        </p:txBody>
      </p:sp>
      <p:sp>
        <p:nvSpPr>
          <p:cNvPr id="31" name="table-cell-835.8-1-1">
            <a:extLst xmlns:a="http://schemas.openxmlformats.org/drawingml/2006/main">
              <a:ext uri="{FF2B5EF4-FFF2-40B4-BE49-F238E27FC236}">
                <a16:creationId xmlns:a16="http://schemas.microsoft.com/office/drawing/2014/main" id="{4FAEF3EB-8D0D-432F-A31C-DC9BAD67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8418195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835.8-1-1">
            <a:extLst xmlns:a="http://schemas.openxmlformats.org/drawingml/2006/main">
              <a:ext uri="{FF2B5EF4-FFF2-40B4-BE49-F238E27FC236}">
                <a16:creationId xmlns:a16="http://schemas.microsoft.com/office/drawing/2014/main" id="{119D32B7-9DB2-4419-8E82-BFDED6BF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484870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플레이에서 복잡한 변형이 무작위로 나올 수 있었다.</a:t>
            </a:r>
          </a:p>
        </p:txBody>
      </p:sp>
      <p:sp>
        <p:nvSpPr>
          <p:cNvPr id="33" name="table-cell-835.8-2-0">
            <a:extLst xmlns:a="http://schemas.openxmlformats.org/drawingml/2006/main">
              <a:ext uri="{FF2B5EF4-FFF2-40B4-BE49-F238E27FC236}">
                <a16:creationId xmlns:a16="http://schemas.microsoft.com/office/drawing/2014/main" id="{32AE1614-4645-436B-B2B9-4CAF73A0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818245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835.8-2-0">
            <a:extLst xmlns:a="http://schemas.openxmlformats.org/drawingml/2006/main">
              <a:ext uri="{FF2B5EF4-FFF2-40B4-BE49-F238E27FC236}">
                <a16:creationId xmlns:a16="http://schemas.microsoft.com/office/drawing/2014/main" id="{130A7705-5C26-403B-8312-336CAC8A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8884920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판단</a:t>
            </a:r>
          </a:p>
        </p:txBody>
      </p:sp>
      <p:sp>
        <p:nvSpPr>
          <p:cNvPr id="35" name="table-cell-835.8-2-1">
            <a:extLst xmlns:a="http://schemas.openxmlformats.org/drawingml/2006/main">
              <a:ext uri="{FF2B5EF4-FFF2-40B4-BE49-F238E27FC236}">
                <a16:creationId xmlns:a16="http://schemas.microsoft.com/office/drawing/2014/main" id="{2367FAA8-C6EE-4E02-AB41-15A92B57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8818245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835.8-2-1">
            <a:extLst xmlns:a="http://schemas.openxmlformats.org/drawingml/2006/main">
              <a:ext uri="{FF2B5EF4-FFF2-40B4-BE49-F238E27FC236}">
                <a16:creationId xmlns:a16="http://schemas.microsoft.com/office/drawing/2014/main" id="{708D52A1-025B-48CB-B697-0F8E0DBF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8884920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학습 구간만 완화하되 물리와 보통 기록의 공정성은 유지했다.</a:t>
            </a:r>
          </a:p>
        </p:txBody>
      </p:sp>
      <p:sp>
        <p:nvSpPr>
          <p:cNvPr id="37" name="table-cell-835.8-3-0">
            <a:extLst xmlns:a="http://schemas.openxmlformats.org/drawingml/2006/main">
              <a:ext uri="{FF2B5EF4-FFF2-40B4-BE49-F238E27FC236}">
                <a16:creationId xmlns:a16="http://schemas.microsoft.com/office/drawing/2014/main" id="{39F44FC6-BFA9-4B61-B0F3-089EFA66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18295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835.8-3-0">
            <a:extLst xmlns:a="http://schemas.openxmlformats.org/drawingml/2006/main">
              <a:ext uri="{FF2B5EF4-FFF2-40B4-BE49-F238E27FC236}">
                <a16:creationId xmlns:a16="http://schemas.microsoft.com/office/drawing/2014/main" id="{D9A72EA5-F763-4973-9114-A39C6AE7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9284970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39" name="table-cell-835.8-3-1">
            <a:extLst xmlns:a="http://schemas.openxmlformats.org/drawingml/2006/main">
              <a:ext uri="{FF2B5EF4-FFF2-40B4-BE49-F238E27FC236}">
                <a16:creationId xmlns:a16="http://schemas.microsoft.com/office/drawing/2014/main" id="{084C8CEA-1299-441C-A7D4-8E56786E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9218295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835.8-3-1">
            <a:extLst xmlns:a="http://schemas.openxmlformats.org/drawingml/2006/main">
              <a:ext uri="{FF2B5EF4-FFF2-40B4-BE49-F238E27FC236}">
                <a16:creationId xmlns:a16="http://schemas.microsoft.com/office/drawing/2014/main" id="{FAB54EEB-1740-4DAF-ABE3-46E4D146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9284970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1–4단계는 기준 패턴을 우선하고, 쉬움 모드는 실제 판정 결과의 첫 도착점만 표시한다.</a:t>
            </a:r>
          </a:p>
        </p:txBody>
      </p:sp>
    </p:spTree>
    <p:extLst>
      <p:ext uri="{BB962C8B-B14F-4D97-AF65-F5344CB8AC3E}">
        <p14:creationId xmlns:p14="http://schemas.microsoft.com/office/powerpoint/2010/main" val="13335204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4C872784-C7D4-4A52-B9AA-D84BC3E0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BD52CA-64A4-4F01-A3F1-37D05D32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3A63068-306F-4F5B-9751-8704CDCC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638561-0DAF-4394-BC4A-F7812EA9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 · 계속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f62bed7ee483a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DEDD15DA-4014-49DA-B7C8-B204CFA3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쉬움 모드 예상 도착 표시</a:t>
            </a:r>
          </a:p>
        </p:txBody>
      </p:sp>
      <p:sp>
        <p:nvSpPr>
          <p:cNvPr id="7" name="subheading-524">
            <a:extLst xmlns:a="http://schemas.openxmlformats.org/drawingml/2006/main">
              <a:ext uri="{FF2B5EF4-FFF2-40B4-BE49-F238E27FC236}">
                <a16:creationId xmlns:a16="http://schemas.microsoft.com/office/drawing/2014/main" id="{BAFC5E1A-F955-400A-9CD0-9F5D3395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4.3 추상적인 도움말</a:t>
            </a:r>
          </a:p>
        </p:txBody>
      </p:sp>
      <p:sp>
        <p:nvSpPr>
          <p:cNvPr id="8" name="table-cell-578-0-0">
            <a:extLst xmlns:a="http://schemas.openxmlformats.org/drawingml/2006/main">
              <a:ext uri="{FF2B5EF4-FFF2-40B4-BE49-F238E27FC236}">
                <a16:creationId xmlns:a16="http://schemas.microsoft.com/office/drawing/2014/main" id="{A3001157-FFE2-4572-87F4-897FF260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578-0-0">
            <a:extLst xmlns:a="http://schemas.openxmlformats.org/drawingml/2006/main">
              <a:ext uri="{FF2B5EF4-FFF2-40B4-BE49-F238E27FC236}">
                <a16:creationId xmlns:a16="http://schemas.microsoft.com/office/drawing/2014/main" id="{1D58E002-76BC-4DC6-9414-A98689AA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7212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구분</a:t>
            </a:r>
          </a:p>
        </p:txBody>
      </p:sp>
      <p:sp>
        <p:nvSpPr>
          <p:cNvPr id="10" name="table-cell-578-0-1">
            <a:extLst xmlns:a="http://schemas.openxmlformats.org/drawingml/2006/main">
              <a:ext uri="{FF2B5EF4-FFF2-40B4-BE49-F238E27FC236}">
                <a16:creationId xmlns:a16="http://schemas.microsoft.com/office/drawing/2014/main" id="{F8DD6446-B51A-4B95-8985-A124AB7C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50545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578-0-1">
            <a:extLst xmlns:a="http://schemas.openxmlformats.org/drawingml/2006/main">
              <a:ext uri="{FF2B5EF4-FFF2-40B4-BE49-F238E27FC236}">
                <a16:creationId xmlns:a16="http://schemas.microsoft.com/office/drawing/2014/main" id="{3BE3ABD3-F1FA-4E40-8D41-DCF99074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57212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2" name="table-cell-578-1-0">
            <a:extLst xmlns:a="http://schemas.openxmlformats.org/drawingml/2006/main">
              <a:ext uri="{FF2B5EF4-FFF2-40B4-BE49-F238E27FC236}">
                <a16:creationId xmlns:a16="http://schemas.microsoft.com/office/drawing/2014/main" id="{74C5FFE6-2432-458C-A17E-B565D91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578-1-0">
            <a:extLst xmlns:a="http://schemas.openxmlformats.org/drawingml/2006/main">
              <a:ext uri="{FF2B5EF4-FFF2-40B4-BE49-F238E27FC236}">
                <a16:creationId xmlns:a16="http://schemas.microsoft.com/office/drawing/2014/main" id="{EE8B6259-FFC5-4373-B0D4-A1C11492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293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</a:t>
            </a:r>
          </a:p>
        </p:txBody>
      </p:sp>
      <p:sp>
        <p:nvSpPr>
          <p:cNvPr id="14" name="table-cell-578-1-1">
            <a:extLst xmlns:a="http://schemas.openxmlformats.org/drawingml/2006/main">
              <a:ext uri="{FF2B5EF4-FFF2-40B4-BE49-F238E27FC236}">
                <a16:creationId xmlns:a16="http://schemas.microsoft.com/office/drawing/2014/main" id="{9F9D5B8D-1DBC-455A-993E-45D7298E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626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578-1-1">
            <a:extLst xmlns:a="http://schemas.openxmlformats.org/drawingml/2006/main">
              <a:ext uri="{FF2B5EF4-FFF2-40B4-BE49-F238E27FC236}">
                <a16:creationId xmlns:a16="http://schemas.microsoft.com/office/drawing/2014/main" id="{D9D676EE-659D-40B9-81EB-51737610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0293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‘기믹을 활용하세요’는 실제 행동을 안내하지 못했다.</a:t>
            </a:r>
          </a:p>
        </p:txBody>
      </p:sp>
      <p:sp>
        <p:nvSpPr>
          <p:cNvPr id="16" name="table-cell-578-2-0">
            <a:extLst xmlns:a="http://schemas.openxmlformats.org/drawingml/2006/main">
              <a:ext uri="{FF2B5EF4-FFF2-40B4-BE49-F238E27FC236}">
                <a16:creationId xmlns:a16="http://schemas.microsoft.com/office/drawing/2014/main" id="{4825BB60-1AD3-4BD4-B0FA-EF966821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578-2-0">
            <a:extLst xmlns:a="http://schemas.openxmlformats.org/drawingml/2006/main">
              <a:ext uri="{FF2B5EF4-FFF2-40B4-BE49-F238E27FC236}">
                <a16:creationId xmlns:a16="http://schemas.microsoft.com/office/drawing/2014/main" id="{196989BE-722B-463F-8098-FA7B25DC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29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판단</a:t>
            </a:r>
          </a:p>
        </p:txBody>
      </p:sp>
      <p:sp>
        <p:nvSpPr>
          <p:cNvPr id="18" name="table-cell-578-2-1">
            <a:extLst xmlns:a="http://schemas.openxmlformats.org/drawingml/2006/main">
              <a:ext uri="{FF2B5EF4-FFF2-40B4-BE49-F238E27FC236}">
                <a16:creationId xmlns:a16="http://schemas.microsoft.com/office/drawing/2014/main" id="{2B171440-3E75-4641-9AAC-AE97898D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362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578-2-1">
            <a:extLst xmlns:a="http://schemas.openxmlformats.org/drawingml/2006/main">
              <a:ext uri="{FF2B5EF4-FFF2-40B4-BE49-F238E27FC236}">
                <a16:creationId xmlns:a16="http://schemas.microsoft.com/office/drawing/2014/main" id="{703CBA40-AAFC-447F-A8CC-D949AA61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429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29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정답 숫자를 바로 공개하지 않고 행동의 구체성을 단계별로 높였다.</a:t>
            </a:r>
          </a:p>
        </p:txBody>
      </p:sp>
      <p:sp>
        <p:nvSpPr>
          <p:cNvPr id="20" name="table-cell-578-3-0">
            <a:extLst xmlns:a="http://schemas.openxmlformats.org/drawingml/2006/main">
              <a:ext uri="{FF2B5EF4-FFF2-40B4-BE49-F238E27FC236}">
                <a16:creationId xmlns:a16="http://schemas.microsoft.com/office/drawing/2014/main" id="{7372173A-9093-4C30-8726-588ECB51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6275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578-3-0">
            <a:extLst xmlns:a="http://schemas.openxmlformats.org/drawingml/2006/main">
              <a:ext uri="{FF2B5EF4-FFF2-40B4-BE49-F238E27FC236}">
                <a16:creationId xmlns:a16="http://schemas.microsoft.com/office/drawing/2014/main" id="{1781F629-EC41-4757-A68B-EF69A3AB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2942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22" name="table-cell-578-3-1">
            <a:extLst xmlns:a="http://schemas.openxmlformats.org/drawingml/2006/main">
              <a:ext uri="{FF2B5EF4-FFF2-40B4-BE49-F238E27FC236}">
                <a16:creationId xmlns:a16="http://schemas.microsoft.com/office/drawing/2014/main" id="{4CDB51B7-6469-41BD-AD99-51ABB132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762750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578-3-1">
            <a:extLst xmlns:a="http://schemas.openxmlformats.org/drawingml/2006/main">
              <a:ext uri="{FF2B5EF4-FFF2-40B4-BE49-F238E27FC236}">
                <a16:creationId xmlns:a16="http://schemas.microsoft.com/office/drawing/2014/main" id="{10291AB5-6A4E-439A-8A27-96BC88D3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29425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40패턴의 L1은 첫 행동을, L2는 위치·세기·순서·결과를 안내하며, 보상 또는 열쇠를 선택한 사람에게만 열린다.</a:t>
            </a:r>
          </a:p>
        </p:txBody>
      </p:sp>
    </p:spTree>
    <p:extLst>
      <p:ext uri="{BB962C8B-B14F-4D97-AF65-F5344CB8AC3E}">
        <p14:creationId xmlns:p14="http://schemas.microsoft.com/office/powerpoint/2010/main" val="16497297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35F399B9-E85F-43FA-83B4-66F13044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43ADCB-55BD-4FC3-9518-716D7F0B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A4EA52A3-3D12-4C4F-B0DF-33110858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8E2F68-C697-4366-822B-ADC811FA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 · 계속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bf1c558574b86"/>
          <a:stretch xmlns:a="http://schemas.openxmlformats.org/drawingml/2006/main"/>
        </p:blipFill>
        <p:spPr>
          <a:xfrm xmlns:a="http://schemas.openxmlformats.org/drawingml/2006/main">
            <a:off x="2555557" y="1333500"/>
            <a:ext cx="2451735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BAEBF8D9-194C-4874-B92B-5EDFAE31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선택한 패턴에 맞춰 첫 행동을 알려 주는 L1 힌트</a:t>
            </a:r>
          </a:p>
        </p:txBody>
      </p:sp>
    </p:spTree>
    <p:extLst>
      <p:ext uri="{BB962C8B-B14F-4D97-AF65-F5344CB8AC3E}">
        <p14:creationId xmlns:p14="http://schemas.microsoft.com/office/powerpoint/2010/main" val="19027127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60B691FE-9EAC-4D81-9E54-72218312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9A7905-AFD7-47A4-B52E-A46F8FAD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84C6544-0D2C-4AAB-A56C-43DBEB49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572E1D-E453-4827-A1DB-F86C7E8C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AI 디렉팅 방식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202D44FA-F2EE-4977-9894-78A3A137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AI를 한 명의 만능 개발자로 쓰지 않고 기능 담당·레벨 담당·문서 담당·독립 검사로 나눴다. 프롬프트는 목적, 보호해야 할 규칙, 테스트 기준, 종료 조건을 포함했다.</a:t>
            </a:r>
          </a:p>
        </p:txBody>
      </p:sp>
      <p:sp>
        <p:nvSpPr>
          <p:cNvPr id="6" name="workflow-arrow-212.64-0">
            <a:extLst xmlns:a="http://schemas.openxmlformats.org/drawingml/2006/main">
              <a:ext uri="{FF2B5EF4-FFF2-40B4-BE49-F238E27FC236}">
                <a16:creationId xmlns:a16="http://schemas.microsoft.com/office/drawing/2014/main" id="{A88DFEC1-4BDE-437D-96F4-02CBAB99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workflow-arrow-212.64-1">
            <a:extLst xmlns:a="http://schemas.openxmlformats.org/drawingml/2006/main">
              <a:ext uri="{FF2B5EF4-FFF2-40B4-BE49-F238E27FC236}">
                <a16:creationId xmlns:a16="http://schemas.microsoft.com/office/drawing/2014/main" id="{DC49D56A-867F-4054-A246-ABCA4D37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workflow-arrow-212.64-2">
            <a:extLst xmlns:a="http://schemas.openxmlformats.org/drawingml/2006/main">
              <a:ext uri="{FF2B5EF4-FFF2-40B4-BE49-F238E27FC236}">
                <a16:creationId xmlns:a16="http://schemas.microsoft.com/office/drawing/2014/main" id="{5B73AAE1-115E-4D6B-905E-EC8A983A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workflow-arrow-212.64-3">
            <a:extLst xmlns:a="http://schemas.openxmlformats.org/drawingml/2006/main">
              <a:ext uri="{FF2B5EF4-FFF2-40B4-BE49-F238E27FC236}">
                <a16:creationId xmlns:a16="http://schemas.microsoft.com/office/drawing/2014/main" id="{FB489961-C81F-4520-84FE-F4C61EE8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workflow-node-212.64-0">
            <a:extLst xmlns:a="http://schemas.openxmlformats.org/drawingml/2006/main">
              <a:ext uri="{FF2B5EF4-FFF2-40B4-BE49-F238E27FC236}">
                <a16:creationId xmlns:a16="http://schemas.microsoft.com/office/drawing/2014/main" id="{84C4802B-3F41-441A-A1E4-A90F0FC1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1" name="workflow-label-212.64-0">
            <a:extLst xmlns:a="http://schemas.openxmlformats.org/drawingml/2006/main">
              <a:ext uri="{FF2B5EF4-FFF2-40B4-BE49-F238E27FC236}">
                <a16:creationId xmlns:a16="http://schemas.microsoft.com/office/drawing/2014/main" id="{7018DFE2-37FB-4FA0-8545-3819D564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91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사용자 피드백</a:t>
            </a:r>
          </a:p>
        </p:txBody>
      </p:sp>
      <p:sp>
        <p:nvSpPr>
          <p:cNvPr id="12" name="workflow-node-212.64-1">
            <a:extLst xmlns:a="http://schemas.openxmlformats.org/drawingml/2006/main">
              <a:ext uri="{FF2B5EF4-FFF2-40B4-BE49-F238E27FC236}">
                <a16:creationId xmlns:a16="http://schemas.microsoft.com/office/drawing/2014/main" id="{AC9C86C1-B41A-4878-90F7-F73C3DE4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3" name="workflow-label-212.64-1">
            <a:extLst xmlns:a="http://schemas.openxmlformats.org/drawingml/2006/main">
              <a:ext uri="{FF2B5EF4-FFF2-40B4-BE49-F238E27FC236}">
                <a16:creationId xmlns:a16="http://schemas.microsoft.com/office/drawing/2014/main" id="{7E6437C9-A152-495A-9771-E41257E1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 계약</a:t>
            </a:r>
          </a:p>
        </p:txBody>
      </p:sp>
      <p:sp>
        <p:nvSpPr>
          <p:cNvPr id="14" name="workflow-node-212.64-2">
            <a:extLst xmlns:a="http://schemas.openxmlformats.org/drawingml/2006/main">
              <a:ext uri="{FF2B5EF4-FFF2-40B4-BE49-F238E27FC236}">
                <a16:creationId xmlns:a16="http://schemas.microsoft.com/office/drawing/2014/main" id="{16270E88-6519-4FD7-B166-625B2B5E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5" name="workflow-label-212.64-2">
            <a:extLst xmlns:a="http://schemas.openxmlformats.org/drawingml/2006/main">
              <a:ext uri="{FF2B5EF4-FFF2-40B4-BE49-F238E27FC236}">
                <a16:creationId xmlns:a16="http://schemas.microsoft.com/office/drawing/2014/main" id="{7EFBDA27-4D8E-4DE0-B852-D504CCCD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전문 실행</a:t>
            </a:r>
          </a:p>
        </p:txBody>
      </p:sp>
      <p:sp>
        <p:nvSpPr>
          <p:cNvPr id="16" name="workflow-node-212.64-3">
            <a:extLst xmlns:a="http://schemas.openxmlformats.org/drawingml/2006/main">
              <a:ext uri="{FF2B5EF4-FFF2-40B4-BE49-F238E27FC236}">
                <a16:creationId xmlns:a16="http://schemas.microsoft.com/office/drawing/2014/main" id="{F65AD978-94BA-47CA-9A1E-994C3480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3335">
            <a:solidFill>
              <a:srgbClr val="F47661"/>
            </a:solidFill>
            <a:prstDash val="solid"/>
          </a:ln>
        </p:spPr>
      </p:sp>
      <p:sp>
        <p:nvSpPr>
          <p:cNvPr id="17" name="workflow-label-212.64-3">
            <a:extLst xmlns:a="http://schemas.openxmlformats.org/drawingml/2006/main">
              <a:ext uri="{FF2B5EF4-FFF2-40B4-BE49-F238E27FC236}">
                <a16:creationId xmlns:a16="http://schemas.microsoft.com/office/drawing/2014/main" id="{BF081FA4-EC30-47C8-BBA8-46EA2594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</a:t>
            </a:r>
          </a:p>
        </p:txBody>
      </p:sp>
      <p:sp>
        <p:nvSpPr>
          <p:cNvPr id="18" name="workflow-node-212.64-4">
            <a:extLst xmlns:a="http://schemas.openxmlformats.org/drawingml/2006/main">
              <a:ext uri="{FF2B5EF4-FFF2-40B4-BE49-F238E27FC236}">
                <a16:creationId xmlns:a16="http://schemas.microsoft.com/office/drawing/2014/main" id="{4485ED7F-A206-49FB-A48C-7F80164E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9" name="workflow-label-212.64-4">
            <a:extLst xmlns:a="http://schemas.openxmlformats.org/drawingml/2006/main">
              <a:ext uri="{FF2B5EF4-FFF2-40B4-BE49-F238E27FC236}">
                <a16:creationId xmlns:a16="http://schemas.microsoft.com/office/drawing/2014/main" id="{31410E12-704C-4F12-A249-6D6C8719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증거·통합</a:t>
            </a:r>
          </a:p>
        </p:txBody>
      </p:sp>
      <p:sp>
        <p:nvSpPr>
          <p:cNvPr id="20" name="workflow-note-212.64">
            <a:extLst xmlns:a="http://schemas.openxmlformats.org/drawingml/2006/main">
              <a:ext uri="{FF2B5EF4-FFF2-40B4-BE49-F238E27FC236}">
                <a16:creationId xmlns:a16="http://schemas.microsoft.com/office/drawing/2014/main" id="{571D1DBC-1170-465A-BE9E-FAFA560C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92196"/>
            <a:ext cx="649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감사에서 문제가 발견되면 기능 계약 단계로 돌아간다.</a:t>
            </a:r>
          </a:p>
        </p:txBody>
      </p:sp>
      <p:sp>
        <p:nvSpPr>
          <p:cNvPr id="21" name="table-cell-378.64-0-0">
            <a:extLst xmlns:a="http://schemas.openxmlformats.org/drawingml/2006/main">
              <a:ext uri="{FF2B5EF4-FFF2-40B4-BE49-F238E27FC236}">
                <a16:creationId xmlns:a16="http://schemas.microsoft.com/office/drawing/2014/main" id="{020EE4F3-70E2-4BDF-9DF6-DD38290A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65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378.64-0-0">
            <a:extLst xmlns:a="http://schemas.openxmlformats.org/drawingml/2006/main">
              <a:ext uri="{FF2B5EF4-FFF2-40B4-BE49-F238E27FC236}">
                <a16:creationId xmlns:a16="http://schemas.microsoft.com/office/drawing/2014/main" id="{5A47FFC1-984E-43E1-BE8B-03E4AC22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732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단계</a:t>
            </a:r>
          </a:p>
        </p:txBody>
      </p:sp>
      <p:sp>
        <p:nvSpPr>
          <p:cNvPr id="23" name="table-cell-378.64-0-1">
            <a:extLst xmlns:a="http://schemas.openxmlformats.org/drawingml/2006/main">
              <a:ext uri="{FF2B5EF4-FFF2-40B4-BE49-F238E27FC236}">
                <a16:creationId xmlns:a16="http://schemas.microsoft.com/office/drawing/2014/main" id="{9F2752BD-01D0-4F20-8A03-7202B9D0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6065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378.64-0-1">
            <a:extLst xmlns:a="http://schemas.openxmlformats.org/drawingml/2006/main">
              <a:ext uri="{FF2B5EF4-FFF2-40B4-BE49-F238E27FC236}">
                <a16:creationId xmlns:a16="http://schemas.microsoft.com/office/drawing/2014/main" id="{BF88F326-866A-4078-BD00-7C14267B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6732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 결정</a:t>
            </a:r>
          </a:p>
        </p:txBody>
      </p:sp>
      <p:sp>
        <p:nvSpPr>
          <p:cNvPr id="25" name="table-cell-378.64-0-2">
            <a:extLst xmlns:a="http://schemas.openxmlformats.org/drawingml/2006/main">
              <a:ext uri="{FF2B5EF4-FFF2-40B4-BE49-F238E27FC236}">
                <a16:creationId xmlns:a16="http://schemas.microsoft.com/office/drawing/2014/main" id="{FC6094D2-4D90-4D41-8B54-EF1542C7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6065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378.64-0-2">
            <a:extLst xmlns:a="http://schemas.openxmlformats.org/drawingml/2006/main">
              <a:ext uri="{FF2B5EF4-FFF2-40B4-BE49-F238E27FC236}">
                <a16:creationId xmlns:a16="http://schemas.microsoft.com/office/drawing/2014/main" id="{BF0D1FCE-136A-4F52-A2C0-1FEB67B2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6732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AI의 기여</a:t>
            </a:r>
          </a:p>
        </p:txBody>
      </p:sp>
      <p:sp>
        <p:nvSpPr>
          <p:cNvPr id="27" name="table-cell-378.64-1-0">
            <a:extLst xmlns:a="http://schemas.openxmlformats.org/drawingml/2006/main">
              <a:ext uri="{FF2B5EF4-FFF2-40B4-BE49-F238E27FC236}">
                <a16:creationId xmlns:a16="http://schemas.microsoft.com/office/drawing/2014/main" id="{161E1689-247C-4AA1-BAA6-97661AA8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63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378.64-1-0">
            <a:extLst xmlns:a="http://schemas.openxmlformats.org/drawingml/2006/main">
              <a:ext uri="{FF2B5EF4-FFF2-40B4-BE49-F238E27FC236}">
                <a16:creationId xmlns:a16="http://schemas.microsoft.com/office/drawing/2014/main" id="{E4FC3404-0678-4DF6-A8A9-0814FE0E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30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29" name="table-cell-378.64-1-1">
            <a:extLst xmlns:a="http://schemas.openxmlformats.org/drawingml/2006/main">
              <a:ext uri="{FF2B5EF4-FFF2-40B4-BE49-F238E27FC236}">
                <a16:creationId xmlns:a16="http://schemas.microsoft.com/office/drawing/2014/main" id="{DE00A9B1-7931-45EB-B686-B5A02586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063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378.64-1-1">
            <a:extLst xmlns:a="http://schemas.openxmlformats.org/drawingml/2006/main">
              <a:ext uri="{FF2B5EF4-FFF2-40B4-BE49-F238E27FC236}">
                <a16:creationId xmlns:a16="http://schemas.microsoft.com/office/drawing/2014/main" id="{D8B9D553-D06C-43D5-AE46-EC72FE19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130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어떤 플레이 경험을 바꿀지 결정</a:t>
            </a:r>
          </a:p>
        </p:txBody>
      </p:sp>
      <p:sp>
        <p:nvSpPr>
          <p:cNvPr id="31" name="table-cell-378.64-1-2">
            <a:extLst xmlns:a="http://schemas.openxmlformats.org/drawingml/2006/main">
              <a:ext uri="{FF2B5EF4-FFF2-40B4-BE49-F238E27FC236}">
                <a16:creationId xmlns:a16="http://schemas.microsoft.com/office/drawing/2014/main" id="{F0CC94D2-66FA-403D-AC4E-2C6F4405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063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378.64-1-2">
            <a:extLst xmlns:a="http://schemas.openxmlformats.org/drawingml/2006/main">
              <a:ext uri="{FF2B5EF4-FFF2-40B4-BE49-F238E27FC236}">
                <a16:creationId xmlns:a16="http://schemas.microsoft.com/office/drawing/2014/main" id="{A35406EE-AD13-45D8-BFA9-2F1B34314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130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코드·화면·데이터에서 원인 탐색</a:t>
            </a:r>
          </a:p>
        </p:txBody>
      </p:sp>
      <p:sp>
        <p:nvSpPr>
          <p:cNvPr id="33" name="table-cell-378.64-2-0">
            <a:extLst xmlns:a="http://schemas.openxmlformats.org/drawingml/2006/main">
              <a:ext uri="{FF2B5EF4-FFF2-40B4-BE49-F238E27FC236}">
                <a16:creationId xmlns:a16="http://schemas.microsoft.com/office/drawing/2014/main" id="{184E9E32-BA8D-4E7B-9638-7A0EAB87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637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378.64-2-0">
            <a:extLst xmlns:a="http://schemas.openxmlformats.org/drawingml/2006/main">
              <a:ext uri="{FF2B5EF4-FFF2-40B4-BE49-F238E27FC236}">
                <a16:creationId xmlns:a16="http://schemas.microsoft.com/office/drawing/2014/main" id="{9BD3D4AE-5E20-4E35-9BAE-18FA42C9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304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설계</a:t>
            </a:r>
          </a:p>
        </p:txBody>
      </p:sp>
      <p:sp>
        <p:nvSpPr>
          <p:cNvPr id="35" name="table-cell-378.64-2-1">
            <a:extLst xmlns:a="http://schemas.openxmlformats.org/drawingml/2006/main">
              <a:ext uri="{FF2B5EF4-FFF2-40B4-BE49-F238E27FC236}">
                <a16:creationId xmlns:a16="http://schemas.microsoft.com/office/drawing/2014/main" id="{C30F7EA1-DC09-4276-8626-1CC0E48D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4637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378.64-2-1">
            <a:extLst xmlns:a="http://schemas.openxmlformats.org/drawingml/2006/main">
              <a:ext uri="{FF2B5EF4-FFF2-40B4-BE49-F238E27FC236}">
                <a16:creationId xmlns:a16="http://schemas.microsoft.com/office/drawing/2014/main" id="{DD7F23BE-7696-44C8-890C-F085230A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5304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공정성·접근성·기록 정책 확정</a:t>
            </a:r>
          </a:p>
        </p:txBody>
      </p:sp>
      <p:sp>
        <p:nvSpPr>
          <p:cNvPr id="37" name="table-cell-378.64-2-2">
            <a:extLst xmlns:a="http://schemas.openxmlformats.org/drawingml/2006/main">
              <a:ext uri="{FF2B5EF4-FFF2-40B4-BE49-F238E27FC236}">
                <a16:creationId xmlns:a16="http://schemas.microsoft.com/office/drawing/2014/main" id="{91AFC798-AA12-4633-96E6-27A5CC30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4637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378.64-2-2">
            <a:extLst xmlns:a="http://schemas.openxmlformats.org/drawingml/2006/main">
              <a:ext uri="{FF2B5EF4-FFF2-40B4-BE49-F238E27FC236}">
                <a16:creationId xmlns:a16="http://schemas.microsoft.com/office/drawing/2014/main" id="{1FCEA3F0-0F76-424B-8193-31621F7E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5304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대안과 영향 범위 비교</a:t>
            </a:r>
          </a:p>
        </p:txBody>
      </p:sp>
      <p:sp>
        <p:nvSpPr>
          <p:cNvPr id="39" name="table-cell-378.64-3-0">
            <a:extLst xmlns:a="http://schemas.openxmlformats.org/drawingml/2006/main">
              <a:ext uri="{FF2B5EF4-FFF2-40B4-BE49-F238E27FC236}">
                <a16:creationId xmlns:a16="http://schemas.microsoft.com/office/drawing/2014/main" id="{7720C60C-F36A-4633-81C9-D3D4852E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638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378.64-3-0">
            <a:extLst xmlns:a="http://schemas.openxmlformats.org/drawingml/2006/main">
              <a:ext uri="{FF2B5EF4-FFF2-40B4-BE49-F238E27FC236}">
                <a16:creationId xmlns:a16="http://schemas.microsoft.com/office/drawing/2014/main" id="{62E1065D-9D95-447A-9266-7530DA17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305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구현</a:t>
            </a:r>
          </a:p>
        </p:txBody>
      </p:sp>
      <p:sp>
        <p:nvSpPr>
          <p:cNvPr id="41" name="table-cell-378.64-3-1">
            <a:extLst xmlns:a="http://schemas.openxmlformats.org/drawingml/2006/main">
              <a:ext uri="{FF2B5EF4-FFF2-40B4-BE49-F238E27FC236}">
                <a16:creationId xmlns:a16="http://schemas.microsoft.com/office/drawing/2014/main" id="{3474430A-A328-46F8-BF4E-2A00C588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8638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2" name="table-text-378.64-3-1">
            <a:extLst xmlns:a="http://schemas.openxmlformats.org/drawingml/2006/main">
              <a:ext uri="{FF2B5EF4-FFF2-40B4-BE49-F238E27FC236}">
                <a16:creationId xmlns:a16="http://schemas.microsoft.com/office/drawing/2014/main" id="{7DC6C1CA-B19F-4CFD-994F-1411B42C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9305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우선순위와 공유 파일 소유권 관리</a:t>
            </a:r>
          </a:p>
        </p:txBody>
      </p:sp>
      <p:sp>
        <p:nvSpPr>
          <p:cNvPr id="43" name="table-cell-378.64-3-2">
            <a:extLst xmlns:a="http://schemas.openxmlformats.org/drawingml/2006/main">
              <a:ext uri="{FF2B5EF4-FFF2-40B4-BE49-F238E27FC236}">
                <a16:creationId xmlns:a16="http://schemas.microsoft.com/office/drawing/2014/main" id="{97C16D97-81EA-489F-8C29-211A379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8638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378.64-3-2">
            <a:extLst xmlns:a="http://schemas.openxmlformats.org/drawingml/2006/main">
              <a:ext uri="{FF2B5EF4-FFF2-40B4-BE49-F238E27FC236}">
                <a16:creationId xmlns:a16="http://schemas.microsoft.com/office/drawing/2014/main" id="{3C8C7A0A-D1FB-4E1E-A911-4A1DA1B6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9305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기능·테스트·문서 구현</a:t>
            </a:r>
          </a:p>
        </p:txBody>
      </p:sp>
      <p:sp>
        <p:nvSpPr>
          <p:cNvPr id="45" name="table-cell-378.64-4-0">
            <a:extLst xmlns:a="http://schemas.openxmlformats.org/drawingml/2006/main">
              <a:ext uri="{FF2B5EF4-FFF2-40B4-BE49-F238E27FC236}">
                <a16:creationId xmlns:a16="http://schemas.microsoft.com/office/drawing/2014/main" id="{7943C4C2-A81E-4622-BF36-EA4FCB6C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638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6" name="table-text-378.64-4-0">
            <a:extLst xmlns:a="http://schemas.openxmlformats.org/drawingml/2006/main">
              <a:ext uri="{FF2B5EF4-FFF2-40B4-BE49-F238E27FC236}">
                <a16:creationId xmlns:a16="http://schemas.microsoft.com/office/drawing/2014/main" id="{14DC7C81-69B9-4239-B2F7-21D78703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305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47" name="table-cell-378.64-4-1">
            <a:extLst xmlns:a="http://schemas.openxmlformats.org/drawingml/2006/main">
              <a:ext uri="{FF2B5EF4-FFF2-40B4-BE49-F238E27FC236}">
                <a16:creationId xmlns:a16="http://schemas.microsoft.com/office/drawing/2014/main" id="{AFDED10E-AF1B-44A0-A2C0-574E5985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2638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8" name="table-text-378.64-4-1">
            <a:extLst xmlns:a="http://schemas.openxmlformats.org/drawingml/2006/main">
              <a:ext uri="{FF2B5EF4-FFF2-40B4-BE49-F238E27FC236}">
                <a16:creationId xmlns:a16="http://schemas.microsoft.com/office/drawing/2014/main" id="{C63711EB-1A55-4996-B54B-2B1F26EF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3305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통과 기준과 반려 여부 결정</a:t>
            </a:r>
          </a:p>
        </p:txBody>
      </p:sp>
      <p:sp>
        <p:nvSpPr>
          <p:cNvPr id="49" name="table-cell-378.64-4-2">
            <a:extLst xmlns:a="http://schemas.openxmlformats.org/drawingml/2006/main">
              <a:ext uri="{FF2B5EF4-FFF2-40B4-BE49-F238E27FC236}">
                <a16:creationId xmlns:a16="http://schemas.microsoft.com/office/drawing/2014/main" id="{0AB791AF-7DB4-4752-B212-2F6EE2C7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2638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0" name="table-text-378.64-4-2">
            <a:extLst xmlns:a="http://schemas.openxmlformats.org/drawingml/2006/main">
              <a:ext uri="{FF2B5EF4-FFF2-40B4-BE49-F238E27FC236}">
                <a16:creationId xmlns:a16="http://schemas.microsoft.com/office/drawing/2014/main" id="{E3E1112A-0AF7-4706-B92D-E30B84CC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3305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감사, 회귀·시각·결정론 확인</a:t>
            </a:r>
          </a:p>
        </p:txBody>
      </p:sp>
      <p:sp>
        <p:nvSpPr>
          <p:cNvPr id="51" name="paragraph-610.64">
            <a:extLst xmlns:a="http://schemas.openxmlformats.org/drawingml/2006/main">
              <a:ext uri="{FF2B5EF4-FFF2-40B4-BE49-F238E27FC236}">
                <a16:creationId xmlns:a16="http://schemas.microsoft.com/office/drawing/2014/main" id="{46A70307-0660-496D-B0A0-04E3DBA7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634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가장 중요한 학습은 AI가 만든 검증 지표도 틀릴 수 있다는 점이었다. 레벨 우위 계산에서 서로 다른 표본 수를 나눈 오류를 감사 에이전트가 찾아냈고, 동일 입력 격자 비교로 계약을 다시 만들었다.</a:t>
            </a:r>
          </a:p>
        </p:txBody>
      </p:sp>
    </p:spTree>
    <p:extLst>
      <p:ext uri="{BB962C8B-B14F-4D97-AF65-F5344CB8AC3E}">
        <p14:creationId xmlns:p14="http://schemas.microsoft.com/office/powerpoint/2010/main" val="21431968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2FFC79F2-6F5C-446F-9137-FB6AEBE4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327DC4-10FD-46E0-AA7F-F831B5A5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CEF86E2A-8D62-419A-AF68-C5B2A66D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F5A4ED-B3BE-41D4-B20B-E22EFC7A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기술 구조와 검증 체계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A07C7FE9-7570-4D60-AA71-8C27213B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F80DAE9F-B4F3-415D-A425-28A94A29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계층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7D6242E4-4C34-47FE-BC43-5BCD371A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EF127B85-F612-43AB-B842-B86374F4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설계 의도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7DD1061F-2DB1-4F8C-A154-BD1B7B07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348F7C20-871C-4AEC-8B35-A1E8D492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데이터 기반 StageCatalog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76D2BF4D-72EE-4844-A834-221AC759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5F24E2D3-88EB-460E-809B-1539F99C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40패턴을 코드 수정 없이 검증·생성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C50CBC1C-FA92-478A-9672-A4854965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B4544A44-E237-48C6-8FB2-A3130384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결정론 ShotResolver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31F8DAC4-751C-42B0-BD51-C619F92E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CEC777CD-1EF1-43BF-B238-D012C63B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리플레이와 미리보기, 테스트가 같은 판정 사용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5705946B-23B6-4EB7-B9A9-509BD50E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CB6D7FE7-0E03-4D50-BE97-AD99001F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RunState v3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CD1B9D24-63EA-4817-9733-B3098636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BAF93972-9D01-4908-8A0D-CB438FFB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공·보상·힌트·열쇠를 안전하게 복구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6137E80B-5C3E-4B96-BA90-6DE786F7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147F23C0-2CE0-4C66-AC99-83EBEE49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 + Flame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C40DB0FA-EF9E-4DCB-8C66-51627921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34345907-632F-4414-9974-90A124A1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적응형 UI와 Canvas 게임판 분리</a:t>
            </a:r>
          </a:p>
        </p:txBody>
      </p:sp>
      <p:sp>
        <p:nvSpPr>
          <p:cNvPr id="2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BC17A517-4255-4FA9-884B-B6516488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F0090059-E001-4499-8BEE-7411ACA5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Validator + Golden</a:t>
            </a:r>
          </a:p>
        </p:txBody>
      </p:sp>
      <p:sp>
        <p:nvSpPr>
          <p:cNvPr id="2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2ABF30E4-3871-45D6-A185-20C801DB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8DF8706D-DB1E-42FF-BB49-603B09C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구조·물리·접근성·화면을 자동 검사</a:t>
            </a:r>
          </a:p>
        </p:txBody>
      </p:sp>
      <p:sp>
        <p:nvSpPr>
          <p:cNvPr id="29" name="subheading-414">
            <a:extLst xmlns:a="http://schemas.openxmlformats.org/drawingml/2006/main">
              <a:ext uri="{FF2B5EF4-FFF2-40B4-BE49-F238E27FC236}">
                <a16:creationId xmlns:a16="http://schemas.microsoft.com/office/drawing/2014/main" id="{55338EE5-E3BD-4B25-8B1E-D1A379CE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6.1 AI가 만든 레벨을 바로 등록하지 않았다</a:t>
            </a:r>
          </a:p>
        </p:txBody>
      </p:sp>
      <p:sp>
        <p:nvSpPr>
          <p:cNvPr id="30" name="paragraph-468">
            <a:extLst xmlns:a="http://schemas.openxmlformats.org/drawingml/2006/main">
              <a:ext uri="{FF2B5EF4-FFF2-40B4-BE49-F238E27FC236}">
                <a16:creationId xmlns:a16="http://schemas.microsoft.com/office/drawing/2014/main" id="{B449D48C-0169-45A0-AD13-4C98616A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AI가 만든 패턴은 문법상 정상이어도 홀로 가는 직선이 열려 있거나, 기물이 겹치거나, 특정 입력에서 무한 반사가 날 수 있다. 그래서 생성과 등록 사이에 StagePatternValidator를 두었다.</a:t>
            </a:r>
          </a:p>
        </p:txBody>
      </p:sp>
    </p:spTree>
    <p:extLst>
      <p:ext uri="{BB962C8B-B14F-4D97-AF65-F5344CB8AC3E}">
        <p14:creationId xmlns:p14="http://schemas.microsoft.com/office/powerpoint/2010/main" val="2610421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5A3A8049-3B07-4BC0-A91D-66A3B904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52CE8D-648A-415C-A830-7A576DA3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BBD9D927-FAC5-41C3-9EE1-849C7AB1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B21A79-9AAC-4FD8-B95F-2696C707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기술 구조와 검증 체계 · 계속</a:t>
            </a:r>
          </a:p>
        </p:txBody>
      </p:sp>
      <p:sp>
        <p:nvSpPr>
          <p:cNvPr id="5" name="validator-arrow-140-0">
            <a:extLst xmlns:a="http://schemas.openxmlformats.org/drawingml/2006/main">
              <a:ext uri="{FF2B5EF4-FFF2-40B4-BE49-F238E27FC236}">
                <a16:creationId xmlns:a16="http://schemas.microsoft.com/office/drawing/2014/main" id="{EE03809D-DD22-4F17-B16E-5DAC5477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943100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validator-arrow-140-1">
            <a:extLst xmlns:a="http://schemas.openxmlformats.org/drawingml/2006/main">
              <a:ext uri="{FF2B5EF4-FFF2-40B4-BE49-F238E27FC236}">
                <a16:creationId xmlns:a16="http://schemas.microsoft.com/office/drawing/2014/main" id="{83057C54-5BCB-4764-9CAE-631328EF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724150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validator-arrow-140-2">
            <a:extLst xmlns:a="http://schemas.openxmlformats.org/drawingml/2006/main">
              <a:ext uri="{FF2B5EF4-FFF2-40B4-BE49-F238E27FC236}">
                <a16:creationId xmlns:a16="http://schemas.microsoft.com/office/drawing/2014/main" id="{39168C23-DBF8-4F13-B865-9C185F5C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505200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validator-arrow-140-3">
            <a:extLst xmlns:a="http://schemas.openxmlformats.org/drawingml/2006/main">
              <a:ext uri="{FF2B5EF4-FFF2-40B4-BE49-F238E27FC236}">
                <a16:creationId xmlns:a16="http://schemas.microsoft.com/office/drawing/2014/main" id="{F2BE998E-8574-42E1-85CA-427C5A53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286250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validator-arrow-140-4">
            <a:extLst xmlns:a="http://schemas.openxmlformats.org/drawingml/2006/main">
              <a:ext uri="{FF2B5EF4-FFF2-40B4-BE49-F238E27FC236}">
                <a16:creationId xmlns:a16="http://schemas.microsoft.com/office/drawing/2014/main" id="{2D3E601F-1620-4381-AEAF-13E5EE11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067300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alidator-node-140-0">
            <a:extLst xmlns:a="http://schemas.openxmlformats.org/drawingml/2006/main">
              <a:ext uri="{FF2B5EF4-FFF2-40B4-BE49-F238E27FC236}">
                <a16:creationId xmlns:a16="http://schemas.microsoft.com/office/drawing/2014/main" id="{4EAB0398-235C-4201-BF55-B8A62D21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333500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1" name="validator-title-140-0">
            <a:extLst xmlns:a="http://schemas.openxmlformats.org/drawingml/2006/main">
              <a:ext uri="{FF2B5EF4-FFF2-40B4-BE49-F238E27FC236}">
                <a16:creationId xmlns:a16="http://schemas.microsoft.com/office/drawing/2014/main" id="{CE4E52A2-5FBF-4713-B825-3EAB6E41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28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  새 패턴</a:t>
            </a:r>
          </a:p>
        </p:txBody>
      </p:sp>
      <p:sp>
        <p:nvSpPr>
          <p:cNvPr id="12" name="validator-body-140-0">
            <a:extLst xmlns:a="http://schemas.openxmlformats.org/drawingml/2006/main">
              <a:ext uri="{FF2B5EF4-FFF2-40B4-BE49-F238E27FC236}">
                <a16:creationId xmlns:a16="http://schemas.microsoft.com/office/drawing/2014/main" id="{6D4B32FF-8497-4ADC-9603-42B0E668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2875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Stage data · Hint · Key</a:t>
            </a:r>
          </a:p>
        </p:txBody>
      </p:sp>
      <p:sp>
        <p:nvSpPr>
          <p:cNvPr id="13" name="validator-node-140-1">
            <a:extLst xmlns:a="http://schemas.openxmlformats.org/drawingml/2006/main">
              <a:ext uri="{FF2B5EF4-FFF2-40B4-BE49-F238E27FC236}">
                <a16:creationId xmlns:a16="http://schemas.microsoft.com/office/drawing/2014/main" id="{4F31B5CA-0F93-404A-A07E-9D40DE1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14550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4" name="validator-title-140-1">
            <a:extLst xmlns:a="http://schemas.openxmlformats.org/drawingml/2006/main">
              <a:ext uri="{FF2B5EF4-FFF2-40B4-BE49-F238E27FC236}">
                <a16:creationId xmlns:a16="http://schemas.microsoft.com/office/drawing/2014/main" id="{912438E7-CD11-43FE-8382-AD81E64A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09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  정적 검사</a:t>
            </a:r>
          </a:p>
        </p:txBody>
      </p:sp>
      <p:sp>
        <p:nvSpPr>
          <p:cNvPr id="15" name="validator-body-140-1">
            <a:extLst xmlns:a="http://schemas.openxmlformats.org/drawingml/2006/main">
              <a:ext uri="{FF2B5EF4-FFF2-40B4-BE49-F238E27FC236}">
                <a16:creationId xmlns:a16="http://schemas.microsoft.com/office/drawing/2014/main" id="{E0A409E0-E1D1-4E57-9911-F8285993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0980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겹침 · 필드 이탈 · ID/연결 · Hint/Key 참조</a:t>
            </a:r>
          </a:p>
        </p:txBody>
      </p:sp>
      <p:sp>
        <p:nvSpPr>
          <p:cNvPr id="16" name="validator-node-140-2">
            <a:extLst xmlns:a="http://schemas.openxmlformats.org/drawingml/2006/main">
              <a:ext uri="{FF2B5EF4-FFF2-40B4-BE49-F238E27FC236}">
                <a16:creationId xmlns:a16="http://schemas.microsoft.com/office/drawing/2014/main" id="{6A79661F-6D94-4186-8FC2-531B81F5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7" name="validator-title-140-2">
            <a:extLst xmlns:a="http://schemas.openxmlformats.org/drawingml/2006/main">
              <a:ext uri="{FF2B5EF4-FFF2-40B4-BE49-F238E27FC236}">
                <a16:creationId xmlns:a16="http://schemas.microsoft.com/office/drawing/2014/main" id="{4F182E72-FA06-4FFE-8DD7-8E6DB606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9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  물리 탐색</a:t>
            </a:r>
          </a:p>
        </p:txBody>
      </p:sp>
      <p:sp>
        <p:nvSpPr>
          <p:cNvPr id="18" name="validator-body-140-2">
            <a:extLst xmlns:a="http://schemas.openxmlformats.org/drawingml/2006/main">
              <a:ext uri="{FF2B5EF4-FFF2-40B4-BE49-F238E27FC236}">
                <a16:creationId xmlns:a16="http://schemas.microsoft.com/office/drawing/2014/main" id="{4B4B0CFD-2DC6-41AC-8D34-A6ADA12C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9085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홀 접근 · 직선 클리어 · 기믹 경로 · 관통/터널링/무한 반사</a:t>
            </a:r>
          </a:p>
        </p:txBody>
      </p:sp>
      <p:sp>
        <p:nvSpPr>
          <p:cNvPr id="19" name="validator-node-140-3">
            <a:extLst xmlns:a="http://schemas.openxmlformats.org/drawingml/2006/main">
              <a:ext uri="{FF2B5EF4-FFF2-40B4-BE49-F238E27FC236}">
                <a16:creationId xmlns:a16="http://schemas.microsoft.com/office/drawing/2014/main" id="{FEC585EF-3ACC-461D-ABED-C48063B5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76650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20" name="validator-title-140-3">
            <a:extLst xmlns:a="http://schemas.openxmlformats.org/drawingml/2006/main">
              <a:ext uri="{FF2B5EF4-FFF2-40B4-BE49-F238E27FC236}">
                <a16:creationId xmlns:a16="http://schemas.microsoft.com/office/drawing/2014/main" id="{E32076ED-E6AE-49F8-9755-33BD51CA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71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  결정론 반복</a:t>
            </a:r>
          </a:p>
        </p:txBody>
      </p:sp>
      <p:sp>
        <p:nvSpPr>
          <p:cNvPr id="21" name="validator-body-140-3">
            <a:extLst xmlns:a="http://schemas.openxmlformats.org/drawingml/2006/main">
              <a:ext uri="{FF2B5EF4-FFF2-40B4-BE49-F238E27FC236}">
                <a16:creationId xmlns:a16="http://schemas.microsoft.com/office/drawing/2014/main" id="{FC3E53B4-0004-45F9-A41E-D7758457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77190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같은 입력의 결과와 오류 코드가 반복 실행에서도 동일</a:t>
            </a:r>
          </a:p>
        </p:txBody>
      </p:sp>
      <p:sp>
        <p:nvSpPr>
          <p:cNvPr id="22" name="validator-node-140-4">
            <a:extLst xmlns:a="http://schemas.openxmlformats.org/drawingml/2006/main">
              <a:ext uri="{FF2B5EF4-FFF2-40B4-BE49-F238E27FC236}">
                <a16:creationId xmlns:a16="http://schemas.microsoft.com/office/drawing/2014/main" id="{3126934C-3141-4345-B790-F061CA41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3335">
            <a:solidFill>
              <a:srgbClr val="F47661"/>
            </a:solidFill>
            <a:prstDash val="solid"/>
          </a:ln>
        </p:spPr>
      </p:sp>
      <p:sp>
        <p:nvSpPr>
          <p:cNvPr id="23" name="validator-title-140-4">
            <a:extLst xmlns:a="http://schemas.openxmlformats.org/drawingml/2006/main">
              <a:ext uri="{FF2B5EF4-FFF2-40B4-BE49-F238E27FC236}">
                <a16:creationId xmlns:a16="http://schemas.microsoft.com/office/drawing/2014/main" id="{E1AB0031-7D9E-438A-AB2E-6766B8CA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52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  Invalid fixture 역검증</a:t>
            </a:r>
          </a:p>
        </p:txBody>
      </p:sp>
      <p:sp>
        <p:nvSpPr>
          <p:cNvPr id="24" name="validator-body-140-4">
            <a:extLst xmlns:a="http://schemas.openxmlformats.org/drawingml/2006/main">
              <a:ext uri="{FF2B5EF4-FFF2-40B4-BE49-F238E27FC236}">
                <a16:creationId xmlns:a16="http://schemas.microsoft.com/office/drawing/2014/main" id="{70DF4DB5-74F4-4D2B-83CF-9C7EE245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55295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일부러 잘못 만든 패턴을 실제로 잡는지 확인</a:t>
            </a:r>
          </a:p>
        </p:txBody>
      </p:sp>
      <p:sp>
        <p:nvSpPr>
          <p:cNvPr id="25" name="validator-node-140-5">
            <a:extLst xmlns:a="http://schemas.openxmlformats.org/drawingml/2006/main">
              <a:ext uri="{FF2B5EF4-FFF2-40B4-BE49-F238E27FC236}">
                <a16:creationId xmlns:a16="http://schemas.microsoft.com/office/drawing/2014/main" id="{5C74EBF0-AD9A-46C4-9906-B8D04832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4DB"/>
          </a:solidFill>
          <a:ln xmlns:a="http://schemas.openxmlformats.org/drawingml/2006/main" w="13335">
            <a:solidFill>
              <a:srgbClr val="D7A23D"/>
            </a:solidFill>
            <a:prstDash val="solid"/>
          </a:ln>
        </p:spPr>
      </p:sp>
      <p:sp>
        <p:nvSpPr>
          <p:cNvPr id="26" name="validator-title-140-5">
            <a:extLst xmlns:a="http://schemas.openxmlformats.org/drawingml/2006/main">
              <a:ext uri="{FF2B5EF4-FFF2-40B4-BE49-F238E27FC236}">
                <a16:creationId xmlns:a16="http://schemas.microsoft.com/office/drawing/2014/main" id="{A6922F77-AE17-4577-A81F-C9E58F9D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34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  PASS → 게임 등록</a:t>
            </a:r>
          </a:p>
        </p:txBody>
      </p:sp>
      <p:sp>
        <p:nvSpPr>
          <p:cNvPr id="27" name="validator-body-140-5">
            <a:extLst xmlns:a="http://schemas.openxmlformats.org/drawingml/2006/main">
              <a:ext uri="{FF2B5EF4-FFF2-40B4-BE49-F238E27FC236}">
                <a16:creationId xmlns:a16="http://schemas.microsoft.com/office/drawing/2014/main" id="{7F9B7A4C-7E2F-4729-BEDE-B5B523C0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334000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검증을 통과한 패턴만 생성 카탈로그에 반영</a:t>
            </a:r>
          </a:p>
        </p:txBody>
      </p:sp>
      <p:sp>
        <p:nvSpPr>
          <p:cNvPr id="28" name="paragraph-624">
            <a:extLst xmlns:a="http://schemas.openxmlformats.org/drawingml/2006/main">
              <a:ext uri="{FF2B5EF4-FFF2-40B4-BE49-F238E27FC236}">
                <a16:creationId xmlns:a16="http://schemas.microsoft.com/office/drawing/2014/main" id="{D761546F-1378-448C-87BD-F9072993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정적 구조와 실제 물리를 통과한 뒤에도 같은 입력의 결과가 반복 실행에서 같아야 한다. 마지막으로 겹침·잘못된 참조·홀 관통·무한 반사를 일부러 넣은 invalid fixture를 사용해, 검증 도구가 오류를 실제로 잡는지도 확인했다. 이 구조는 AI가 만든 결과를 자동 채택하지 않고 검증 가능한 후보로 다룬다는 제작 원칙을 코드로 만든 사례다.</a:t>
            </a:r>
          </a:p>
        </p:txBody>
      </p:sp>
    </p:spTree>
    <p:extLst>
      <p:ext uri="{BB962C8B-B14F-4D97-AF65-F5344CB8AC3E}">
        <p14:creationId xmlns:p14="http://schemas.microsoft.com/office/powerpoint/2010/main" val="180246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2F00B84D-1CC0-49CB-BC27-B0EE54AC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09976F-FCF9-4698-A165-C04C4B33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0745982-0631-41E1-BC80-EBCCE6E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D636C0-ED0F-459C-8D39-A01291E3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결과와 품질 증거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993B1A6F-F2F0-480E-BB4C-2E981474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459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 모두 플레이 가능하며 각 단계에서 기믹 사용이 우회보다 유리하다.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320×568 모바일부터 태블릿까지 보드·보상·게이지·SafeArea 화면을 검증했다.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난이도 변경·앱 재개·크래시 복구에서도 보통 기록이 오염되지 않는다.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Web 공개 빌드와 Android release 빌드를 생성했다.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bed140f64a427f"/>
          <a:stretch xmlns:a="http://schemas.openxmlformats.org/drawingml/2006/main"/>
        </p:blipFill>
        <p:spPr>
          <a:xfrm xmlns:a="http://schemas.openxmlformats.org/drawingml/2006/main">
            <a:off x="2896002" y="2888742"/>
            <a:ext cx="1770845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303.28">
            <a:extLst xmlns:a="http://schemas.openxmlformats.org/drawingml/2006/main">
              <a:ext uri="{FF2B5EF4-FFF2-40B4-BE49-F238E27FC236}">
                <a16:creationId xmlns:a16="http://schemas.microsoft.com/office/drawing/2014/main" id="{6474787E-C560-43DD-BFE6-4D52BCAC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89142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 클리어 보상 화면</a:t>
            </a:r>
          </a:p>
        </p:txBody>
      </p:sp>
    </p:spTree>
    <p:extLst>
      <p:ext uri="{BB962C8B-B14F-4D97-AF65-F5344CB8AC3E}">
        <p14:creationId xmlns:p14="http://schemas.microsoft.com/office/powerpoint/2010/main" val="207375871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97D213CF-FCD0-44FB-9578-AC10C152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E0F217-CC73-452A-A015-0D6CBA15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7C0A648-CE6E-474D-97C2-999A33E8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4A6D56-4912-466A-A52A-71EAA04F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8. 내가 만든 가치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09CA9212-BB29-412A-A9F4-B5D05A1B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805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단순 조준 게임을 ‘장면 상태를 편집하는 퍼즐’로 확장했다.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초보 지원과 기록 공정성을 동시에 만족하는 난이도 정책을 만들었다.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자연어 피드백을 데이터와 테스트 증거로 전환하는 AI 제작 체계를 설계했다.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잘못된 AI 결과를 독립 감사로 반려하고 수정하는 운영 문화를 만들었다.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게임, 기술 문서와 편집 가능한 발표 자료를 하나의 결과물로 정리했다.</a:t>
            </a:r>
          </a:p>
        </p:txBody>
      </p:sp>
    </p:spTree>
    <p:extLst>
      <p:ext uri="{BB962C8B-B14F-4D97-AF65-F5344CB8AC3E}">
        <p14:creationId xmlns:p14="http://schemas.microsoft.com/office/powerpoint/2010/main" val="15712835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98CB946E-ECAD-4E59-B6CD-940AB5FB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DFE977-851F-47F1-AA00-D8F954A6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CC913FA-B6C9-4983-A14B-52A832F4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66E9B5-0065-4D2A-B092-7E9D47C7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9. 포트폴리오 및 참고자료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715ADAC6-26BD-4FA3-936E-F5EAEF28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본문은 플레이 경험과 주요 판단만 다룬다. 아래 자료는 설계 과정이나 검증 근거를 더 확인할 때 선택적으로 볼 수 있는 원문이다.</a:t>
            </a:r>
          </a:p>
        </p:txBody>
      </p:sp>
      <p:sp>
        <p:nvSpPr>
          <p:cNvPr id="6" name="table-cell-212.64-0-0">
            <a:extLst xmlns:a="http://schemas.openxmlformats.org/drawingml/2006/main">
              <a:ext uri="{FF2B5EF4-FFF2-40B4-BE49-F238E27FC236}">
                <a16:creationId xmlns:a16="http://schemas.microsoft.com/office/drawing/2014/main" id="{3EAB6A66-747E-43CE-8E06-A20A5431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" name="table-text-212.64-0-0">
            <a:extLst xmlns:a="http://schemas.openxmlformats.org/drawingml/2006/main">
              <a:ext uri="{FF2B5EF4-FFF2-40B4-BE49-F238E27FC236}">
                <a16:creationId xmlns:a16="http://schemas.microsoft.com/office/drawing/2014/main" id="{CE2556EC-3C34-4F03-8DC2-B584D3D1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2071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참고자료</a:t>
            </a:r>
          </a:p>
        </p:txBody>
      </p:sp>
      <p:sp>
        <p:nvSpPr>
          <p:cNvPr id="8" name="table-cell-212.64-0-1">
            <a:extLst xmlns:a="http://schemas.openxmlformats.org/drawingml/2006/main">
              <a:ext uri="{FF2B5EF4-FFF2-40B4-BE49-F238E27FC236}">
                <a16:creationId xmlns:a16="http://schemas.microsoft.com/office/drawing/2014/main" id="{C59FA0D1-00F2-4168-87AF-829893EF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025396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212.64-0-1">
            <a:extLst xmlns:a="http://schemas.openxmlformats.org/drawingml/2006/main">
              <a:ext uri="{FF2B5EF4-FFF2-40B4-BE49-F238E27FC236}">
                <a16:creationId xmlns:a16="http://schemas.microsoft.com/office/drawing/2014/main" id="{EF9F70F2-F752-4F35-B933-BF935696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092071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확인할 수 있는 내용</a:t>
            </a:r>
          </a:p>
        </p:txBody>
      </p:sp>
      <p:sp>
        <p:nvSpPr>
          <p:cNvPr id="10" name="table-cell-212.64-1-0">
            <a:extLst xmlns:a="http://schemas.openxmlformats.org/drawingml/2006/main">
              <a:ext uri="{FF2B5EF4-FFF2-40B4-BE49-F238E27FC236}">
                <a16:creationId xmlns:a16="http://schemas.microsoft.com/office/drawing/2014/main" id="{2B3D8717-E11B-46FD-AD0F-E31CE782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2596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212.64-1-0">
            <a:extLst xmlns:a="http://schemas.openxmlformats.org/drawingml/2006/main">
              <a:ext uri="{FF2B5EF4-FFF2-40B4-BE49-F238E27FC236}">
                <a16:creationId xmlns:a16="http://schemas.microsoft.com/office/drawing/2014/main" id="{9B25C713-192E-4B69-92CA-7622C514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49271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 및 결과 기록 (../harness_docs/prompts/prompt_history.md)</a:t>
            </a:r>
          </a:p>
        </p:txBody>
      </p:sp>
      <p:sp>
        <p:nvSpPr>
          <p:cNvPr id="12" name="table-cell-212.64-1-1">
            <a:extLst xmlns:a="http://schemas.openxmlformats.org/drawingml/2006/main">
              <a:ext uri="{FF2B5EF4-FFF2-40B4-BE49-F238E27FC236}">
                <a16:creationId xmlns:a16="http://schemas.microsoft.com/office/drawing/2014/main" id="{2F106C5F-0755-4A57-AB3E-BE0D0C65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482596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212.64-1-1">
            <a:extLst xmlns:a="http://schemas.openxmlformats.org/drawingml/2006/main">
              <a:ext uri="{FF2B5EF4-FFF2-40B4-BE49-F238E27FC236}">
                <a16:creationId xmlns:a16="http://schemas.microsoft.com/office/drawing/2014/main" id="{FD331B6B-8EC2-4CC9-B6C5-781D4332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49271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자연어 요구가 작업 계약과 결과로 바뀐 과정</a:t>
            </a:r>
          </a:p>
        </p:txBody>
      </p:sp>
      <p:sp>
        <p:nvSpPr>
          <p:cNvPr id="14" name="table-cell-212.64-2-0">
            <a:extLst xmlns:a="http://schemas.openxmlformats.org/drawingml/2006/main">
              <a:ext uri="{FF2B5EF4-FFF2-40B4-BE49-F238E27FC236}">
                <a16:creationId xmlns:a16="http://schemas.microsoft.com/office/drawing/2014/main" id="{10D4F07C-EC80-4F7D-AC9E-66E2FBCA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82646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212.64-2-0">
            <a:extLst xmlns:a="http://schemas.openxmlformats.org/drawingml/2006/main">
              <a:ext uri="{FF2B5EF4-FFF2-40B4-BE49-F238E27FC236}">
                <a16:creationId xmlns:a16="http://schemas.microsoft.com/office/drawing/2014/main" id="{56B7B5E0-8989-40F6-81F9-A9151096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49321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StagePatternValidator 검증 (../harness_docs/qa/stage_pattern_validator_validation.md)</a:t>
            </a:r>
          </a:p>
        </p:txBody>
      </p:sp>
      <p:sp>
        <p:nvSpPr>
          <p:cNvPr id="16" name="table-cell-212.64-2-1">
            <a:extLst xmlns:a="http://schemas.openxmlformats.org/drawingml/2006/main">
              <a:ext uri="{FF2B5EF4-FFF2-40B4-BE49-F238E27FC236}">
                <a16:creationId xmlns:a16="http://schemas.microsoft.com/office/drawing/2014/main" id="{CCB1FDBB-F86E-46CC-8678-5C0C88D4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882646"/>
            <a:ext cx="3248025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212.64-2-1">
            <a:extLst xmlns:a="http://schemas.openxmlformats.org/drawingml/2006/main">
              <a:ext uri="{FF2B5EF4-FFF2-40B4-BE49-F238E27FC236}">
                <a16:creationId xmlns:a16="http://schemas.microsoft.com/office/drawing/2014/main" id="{FCA4D305-858A-48AB-8A44-E5A1104B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49321"/>
            <a:ext cx="3076575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패턴 구조·물리·invalid fixture의 검증 방식</a:t>
            </a:r>
          </a:p>
        </p:txBody>
      </p:sp>
      <p:sp>
        <p:nvSpPr>
          <p:cNvPr id="18" name="table-cell-212.64-3-0">
            <a:extLst xmlns:a="http://schemas.openxmlformats.org/drawingml/2006/main">
              <a:ext uri="{FF2B5EF4-FFF2-40B4-BE49-F238E27FC236}">
                <a16:creationId xmlns:a16="http://schemas.microsoft.com/office/drawing/2014/main" id="{2E637EA6-922E-4A4E-A239-4A1897D6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1414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212.64-3-0">
            <a:extLst xmlns:a="http://schemas.openxmlformats.org/drawingml/2006/main">
              <a:ext uri="{FF2B5EF4-FFF2-40B4-BE49-F238E27FC236}">
                <a16:creationId xmlns:a16="http://schemas.microsoft.com/office/drawing/2014/main" id="{27A4D8AA-7BC4-4078-B064-58B3F56E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8081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기믹 우위 검증 (../harness_docs/qa/gimmick_advantage_validation.md)</a:t>
            </a:r>
          </a:p>
        </p:txBody>
      </p:sp>
      <p:sp>
        <p:nvSpPr>
          <p:cNvPr id="20" name="table-cell-212.64-3-1">
            <a:extLst xmlns:a="http://schemas.openxmlformats.org/drawingml/2006/main">
              <a:ext uri="{FF2B5EF4-FFF2-40B4-BE49-F238E27FC236}">
                <a16:creationId xmlns:a16="http://schemas.microsoft.com/office/drawing/2014/main" id="{C0C160DA-F852-417E-B927-60C64F7F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41414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212.64-3-1">
            <a:extLst xmlns:a="http://schemas.openxmlformats.org/drawingml/2006/main">
              <a:ext uri="{FF2B5EF4-FFF2-40B4-BE49-F238E27FC236}">
                <a16:creationId xmlns:a16="http://schemas.microsoft.com/office/drawing/2014/main" id="{2E6F88DA-2CAC-4F09-B5EE-0819DB0D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8081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준비 전·후를 같은 입력 격자에서 비교한 방법</a:t>
            </a:r>
          </a:p>
        </p:txBody>
      </p:sp>
      <p:sp>
        <p:nvSpPr>
          <p:cNvPr id="22" name="table-cell-212.64-4-0">
            <a:extLst xmlns:a="http://schemas.openxmlformats.org/drawingml/2006/main">
              <a:ext uri="{FF2B5EF4-FFF2-40B4-BE49-F238E27FC236}">
                <a16:creationId xmlns:a16="http://schemas.microsoft.com/office/drawing/2014/main" id="{1A1AF3FC-905C-4AF8-A1F9-C2CAC530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41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212.64-4-0">
            <a:extLst xmlns:a="http://schemas.openxmlformats.org/drawingml/2006/main">
              <a:ext uri="{FF2B5EF4-FFF2-40B4-BE49-F238E27FC236}">
                <a16:creationId xmlns:a16="http://schemas.microsoft.com/office/drawing/2014/main" id="{DEC547A6-98FE-499F-BE85-E8FC2467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808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힌트 시스템 설계 (../harness_docs/design/hint_system.md)</a:t>
            </a:r>
          </a:p>
        </p:txBody>
      </p:sp>
      <p:sp>
        <p:nvSpPr>
          <p:cNvPr id="24" name="table-cell-212.64-4-1">
            <a:extLst xmlns:a="http://schemas.openxmlformats.org/drawingml/2006/main">
              <a:ext uri="{FF2B5EF4-FFF2-40B4-BE49-F238E27FC236}">
                <a16:creationId xmlns:a16="http://schemas.microsoft.com/office/drawing/2014/main" id="{B307DE25-6B7B-466F-9F9F-30F9D639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8141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212.64-4-1">
            <a:extLst xmlns:a="http://schemas.openxmlformats.org/drawingml/2006/main">
              <a:ext uri="{FF2B5EF4-FFF2-40B4-BE49-F238E27FC236}">
                <a16:creationId xmlns:a16="http://schemas.microsoft.com/office/drawing/2014/main" id="{6637DC7B-D8B8-4360-A71F-74160187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8808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L1/L2·열쇠·보상·저장 복구의 연결</a:t>
            </a:r>
          </a:p>
        </p:txBody>
      </p:sp>
      <p:sp>
        <p:nvSpPr>
          <p:cNvPr id="26" name="table-cell-212.64-5-0">
            <a:extLst xmlns:a="http://schemas.openxmlformats.org/drawingml/2006/main">
              <a:ext uri="{FF2B5EF4-FFF2-40B4-BE49-F238E27FC236}">
                <a16:creationId xmlns:a16="http://schemas.microsoft.com/office/drawing/2014/main" id="{1303D63D-9419-4692-87C4-C845E645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424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212.64-5-0">
            <a:extLst xmlns:a="http://schemas.openxmlformats.org/drawingml/2006/main">
              <a:ext uri="{FF2B5EF4-FFF2-40B4-BE49-F238E27FC236}">
                <a16:creationId xmlns:a16="http://schemas.microsoft.com/office/drawing/2014/main" id="{58EAA6E8-57B6-4155-AB0B-88B881F3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091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7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접근성 검증 (../harness_docs/qa/accessibility_validation.md)</a:t>
            </a:r>
          </a:p>
        </p:txBody>
      </p:sp>
      <p:sp>
        <p:nvSpPr>
          <p:cNvPr id="28" name="table-cell-212.64-5-1">
            <a:extLst xmlns:a="http://schemas.openxmlformats.org/drawingml/2006/main">
              <a:ext uri="{FF2B5EF4-FFF2-40B4-BE49-F238E27FC236}">
                <a16:creationId xmlns:a16="http://schemas.microsoft.com/office/drawing/2014/main" id="{C20DDF4C-FEF7-4075-B7FE-95664C8C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21424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212.64-5-1">
            <a:extLst xmlns:a="http://schemas.openxmlformats.org/drawingml/2006/main">
              <a:ext uri="{FF2B5EF4-FFF2-40B4-BE49-F238E27FC236}">
                <a16:creationId xmlns:a16="http://schemas.microsoft.com/office/drawing/2014/main" id="{4B9AD8CD-97F2-40D3-A53F-0705776D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28091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화면 읽기·저모션·큰 글자·SafeArea 대응</a:t>
            </a:r>
          </a:p>
        </p:txBody>
      </p:sp>
      <p:sp>
        <p:nvSpPr>
          <p:cNvPr id="30" name="table-cell-212.64-6-0">
            <a:extLst xmlns:a="http://schemas.openxmlformats.org/drawingml/2006/main">
              <a:ext uri="{FF2B5EF4-FFF2-40B4-BE49-F238E27FC236}">
                <a16:creationId xmlns:a16="http://schemas.microsoft.com/office/drawing/2014/main" id="{2FD74FE3-4400-43AD-8A9D-BD4901BE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142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212.64-6-0">
            <a:extLst xmlns:a="http://schemas.openxmlformats.org/drawingml/2006/main">
              <a:ext uri="{FF2B5EF4-FFF2-40B4-BE49-F238E27FC236}">
                <a16:creationId xmlns:a16="http://schemas.microsoft.com/office/drawing/2014/main" id="{37B893F5-0E1B-4B03-836A-F54DA411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809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9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에셋 권리대장 (../harness_docs/release/asset_rights_ledger.md)</a:t>
            </a:r>
          </a:p>
        </p:txBody>
      </p:sp>
      <p:sp>
        <p:nvSpPr>
          <p:cNvPr id="32" name="table-cell-212.64-6-1">
            <a:extLst xmlns:a="http://schemas.openxmlformats.org/drawingml/2006/main">
              <a:ext uri="{FF2B5EF4-FFF2-40B4-BE49-F238E27FC236}">
                <a16:creationId xmlns:a16="http://schemas.microsoft.com/office/drawing/2014/main" id="{9734F41F-84F5-42D9-AAE2-2D3AAE7D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614291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212.64-6-1">
            <a:extLst xmlns:a="http://schemas.openxmlformats.org/drawingml/2006/main">
              <a:ext uri="{FF2B5EF4-FFF2-40B4-BE49-F238E27FC236}">
                <a16:creationId xmlns:a16="http://schemas.microsoft.com/office/drawing/2014/main" id="{66F17A6E-E9FD-49E7-AEC4-1182AFF2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80966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생성형 AI·외부 에셋·오픈소스의 사용 범위</a:t>
            </a:r>
          </a:p>
        </p:txBody>
      </p:sp>
    </p:spTree>
    <p:extLst>
      <p:ext uri="{BB962C8B-B14F-4D97-AF65-F5344CB8AC3E}">
        <p14:creationId xmlns:p14="http://schemas.microsoft.com/office/powerpoint/2010/main" val="15329622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2026-08-10T13:21:12.5160000Z</dcterms:created>
  <dcterms:modified xsi:type="dcterms:W3CDTF">2026-08-10T13:21:12.5160000Z</dcterms:modified>
</coreProperties>
</file>