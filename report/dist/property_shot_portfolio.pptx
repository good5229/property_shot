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b50862592042bc" /><Relationship Type="http://schemas.openxmlformats.org/officeDocument/2006/relationships/extended-properties" Target="/docProps/app.xml" Id="Rf4f6dc833cba48db" /><Relationship Type="http://schemas.openxmlformats.org/officeDocument/2006/relationships/officeDocument" Target="/ppt/presentation.xml" Id="R3fb3ce9e5dea4a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7a9d72551c45d9"/>
  </p:sldMasterIdLst>
  <p:notesMasterIdLst>
    <p:notesMasterId xmlns:r="http://schemas.openxmlformats.org/officeDocument/2006/relationships" r:id="Rffdef7b6555e42d1"/>
  </p:notesMasterIdLst>
  <p:sldIdLst>
    <p:sldId xmlns:r="http://schemas.openxmlformats.org/officeDocument/2006/relationships" id="256" r:id="R544242b705664f5b"/>
    <p:sldId xmlns:r="http://schemas.openxmlformats.org/officeDocument/2006/relationships" id="257" r:id="R374cb351878c4c4c"/>
    <p:sldId xmlns:r="http://schemas.openxmlformats.org/officeDocument/2006/relationships" id="258" r:id="R028452b4de004d5a"/>
    <p:sldId xmlns:r="http://schemas.openxmlformats.org/officeDocument/2006/relationships" id="259" r:id="Reb236ac35cc04c9e"/>
    <p:sldId xmlns:r="http://schemas.openxmlformats.org/officeDocument/2006/relationships" id="260" r:id="R6ae0c556ab924742"/>
    <p:sldId xmlns:r="http://schemas.openxmlformats.org/officeDocument/2006/relationships" id="261" r:id="R0a28b17944d14fbe"/>
    <p:sldId xmlns:r="http://schemas.openxmlformats.org/officeDocument/2006/relationships" id="262" r:id="Rc5f704abf3114f10"/>
    <p:sldId xmlns:r="http://schemas.openxmlformats.org/officeDocument/2006/relationships" id="263" r:id="Re4ceca5c8fc54bfa"/>
    <p:sldId xmlns:r="http://schemas.openxmlformats.org/officeDocument/2006/relationships" id="264" r:id="R43e5e5642e874026"/>
    <p:sldId xmlns:r="http://schemas.openxmlformats.org/officeDocument/2006/relationships" id="265" r:id="R952eb11cf59d4a1c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4413ad45814b5f" /><Relationship Type="http://schemas.openxmlformats.org/officeDocument/2006/relationships/slideMaster" Target="/ppt/slideMasters/slideMaster1.xml" Id="Rd17a9d72551c45d9" /><Relationship Type="http://schemas.openxmlformats.org/officeDocument/2006/relationships/notesMaster" Target="/ppt/notesMasters/notesMaster1.xml" Id="Rffdef7b6555e42d1" /><Relationship Type="http://schemas.openxmlformats.org/officeDocument/2006/relationships/presProps" Target="/ppt/presProps.xml" Id="Rf57f3f80f6ea4b2f" /><Relationship Type="http://schemas.openxmlformats.org/officeDocument/2006/relationships/tableStyles" Target="/ppt/tableStyles.xml" Id="R65984438a5ef48ee" /><Relationship Type="http://schemas.openxmlformats.org/officeDocument/2006/relationships/slide" Target="/ppt/slides/slide1.xml" Id="R544242b705664f5b" /><Relationship Type="http://schemas.openxmlformats.org/officeDocument/2006/relationships/slide" Target="/ppt/slides/slide2.xml" Id="R374cb351878c4c4c" /><Relationship Type="http://schemas.openxmlformats.org/officeDocument/2006/relationships/slide" Target="/ppt/slides/slide3.xml" Id="R028452b4de004d5a" /><Relationship Type="http://schemas.openxmlformats.org/officeDocument/2006/relationships/slide" Target="/ppt/slides/slide4.xml" Id="Reb236ac35cc04c9e" /><Relationship Type="http://schemas.openxmlformats.org/officeDocument/2006/relationships/slide" Target="/ppt/slides/slide5.xml" Id="R6ae0c556ab924742" /><Relationship Type="http://schemas.openxmlformats.org/officeDocument/2006/relationships/slide" Target="/ppt/slides/slide6.xml" Id="R0a28b17944d14fbe" /><Relationship Type="http://schemas.openxmlformats.org/officeDocument/2006/relationships/slide" Target="/ppt/slides/slide7.xml" Id="Rc5f704abf3114f10" /><Relationship Type="http://schemas.openxmlformats.org/officeDocument/2006/relationships/slide" Target="/ppt/slides/slide8.xml" Id="Re4ceca5c8fc54bfa" /><Relationship Type="http://schemas.openxmlformats.org/officeDocument/2006/relationships/slide" Target="/ppt/slides/slide9.xml" Id="R43e5e5642e874026" /><Relationship Type="http://schemas.openxmlformats.org/officeDocument/2006/relationships/slide" Target="/ppt/slides/slide10.xml" Id="R952eb11cf59d4a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1a4e431d3e40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bb94c4bf804935" /><Relationship Type="http://schemas.openxmlformats.org/officeDocument/2006/relationships/notesMaster" Target="/ppt/notesMasters/notesMaster1.xml" Id="Ra55345947f524e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549f707edc466b" /><Relationship Type="http://schemas.openxmlformats.org/officeDocument/2006/relationships/notesMaster" Target="/ppt/notesMasters/notesMaster1.xml" Id="R268deb88ecbe4f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b950a267b64b97" /><Relationship Type="http://schemas.openxmlformats.org/officeDocument/2006/relationships/notesMaster" Target="/ppt/notesMasters/notesMaster1.xml" Id="Rb4f150d62bd545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e1080cf6104e28" /><Relationship Type="http://schemas.openxmlformats.org/officeDocument/2006/relationships/notesMaster" Target="/ppt/notesMasters/notesMaster1.xml" Id="Re923c338df6f42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3290ad872045c7" /><Relationship Type="http://schemas.openxmlformats.org/officeDocument/2006/relationships/notesMaster" Target="/ppt/notesMasters/notesMaster1.xml" Id="R21599b80d43148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7e70c48aed453c" /><Relationship Type="http://schemas.openxmlformats.org/officeDocument/2006/relationships/notesMaster" Target="/ppt/notesMasters/notesMaster1.xml" Id="R55ecdf9740414c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c4c533434e406d" /><Relationship Type="http://schemas.openxmlformats.org/officeDocument/2006/relationships/notesMaster" Target="/ppt/notesMasters/notesMaster1.xml" Id="R4b3db9cb149249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6c061124394aec" /><Relationship Type="http://schemas.openxmlformats.org/officeDocument/2006/relationships/notesMaster" Target="/ppt/notesMasters/notesMaster1.xml" Id="R4cb963ba42d246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cb5dbabd784d84" /><Relationship Type="http://schemas.openxmlformats.org/officeDocument/2006/relationships/notesMaster" Target="/ppt/notesMasters/notesMaster1.xml" Id="Ra06f16a2b4294b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bd46979da7421f" /><Relationship Type="http://schemas.openxmlformats.org/officeDocument/2006/relationships/notesMaster" Target="/ppt/notesMasters/notesMaster1.xml" Id="R5aa5fd02c5124f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report source and local repository assets</a:t>
            </a:r>
          </a:p>
          <a:p xmlns:a="http://schemas.openxmlformats.org/drawingml/2006/main">
            <a:r>
              <a:t>- https://nan2026.nhn.com/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report/portfolio.md</a:t>
            </a:r>
          </a:p>
          <a:p xmlns:a="http://schemas.openxmlformats.org/drawingml/2006/main">
            <a:r>
              <a:t>- screenshots/commercial-vertical-slice/390x844-current-play-audit.png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report/portfolio.md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report/portfolio.md</a:t>
            </a:r>
          </a:p>
          <a:p xmlns:a="http://schemas.openxmlformats.org/drawingml/2006/main">
            <a:r>
              <a:t>- screenshots/commercial-vertical-slice/390x844-material-source-popup.png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report/portfolio.md</a:t>
            </a:r>
          </a:p>
          <a:p xmlns:a="http://schemas.openxmlformats.org/drawingml/2006/main">
            <a:r>
              <a:t>- test/goldens/charge_gauge_green_right_390x844.png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report/portfolio.md</a:t>
            </a:r>
          </a:p>
          <a:p xmlns:a="http://schemas.openxmlformats.org/drawingml/2006/main">
            <a:r>
              <a:t>- test/goldens/difficulty_easy_first_arrival_390x844.png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report/portfolio.md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report/portfolio.md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report/portfolio.md</a:t>
            </a:r>
          </a:p>
          <a:p xmlns:a="http://schemas.openxmlformats.org/drawingml/2006/main">
            <a:r>
              <a:t>- test/goldens/run_reward_320x568_hint_first.png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report/portfolio.md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cf056313142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ef9653306747b7" /><Relationship Type="http://schemas.openxmlformats.org/officeDocument/2006/relationships/slideLayout" Target="/ppt/slideLayouts/slideLayout1.xml" Id="R8b694fa4c8874d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694fa4c8874d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c73a81bd043e6" /><Relationship Type="http://schemas.openxmlformats.org/officeDocument/2006/relationships/image" Target="/ppt/media/image.png" Id="R9af581bc39fa4806" /><Relationship Type="http://schemas.openxmlformats.org/officeDocument/2006/relationships/notesSlide" Target="/ppt/notesSlides/notesSlide1.xml" Id="R8a4ce693141d4b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79a53fb5441ee" /><Relationship Type="http://schemas.openxmlformats.org/officeDocument/2006/relationships/image" Target="/ppt/media/image2.png" Id="Rd3f002ed14aa4cfb" /><Relationship Type="http://schemas.openxmlformats.org/officeDocument/2006/relationships/notesSlide" Target="/ppt/notesSlides/notesSlide2.xml" Id="R0e54daa4736043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ce95f11774405" /><Relationship Type="http://schemas.openxmlformats.org/officeDocument/2006/relationships/notesSlide" Target="/ppt/notesSlides/notesSlide3.xml" Id="Rea74ac03c5a546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4f5054d104100" /><Relationship Type="http://schemas.openxmlformats.org/officeDocument/2006/relationships/image" Target="/ppt/media/image3.png" Id="R37e6c29811544e3e" /><Relationship Type="http://schemas.openxmlformats.org/officeDocument/2006/relationships/notesSlide" Target="/ppt/notesSlides/notesSlide4.xml" Id="R990af4c17c814d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a8d8ec8434f94" /><Relationship Type="http://schemas.openxmlformats.org/officeDocument/2006/relationships/image" Target="/ppt/media/image4.png" Id="Re20b65190037426c" /><Relationship Type="http://schemas.openxmlformats.org/officeDocument/2006/relationships/notesSlide" Target="/ppt/notesSlides/notesSlide5.xml" Id="Rf82e221f1e8c47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7f6e715684d93" /><Relationship Type="http://schemas.openxmlformats.org/officeDocument/2006/relationships/image" Target="/ppt/media/image5.png" Id="Rbd4cdbe0101d408b" /><Relationship Type="http://schemas.openxmlformats.org/officeDocument/2006/relationships/notesSlide" Target="/ppt/notesSlides/notesSlide6.xml" Id="Rf1fb6a2ebcb64d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6251494884a12" /><Relationship Type="http://schemas.openxmlformats.org/officeDocument/2006/relationships/notesSlide" Target="/ppt/notesSlides/notesSlide7.xml" Id="R84491864736248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3d2cf4e1d4bd2" /><Relationship Type="http://schemas.openxmlformats.org/officeDocument/2006/relationships/notesSlide" Target="/ppt/notesSlides/notesSlide8.xml" Id="R0355cca84bd541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d9caa6b234b30" /><Relationship Type="http://schemas.openxmlformats.org/officeDocument/2006/relationships/image" Target="/ppt/media/image6.png" Id="Rabd72d4c2fb04a8b" /><Relationship Type="http://schemas.openxmlformats.org/officeDocument/2006/relationships/notesSlide" Target="/ppt/notesSlides/notesSlide9.xml" Id="R5d336c6252a540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fe4b3d30b40cf" /><Relationship Type="http://schemas.openxmlformats.org/officeDocument/2006/relationships/notesSlide" Target="/ppt/notesSlides/notesSlide10.xml" Id="R90fbc8e4c3f04a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0BBF51F-427F-49C0-A7E5-951D531D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6301586-5A6A-4861-8D91-C71A50FF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D7A23D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D7A23D"/>
                </a:solidFill>
                <a:latin typeface="NanumGothic"/>
                <a:ea typeface="NanumGothic"/>
                <a:cs typeface="NanumGothic"/>
              </a:rPr>
              <a:t>GAME · AI · PRODUCT CASE STUDY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C45E8B9-5423-4253-B0E4-5550A32F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09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7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37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속성 한방(Property Shot)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DFEDA4EE-17A3-4EF4-A73A-FD9E133B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581bc39fa4806"/>
          <a:stretch xmlns:a="http://schemas.openxmlformats.org/drawingml/2006/main"/>
        </p:blipFill>
        <p:spPr>
          <a:xfrm xmlns:a="http://schemas.openxmlformats.org/drawingml/2006/main">
            <a:off x="3055200" y="4457700"/>
            <a:ext cx="1452450" cy="314325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D775BC45-F191-44DE-8112-82AD67B5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NAN 2026 Game × AI 해커톤 사전 과제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2026-08-10</a:t>
            </a:r>
          </a:p>
        </p:txBody>
      </p:sp>
      <p:sp>
        <p:nvSpPr>
          <p:cNvPr id="7" name="cover-page">
            <a:extLst xmlns:a="http://schemas.openxmlformats.org/drawingml/2006/main">
              <a:ext uri="{FF2B5EF4-FFF2-40B4-BE49-F238E27FC236}">
                <a16:creationId xmlns:a16="http://schemas.microsoft.com/office/drawing/2014/main" id="{CA302816-834E-4438-9087-E2528CB3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996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95592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C4372462-B7A5-4B87-960C-D529D12F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Portfolio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74A17D5-E401-44DF-957C-58E5B952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2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C310F56-6488-4E77-B216-548114AD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60D026-4ECC-4E95-9DE9-BFE048F8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1. 프로젝트 요약</a:t>
            </a:r>
          </a:p>
        </p:txBody>
      </p:sp>
      <p:sp>
        <p:nvSpPr>
          <p:cNvPr id="5" name="paragraph-140">
            <a:extLst xmlns:a="http://schemas.openxmlformats.org/drawingml/2006/main">
              <a:ext uri="{FF2B5EF4-FFF2-40B4-BE49-F238E27FC236}">
                <a16:creationId xmlns:a16="http://schemas.microsoft.com/office/drawing/2014/main" id="{249B17E3-8C63-4B3E-959E-253132F7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809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속성 한방은 환경 오브젝트의 물리 속성을 공에 옮기고, 바뀐 장면과 잔류 공을 다음 해법으로 사용하는 세로형 물리 퍼즐이다. 10단계 × 4패턴의 플레이 가능한 수직 프로토타입을 기획·구현·검증하고, AI 에이전트를 작은 제작 조직처럼 운영했다.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002ed14aa4cfb"/>
          <a:stretch xmlns:a="http://schemas.openxmlformats.org/drawingml/2006/main"/>
        </p:blipFill>
        <p:spPr>
          <a:xfrm xmlns:a="http://schemas.openxmlformats.org/drawingml/2006/main">
            <a:off x="3055200" y="2257044"/>
            <a:ext cx="14524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7" name="image-caption-236.96">
            <a:extLst xmlns:a="http://schemas.openxmlformats.org/drawingml/2006/main">
              <a:ext uri="{FF2B5EF4-FFF2-40B4-BE49-F238E27FC236}">
                <a16:creationId xmlns:a16="http://schemas.microsoft.com/office/drawing/2014/main" id="{34B28FF9-41F5-4118-8624-93494284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444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속성 한방의 실제 모바일 플레이 화면</a:t>
            </a:r>
          </a:p>
        </p:txBody>
      </p:sp>
      <p:sp>
        <p:nvSpPr>
          <p:cNvPr id="8" name="table-cell-620.96-0-0">
            <a:extLst xmlns:a="http://schemas.openxmlformats.org/drawingml/2006/main">
              <a:ext uri="{FF2B5EF4-FFF2-40B4-BE49-F238E27FC236}">
                <a16:creationId xmlns:a16="http://schemas.microsoft.com/office/drawing/2014/main" id="{4290C2AA-1A87-44A0-8498-745B89ED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14644"/>
            <a:ext cx="3248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9" name="table-text-620.96-0-0">
            <a:extLst xmlns:a="http://schemas.openxmlformats.org/drawingml/2006/main">
              <a:ext uri="{FF2B5EF4-FFF2-40B4-BE49-F238E27FC236}">
                <a16:creationId xmlns:a16="http://schemas.microsoft.com/office/drawing/2014/main" id="{CE994524-CC95-41CC-BAE4-1DDFF871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81319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항목</a:t>
            </a:r>
          </a:p>
        </p:txBody>
      </p:sp>
      <p:sp>
        <p:nvSpPr>
          <p:cNvPr id="10" name="table-cell-620.96-0-1">
            <a:extLst xmlns:a="http://schemas.openxmlformats.org/drawingml/2006/main">
              <a:ext uri="{FF2B5EF4-FFF2-40B4-BE49-F238E27FC236}">
                <a16:creationId xmlns:a16="http://schemas.microsoft.com/office/drawing/2014/main" id="{FC076F0A-58CC-4BC0-86D7-A9D73FDF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914644"/>
            <a:ext cx="3248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1" name="table-text-620.96-0-1">
            <a:extLst xmlns:a="http://schemas.openxmlformats.org/drawingml/2006/main">
              <a:ext uri="{FF2B5EF4-FFF2-40B4-BE49-F238E27FC236}">
                <a16:creationId xmlns:a16="http://schemas.microsoft.com/office/drawing/2014/main" id="{322A0BFF-2F4F-47B4-8351-86BC0A58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981319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내용</a:t>
            </a:r>
          </a:p>
        </p:txBody>
      </p:sp>
      <p:sp>
        <p:nvSpPr>
          <p:cNvPr id="12" name="table-cell-620.96-1-0">
            <a:extLst xmlns:a="http://schemas.openxmlformats.org/drawingml/2006/main">
              <a:ext uri="{FF2B5EF4-FFF2-40B4-BE49-F238E27FC236}">
                <a16:creationId xmlns:a16="http://schemas.microsoft.com/office/drawing/2014/main" id="{B329B3D2-D00F-4792-A307-D7A132C6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1844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3" name="table-text-620.96-1-0">
            <a:extLst xmlns:a="http://schemas.openxmlformats.org/drawingml/2006/main">
              <a:ext uri="{FF2B5EF4-FFF2-40B4-BE49-F238E27FC236}">
                <a16:creationId xmlns:a16="http://schemas.microsoft.com/office/drawing/2014/main" id="{82D0F57E-FEC5-4907-A662-431EB034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519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4" name="table-cell-620.96-1-1">
            <a:extLst xmlns:a="http://schemas.openxmlformats.org/drawingml/2006/main">
              <a:ext uri="{FF2B5EF4-FFF2-40B4-BE49-F238E27FC236}">
                <a16:creationId xmlns:a16="http://schemas.microsoft.com/office/drawing/2014/main" id="{436EB3EE-EBDA-43EC-B1E4-9F11A7A6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6371844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5" name="table-text-620.96-1-1">
            <a:extLst xmlns:a="http://schemas.openxmlformats.org/drawingml/2006/main">
              <a:ext uri="{FF2B5EF4-FFF2-40B4-BE49-F238E27FC236}">
                <a16:creationId xmlns:a16="http://schemas.microsoft.com/office/drawing/2014/main" id="{9AA5C2C4-2D8D-47A2-95A8-53FCA27C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438519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게임 디렉팅, 시스템 설계, AI 오케스트레이션, 품질 기준 결정</a:t>
            </a:r>
          </a:p>
        </p:txBody>
      </p:sp>
      <p:sp>
        <p:nvSpPr>
          <p:cNvPr id="16" name="table-cell-620.96-2-0">
            <a:extLst xmlns:a="http://schemas.openxmlformats.org/drawingml/2006/main">
              <a:ext uri="{FF2B5EF4-FFF2-40B4-BE49-F238E27FC236}">
                <a16:creationId xmlns:a16="http://schemas.microsoft.com/office/drawing/2014/main" id="{1C802286-071F-4A5E-B243-7EA2D314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71894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7" name="table-text-620.96-2-0">
            <a:extLst xmlns:a="http://schemas.openxmlformats.org/drawingml/2006/main">
              <a:ext uri="{FF2B5EF4-FFF2-40B4-BE49-F238E27FC236}">
                <a16:creationId xmlns:a16="http://schemas.microsoft.com/office/drawing/2014/main" id="{82431D6F-4AC8-45C5-9892-25F9CF0C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38569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플랫폼</a:t>
            </a:r>
          </a:p>
        </p:txBody>
      </p:sp>
      <p:sp>
        <p:nvSpPr>
          <p:cNvPr id="18" name="table-cell-620.96-2-1">
            <a:extLst xmlns:a="http://schemas.openxmlformats.org/drawingml/2006/main">
              <a:ext uri="{FF2B5EF4-FFF2-40B4-BE49-F238E27FC236}">
                <a16:creationId xmlns:a16="http://schemas.microsoft.com/office/drawing/2014/main" id="{3611C94C-3723-44CB-BD52-2085F6E3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6771894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9" name="table-text-620.96-2-1">
            <a:extLst xmlns:a="http://schemas.openxmlformats.org/drawingml/2006/main">
              <a:ext uri="{FF2B5EF4-FFF2-40B4-BE49-F238E27FC236}">
                <a16:creationId xmlns:a16="http://schemas.microsoft.com/office/drawing/2014/main" id="{C65DC317-E3FD-43E7-A703-02067F9C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38569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Flutter / Flame · Web / Android</a:t>
            </a:r>
          </a:p>
        </p:txBody>
      </p:sp>
      <p:sp>
        <p:nvSpPr>
          <p:cNvPr id="20" name="table-cell-620.96-3-0">
            <a:extLst xmlns:a="http://schemas.openxmlformats.org/drawingml/2006/main">
              <a:ext uri="{FF2B5EF4-FFF2-40B4-BE49-F238E27FC236}">
                <a16:creationId xmlns:a16="http://schemas.microsoft.com/office/drawing/2014/main" id="{867F62A2-E837-4915-845D-CDE4D65E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71944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1" name="table-text-620.96-3-0">
            <a:extLst xmlns:a="http://schemas.openxmlformats.org/drawingml/2006/main">
              <a:ext uri="{FF2B5EF4-FFF2-40B4-BE49-F238E27FC236}">
                <a16:creationId xmlns:a16="http://schemas.microsoft.com/office/drawing/2014/main" id="{A8A6067F-E96B-41CB-9C5B-F0657233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238619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범위</a:t>
            </a:r>
          </a:p>
        </p:txBody>
      </p:sp>
      <p:sp>
        <p:nvSpPr>
          <p:cNvPr id="22" name="table-cell-620.96-3-1">
            <a:extLst xmlns:a="http://schemas.openxmlformats.org/drawingml/2006/main">
              <a:ext uri="{FF2B5EF4-FFF2-40B4-BE49-F238E27FC236}">
                <a16:creationId xmlns:a16="http://schemas.microsoft.com/office/drawing/2014/main" id="{3FF9068D-3B45-4016-A9D4-D728E8F5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7171944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3" name="table-text-620.96-3-1">
            <a:extLst xmlns:a="http://schemas.openxmlformats.org/drawingml/2006/main">
              <a:ext uri="{FF2B5EF4-FFF2-40B4-BE49-F238E27FC236}">
                <a16:creationId xmlns:a16="http://schemas.microsoft.com/office/drawing/2014/main" id="{921EC26A-722A-44B3-B3B7-C6AF213C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238619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10단계·40패턴, 난이도, 힌트, 보상, 리플레이, 오늘의 도전</a:t>
            </a:r>
          </a:p>
        </p:txBody>
      </p:sp>
      <p:sp>
        <p:nvSpPr>
          <p:cNvPr id="24" name="table-cell-620.96-4-0">
            <a:extLst xmlns:a="http://schemas.openxmlformats.org/drawingml/2006/main">
              <a:ext uri="{FF2B5EF4-FFF2-40B4-BE49-F238E27FC236}">
                <a16:creationId xmlns:a16="http://schemas.microsoft.com/office/drawing/2014/main" id="{7CC83FFB-B8B6-4B43-88FC-4A745FED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71994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5" name="table-text-620.96-4-0">
            <a:extLst xmlns:a="http://schemas.openxmlformats.org/drawingml/2006/main">
              <a:ext uri="{FF2B5EF4-FFF2-40B4-BE49-F238E27FC236}">
                <a16:creationId xmlns:a16="http://schemas.microsoft.com/office/drawing/2014/main" id="{E807E177-E35D-41C1-8CCE-F33E6937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38669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핵심 성과</a:t>
            </a:r>
          </a:p>
        </p:txBody>
      </p:sp>
      <p:sp>
        <p:nvSpPr>
          <p:cNvPr id="26" name="table-cell-620.96-4-1">
            <a:extLst xmlns:a="http://schemas.openxmlformats.org/drawingml/2006/main">
              <a:ext uri="{FF2B5EF4-FFF2-40B4-BE49-F238E27FC236}">
                <a16:creationId xmlns:a16="http://schemas.microsoft.com/office/drawing/2014/main" id="{9AFF681B-C4A3-47BE-81B3-3F328B1C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7571994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7" name="table-text-620.96-4-1">
            <a:extLst xmlns:a="http://schemas.openxmlformats.org/drawingml/2006/main">
              <a:ext uri="{FF2B5EF4-FFF2-40B4-BE49-F238E27FC236}">
                <a16:creationId xmlns:a16="http://schemas.microsoft.com/office/drawing/2014/main" id="{A2936C60-2B98-43EE-9603-26DCA8E0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38669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상태가 누적되는 물리 퍼즐, 검증 가능한 AI 협업, 완성된 Web·Android 빌드</a:t>
            </a:r>
          </a:p>
        </p:txBody>
      </p:sp>
    </p:spTree>
    <p:extLst>
      <p:ext uri="{BB962C8B-B14F-4D97-AF65-F5344CB8AC3E}">
        <p14:creationId xmlns:p14="http://schemas.microsoft.com/office/powerpoint/2010/main" val="6347442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BE8F6312-423E-4330-B3CD-5C946017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Portfolio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463053-F471-4908-8D88-DD0A3CAC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3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78C1745-9DD9-4BB7-9D2F-34A6ACFD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DBC2E0-C46B-4009-921B-256CD2A4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2. 해결하려 한 문제</a:t>
            </a:r>
          </a:p>
        </p:txBody>
      </p:sp>
      <p:sp>
        <p:nvSpPr>
          <p:cNvPr id="5" name="paragraph-140">
            <a:extLst xmlns:a="http://schemas.openxmlformats.org/drawingml/2006/main">
              <a:ext uri="{FF2B5EF4-FFF2-40B4-BE49-F238E27FC236}">
                <a16:creationId xmlns:a16="http://schemas.microsoft.com/office/drawing/2014/main" id="{C8C64E22-28C4-4073-830F-90D07BD5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577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조준 퍼즐은 방향과 힘만 맞추면 반복적으로 느껴지기 쉽다. 반대로 기믹이 많아지면 초보자는 무엇을 해야 하는지 모른다. 이 프로젝트는 두 문제를 함께 풀었다.</a:t>
            </a:r>
          </a:p>
        </p:txBody>
      </p:sp>
      <p:sp>
        <p:nvSpPr>
          <p:cNvPr id="6" name="bullets-212.64">
            <a:extLst xmlns:a="http://schemas.openxmlformats.org/drawingml/2006/main">
              <a:ext uri="{FF2B5EF4-FFF2-40B4-BE49-F238E27FC236}">
                <a16:creationId xmlns:a16="http://schemas.microsoft.com/office/drawing/2014/main" id="{FD3FE128-E9E9-4BA0-A496-5F678ACE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25396"/>
            <a:ext cx="6496050" cy="1114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속성을 옮겨 장면 자체를 바꾸므로 매 샷의 의미를 늘린다.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실패한 공과 기물 상태가 남아 시행착오가 정보와 자원이 된다.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쉬움 모드·구체적 L1/L2 힌트·선택형 열쇠로 정답 공개 없이 진입 장벽을 낮춘다.</a:t>
            </a:r>
          </a:p>
        </p:txBody>
      </p:sp>
    </p:spTree>
    <p:extLst>
      <p:ext uri="{BB962C8B-B14F-4D97-AF65-F5344CB8AC3E}">
        <p14:creationId xmlns:p14="http://schemas.microsoft.com/office/powerpoint/2010/main" val="163465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BA7BBA09-C0D3-4E1E-A368-4D051310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Portfolio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2D5EF0-9C91-4EDA-B61E-F046D7A6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4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5DEF960-3FD8-4879-8323-176A01EB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CF8018-D3D4-43FA-9834-6CC40335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3. 핵심 경험 설계</a:t>
            </a:r>
          </a:p>
        </p:txBody>
      </p:sp>
      <p:sp>
        <p:nvSpPr>
          <p:cNvPr id="5" name="subheading-140">
            <a:extLst xmlns:a="http://schemas.openxmlformats.org/drawingml/2006/main">
              <a:ext uri="{FF2B5EF4-FFF2-40B4-BE49-F238E27FC236}">
                <a16:creationId xmlns:a16="http://schemas.microsoft.com/office/drawing/2014/main" id="{9263DEB0-A095-4A7F-ACCE-08B4F734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3.1 플레이 루프</a:t>
            </a:r>
          </a:p>
        </p:txBody>
      </p:sp>
      <p:sp>
        <p:nvSpPr>
          <p:cNvPr id="6" name="paragraph-194">
            <a:extLst xmlns:a="http://schemas.openxmlformats.org/drawingml/2006/main">
              <a:ext uri="{FF2B5EF4-FFF2-40B4-BE49-F238E27FC236}">
                <a16:creationId xmlns:a16="http://schemas.microsoft.com/office/drawing/2014/main" id="{ACD63944-FC26-4B80-9205-FE97796E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6496050" cy="577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관찰 → 속성 선택 → 방향·힘 결정 → 물리 연쇄 → 바뀐 상태 재사용의 순환을 만들었다.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6c29811544e3e"/>
          <a:stretch xmlns:a="http://schemas.openxmlformats.org/drawingml/2006/main"/>
        </p:blipFill>
        <p:spPr>
          <a:xfrm xmlns:a="http://schemas.openxmlformats.org/drawingml/2006/main">
            <a:off x="3055200" y="2539746"/>
            <a:ext cx="14524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" name="image-caption-266.64">
            <a:extLst xmlns:a="http://schemas.openxmlformats.org/drawingml/2006/main">
              <a:ext uri="{FF2B5EF4-FFF2-40B4-BE49-F238E27FC236}">
                <a16:creationId xmlns:a16="http://schemas.microsoft.com/office/drawing/2014/main" id="{A5115DE3-5ABF-4C26-A56E-635E3E5E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0146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속성 원본에서 공으로 능력을 옮기는 선택 화면</a:t>
            </a:r>
          </a:p>
        </p:txBody>
      </p:sp>
      <p:sp>
        <p:nvSpPr>
          <p:cNvPr id="9" name="subheading-650.64">
            <a:extLst xmlns:a="http://schemas.openxmlformats.org/drawingml/2006/main">
              <a:ext uri="{FF2B5EF4-FFF2-40B4-BE49-F238E27FC236}">
                <a16:creationId xmlns:a16="http://schemas.microsoft.com/office/drawing/2014/main" id="{9B8A73D8-5C54-4E29-A6EF-BD72DC66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7346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3.2 실패를 자원으로 바꾸기</a:t>
            </a:r>
          </a:p>
        </p:txBody>
      </p:sp>
      <p:sp>
        <p:nvSpPr>
          <p:cNvPr id="10" name="paragraph-704.64">
            <a:extLst xmlns:a="http://schemas.openxmlformats.org/drawingml/2006/main">
              <a:ext uri="{FF2B5EF4-FFF2-40B4-BE49-F238E27FC236}">
                <a16:creationId xmlns:a16="http://schemas.microsoft.com/office/drawing/2014/main" id="{6FD83639-8E7F-443F-86A2-58729245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11696"/>
            <a:ext cx="6496050" cy="809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첫 샷이 홀에 들어가지 않아도 공이 남고 문·스위치·반사판 상태가 유지된다. 플레이어는 실패를 초기화하지 않고 다음 샷의 발판으로 바꾼다. 이는 속성 한방의 가장 중요한 차별점이다.</a:t>
            </a:r>
          </a:p>
        </p:txBody>
      </p:sp>
      <p:sp>
        <p:nvSpPr>
          <p:cNvPr id="11" name="subheading-801.6">
            <a:extLst xmlns:a="http://schemas.openxmlformats.org/drawingml/2006/main">
              <a:ext uri="{FF2B5EF4-FFF2-40B4-BE49-F238E27FC236}">
                <a16:creationId xmlns:a16="http://schemas.microsoft.com/office/drawing/2014/main" id="{B3E15083-4BF1-4D7F-80E0-599A9438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35240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3.3 10단계 학습 설계</a:t>
            </a:r>
          </a:p>
        </p:txBody>
      </p:sp>
      <p:sp>
        <p:nvSpPr>
          <p:cNvPr id="12" name="paragraph-855.6">
            <a:extLst xmlns:a="http://schemas.openxmlformats.org/drawingml/2006/main">
              <a:ext uri="{FF2B5EF4-FFF2-40B4-BE49-F238E27FC236}">
                <a16:creationId xmlns:a16="http://schemas.microsoft.com/office/drawing/2014/main" id="{95F0EE8F-B532-415B-89F4-F89B1AA1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49590"/>
            <a:ext cx="6496050" cy="577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무거움과 탄성에서 시작해 스위치·풍선·비워진 원본·파워 발판·잔류 공·회전 반사판·속성 통합으로 확장했다. 단계별 4개 변형은 같은 규칙을 다른 공간에서 다시 적용하게 한다.</a:t>
            </a:r>
          </a:p>
        </p:txBody>
      </p:sp>
    </p:spTree>
    <p:extLst>
      <p:ext uri="{BB962C8B-B14F-4D97-AF65-F5344CB8AC3E}">
        <p14:creationId xmlns:p14="http://schemas.microsoft.com/office/powerpoint/2010/main" val="378730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4B0F93DC-014B-452F-B899-0EB40176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Portfolio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FF3B36-0F9F-494F-8F0C-84D95F71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5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5D1CC70-F5E8-44BD-9EE2-78914244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4827EB-4C46-4B97-ABB5-74E53734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4. 대표 UX 개선 사례</a:t>
            </a:r>
          </a:p>
        </p:txBody>
      </p:sp>
      <p:sp>
        <p:nvSpPr>
          <p:cNvPr id="5" name="subheading-140">
            <a:extLst xmlns:a="http://schemas.openxmlformats.org/drawingml/2006/main">
              <a:ext uri="{FF2B5EF4-FFF2-40B4-BE49-F238E27FC236}">
                <a16:creationId xmlns:a16="http://schemas.microsoft.com/office/drawing/2014/main" id="{B5E1368D-094A-4861-B69D-95C96865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4.1 손가락에 가리는 게이지</a:t>
            </a:r>
          </a:p>
        </p:txBody>
      </p:sp>
      <p:sp>
        <p:nvSpPr>
          <p:cNvPr id="6" name="paragraph-194">
            <a:extLst xmlns:a="http://schemas.openxmlformats.org/drawingml/2006/main">
              <a:ext uri="{FF2B5EF4-FFF2-40B4-BE49-F238E27FC236}">
                <a16:creationId xmlns:a16="http://schemas.microsoft.com/office/drawing/2014/main" id="{E99963CA-D7A3-40E4-B1EF-B1D13570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6496050" cy="345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문제: 공 주변 원형 게이지가 모바일에서 손가락에 가렸다.</a:t>
            </a:r>
          </a:p>
        </p:txBody>
      </p:sp>
      <p:sp>
        <p:nvSpPr>
          <p:cNvPr id="7" name="paragraph-242.32">
            <a:extLst xmlns:a="http://schemas.openxmlformats.org/drawingml/2006/main">
              <a:ext uri="{FF2B5EF4-FFF2-40B4-BE49-F238E27FC236}">
                <a16:creationId xmlns:a16="http://schemas.microsoft.com/office/drawing/2014/main" id="{0E57ADE8-E830-4493-AFE4-CC1E0055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8098"/>
            <a:ext cx="6496050" cy="577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결정: 입력 규칙은 유지하고 게이지를 공 가까이의 부유 직선 rail로 분리했다. 핵심 기물과 열쇠를 피하고, 좌·우 손 선호와 저모션을 지원했다.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b65190037426c"/>
          <a:stretch xmlns:a="http://schemas.openxmlformats.org/drawingml/2006/main"/>
        </p:blipFill>
        <p:spPr>
          <a:xfrm xmlns:a="http://schemas.openxmlformats.org/drawingml/2006/main">
            <a:off x="3055200" y="2999994"/>
            <a:ext cx="14524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9" name="image-caption-314.96">
            <a:extLst xmlns:a="http://schemas.openxmlformats.org/drawingml/2006/main">
              <a:ext uri="{FF2B5EF4-FFF2-40B4-BE49-F238E27FC236}">
                <a16:creationId xmlns:a16="http://schemas.microsoft.com/office/drawing/2014/main" id="{E58BF402-4BF8-4836-A7C6-FFF78C92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00394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모바일 화면에서 기물을 피하는 부유 충전 게이지</a:t>
            </a:r>
          </a:p>
        </p:txBody>
      </p:sp>
      <p:sp>
        <p:nvSpPr>
          <p:cNvPr id="10" name="subheading-698.96">
            <a:extLst xmlns:a="http://schemas.openxmlformats.org/drawingml/2006/main">
              <a:ext uri="{FF2B5EF4-FFF2-40B4-BE49-F238E27FC236}">
                <a16:creationId xmlns:a16="http://schemas.microsoft.com/office/drawing/2014/main" id="{A6D5FEF3-6312-4140-869F-5FCF8E9F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57594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4.2 너무 어려운 첫 경험</a:t>
            </a:r>
          </a:p>
        </p:txBody>
      </p:sp>
      <p:sp>
        <p:nvSpPr>
          <p:cNvPr id="11" name="paragraph-752.96">
            <a:extLst xmlns:a="http://schemas.openxmlformats.org/drawingml/2006/main">
              <a:ext uri="{FF2B5EF4-FFF2-40B4-BE49-F238E27FC236}">
                <a16:creationId xmlns:a16="http://schemas.microsoft.com/office/drawing/2014/main" id="{16391AD3-4614-47BF-9BCA-18D22E81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71944"/>
            <a:ext cx="6496050" cy="345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문제: 첫 플레이에서 복잡한 변형이 무작위로 나올 수 있었다.</a:t>
            </a:r>
          </a:p>
        </p:txBody>
      </p:sp>
      <p:sp>
        <p:nvSpPr>
          <p:cNvPr id="12" name="paragraph-801.2800000000001">
            <a:extLst xmlns:a="http://schemas.openxmlformats.org/drawingml/2006/main">
              <a:ext uri="{FF2B5EF4-FFF2-40B4-BE49-F238E27FC236}">
                <a16:creationId xmlns:a16="http://schemas.microsoft.com/office/drawing/2014/main" id="{FEAF39EC-E4C6-45DE-BBBB-B27EE7C5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32192"/>
            <a:ext cx="6496050" cy="577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결정: 첫 1–4단계만 기준 패턴을 우선하고, 쉬움 모드에서는 실제 판정 결과의 첫 도착점을 표시했다. 물리와 보통 기록은 바꾸지 않았다.</a:t>
            </a:r>
          </a:p>
        </p:txBody>
      </p:sp>
    </p:spTree>
    <p:extLst>
      <p:ext uri="{BB962C8B-B14F-4D97-AF65-F5344CB8AC3E}">
        <p14:creationId xmlns:p14="http://schemas.microsoft.com/office/powerpoint/2010/main" val="21312462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6A242301-726E-4433-86F0-1C00EA5D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Portfolio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4A7E7A-8F99-449C-A125-D4AB813E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6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EAFCFA6-0EB9-492D-887C-BF3F6ED9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3BBB4F-FA84-4538-A4B2-09AE1620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4. 대표 UX 개선 사례 · 계속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cdbe0101d408b"/>
          <a:stretch xmlns:a="http://schemas.openxmlformats.org/drawingml/2006/main"/>
        </p:blipFill>
        <p:spPr>
          <a:xfrm xmlns:a="http://schemas.openxmlformats.org/drawingml/2006/main">
            <a:off x="3055200" y="1333500"/>
            <a:ext cx="14524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image-caption-140">
            <a:extLst xmlns:a="http://schemas.openxmlformats.org/drawingml/2006/main">
              <a:ext uri="{FF2B5EF4-FFF2-40B4-BE49-F238E27FC236}">
                <a16:creationId xmlns:a16="http://schemas.microsoft.com/office/drawing/2014/main" id="{A20A843A-8486-490F-B331-4C787ADC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쉬움 모드 예상 도착 표시</a:t>
            </a:r>
          </a:p>
        </p:txBody>
      </p:sp>
      <p:sp>
        <p:nvSpPr>
          <p:cNvPr id="7" name="subheading-524">
            <a:extLst xmlns:a="http://schemas.openxmlformats.org/drawingml/2006/main">
              <a:ext uri="{FF2B5EF4-FFF2-40B4-BE49-F238E27FC236}">
                <a16:creationId xmlns:a16="http://schemas.microsoft.com/office/drawing/2014/main" id="{611E3743-D69F-41F5-BAD9-FE3F7D4E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4.3 추상적인 도움말</a:t>
            </a:r>
          </a:p>
        </p:txBody>
      </p:sp>
      <p:sp>
        <p:nvSpPr>
          <p:cNvPr id="8" name="paragraph-578">
            <a:extLst xmlns:a="http://schemas.openxmlformats.org/drawingml/2006/main">
              <a:ext uri="{FF2B5EF4-FFF2-40B4-BE49-F238E27FC236}">
                <a16:creationId xmlns:a16="http://schemas.microsoft.com/office/drawing/2014/main" id="{14DCF7E7-D542-41F5-ADED-F5759B07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6496050" cy="345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문제: ‘기믹을 활용하세요’는 실제 행동을 안내하지 못했다.</a:t>
            </a:r>
          </a:p>
        </p:txBody>
      </p:sp>
      <p:sp>
        <p:nvSpPr>
          <p:cNvPr id="9" name="paragraph-626.32">
            <a:extLst xmlns:a="http://schemas.openxmlformats.org/drawingml/2006/main">
              <a:ext uri="{FF2B5EF4-FFF2-40B4-BE49-F238E27FC236}">
                <a16:creationId xmlns:a16="http://schemas.microsoft.com/office/drawing/2014/main" id="{C9B2FAAA-5747-4296-B71F-70D58D41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5698"/>
            <a:ext cx="6496050" cy="577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결정: 40패턴마다 L1은 첫 행동, L2는 위치·세기·순서·결과를 안내한다. 도움을 선택한 사람만 보상 또는 열쇠로 열 수 있게 했다.</a:t>
            </a:r>
          </a:p>
        </p:txBody>
      </p:sp>
    </p:spTree>
    <p:extLst>
      <p:ext uri="{BB962C8B-B14F-4D97-AF65-F5344CB8AC3E}">
        <p14:creationId xmlns:p14="http://schemas.microsoft.com/office/powerpoint/2010/main" val="342779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B58BDE9A-0726-4192-AA1F-4EF810AF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Portfolio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F3E72A0-D33D-49A2-B34A-5F855B5D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7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4E95F5B-2147-469F-BB53-5305FE1F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59AADE-A02D-46E8-8A41-E9DCD1FD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5. AI 디렉팅 방식</a:t>
            </a:r>
          </a:p>
        </p:txBody>
      </p:sp>
      <p:sp>
        <p:nvSpPr>
          <p:cNvPr id="5" name="paragraph-140">
            <a:extLst xmlns:a="http://schemas.openxmlformats.org/drawingml/2006/main">
              <a:ext uri="{FF2B5EF4-FFF2-40B4-BE49-F238E27FC236}">
                <a16:creationId xmlns:a16="http://schemas.microsoft.com/office/drawing/2014/main" id="{79BE7D21-5CAD-4E20-9470-188BC98F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577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AI를 한 명의 만능 개발자로 쓰지 않고 기능 담당·레벨 담당·문서 담당·독립 검사로 나눴다. 프롬프트는 목적, 보호해야 할 규칙, 테스트 기준, 종료 조건을 포함했다.</a:t>
            </a:r>
          </a:p>
        </p:txBody>
      </p:sp>
      <p:sp>
        <p:nvSpPr>
          <p:cNvPr id="6" name="workflow-arrow-212.64-0">
            <a:extLst xmlns:a="http://schemas.openxmlformats.org/drawingml/2006/main">
              <a:ext uri="{FF2B5EF4-FFF2-40B4-BE49-F238E27FC236}">
                <a16:creationId xmlns:a16="http://schemas.microsoft.com/office/drawing/2014/main" id="{024F7E36-F8FE-48A4-ABF9-5C732036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311146"/>
            <a:ext cx="2190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arrow-212.64-1">
            <a:extLst xmlns:a="http://schemas.openxmlformats.org/drawingml/2006/main">
              <a:ext uri="{FF2B5EF4-FFF2-40B4-BE49-F238E27FC236}">
                <a16:creationId xmlns:a16="http://schemas.microsoft.com/office/drawing/2014/main" id="{09ABA270-1003-4793-877D-588CC0AA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11146"/>
            <a:ext cx="2190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kflow-arrow-212.64-2">
            <a:extLst xmlns:a="http://schemas.openxmlformats.org/drawingml/2006/main">
              <a:ext uri="{FF2B5EF4-FFF2-40B4-BE49-F238E27FC236}">
                <a16:creationId xmlns:a16="http://schemas.microsoft.com/office/drawing/2014/main" id="{CBEBA749-6FEC-436A-8860-0E193EA3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11146"/>
            <a:ext cx="2190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orkflow-arrow-212.64-3">
            <a:extLst xmlns:a="http://schemas.openxmlformats.org/drawingml/2006/main">
              <a:ext uri="{FF2B5EF4-FFF2-40B4-BE49-F238E27FC236}">
                <a16:creationId xmlns:a16="http://schemas.microsoft.com/office/drawing/2014/main" id="{EF7121AB-323B-4C8D-9724-A548131B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11146"/>
            <a:ext cx="2190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orkflow-node-212.64-0">
            <a:extLst xmlns:a="http://schemas.openxmlformats.org/drawingml/2006/main">
              <a:ext uri="{FF2B5EF4-FFF2-40B4-BE49-F238E27FC236}">
                <a16:creationId xmlns:a16="http://schemas.microsoft.com/office/drawing/2014/main" id="{C85B038E-032D-4BE0-AFAE-AB19D5C4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25396"/>
            <a:ext cx="1047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13335">
            <a:solidFill>
              <a:srgbClr val="2C7A7B"/>
            </a:solidFill>
            <a:prstDash val="solid"/>
          </a:ln>
        </p:spPr>
      </p:sp>
      <p:sp>
        <p:nvSpPr>
          <p:cNvPr id="11" name="workflow-label-212.64-0">
            <a:extLst xmlns:a="http://schemas.openxmlformats.org/drawingml/2006/main">
              <a:ext uri="{FF2B5EF4-FFF2-40B4-BE49-F238E27FC236}">
                <a16:creationId xmlns:a16="http://schemas.microsoft.com/office/drawing/2014/main" id="{780ECE5E-F1A3-49CC-8884-84CA4A99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3996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5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사용자 피드백</a:t>
            </a:r>
          </a:p>
        </p:txBody>
      </p:sp>
      <p:sp>
        <p:nvSpPr>
          <p:cNvPr id="12" name="workflow-node-212.64-1">
            <a:extLst xmlns:a="http://schemas.openxmlformats.org/drawingml/2006/main">
              <a:ext uri="{FF2B5EF4-FFF2-40B4-BE49-F238E27FC236}">
                <a16:creationId xmlns:a16="http://schemas.microsoft.com/office/drawing/2014/main" id="{C84604E3-C841-4FF9-AB57-11EE2E6C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025396"/>
            <a:ext cx="1047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13335">
            <a:solidFill>
              <a:srgbClr val="2C7A7B"/>
            </a:solidFill>
            <a:prstDash val="solid"/>
          </a:ln>
        </p:spPr>
      </p:sp>
      <p:sp>
        <p:nvSpPr>
          <p:cNvPr id="13" name="workflow-label-212.64-1">
            <a:extLst xmlns:a="http://schemas.openxmlformats.org/drawingml/2006/main">
              <a:ext uri="{FF2B5EF4-FFF2-40B4-BE49-F238E27FC236}">
                <a16:creationId xmlns:a16="http://schemas.microsoft.com/office/drawing/2014/main" id="{3EC84394-6235-4ACB-A4A8-20142F6E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253996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기능 계약</a:t>
            </a:r>
          </a:p>
        </p:txBody>
      </p:sp>
      <p:sp>
        <p:nvSpPr>
          <p:cNvPr id="14" name="workflow-node-212.64-2">
            <a:extLst xmlns:a="http://schemas.openxmlformats.org/drawingml/2006/main">
              <a:ext uri="{FF2B5EF4-FFF2-40B4-BE49-F238E27FC236}">
                <a16:creationId xmlns:a16="http://schemas.microsoft.com/office/drawing/2014/main" id="{39E63FB8-356F-4118-BA7D-ABD9536F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25396"/>
            <a:ext cx="1047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13335">
            <a:solidFill>
              <a:srgbClr val="2C7A7B"/>
            </a:solidFill>
            <a:prstDash val="solid"/>
          </a:ln>
        </p:spPr>
      </p:sp>
      <p:sp>
        <p:nvSpPr>
          <p:cNvPr id="15" name="workflow-label-212.64-2">
            <a:extLst xmlns:a="http://schemas.openxmlformats.org/drawingml/2006/main">
              <a:ext uri="{FF2B5EF4-FFF2-40B4-BE49-F238E27FC236}">
                <a16:creationId xmlns:a16="http://schemas.microsoft.com/office/drawing/2014/main" id="{96F02E1C-1007-48F0-9D5D-D3E1E9B6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53996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전문 실행</a:t>
            </a:r>
          </a:p>
        </p:txBody>
      </p:sp>
      <p:sp>
        <p:nvSpPr>
          <p:cNvPr id="16" name="workflow-node-212.64-3">
            <a:extLst xmlns:a="http://schemas.openxmlformats.org/drawingml/2006/main">
              <a:ext uri="{FF2B5EF4-FFF2-40B4-BE49-F238E27FC236}">
                <a16:creationId xmlns:a16="http://schemas.microsoft.com/office/drawing/2014/main" id="{9C75923C-CAFD-420E-A13B-E5946F3C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25396"/>
            <a:ext cx="1047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3335">
            <a:solidFill>
              <a:srgbClr val="F47661"/>
            </a:solidFill>
            <a:prstDash val="solid"/>
          </a:ln>
        </p:spPr>
      </p:sp>
      <p:sp>
        <p:nvSpPr>
          <p:cNvPr id="17" name="workflow-label-212.64-3">
            <a:extLst xmlns:a="http://schemas.openxmlformats.org/drawingml/2006/main">
              <a:ext uri="{FF2B5EF4-FFF2-40B4-BE49-F238E27FC236}">
                <a16:creationId xmlns:a16="http://schemas.microsoft.com/office/drawing/2014/main" id="{AB98A8F4-732D-45D2-BA7E-6EC986BF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53996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독립 감사</a:t>
            </a:r>
          </a:p>
        </p:txBody>
      </p:sp>
      <p:sp>
        <p:nvSpPr>
          <p:cNvPr id="18" name="workflow-node-212.64-4">
            <a:extLst xmlns:a="http://schemas.openxmlformats.org/drawingml/2006/main">
              <a:ext uri="{FF2B5EF4-FFF2-40B4-BE49-F238E27FC236}">
                <a16:creationId xmlns:a16="http://schemas.microsoft.com/office/drawing/2014/main" id="{89A50205-8D9E-486C-A301-9E7577AD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25396"/>
            <a:ext cx="1047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13335">
            <a:solidFill>
              <a:srgbClr val="2C7A7B"/>
            </a:solidFill>
            <a:prstDash val="solid"/>
          </a:ln>
        </p:spPr>
      </p:sp>
      <p:sp>
        <p:nvSpPr>
          <p:cNvPr id="19" name="workflow-label-212.64-4">
            <a:extLst xmlns:a="http://schemas.openxmlformats.org/drawingml/2006/main">
              <a:ext uri="{FF2B5EF4-FFF2-40B4-BE49-F238E27FC236}">
                <a16:creationId xmlns:a16="http://schemas.microsoft.com/office/drawing/2014/main" id="{CA75015D-97AF-4F83-B138-B2C3DDA8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53996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증거·통합</a:t>
            </a:r>
          </a:p>
        </p:txBody>
      </p:sp>
      <p:sp>
        <p:nvSpPr>
          <p:cNvPr id="20" name="workflow-note-212.64">
            <a:extLst xmlns:a="http://schemas.openxmlformats.org/drawingml/2006/main">
              <a:ext uri="{FF2B5EF4-FFF2-40B4-BE49-F238E27FC236}">
                <a16:creationId xmlns:a16="http://schemas.microsoft.com/office/drawing/2014/main" id="{742FB928-B09F-40E1-8429-020E961A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2196"/>
            <a:ext cx="649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감사에서 문제가 발견되면 기능 계약 단계로 돌아간다.</a:t>
            </a:r>
          </a:p>
        </p:txBody>
      </p:sp>
      <p:sp>
        <p:nvSpPr>
          <p:cNvPr id="21" name="table-cell-378.64-0-0">
            <a:extLst xmlns:a="http://schemas.openxmlformats.org/drawingml/2006/main">
              <a:ext uri="{FF2B5EF4-FFF2-40B4-BE49-F238E27FC236}">
                <a16:creationId xmlns:a16="http://schemas.microsoft.com/office/drawing/2014/main" id="{C96B9C70-A0EC-4D72-86A5-7F0C1A28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6546"/>
            <a:ext cx="216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2" name="table-text-378.64-0-0">
            <a:extLst xmlns:a="http://schemas.openxmlformats.org/drawingml/2006/main">
              <a:ext uri="{FF2B5EF4-FFF2-40B4-BE49-F238E27FC236}">
                <a16:creationId xmlns:a16="http://schemas.microsoft.com/office/drawing/2014/main" id="{BF934A18-FCF9-45A5-83CD-602450C5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73221"/>
            <a:ext cx="199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단계</a:t>
            </a:r>
          </a:p>
        </p:txBody>
      </p:sp>
      <p:sp>
        <p:nvSpPr>
          <p:cNvPr id="23" name="table-cell-378.64-0-1">
            <a:extLst xmlns:a="http://schemas.openxmlformats.org/drawingml/2006/main">
              <a:ext uri="{FF2B5EF4-FFF2-40B4-BE49-F238E27FC236}">
                <a16:creationId xmlns:a16="http://schemas.microsoft.com/office/drawing/2014/main" id="{99CFCB60-270A-40D5-B98E-86EBED0F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0" y="3606546"/>
            <a:ext cx="216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4" name="table-text-378.64-0-1">
            <a:extLst xmlns:a="http://schemas.openxmlformats.org/drawingml/2006/main">
              <a:ext uri="{FF2B5EF4-FFF2-40B4-BE49-F238E27FC236}">
                <a16:creationId xmlns:a16="http://schemas.microsoft.com/office/drawing/2014/main" id="{62A8AF22-5883-4363-A463-7DEB1C45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3673221"/>
            <a:ext cx="199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내 결정</a:t>
            </a:r>
          </a:p>
        </p:txBody>
      </p:sp>
      <p:sp>
        <p:nvSpPr>
          <p:cNvPr id="25" name="table-cell-378.64-0-2">
            <a:extLst xmlns:a="http://schemas.openxmlformats.org/drawingml/2006/main">
              <a:ext uri="{FF2B5EF4-FFF2-40B4-BE49-F238E27FC236}">
                <a16:creationId xmlns:a16="http://schemas.microsoft.com/office/drawing/2014/main" id="{2D78AB1F-6DC0-4267-8BA7-F37DAFB0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3606546"/>
            <a:ext cx="216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6" name="table-text-378.64-0-2">
            <a:extLst xmlns:a="http://schemas.openxmlformats.org/drawingml/2006/main">
              <a:ext uri="{FF2B5EF4-FFF2-40B4-BE49-F238E27FC236}">
                <a16:creationId xmlns:a16="http://schemas.microsoft.com/office/drawing/2014/main" id="{9C6AE63A-4B2C-4719-B95C-A581B4CD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3673221"/>
            <a:ext cx="199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AI의 기여</a:t>
            </a:r>
          </a:p>
        </p:txBody>
      </p:sp>
      <p:sp>
        <p:nvSpPr>
          <p:cNvPr id="27" name="table-cell-378.64-1-0">
            <a:extLst xmlns:a="http://schemas.openxmlformats.org/drawingml/2006/main">
              <a:ext uri="{FF2B5EF4-FFF2-40B4-BE49-F238E27FC236}">
                <a16:creationId xmlns:a16="http://schemas.microsoft.com/office/drawing/2014/main" id="{E9C07B32-AF3B-40C9-8D1E-05E2F40D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63746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8" name="table-text-378.64-1-0">
            <a:extLst xmlns:a="http://schemas.openxmlformats.org/drawingml/2006/main">
              <a:ext uri="{FF2B5EF4-FFF2-40B4-BE49-F238E27FC236}">
                <a16:creationId xmlns:a16="http://schemas.microsoft.com/office/drawing/2014/main" id="{00DF4C61-0113-4084-95E8-6E2EB41A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30421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문제 정의</a:t>
            </a:r>
          </a:p>
        </p:txBody>
      </p:sp>
      <p:sp>
        <p:nvSpPr>
          <p:cNvPr id="29" name="table-cell-378.64-1-1">
            <a:extLst xmlns:a="http://schemas.openxmlformats.org/drawingml/2006/main">
              <a:ext uri="{FF2B5EF4-FFF2-40B4-BE49-F238E27FC236}">
                <a16:creationId xmlns:a16="http://schemas.microsoft.com/office/drawing/2014/main" id="{8548CF65-9371-4C5B-89D6-0A84324B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0" y="4063746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30" name="table-text-378.64-1-1">
            <a:extLst xmlns:a="http://schemas.openxmlformats.org/drawingml/2006/main">
              <a:ext uri="{FF2B5EF4-FFF2-40B4-BE49-F238E27FC236}">
                <a16:creationId xmlns:a16="http://schemas.microsoft.com/office/drawing/2014/main" id="{7773CE11-AD08-4BF2-9EDC-3071E597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4130421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어떤 플레이 경험을 바꿀지 결정</a:t>
            </a:r>
          </a:p>
        </p:txBody>
      </p:sp>
      <p:sp>
        <p:nvSpPr>
          <p:cNvPr id="31" name="table-cell-378.64-1-2">
            <a:extLst xmlns:a="http://schemas.openxmlformats.org/drawingml/2006/main">
              <a:ext uri="{FF2B5EF4-FFF2-40B4-BE49-F238E27FC236}">
                <a16:creationId xmlns:a16="http://schemas.microsoft.com/office/drawing/2014/main" id="{2DBED8A3-83E2-47D5-9507-FF0E4BE0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4063746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32" name="table-text-378.64-1-2">
            <a:extLst xmlns:a="http://schemas.openxmlformats.org/drawingml/2006/main">
              <a:ext uri="{FF2B5EF4-FFF2-40B4-BE49-F238E27FC236}">
                <a16:creationId xmlns:a16="http://schemas.microsoft.com/office/drawing/2014/main" id="{15AB9EB6-7487-4601-99C8-DB5EBE7D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4130421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코드·화면·데이터에서 원인 탐색</a:t>
            </a:r>
          </a:p>
        </p:txBody>
      </p:sp>
      <p:sp>
        <p:nvSpPr>
          <p:cNvPr id="33" name="table-cell-378.64-2-0">
            <a:extLst xmlns:a="http://schemas.openxmlformats.org/drawingml/2006/main">
              <a:ext uri="{FF2B5EF4-FFF2-40B4-BE49-F238E27FC236}">
                <a16:creationId xmlns:a16="http://schemas.microsoft.com/office/drawing/2014/main" id="{AB2A66AF-3A7F-4F4E-8ADD-8C42A02A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63796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34" name="table-text-378.64-2-0">
            <a:extLst xmlns:a="http://schemas.openxmlformats.org/drawingml/2006/main">
              <a:ext uri="{FF2B5EF4-FFF2-40B4-BE49-F238E27FC236}">
                <a16:creationId xmlns:a16="http://schemas.microsoft.com/office/drawing/2014/main" id="{EEE8B0EC-35B5-42BE-A4D8-685D4066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30471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설계</a:t>
            </a:r>
          </a:p>
        </p:txBody>
      </p:sp>
      <p:sp>
        <p:nvSpPr>
          <p:cNvPr id="35" name="table-cell-378.64-2-1">
            <a:extLst xmlns:a="http://schemas.openxmlformats.org/drawingml/2006/main">
              <a:ext uri="{FF2B5EF4-FFF2-40B4-BE49-F238E27FC236}">
                <a16:creationId xmlns:a16="http://schemas.microsoft.com/office/drawing/2014/main" id="{2FFA2FFB-C60B-4917-ACCF-10F60B08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0" y="4463796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36" name="table-text-378.64-2-1">
            <a:extLst xmlns:a="http://schemas.openxmlformats.org/drawingml/2006/main">
              <a:ext uri="{FF2B5EF4-FFF2-40B4-BE49-F238E27FC236}">
                <a16:creationId xmlns:a16="http://schemas.microsoft.com/office/drawing/2014/main" id="{1481C4C5-945B-4507-8F72-A4ED6BF7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4530471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공정성·접근성·기록 정책 확정</a:t>
            </a:r>
          </a:p>
        </p:txBody>
      </p:sp>
      <p:sp>
        <p:nvSpPr>
          <p:cNvPr id="37" name="table-cell-378.64-2-2">
            <a:extLst xmlns:a="http://schemas.openxmlformats.org/drawingml/2006/main">
              <a:ext uri="{FF2B5EF4-FFF2-40B4-BE49-F238E27FC236}">
                <a16:creationId xmlns:a16="http://schemas.microsoft.com/office/drawing/2014/main" id="{9A21DBDD-BF87-463D-8C18-4AF70C21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4463796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38" name="table-text-378.64-2-2">
            <a:extLst xmlns:a="http://schemas.openxmlformats.org/drawingml/2006/main">
              <a:ext uri="{FF2B5EF4-FFF2-40B4-BE49-F238E27FC236}">
                <a16:creationId xmlns:a16="http://schemas.microsoft.com/office/drawing/2014/main" id="{167F7156-4254-45AC-A12C-E80F0F22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4530471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대안과 영향 범위 비교</a:t>
            </a:r>
          </a:p>
        </p:txBody>
      </p:sp>
      <p:sp>
        <p:nvSpPr>
          <p:cNvPr id="39" name="table-cell-378.64-3-0">
            <a:extLst xmlns:a="http://schemas.openxmlformats.org/drawingml/2006/main">
              <a:ext uri="{FF2B5EF4-FFF2-40B4-BE49-F238E27FC236}">
                <a16:creationId xmlns:a16="http://schemas.microsoft.com/office/drawing/2014/main" id="{670ABBF7-EF29-4322-A07F-510A4212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63846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40" name="table-text-378.64-3-0">
            <a:extLst xmlns:a="http://schemas.openxmlformats.org/drawingml/2006/main">
              <a:ext uri="{FF2B5EF4-FFF2-40B4-BE49-F238E27FC236}">
                <a16:creationId xmlns:a16="http://schemas.microsoft.com/office/drawing/2014/main" id="{A7AAAAE8-3F25-444D-84EA-DFBD2807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30521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구현</a:t>
            </a:r>
          </a:p>
        </p:txBody>
      </p:sp>
      <p:sp>
        <p:nvSpPr>
          <p:cNvPr id="41" name="table-cell-378.64-3-1">
            <a:extLst xmlns:a="http://schemas.openxmlformats.org/drawingml/2006/main">
              <a:ext uri="{FF2B5EF4-FFF2-40B4-BE49-F238E27FC236}">
                <a16:creationId xmlns:a16="http://schemas.microsoft.com/office/drawing/2014/main" id="{40AC5235-81C2-4F1B-96CF-EB1384BC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0" y="4863846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42" name="table-text-378.64-3-1">
            <a:extLst xmlns:a="http://schemas.openxmlformats.org/drawingml/2006/main">
              <a:ext uri="{FF2B5EF4-FFF2-40B4-BE49-F238E27FC236}">
                <a16:creationId xmlns:a16="http://schemas.microsoft.com/office/drawing/2014/main" id="{A702FA58-4DDC-4DC3-B281-C261B5B7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4930521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우선순위와 공유 파일 소유권 관리</a:t>
            </a:r>
          </a:p>
        </p:txBody>
      </p:sp>
      <p:sp>
        <p:nvSpPr>
          <p:cNvPr id="43" name="table-cell-378.64-3-2">
            <a:extLst xmlns:a="http://schemas.openxmlformats.org/drawingml/2006/main">
              <a:ext uri="{FF2B5EF4-FFF2-40B4-BE49-F238E27FC236}">
                <a16:creationId xmlns:a16="http://schemas.microsoft.com/office/drawing/2014/main" id="{B2FE190B-79ED-405B-9EB2-581854E3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4863846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44" name="table-text-378.64-3-2">
            <a:extLst xmlns:a="http://schemas.openxmlformats.org/drawingml/2006/main">
              <a:ext uri="{FF2B5EF4-FFF2-40B4-BE49-F238E27FC236}">
                <a16:creationId xmlns:a16="http://schemas.microsoft.com/office/drawing/2014/main" id="{3960B466-8B08-469A-836F-C86BEF4F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4930521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기능·테스트·문서 구현</a:t>
            </a:r>
          </a:p>
        </p:txBody>
      </p:sp>
      <p:sp>
        <p:nvSpPr>
          <p:cNvPr id="45" name="table-cell-378.64-4-0">
            <a:extLst xmlns:a="http://schemas.openxmlformats.org/drawingml/2006/main">
              <a:ext uri="{FF2B5EF4-FFF2-40B4-BE49-F238E27FC236}">
                <a16:creationId xmlns:a16="http://schemas.microsoft.com/office/drawing/2014/main" id="{D660436B-BCDE-42A1-BC81-88018866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3896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46" name="table-text-378.64-4-0">
            <a:extLst xmlns:a="http://schemas.openxmlformats.org/drawingml/2006/main">
              <a:ext uri="{FF2B5EF4-FFF2-40B4-BE49-F238E27FC236}">
                <a16:creationId xmlns:a16="http://schemas.microsoft.com/office/drawing/2014/main" id="{B070E188-64B2-4814-92EC-705F9473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0571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검증</a:t>
            </a:r>
          </a:p>
        </p:txBody>
      </p:sp>
      <p:sp>
        <p:nvSpPr>
          <p:cNvPr id="47" name="table-cell-378.64-4-1">
            <a:extLst xmlns:a="http://schemas.openxmlformats.org/drawingml/2006/main">
              <a:ext uri="{FF2B5EF4-FFF2-40B4-BE49-F238E27FC236}">
                <a16:creationId xmlns:a16="http://schemas.microsoft.com/office/drawing/2014/main" id="{28EAA088-BCB5-4380-8673-C36420A7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0" y="5263896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48" name="table-text-378.64-4-1">
            <a:extLst xmlns:a="http://schemas.openxmlformats.org/drawingml/2006/main">
              <a:ext uri="{FF2B5EF4-FFF2-40B4-BE49-F238E27FC236}">
                <a16:creationId xmlns:a16="http://schemas.microsoft.com/office/drawing/2014/main" id="{EE8D3CBD-37F3-44AE-BB3C-5DD373E2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5330571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통과 기준과 반려 여부 결정</a:t>
            </a:r>
          </a:p>
        </p:txBody>
      </p:sp>
      <p:sp>
        <p:nvSpPr>
          <p:cNvPr id="49" name="table-cell-378.64-4-2">
            <a:extLst xmlns:a="http://schemas.openxmlformats.org/drawingml/2006/main">
              <a:ext uri="{FF2B5EF4-FFF2-40B4-BE49-F238E27FC236}">
                <a16:creationId xmlns:a16="http://schemas.microsoft.com/office/drawing/2014/main" id="{94425972-BC74-4931-A574-A351B74E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5263896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50" name="table-text-378.64-4-2">
            <a:extLst xmlns:a="http://schemas.openxmlformats.org/drawingml/2006/main">
              <a:ext uri="{FF2B5EF4-FFF2-40B4-BE49-F238E27FC236}">
                <a16:creationId xmlns:a16="http://schemas.microsoft.com/office/drawing/2014/main" id="{72F9D57B-14A0-4C58-BA06-3CD6ED4C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5330571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독립 감사, 회귀·시각·결정론 확인</a:t>
            </a:r>
          </a:p>
        </p:txBody>
      </p:sp>
      <p:sp>
        <p:nvSpPr>
          <p:cNvPr id="51" name="paragraph-610.64">
            <a:extLst xmlns:a="http://schemas.openxmlformats.org/drawingml/2006/main">
              <a:ext uri="{FF2B5EF4-FFF2-40B4-BE49-F238E27FC236}">
                <a16:creationId xmlns:a16="http://schemas.microsoft.com/office/drawing/2014/main" id="{18526C8E-A772-4AB3-8200-679ED6AC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6346"/>
            <a:ext cx="6496050" cy="809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가장 중요한 학습은 AI가 만든 검증 지표도 틀릴 수 있다는 점이었다. 레벨 우위 계산에서 서로 다른 표본 수를 나눈 오류를 감사 에이전트가 찾아냈고, 동일 입력 격자 비교로 계약을 다시 만들었다.</a:t>
            </a:r>
          </a:p>
        </p:txBody>
      </p:sp>
    </p:spTree>
    <p:extLst>
      <p:ext uri="{BB962C8B-B14F-4D97-AF65-F5344CB8AC3E}">
        <p14:creationId xmlns:p14="http://schemas.microsoft.com/office/powerpoint/2010/main" val="13352528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105AC422-1C67-4494-A027-9E7BE19F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Portfolio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ECCB09-480B-4B55-82CC-67B62099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8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18DF835-E280-4677-8C2D-CA8C9FA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798FE4-878A-4334-A02D-A38E03B0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6. 기술 구조</a:t>
            </a:r>
          </a:p>
        </p:txBody>
      </p:sp>
      <p:sp>
        <p:nvSpPr>
          <p:cNvPr id="5" name="table-cell-140-0-0">
            <a:extLst xmlns:a="http://schemas.openxmlformats.org/drawingml/2006/main">
              <a:ext uri="{FF2B5EF4-FFF2-40B4-BE49-F238E27FC236}">
                <a16:creationId xmlns:a16="http://schemas.microsoft.com/office/drawing/2014/main" id="{4C2D90E8-2CC6-4A15-ABD2-CE57C863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3248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6" name="table-text-140-0-0">
            <a:extLst xmlns:a="http://schemas.openxmlformats.org/drawingml/2006/main">
              <a:ext uri="{FF2B5EF4-FFF2-40B4-BE49-F238E27FC236}">
                <a16:creationId xmlns:a16="http://schemas.microsoft.com/office/drawing/2014/main" id="{94C60CB7-73EB-4FC0-A759-1293D668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01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계층</a:t>
            </a:r>
          </a:p>
        </p:txBody>
      </p:sp>
      <p:sp>
        <p:nvSpPr>
          <p:cNvPr id="7" name="table-cell-140-0-1">
            <a:extLst xmlns:a="http://schemas.openxmlformats.org/drawingml/2006/main">
              <a:ext uri="{FF2B5EF4-FFF2-40B4-BE49-F238E27FC236}">
                <a16:creationId xmlns:a16="http://schemas.microsoft.com/office/drawing/2014/main" id="{7C3E80D9-00F2-4C91-83F3-5892A35B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333500"/>
            <a:ext cx="3248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8" name="table-text-140-0-1">
            <a:extLst xmlns:a="http://schemas.openxmlformats.org/drawingml/2006/main">
              <a:ext uri="{FF2B5EF4-FFF2-40B4-BE49-F238E27FC236}">
                <a16:creationId xmlns:a16="http://schemas.microsoft.com/office/drawing/2014/main" id="{A938412B-3321-4788-B48A-2CCB9060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001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설계 의도</a:t>
            </a:r>
          </a:p>
        </p:txBody>
      </p:sp>
      <p:sp>
        <p:nvSpPr>
          <p:cNvPr id="9" name="table-cell-140-1-0">
            <a:extLst xmlns:a="http://schemas.openxmlformats.org/drawingml/2006/main">
              <a:ext uri="{FF2B5EF4-FFF2-40B4-BE49-F238E27FC236}">
                <a16:creationId xmlns:a16="http://schemas.microsoft.com/office/drawing/2014/main" id="{694EF010-D34C-42A5-864D-940B53CD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0" name="table-text-140-1-0">
            <a:extLst xmlns:a="http://schemas.openxmlformats.org/drawingml/2006/main">
              <a:ext uri="{FF2B5EF4-FFF2-40B4-BE49-F238E27FC236}">
                <a16:creationId xmlns:a16="http://schemas.microsoft.com/office/drawing/2014/main" id="{49204746-F953-47A0-B3B4-D45901FD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데이터 기반 StageCatalog</a:t>
            </a:r>
          </a:p>
        </p:txBody>
      </p:sp>
      <p:sp>
        <p:nvSpPr>
          <p:cNvPr id="11" name="table-cell-140-1-1">
            <a:extLst xmlns:a="http://schemas.openxmlformats.org/drawingml/2006/main">
              <a:ext uri="{FF2B5EF4-FFF2-40B4-BE49-F238E27FC236}">
                <a16:creationId xmlns:a16="http://schemas.microsoft.com/office/drawing/2014/main" id="{AECCBD02-3CBD-4FCA-9671-6A34D17F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79070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2" name="table-text-140-1-1">
            <a:extLst xmlns:a="http://schemas.openxmlformats.org/drawingml/2006/main">
              <a:ext uri="{FF2B5EF4-FFF2-40B4-BE49-F238E27FC236}">
                <a16:creationId xmlns:a16="http://schemas.microsoft.com/office/drawing/2014/main" id="{8D061774-D5C5-422D-9905-C3B3CB8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5737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40패턴을 코드 수정 없이 검증·생성</a:t>
            </a:r>
          </a:p>
        </p:txBody>
      </p:sp>
      <p:sp>
        <p:nvSpPr>
          <p:cNvPr id="13" name="table-cell-140-2-0">
            <a:extLst xmlns:a="http://schemas.openxmlformats.org/drawingml/2006/main">
              <a:ext uri="{FF2B5EF4-FFF2-40B4-BE49-F238E27FC236}">
                <a16:creationId xmlns:a16="http://schemas.microsoft.com/office/drawing/2014/main" id="{89C7F468-59AC-450A-9EE7-2CC7418C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4" name="table-text-140-2-0">
            <a:extLst xmlns:a="http://schemas.openxmlformats.org/drawingml/2006/main">
              <a:ext uri="{FF2B5EF4-FFF2-40B4-BE49-F238E27FC236}">
                <a16:creationId xmlns:a16="http://schemas.microsoft.com/office/drawing/2014/main" id="{923D5E30-AA60-45F7-B58F-A8E680E2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5742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결정론 ShotResolver</a:t>
            </a:r>
          </a:p>
        </p:txBody>
      </p:sp>
      <p:sp>
        <p:nvSpPr>
          <p:cNvPr id="15" name="table-cell-140-2-1">
            <a:extLst xmlns:a="http://schemas.openxmlformats.org/drawingml/2006/main">
              <a:ext uri="{FF2B5EF4-FFF2-40B4-BE49-F238E27FC236}">
                <a16:creationId xmlns:a16="http://schemas.microsoft.com/office/drawing/2014/main" id="{303FEA78-2977-4DAB-B93D-D4A5217A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19075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6" name="table-text-140-2-1">
            <a:extLst xmlns:a="http://schemas.openxmlformats.org/drawingml/2006/main">
              <a:ext uri="{FF2B5EF4-FFF2-40B4-BE49-F238E27FC236}">
                <a16:creationId xmlns:a16="http://schemas.microsoft.com/office/drawing/2014/main" id="{CAC34330-E870-4CF5-BF82-9522F94C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5742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리플레이와 미리보기, 테스트가 같은 판정 사용</a:t>
            </a:r>
          </a:p>
        </p:txBody>
      </p:sp>
      <p:sp>
        <p:nvSpPr>
          <p:cNvPr id="17" name="table-cell-140-3-0">
            <a:extLst xmlns:a="http://schemas.openxmlformats.org/drawingml/2006/main">
              <a:ext uri="{FF2B5EF4-FFF2-40B4-BE49-F238E27FC236}">
                <a16:creationId xmlns:a16="http://schemas.microsoft.com/office/drawing/2014/main" id="{B91B53B7-4D7C-4D73-8186-362C241F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8" name="table-text-140-3-0">
            <a:extLst xmlns:a="http://schemas.openxmlformats.org/drawingml/2006/main">
              <a:ext uri="{FF2B5EF4-FFF2-40B4-BE49-F238E27FC236}">
                <a16:creationId xmlns:a16="http://schemas.microsoft.com/office/drawing/2014/main" id="{18B4C1EC-366F-442B-8672-F4CE0EB1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5747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RunState v3</a:t>
            </a:r>
          </a:p>
        </p:txBody>
      </p:sp>
      <p:sp>
        <p:nvSpPr>
          <p:cNvPr id="19" name="table-cell-140-3-1">
            <a:extLst xmlns:a="http://schemas.openxmlformats.org/drawingml/2006/main">
              <a:ext uri="{FF2B5EF4-FFF2-40B4-BE49-F238E27FC236}">
                <a16:creationId xmlns:a16="http://schemas.microsoft.com/office/drawing/2014/main" id="{9B4A3537-DC76-4D4A-85F9-36FAAD66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9080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0" name="table-text-140-3-1">
            <a:extLst xmlns:a="http://schemas.openxmlformats.org/drawingml/2006/main">
              <a:ext uri="{FF2B5EF4-FFF2-40B4-BE49-F238E27FC236}">
                <a16:creationId xmlns:a16="http://schemas.microsoft.com/office/drawing/2014/main" id="{9B621B99-A41E-4521-AAEA-0333A63F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5747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잔류 공·보상·힌트·열쇠를 안전하게 복구</a:t>
            </a:r>
          </a:p>
        </p:txBody>
      </p:sp>
      <p:sp>
        <p:nvSpPr>
          <p:cNvPr id="21" name="table-cell-140-4-0">
            <a:extLst xmlns:a="http://schemas.openxmlformats.org/drawingml/2006/main">
              <a:ext uri="{FF2B5EF4-FFF2-40B4-BE49-F238E27FC236}">
                <a16:creationId xmlns:a16="http://schemas.microsoft.com/office/drawing/2014/main" id="{BF72CA01-4413-403A-BEAB-68013B97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2" name="table-text-140-4-0">
            <a:extLst xmlns:a="http://schemas.openxmlformats.org/drawingml/2006/main">
              <a:ext uri="{FF2B5EF4-FFF2-40B4-BE49-F238E27FC236}">
                <a16:creationId xmlns:a16="http://schemas.microsoft.com/office/drawing/2014/main" id="{A3D06179-B8E7-40D6-A39D-C572A629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752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Flutter + Flame</a:t>
            </a:r>
          </a:p>
        </p:txBody>
      </p:sp>
      <p:sp>
        <p:nvSpPr>
          <p:cNvPr id="23" name="table-cell-140-4-1">
            <a:extLst xmlns:a="http://schemas.openxmlformats.org/drawingml/2006/main">
              <a:ext uri="{FF2B5EF4-FFF2-40B4-BE49-F238E27FC236}">
                <a16:creationId xmlns:a16="http://schemas.microsoft.com/office/drawing/2014/main" id="{C7C06608-8B6E-42A9-9872-930A79C3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9085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4" name="table-text-140-4-1">
            <a:extLst xmlns:a="http://schemas.openxmlformats.org/drawingml/2006/main">
              <a:ext uri="{FF2B5EF4-FFF2-40B4-BE49-F238E27FC236}">
                <a16:creationId xmlns:a16="http://schemas.microsoft.com/office/drawing/2014/main" id="{FDE4FA2A-95F6-48E8-A12F-56ACA493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5752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적응형 UI와 Canvas 게임판 분리</a:t>
            </a:r>
          </a:p>
        </p:txBody>
      </p:sp>
      <p:sp>
        <p:nvSpPr>
          <p:cNvPr id="25" name="table-cell-140-5-0">
            <a:extLst xmlns:a="http://schemas.openxmlformats.org/drawingml/2006/main">
              <a:ext uri="{FF2B5EF4-FFF2-40B4-BE49-F238E27FC236}">
                <a16:creationId xmlns:a16="http://schemas.microsoft.com/office/drawing/2014/main" id="{BEB148B1-B83C-47EC-8A31-6CEDE55E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6" name="table-text-140-5-0">
            <a:extLst xmlns:a="http://schemas.openxmlformats.org/drawingml/2006/main">
              <a:ext uri="{FF2B5EF4-FFF2-40B4-BE49-F238E27FC236}">
                <a16:creationId xmlns:a16="http://schemas.microsoft.com/office/drawing/2014/main" id="{29A1B3CF-2258-41D4-A75C-3E1ACC3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5757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Validator + Golden</a:t>
            </a:r>
          </a:p>
        </p:txBody>
      </p:sp>
      <p:sp>
        <p:nvSpPr>
          <p:cNvPr id="27" name="table-cell-140-5-1">
            <a:extLst xmlns:a="http://schemas.openxmlformats.org/drawingml/2006/main">
              <a:ext uri="{FF2B5EF4-FFF2-40B4-BE49-F238E27FC236}">
                <a16:creationId xmlns:a16="http://schemas.microsoft.com/office/drawing/2014/main" id="{D5E917BE-F065-4740-AB4E-4923EBBA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39090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8" name="table-text-140-5-1">
            <a:extLst xmlns:a="http://schemas.openxmlformats.org/drawingml/2006/main">
              <a:ext uri="{FF2B5EF4-FFF2-40B4-BE49-F238E27FC236}">
                <a16:creationId xmlns:a16="http://schemas.microsoft.com/office/drawing/2014/main" id="{E7C5B0C2-972D-4981-846F-8B8D8AA2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5757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구조·물리·접근성·화면을 자동 검사</a:t>
            </a:r>
          </a:p>
        </p:txBody>
      </p:sp>
    </p:spTree>
    <p:extLst>
      <p:ext uri="{BB962C8B-B14F-4D97-AF65-F5344CB8AC3E}">
        <p14:creationId xmlns:p14="http://schemas.microsoft.com/office/powerpoint/2010/main" val="2942114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C3404155-111C-4029-B4E8-1156D0A5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Portfolio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CA3BAC-917E-4573-95CB-80C57EF5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9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837AB13-76BD-40C8-BF22-E1D45F5F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0F5752-295A-467F-9BE6-A8C219C8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7. 결과와 품질 증거</a:t>
            </a:r>
          </a:p>
        </p:txBody>
      </p:sp>
      <p:sp>
        <p:nvSpPr>
          <p:cNvPr id="5" name="bullets-140">
            <a:extLst xmlns:a="http://schemas.openxmlformats.org/drawingml/2006/main">
              <a:ext uri="{FF2B5EF4-FFF2-40B4-BE49-F238E27FC236}">
                <a16:creationId xmlns:a16="http://schemas.microsoft.com/office/drawing/2014/main" id="{75BC3BE3-2404-4762-BCB4-E07070A3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1459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10단계·40패턴 모두 플레이 가능하며 각 단계에서 기믹 사용이 우회보다 유리하다.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320×568 모바일부터 태블릿까지 보드·보상·게이지·SafeArea 화면을 검증했다.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난이도 변경·앱 재개·크래시 복구에서도 보통 기록이 오염되지 않는다.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Web 공개 빌드와 Android release 빌드를 생성했다.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72d4c2fb04a8b"/>
          <a:stretch xmlns:a="http://schemas.openxmlformats.org/drawingml/2006/main"/>
        </p:blipFill>
        <p:spPr>
          <a:xfrm xmlns:a="http://schemas.openxmlformats.org/drawingml/2006/main">
            <a:off x="2896002" y="2888742"/>
            <a:ext cx="1770845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7" name="image-caption-303.28">
            <a:extLst xmlns:a="http://schemas.openxmlformats.org/drawingml/2006/main">
              <a:ext uri="{FF2B5EF4-FFF2-40B4-BE49-F238E27FC236}">
                <a16:creationId xmlns:a16="http://schemas.microsoft.com/office/drawing/2014/main" id="{9509724F-A970-4AAA-907C-7D37AB59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89142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모바일 클리어 보상 화면</a:t>
            </a:r>
          </a:p>
        </p:txBody>
      </p:sp>
    </p:spTree>
    <p:extLst>
      <p:ext uri="{BB962C8B-B14F-4D97-AF65-F5344CB8AC3E}">
        <p14:creationId xmlns:p14="http://schemas.microsoft.com/office/powerpoint/2010/main" val="3685254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F62B1C14-CDD1-4910-862B-605CBC1D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Portfolio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7726A7-E048-409E-80C2-2438B2D4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10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0F33A76-2463-4B5F-B9A2-BF6E8FEE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C68CD2-0F8D-4943-9F33-6DEC1A3D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8. 내가 만든 가치</a:t>
            </a:r>
          </a:p>
        </p:txBody>
      </p:sp>
      <p:sp>
        <p:nvSpPr>
          <p:cNvPr id="5" name="bullets-140">
            <a:extLst xmlns:a="http://schemas.openxmlformats.org/drawingml/2006/main">
              <a:ext uri="{FF2B5EF4-FFF2-40B4-BE49-F238E27FC236}">
                <a16:creationId xmlns:a16="http://schemas.microsoft.com/office/drawing/2014/main" id="{5DB8546B-9055-43E3-A5B2-A1A80827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1805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단순 조준 게임을 ‘장면 상태를 편집하는 퍼즐’로 확장했다.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초보 지원과 기록 공정성을 동시에 만족하는 난이도 정책을 만들었다.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자연어 피드백을 데이터와 테스트 증거로 전환하는 AI 제작 체계를 설계했다.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잘못된 AI 결과를 독립 감사로 반려하고 수정하는 운영 문화를 만들었다.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게임, 기술 문서와 편집 가능한 발표 자료를 하나의 결과물로 정리했다.</a:t>
            </a:r>
          </a:p>
        </p:txBody>
      </p:sp>
    </p:spTree>
    <p:extLst>
      <p:ext uri="{BB962C8B-B14F-4D97-AF65-F5344CB8AC3E}">
        <p14:creationId xmlns:p14="http://schemas.microsoft.com/office/powerpoint/2010/main" val="20899962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2026-08-10T12:50:12.6180000Z</dcterms:created>
  <dcterms:modified xsi:type="dcterms:W3CDTF">2026-08-10T12:50:12.6180000Z</dcterms:modified>
</coreProperties>
</file>