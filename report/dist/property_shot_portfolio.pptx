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f2da79601541ca" /><Relationship Type="http://schemas.openxmlformats.org/officeDocument/2006/relationships/extended-properties" Target="/docProps/app.xml" Id="Rb68ca772ea544ae2" /><Relationship Type="http://schemas.openxmlformats.org/officeDocument/2006/relationships/officeDocument" Target="/ppt/presentation.xml" Id="R4f2ef63b364b4d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fd2ea7352f4d91"/>
  </p:sldMasterIdLst>
  <p:notesMasterIdLst>
    <p:notesMasterId xmlns:r="http://schemas.openxmlformats.org/officeDocument/2006/relationships" r:id="Rbb0c05c105794267"/>
  </p:notesMasterIdLst>
  <p:sldIdLst>
    <p:sldId xmlns:r="http://schemas.openxmlformats.org/officeDocument/2006/relationships" id="256" r:id="R58a8ce1ecd744f0b"/>
    <p:sldId xmlns:r="http://schemas.openxmlformats.org/officeDocument/2006/relationships" id="257" r:id="R9f9672b3522847ca"/>
    <p:sldId xmlns:r="http://schemas.openxmlformats.org/officeDocument/2006/relationships" id="258" r:id="Rfecdb11786f84722"/>
    <p:sldId xmlns:r="http://schemas.openxmlformats.org/officeDocument/2006/relationships" id="259" r:id="R498dac08743d42d5"/>
    <p:sldId xmlns:r="http://schemas.openxmlformats.org/officeDocument/2006/relationships" id="260" r:id="Rb727e259c0ce4eb0"/>
    <p:sldId xmlns:r="http://schemas.openxmlformats.org/officeDocument/2006/relationships" id="261" r:id="R2aa247465f644db0"/>
    <p:sldId xmlns:r="http://schemas.openxmlformats.org/officeDocument/2006/relationships" id="262" r:id="R8f5acb5bc9eb4be7"/>
    <p:sldId xmlns:r="http://schemas.openxmlformats.org/officeDocument/2006/relationships" id="263" r:id="Ra6b1b02d1f1d4d38"/>
    <p:sldId xmlns:r="http://schemas.openxmlformats.org/officeDocument/2006/relationships" id="264" r:id="R120cfdff3d914483"/>
    <p:sldId xmlns:r="http://schemas.openxmlformats.org/officeDocument/2006/relationships" id="265" r:id="R88fd69f9d2404ec4"/>
    <p:sldId xmlns:r="http://schemas.openxmlformats.org/officeDocument/2006/relationships" id="266" r:id="R43ba5a938d114660"/>
    <p:sldId xmlns:r="http://schemas.openxmlformats.org/officeDocument/2006/relationships" id="267" r:id="Rfe48cc4398f24769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f0003550724d1f" /><Relationship Type="http://schemas.openxmlformats.org/officeDocument/2006/relationships/slideMaster" Target="/ppt/slideMasters/slideMaster1.xml" Id="R17fd2ea7352f4d91" /><Relationship Type="http://schemas.openxmlformats.org/officeDocument/2006/relationships/notesMaster" Target="/ppt/notesMasters/notesMaster1.xml" Id="Rbb0c05c105794267" /><Relationship Type="http://schemas.openxmlformats.org/officeDocument/2006/relationships/presProps" Target="/ppt/presProps.xml" Id="Raf152a667a6c46d8" /><Relationship Type="http://schemas.openxmlformats.org/officeDocument/2006/relationships/tableStyles" Target="/ppt/tableStyles.xml" Id="R9a30622ea9414f9a" /><Relationship Type="http://schemas.openxmlformats.org/officeDocument/2006/relationships/slide" Target="/ppt/slides/slide1.xml" Id="R58a8ce1ecd744f0b" /><Relationship Type="http://schemas.openxmlformats.org/officeDocument/2006/relationships/slide" Target="/ppt/slides/slide2.xml" Id="R9f9672b3522847ca" /><Relationship Type="http://schemas.openxmlformats.org/officeDocument/2006/relationships/slide" Target="/ppt/slides/slide3.xml" Id="Rfecdb11786f84722" /><Relationship Type="http://schemas.openxmlformats.org/officeDocument/2006/relationships/slide" Target="/ppt/slides/slide4.xml" Id="R498dac08743d42d5" /><Relationship Type="http://schemas.openxmlformats.org/officeDocument/2006/relationships/slide" Target="/ppt/slides/slide5.xml" Id="Rb727e259c0ce4eb0" /><Relationship Type="http://schemas.openxmlformats.org/officeDocument/2006/relationships/slide" Target="/ppt/slides/slide6.xml" Id="R2aa247465f644db0" /><Relationship Type="http://schemas.openxmlformats.org/officeDocument/2006/relationships/slide" Target="/ppt/slides/slide7.xml" Id="R8f5acb5bc9eb4be7" /><Relationship Type="http://schemas.openxmlformats.org/officeDocument/2006/relationships/slide" Target="/ppt/slides/slide8.xml" Id="Ra6b1b02d1f1d4d38" /><Relationship Type="http://schemas.openxmlformats.org/officeDocument/2006/relationships/slide" Target="/ppt/slides/slide9.xml" Id="R120cfdff3d914483" /><Relationship Type="http://schemas.openxmlformats.org/officeDocument/2006/relationships/slide" Target="/ppt/slides/slide10.xml" Id="R88fd69f9d2404ec4" /><Relationship Type="http://schemas.openxmlformats.org/officeDocument/2006/relationships/slide" Target="/ppt/slides/slide11.xml" Id="R43ba5a938d114660" /><Relationship Type="http://schemas.openxmlformats.org/officeDocument/2006/relationships/slide" Target="/ppt/slides/slide12.xml" Id="Rfe48cc4398f247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04745be4f64e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f3f9c9a8c64b6a" /><Relationship Type="http://schemas.openxmlformats.org/officeDocument/2006/relationships/notesMaster" Target="/ppt/notesMasters/notesMaster1.xml" Id="Rba2249f14f5f4d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0f7e02b2514f6b" /><Relationship Type="http://schemas.openxmlformats.org/officeDocument/2006/relationships/notesMaster" Target="/ppt/notesMasters/notesMaster1.xml" Id="R28ddda5010bd4b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434a9190134774" /><Relationship Type="http://schemas.openxmlformats.org/officeDocument/2006/relationships/notesMaster" Target="/ppt/notesMasters/notesMaster1.xml" Id="R328bb11cd2d742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d6db001c8445b7" /><Relationship Type="http://schemas.openxmlformats.org/officeDocument/2006/relationships/notesMaster" Target="/ppt/notesMasters/notesMaster1.xml" Id="R75e767a7a3a747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54f183a473481e" /><Relationship Type="http://schemas.openxmlformats.org/officeDocument/2006/relationships/notesMaster" Target="/ppt/notesMasters/notesMaster1.xml" Id="Rc93aef722a9041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20b7ce511e4940" /><Relationship Type="http://schemas.openxmlformats.org/officeDocument/2006/relationships/notesMaster" Target="/ppt/notesMasters/notesMaster1.xml" Id="R406c53517bdc45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4d9688f7f64fac" /><Relationship Type="http://schemas.openxmlformats.org/officeDocument/2006/relationships/notesMaster" Target="/ppt/notesMasters/notesMaster1.xml" Id="R0900bfe4b04447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903b7b71cf4a2d" /><Relationship Type="http://schemas.openxmlformats.org/officeDocument/2006/relationships/notesMaster" Target="/ppt/notesMasters/notesMaster1.xml" Id="R1273cedea3ad41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89e4df5df64052" /><Relationship Type="http://schemas.openxmlformats.org/officeDocument/2006/relationships/notesMaster" Target="/ppt/notesMasters/notesMaster1.xml" Id="R4e43f0d8d16c4a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ae49d47f8040f7" /><Relationship Type="http://schemas.openxmlformats.org/officeDocument/2006/relationships/notesMaster" Target="/ppt/notesMasters/notesMaster1.xml" Id="R9cafcac350b74f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3fb36ce37947a2" /><Relationship Type="http://schemas.openxmlformats.org/officeDocument/2006/relationships/notesMaster" Target="/ppt/notesMasters/notesMaster1.xml" Id="R7b1e2c9fd59d49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772344287741b7" /><Relationship Type="http://schemas.openxmlformats.org/officeDocument/2006/relationships/notesMaster" Target="/ppt/notesMasters/notesMaster1.xml" Id="R127adddb1c744b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source and local repository assets</a:t>
            </a:r>
          </a:p>
          <a:p xmlns:a="http://schemas.openxmlformats.org/drawingml/2006/main">
            <a:r>
              <a:t>- https://nan2026.nhn.com/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screenshots/commercial-vertical-slice/390x844-current-play-audit.png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screenshots/commercial-vertical-slice/390x844-material-source-popup.png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test/goldens/charge_gauge_green_right_390x844.png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test/goldens/difficulty_easy_first_arrival_390x844.png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test/goldens/run_reward_320x568_hint_first.png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75cd920a254a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e7aac79bd249d4" /><Relationship Type="http://schemas.openxmlformats.org/officeDocument/2006/relationships/slideLayout" Target="/ppt/slideLayouts/slideLayout1.xml" Id="Rfccef40f0d1643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cef40f0d1643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b35b1ed92473f" /><Relationship Type="http://schemas.openxmlformats.org/officeDocument/2006/relationships/image" Target="/ppt/media/image.png" Id="Rc2be051f0593467d" /><Relationship Type="http://schemas.openxmlformats.org/officeDocument/2006/relationships/notesSlide" Target="/ppt/notesSlides/notesSlide1.xml" Id="R8d0351ca683c46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7934e729d4b06" /><Relationship Type="http://schemas.openxmlformats.org/officeDocument/2006/relationships/notesSlide" Target="/ppt/notesSlides/notesSlide2.xml" Id="R2f964915598a48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b83a3f97a4b94" /><Relationship Type="http://schemas.openxmlformats.org/officeDocument/2006/relationships/image" Target="/ppt/media/image2.png" Id="R4f88d023fda04f39" /><Relationship Type="http://schemas.openxmlformats.org/officeDocument/2006/relationships/notesSlide" Target="/ppt/notesSlides/notesSlide3.xml" Id="Rf33c196482ea48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9e6a2d9d34ac2" /><Relationship Type="http://schemas.openxmlformats.org/officeDocument/2006/relationships/notesSlide" Target="/ppt/notesSlides/notesSlide4.xml" Id="R179d95663ffb4c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07367c5004cfd" /><Relationship Type="http://schemas.openxmlformats.org/officeDocument/2006/relationships/image" Target="/ppt/media/image3.png" Id="R1ba013d05bde4d04" /><Relationship Type="http://schemas.openxmlformats.org/officeDocument/2006/relationships/notesSlide" Target="/ppt/notesSlides/notesSlide5.xml" Id="Rbda28d87358847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7d55e544e40a5" /><Relationship Type="http://schemas.openxmlformats.org/officeDocument/2006/relationships/image" Target="/ppt/media/image4.png" Id="Rb402a5bc9c6f4688" /><Relationship Type="http://schemas.openxmlformats.org/officeDocument/2006/relationships/notesSlide" Target="/ppt/notesSlides/notesSlide6.xml" Id="Rc77faa7879584a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a1e78ea15640c4" /><Relationship Type="http://schemas.openxmlformats.org/officeDocument/2006/relationships/image" Target="/ppt/media/image5.png" Id="R006d1226f5944e0d" /><Relationship Type="http://schemas.openxmlformats.org/officeDocument/2006/relationships/notesSlide" Target="/ppt/notesSlides/notesSlide7.xml" Id="R467e03447a7347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24749acdc4a4e" /><Relationship Type="http://schemas.openxmlformats.org/officeDocument/2006/relationships/notesSlide" Target="/ppt/notesSlides/notesSlide8.xml" Id="Rd40daccf93c24b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401f51fee415c" /><Relationship Type="http://schemas.openxmlformats.org/officeDocument/2006/relationships/notesSlide" Target="/ppt/notesSlides/notesSlide9.xml" Id="Re2778336b9c548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f6925387240c9" /><Relationship Type="http://schemas.openxmlformats.org/officeDocument/2006/relationships/image" Target="/ppt/media/image6.png" Id="R78d72dc382794a03" /><Relationship Type="http://schemas.openxmlformats.org/officeDocument/2006/relationships/notesSlide" Target="/ppt/notesSlides/notesSlide10.xml" Id="R6da4a175c62847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56bbbe708b408b" /><Relationship Type="http://schemas.openxmlformats.org/officeDocument/2006/relationships/notesSlide" Target="/ppt/notesSlides/notesSlide11.xml" Id="R5ca089fb91354f8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af7d1283cd486d" /><Relationship Type="http://schemas.openxmlformats.org/officeDocument/2006/relationships/notesSlide" Target="/ppt/notesSlides/notesSlide12.xml" Id="R4068be8460144f4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68A8F42-F21F-4548-8395-0C68BF6E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0696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6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863FEBE-E8A6-442C-BAEC-654B4FFB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rPr>
              <a:t>GAME · AI · PRODUCT CASE STUDY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E0D320B-2E90-4562-8387-E67CB31D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609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한방(Property Shot)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4A04F9F-D04D-48A3-86BC-8FB193C1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590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1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프로젝트 포트폴리오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2684B4EB-972B-4AE2-8EF1-AD60AEFA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description">
            <a:extLst xmlns:a="http://schemas.openxmlformats.org/drawingml/2006/main">
              <a:ext uri="{FF2B5EF4-FFF2-40B4-BE49-F238E27FC236}">
                <a16:creationId xmlns:a16="http://schemas.microsoft.com/office/drawing/2014/main" id="{13919F76-1AA9-4709-81CA-83F66097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23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게임 디렉팅, AI 오케스트레이션, 검증 가능한 제품 제작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e051f0593467d"/>
          <a:stretch xmlns:a="http://schemas.openxmlformats.org/drawingml/2006/main"/>
        </p:blipFill>
        <p:spPr>
          <a:xfrm xmlns:a="http://schemas.openxmlformats.org/drawingml/2006/main">
            <a:off x="4845900" y="5334000"/>
            <a:ext cx="1452450" cy="31432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BD795141-9A7B-4A55-8908-3550D2D6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76300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 2026 Game × AI 해커톤 사전 과제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2026-08-10</a:t>
            </a:r>
          </a:p>
        </p:txBody>
      </p:sp>
      <p:sp>
        <p:nvSpPr>
          <p:cNvPr id="9" name="cover-page">
            <a:extLst xmlns:a="http://schemas.openxmlformats.org/drawingml/2006/main">
              <a:ext uri="{FF2B5EF4-FFF2-40B4-BE49-F238E27FC236}">
                <a16:creationId xmlns:a16="http://schemas.microsoft.com/office/drawing/2014/main" id="{C2F8D56C-F0C1-4E79-8E2B-87B32146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963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304507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2B61296C-0A21-4A74-AD9E-215F77CB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A64D6D-E646-4E1F-9F35-E28ADF57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8669F1C-1A3B-455B-8637-98B7D356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666764-501C-4355-BF0B-EBAE0081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문서 개요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AA973E02-CD17-44A9-8236-68BD42AB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Game Design · AI Direction · Flutter/Flame Engineering</a:t>
            </a:r>
          </a:p>
        </p:txBody>
      </p:sp>
    </p:spTree>
    <p:extLst>
      <p:ext uri="{BB962C8B-B14F-4D97-AF65-F5344CB8AC3E}">
        <p14:creationId xmlns:p14="http://schemas.microsoft.com/office/powerpoint/2010/main" val="12806168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4372E124-B0EB-4986-8A09-6AD77FF7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70652F-DC23-4368-905F-5BD1F5BD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7C5638C-42B4-4AD9-8A64-E511D40B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90ACC2-B557-4E0E-8DF3-CEC56B1B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1. 프로젝트 요약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81EC6F1A-8020-47DB-B8BD-F0C69286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한방은 환경 오브젝트의 물리 속성을 공에 옮기고, 바뀐 장면과 잔류 공을 다음 해법으로 사용하는 세로형 물리 퍼즐이다. 10단계 × 4패턴의 플레이 가능한 수직 프로토타입을 기획·구현·검증하고, AI 에이전트를 작은 제작 조직처럼 운영했다.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88d023fda04f39"/>
          <a:stretch xmlns:a="http://schemas.openxmlformats.org/drawingml/2006/main"/>
        </p:blipFill>
        <p:spPr>
          <a:xfrm xmlns:a="http://schemas.openxmlformats.org/drawingml/2006/main">
            <a:off x="3055200" y="2257044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image-caption-236.96">
            <a:extLst xmlns:a="http://schemas.openxmlformats.org/drawingml/2006/main">
              <a:ext uri="{FF2B5EF4-FFF2-40B4-BE49-F238E27FC236}">
                <a16:creationId xmlns:a16="http://schemas.microsoft.com/office/drawing/2014/main" id="{CB428B33-A823-4C22-9A1C-1306C8CA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444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 한방의 실제 모바일 플레이 화면</a:t>
            </a:r>
          </a:p>
        </p:txBody>
      </p:sp>
      <p:sp>
        <p:nvSpPr>
          <p:cNvPr id="8" name="table-cell-620.96-0-0">
            <a:extLst xmlns:a="http://schemas.openxmlformats.org/drawingml/2006/main">
              <a:ext uri="{FF2B5EF4-FFF2-40B4-BE49-F238E27FC236}">
                <a16:creationId xmlns:a16="http://schemas.microsoft.com/office/drawing/2014/main" id="{44695EDA-38F5-413F-9DCC-D974088E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46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620.96-0-0">
            <a:extLst xmlns:a="http://schemas.openxmlformats.org/drawingml/2006/main">
              <a:ext uri="{FF2B5EF4-FFF2-40B4-BE49-F238E27FC236}">
                <a16:creationId xmlns:a16="http://schemas.microsoft.com/office/drawing/2014/main" id="{FCE933AB-E54B-4B02-BB49-EEF663F9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813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항목</a:t>
            </a:r>
          </a:p>
        </p:txBody>
      </p:sp>
      <p:sp>
        <p:nvSpPr>
          <p:cNvPr id="10" name="table-cell-620.96-0-1">
            <a:extLst xmlns:a="http://schemas.openxmlformats.org/drawingml/2006/main">
              <a:ext uri="{FF2B5EF4-FFF2-40B4-BE49-F238E27FC236}">
                <a16:creationId xmlns:a16="http://schemas.microsoft.com/office/drawing/2014/main" id="{36105478-CA10-468D-9A33-1E946034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146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620.96-0-1">
            <a:extLst xmlns:a="http://schemas.openxmlformats.org/drawingml/2006/main">
              <a:ext uri="{FF2B5EF4-FFF2-40B4-BE49-F238E27FC236}">
                <a16:creationId xmlns:a16="http://schemas.microsoft.com/office/drawing/2014/main" id="{DB3D71E0-81B2-4D38-96DA-AF57E1C1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9813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내용</a:t>
            </a:r>
          </a:p>
        </p:txBody>
      </p:sp>
      <p:sp>
        <p:nvSpPr>
          <p:cNvPr id="12" name="table-cell-620.96-1-0">
            <a:extLst xmlns:a="http://schemas.openxmlformats.org/drawingml/2006/main">
              <a:ext uri="{FF2B5EF4-FFF2-40B4-BE49-F238E27FC236}">
                <a16:creationId xmlns:a16="http://schemas.microsoft.com/office/drawing/2014/main" id="{E108DB0B-FCDE-4E1A-9C25-1DB40E35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18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620.96-1-0">
            <a:extLst xmlns:a="http://schemas.openxmlformats.org/drawingml/2006/main">
              <a:ext uri="{FF2B5EF4-FFF2-40B4-BE49-F238E27FC236}">
                <a16:creationId xmlns:a16="http://schemas.microsoft.com/office/drawing/2014/main" id="{A273A86E-1842-4A88-9424-B3A767E7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385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역할</a:t>
            </a:r>
          </a:p>
        </p:txBody>
      </p:sp>
      <p:sp>
        <p:nvSpPr>
          <p:cNvPr id="14" name="table-cell-620.96-1-1">
            <a:extLst xmlns:a="http://schemas.openxmlformats.org/drawingml/2006/main">
              <a:ext uri="{FF2B5EF4-FFF2-40B4-BE49-F238E27FC236}">
                <a16:creationId xmlns:a16="http://schemas.microsoft.com/office/drawing/2014/main" id="{018B64F0-25AB-4008-9C95-D94BF9DC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3718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620.96-1-1">
            <a:extLst xmlns:a="http://schemas.openxmlformats.org/drawingml/2006/main">
              <a:ext uri="{FF2B5EF4-FFF2-40B4-BE49-F238E27FC236}">
                <a16:creationId xmlns:a16="http://schemas.microsoft.com/office/drawing/2014/main" id="{C477B59E-F130-40D5-AE97-27DEDD1A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4385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 디렉팅, 시스템 설계, AI 오케스트레이션, 품질 기준 결정</a:t>
            </a:r>
          </a:p>
        </p:txBody>
      </p:sp>
      <p:sp>
        <p:nvSpPr>
          <p:cNvPr id="16" name="table-cell-620.96-2-0">
            <a:extLst xmlns:a="http://schemas.openxmlformats.org/drawingml/2006/main">
              <a:ext uri="{FF2B5EF4-FFF2-40B4-BE49-F238E27FC236}">
                <a16:creationId xmlns:a16="http://schemas.microsoft.com/office/drawing/2014/main" id="{64C2CAA2-6F89-4468-B6DA-609FA9DC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718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620.96-2-0">
            <a:extLst xmlns:a="http://schemas.openxmlformats.org/drawingml/2006/main">
              <a:ext uri="{FF2B5EF4-FFF2-40B4-BE49-F238E27FC236}">
                <a16:creationId xmlns:a16="http://schemas.microsoft.com/office/drawing/2014/main" id="{85C743AB-0D8E-4FF6-A10F-7EE36AFD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385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플랫폼</a:t>
            </a:r>
          </a:p>
        </p:txBody>
      </p:sp>
      <p:sp>
        <p:nvSpPr>
          <p:cNvPr id="18" name="table-cell-620.96-2-1">
            <a:extLst xmlns:a="http://schemas.openxmlformats.org/drawingml/2006/main">
              <a:ext uri="{FF2B5EF4-FFF2-40B4-BE49-F238E27FC236}">
                <a16:creationId xmlns:a16="http://schemas.microsoft.com/office/drawing/2014/main" id="{8CD22C0B-00A2-4C94-92D1-CDA9C201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7718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620.96-2-1">
            <a:extLst xmlns:a="http://schemas.openxmlformats.org/drawingml/2006/main">
              <a:ext uri="{FF2B5EF4-FFF2-40B4-BE49-F238E27FC236}">
                <a16:creationId xmlns:a16="http://schemas.microsoft.com/office/drawing/2014/main" id="{B0350804-CDA2-4B3A-A0E1-17829307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8385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Flutter / Flame · Web / Android</a:t>
            </a:r>
          </a:p>
        </p:txBody>
      </p:sp>
      <p:sp>
        <p:nvSpPr>
          <p:cNvPr id="20" name="table-cell-620.96-3-0">
            <a:extLst xmlns:a="http://schemas.openxmlformats.org/drawingml/2006/main">
              <a:ext uri="{FF2B5EF4-FFF2-40B4-BE49-F238E27FC236}">
                <a16:creationId xmlns:a16="http://schemas.microsoft.com/office/drawing/2014/main" id="{6E2DBCAC-BF0E-4E1E-A9B9-88F643D7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719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620.96-3-0">
            <a:extLst xmlns:a="http://schemas.openxmlformats.org/drawingml/2006/main">
              <a:ext uri="{FF2B5EF4-FFF2-40B4-BE49-F238E27FC236}">
                <a16:creationId xmlns:a16="http://schemas.microsoft.com/office/drawing/2014/main" id="{624C34DC-983E-495F-A0BD-D8CAE246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386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범위</a:t>
            </a:r>
          </a:p>
        </p:txBody>
      </p:sp>
      <p:sp>
        <p:nvSpPr>
          <p:cNvPr id="22" name="table-cell-620.96-3-1">
            <a:extLst xmlns:a="http://schemas.openxmlformats.org/drawingml/2006/main">
              <a:ext uri="{FF2B5EF4-FFF2-40B4-BE49-F238E27FC236}">
                <a16:creationId xmlns:a16="http://schemas.microsoft.com/office/drawing/2014/main" id="{99B9DBE6-12FE-4B03-83BA-038E4713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1719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620.96-3-1">
            <a:extLst xmlns:a="http://schemas.openxmlformats.org/drawingml/2006/main">
              <a:ext uri="{FF2B5EF4-FFF2-40B4-BE49-F238E27FC236}">
                <a16:creationId xmlns:a16="http://schemas.microsoft.com/office/drawing/2014/main" id="{5D9345D2-7897-4DCE-9551-00241D18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2386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10단계·40패턴, 난이도, 힌트, 보상, 리플레이, 오늘의 도전</a:t>
            </a:r>
          </a:p>
        </p:txBody>
      </p:sp>
      <p:sp>
        <p:nvSpPr>
          <p:cNvPr id="24" name="table-cell-620.96-4-0">
            <a:extLst xmlns:a="http://schemas.openxmlformats.org/drawingml/2006/main">
              <a:ext uri="{FF2B5EF4-FFF2-40B4-BE49-F238E27FC236}">
                <a16:creationId xmlns:a16="http://schemas.microsoft.com/office/drawing/2014/main" id="{FE47C62C-DB4F-41E0-A6C6-98D63986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5719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620.96-4-0">
            <a:extLst xmlns:a="http://schemas.openxmlformats.org/drawingml/2006/main">
              <a:ext uri="{FF2B5EF4-FFF2-40B4-BE49-F238E27FC236}">
                <a16:creationId xmlns:a16="http://schemas.microsoft.com/office/drawing/2014/main" id="{FFD72A90-A438-4FD7-A59E-BA5ACB13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6386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핵심 성과</a:t>
            </a:r>
          </a:p>
        </p:txBody>
      </p:sp>
      <p:sp>
        <p:nvSpPr>
          <p:cNvPr id="26" name="table-cell-620.96-4-1">
            <a:extLst xmlns:a="http://schemas.openxmlformats.org/drawingml/2006/main">
              <a:ext uri="{FF2B5EF4-FFF2-40B4-BE49-F238E27FC236}">
                <a16:creationId xmlns:a16="http://schemas.microsoft.com/office/drawing/2014/main" id="{C294963C-40A1-4465-B1A5-B8868D91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5719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620.96-4-1">
            <a:extLst xmlns:a="http://schemas.openxmlformats.org/drawingml/2006/main">
              <a:ext uri="{FF2B5EF4-FFF2-40B4-BE49-F238E27FC236}">
                <a16:creationId xmlns:a16="http://schemas.microsoft.com/office/drawing/2014/main" id="{2601F581-529A-4D9B-94FE-DBCCAB66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6386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상태가 누적되는 물리 퍼즐, 검증 가능한 AI 협업, 제출 가능한 PDF·PPT·영상</a:t>
            </a:r>
          </a:p>
        </p:txBody>
      </p:sp>
    </p:spTree>
    <p:extLst>
      <p:ext uri="{BB962C8B-B14F-4D97-AF65-F5344CB8AC3E}">
        <p14:creationId xmlns:p14="http://schemas.microsoft.com/office/powerpoint/2010/main" val="7970039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DAEEA9F1-84AD-4335-9F9E-2292AC8C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7904168-4299-41B0-B5F5-E8ED8E13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C5F3715B-3448-47F1-98C8-726A1982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32D0B4-A00D-4FF8-9CD0-9D068FDC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2. 해결하려 한 문제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FC510E1F-2328-4ACF-819D-13326547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조준 퍼즐은 방향과 힘만 맞추면 반복적으로 느껴지기 쉽다. 반대로 기믹이 많아지면 초보자는 무엇을 해야 하는지 모른다. 이 프로젝트는 두 문제를 함께 풀었다.</a:t>
            </a:r>
          </a:p>
        </p:txBody>
      </p:sp>
      <p:sp>
        <p:nvSpPr>
          <p:cNvPr id="6" name="bullets-212.64">
            <a:extLst xmlns:a="http://schemas.openxmlformats.org/drawingml/2006/main">
              <a:ext uri="{FF2B5EF4-FFF2-40B4-BE49-F238E27FC236}">
                <a16:creationId xmlns:a16="http://schemas.microsoft.com/office/drawing/2014/main" id="{0C13A42D-72FD-43ED-9C1E-60F21892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25396"/>
            <a:ext cx="6496050" cy="1114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속성을 옮겨 장면 자체를 바꾸므로 매 샷의 의미를 늘린다.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실패한 공과 기물 상태가 남아 시행착오가 정보와 자원이 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 모드·구체적 L1/L2 힌트·선택형 열쇠로 정답 공개 없이 진입 장벽을 낮춘다.</a:t>
            </a:r>
          </a:p>
        </p:txBody>
      </p:sp>
    </p:spTree>
    <p:extLst>
      <p:ext uri="{BB962C8B-B14F-4D97-AF65-F5344CB8AC3E}">
        <p14:creationId xmlns:p14="http://schemas.microsoft.com/office/powerpoint/2010/main" val="19245563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1A2124A7-9889-4B26-8CBE-B11D894F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FEE9F54-FB9A-4DF0-9308-3D0A1A1D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5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A1174B7-9D81-4230-92A3-8E6F26C9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539EB2-35F0-44B6-B60B-90322B8A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경험 설계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3D15DA6F-0D16-4986-8F52-1AE82A12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3.1 플레이 루프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9E74475B-B65F-403F-A0F6-B71222BD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관찰 → 속성 선택 → 방향·힘 결정 → 물리 연쇄 → 바뀐 상태 재사용의 순환을 만들었다.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a013d05bde4d04"/>
          <a:stretch xmlns:a="http://schemas.openxmlformats.org/drawingml/2006/main"/>
        </p:blipFill>
        <p:spPr>
          <a:xfrm xmlns:a="http://schemas.openxmlformats.org/drawingml/2006/main">
            <a:off x="3055200" y="2539746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266.64">
            <a:extLst xmlns:a="http://schemas.openxmlformats.org/drawingml/2006/main">
              <a:ext uri="{FF2B5EF4-FFF2-40B4-BE49-F238E27FC236}">
                <a16:creationId xmlns:a16="http://schemas.microsoft.com/office/drawing/2014/main" id="{14E892FE-BE36-4462-8A17-A77D3E60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0146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 원본에서 공으로 능력을 옮기는 선택 화면</a:t>
            </a:r>
          </a:p>
        </p:txBody>
      </p:sp>
      <p:sp>
        <p:nvSpPr>
          <p:cNvPr id="9" name="subheading-650.64">
            <a:extLst xmlns:a="http://schemas.openxmlformats.org/drawingml/2006/main">
              <a:ext uri="{FF2B5EF4-FFF2-40B4-BE49-F238E27FC236}">
                <a16:creationId xmlns:a16="http://schemas.microsoft.com/office/drawing/2014/main" id="{92BDA91D-2705-4126-8E00-8CF3F4F7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7346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3.2 실패를 자원으로 바꾸기</a:t>
            </a:r>
          </a:p>
        </p:txBody>
      </p:sp>
      <p:sp>
        <p:nvSpPr>
          <p:cNvPr id="10" name="paragraph-704.64">
            <a:extLst xmlns:a="http://schemas.openxmlformats.org/drawingml/2006/main">
              <a:ext uri="{FF2B5EF4-FFF2-40B4-BE49-F238E27FC236}">
                <a16:creationId xmlns:a16="http://schemas.microsoft.com/office/drawing/2014/main" id="{03B9FA96-BE2C-408E-BC04-C2324535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11696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샷이 홀에 들어가지 않아도 공이 남고 문·스위치·반사판 상태가 유지된다. 플레이어는 실패를 초기화하지 않고 다음 샷의 발판으로 바꾼다. 이는 속성 한방의 가장 중요한 차별점이다.</a:t>
            </a:r>
          </a:p>
        </p:txBody>
      </p:sp>
      <p:sp>
        <p:nvSpPr>
          <p:cNvPr id="11" name="subheading-801.6">
            <a:extLst xmlns:a="http://schemas.openxmlformats.org/drawingml/2006/main">
              <a:ext uri="{FF2B5EF4-FFF2-40B4-BE49-F238E27FC236}">
                <a16:creationId xmlns:a16="http://schemas.microsoft.com/office/drawing/2014/main" id="{6EAF2F03-757A-49E3-945F-38F07CD1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524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3.3 10단계 학습 설계</a:t>
            </a:r>
          </a:p>
        </p:txBody>
      </p:sp>
      <p:sp>
        <p:nvSpPr>
          <p:cNvPr id="12" name="paragraph-855.6">
            <a:extLst xmlns:a="http://schemas.openxmlformats.org/drawingml/2006/main">
              <a:ext uri="{FF2B5EF4-FFF2-40B4-BE49-F238E27FC236}">
                <a16:creationId xmlns:a16="http://schemas.microsoft.com/office/drawing/2014/main" id="{2E6366AA-A8A4-4700-A25C-7844822E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4959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무거움과 탄성에서 시작해 스위치·풍선·비워진 원본·파워 발판·잔류 공·회전 반사판·속성 통합으로 확장했다. 단계별 4개 변형은 같은 규칙을 다른 공간에서 다시 적용하게 한다.</a:t>
            </a:r>
          </a:p>
        </p:txBody>
      </p:sp>
    </p:spTree>
    <p:extLst>
      <p:ext uri="{BB962C8B-B14F-4D97-AF65-F5344CB8AC3E}">
        <p14:creationId xmlns:p14="http://schemas.microsoft.com/office/powerpoint/2010/main" val="1643857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7203C180-9BCD-40B6-BB08-AC9A1112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D3D535-2935-4770-883A-3C514F7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6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219C132-6BB9-48CC-BAB2-9C24661B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74796D-C0BA-4399-98B5-6718D310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대표 UX 개선 사례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B5666C51-DEB7-4C2E-B3CB-7628561E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4.1 손가락에 가리는 게이지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CD67FB62-1A85-4A2E-BF0E-0E5B9894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문제: 공 주변 원형 게이지가 모바일에서 손가락에 가렸다.</a:t>
            </a:r>
          </a:p>
        </p:txBody>
      </p:sp>
      <p:sp>
        <p:nvSpPr>
          <p:cNvPr id="7" name="paragraph-242.32">
            <a:extLst xmlns:a="http://schemas.openxmlformats.org/drawingml/2006/main">
              <a:ext uri="{FF2B5EF4-FFF2-40B4-BE49-F238E27FC236}">
                <a16:creationId xmlns:a16="http://schemas.microsoft.com/office/drawing/2014/main" id="{AA4E0CF6-4D82-4F0A-995C-D05EF012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8098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결정: 입력 규칙은 유지하고 게이지를 공 가까이의 부유 직선 rail로 분리했다. 핵심 기물과 열쇠를 피하고, 좌·우 손 선호와 저모션을 지원했다.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2a5bc9c6f4688"/>
          <a:stretch xmlns:a="http://schemas.openxmlformats.org/drawingml/2006/main"/>
        </p:blipFill>
        <p:spPr>
          <a:xfrm xmlns:a="http://schemas.openxmlformats.org/drawingml/2006/main">
            <a:off x="3055200" y="2999994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9" name="image-caption-314.96">
            <a:extLst xmlns:a="http://schemas.openxmlformats.org/drawingml/2006/main">
              <a:ext uri="{FF2B5EF4-FFF2-40B4-BE49-F238E27FC236}">
                <a16:creationId xmlns:a16="http://schemas.microsoft.com/office/drawing/2014/main" id="{AE9D3486-7455-426A-B76C-F5758ABD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00394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모바일 화면에서 기물을 피하는 부유 충전 게이지</a:t>
            </a:r>
          </a:p>
        </p:txBody>
      </p:sp>
      <p:sp>
        <p:nvSpPr>
          <p:cNvPr id="10" name="subheading-698.96">
            <a:extLst xmlns:a="http://schemas.openxmlformats.org/drawingml/2006/main">
              <a:ext uri="{FF2B5EF4-FFF2-40B4-BE49-F238E27FC236}">
                <a16:creationId xmlns:a16="http://schemas.microsoft.com/office/drawing/2014/main" id="{D3924A07-C567-4B4A-9BC7-90DD7748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5759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4.2 너무 어려운 첫 경험</a:t>
            </a:r>
          </a:p>
        </p:txBody>
      </p:sp>
      <p:sp>
        <p:nvSpPr>
          <p:cNvPr id="11" name="paragraph-752.96">
            <a:extLst xmlns:a="http://schemas.openxmlformats.org/drawingml/2006/main">
              <a:ext uri="{FF2B5EF4-FFF2-40B4-BE49-F238E27FC236}">
                <a16:creationId xmlns:a16="http://schemas.microsoft.com/office/drawing/2014/main" id="{F9C96345-B09A-4519-8522-4CC7B0B3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71944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문제: 첫 플레이에서 복잡한 변형이 무작위로 나올 수 있었다.</a:t>
            </a:r>
          </a:p>
        </p:txBody>
      </p:sp>
      <p:sp>
        <p:nvSpPr>
          <p:cNvPr id="12" name="paragraph-801.2800000000001">
            <a:extLst xmlns:a="http://schemas.openxmlformats.org/drawingml/2006/main">
              <a:ext uri="{FF2B5EF4-FFF2-40B4-BE49-F238E27FC236}">
                <a16:creationId xmlns:a16="http://schemas.microsoft.com/office/drawing/2014/main" id="{2A8C5D36-CBB6-4E39-8832-16D90A5BE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2192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결정: 첫 1–4단계만 기준 패턴을 우선하고, 쉬움 모드에서는 실제 판정 결과의 첫 도착점을 표시했다. 물리와 보통 기록은 바꾸지 않았다.</a:t>
            </a:r>
          </a:p>
        </p:txBody>
      </p:sp>
    </p:spTree>
    <p:extLst>
      <p:ext uri="{BB962C8B-B14F-4D97-AF65-F5344CB8AC3E}">
        <p14:creationId xmlns:p14="http://schemas.microsoft.com/office/powerpoint/2010/main" val="1052454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98B0AA3E-9DF6-4083-9C3D-D46AA6AF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8FDA20-C92C-4F24-A7E8-249890C4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7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1919224-2F05-48D4-ADCF-EA1437B6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4472C8-6121-4EBC-BBCA-2C2B4957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대표 UX 개선 사례 · 계속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d1226f5944e0d"/>
          <a:stretch xmlns:a="http://schemas.openxmlformats.org/drawingml/2006/main"/>
        </p:blipFill>
        <p:spPr>
          <a:xfrm xmlns:a="http://schemas.openxmlformats.org/drawingml/2006/main">
            <a:off x="3055200" y="13335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43F6934A-5B6F-48A7-AEDA-C6FF2663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쉬움 모드 예상 도착 표시</a:t>
            </a:r>
          </a:p>
        </p:txBody>
      </p:sp>
      <p:sp>
        <p:nvSpPr>
          <p:cNvPr id="7" name="subheading-524">
            <a:extLst xmlns:a="http://schemas.openxmlformats.org/drawingml/2006/main">
              <a:ext uri="{FF2B5EF4-FFF2-40B4-BE49-F238E27FC236}">
                <a16:creationId xmlns:a16="http://schemas.microsoft.com/office/drawing/2014/main" id="{609CC916-7B7C-43B2-93F1-52E5D698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4.3 추상적인 도움말</a:t>
            </a:r>
          </a:p>
        </p:txBody>
      </p:sp>
      <p:sp>
        <p:nvSpPr>
          <p:cNvPr id="8" name="paragraph-578">
            <a:extLst xmlns:a="http://schemas.openxmlformats.org/drawingml/2006/main">
              <a:ext uri="{FF2B5EF4-FFF2-40B4-BE49-F238E27FC236}">
                <a16:creationId xmlns:a16="http://schemas.microsoft.com/office/drawing/2014/main" id="{4F49CAE9-3D3A-4939-A265-D7CC7DAF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문제: ‘기믹을 활용하세요’는 실제 행동을 안내하지 못했다.</a:t>
            </a:r>
          </a:p>
        </p:txBody>
      </p:sp>
      <p:sp>
        <p:nvSpPr>
          <p:cNvPr id="9" name="paragraph-626.32">
            <a:extLst xmlns:a="http://schemas.openxmlformats.org/drawingml/2006/main">
              <a:ext uri="{FF2B5EF4-FFF2-40B4-BE49-F238E27FC236}">
                <a16:creationId xmlns:a16="http://schemas.microsoft.com/office/drawing/2014/main" id="{FDC2765A-8A01-4A4A-9538-F0D79FEC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5698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결정: 40패턴마다 L1은 첫 행동, L2는 위치·세기·순서·결과를 안내한다. 도움을 선택한 사람만 보상 또는 열쇠로 열 수 있게 했다.</a:t>
            </a:r>
          </a:p>
        </p:txBody>
      </p:sp>
    </p:spTree>
    <p:extLst>
      <p:ext uri="{BB962C8B-B14F-4D97-AF65-F5344CB8AC3E}">
        <p14:creationId xmlns:p14="http://schemas.microsoft.com/office/powerpoint/2010/main" val="2020841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011749E2-E5CB-4407-9186-675B928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45EF61-6251-42DA-B503-F56D164A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8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2B9225A-45F7-480F-84B4-3B2D73E7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4DDDAF-06BD-40B6-8D35-F47385B1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5. AI 디렉팅 방식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54399433-6652-4ECD-9859-FAE03E4D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AI를 한 명의 만능 개발자로 쓰지 않고 기능 담당·레벨 담당·문서 담당·독립 검사로 나눴다. 프롬프트는 목적, 보호해야 할 규칙, 테스트 기준, 종료 조건을 포함했다.</a:t>
            </a:r>
          </a:p>
        </p:txBody>
      </p:sp>
      <p:sp>
        <p:nvSpPr>
          <p:cNvPr id="6" name="table-cell-212.64-0-0">
            <a:extLst xmlns:a="http://schemas.openxmlformats.org/drawingml/2006/main">
              <a:ext uri="{FF2B5EF4-FFF2-40B4-BE49-F238E27FC236}">
                <a16:creationId xmlns:a16="http://schemas.microsoft.com/office/drawing/2014/main" id="{FA395786-01A9-4E0B-B576-5F92D12A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2539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" name="table-text-212.64-0-0">
            <a:extLst xmlns:a="http://schemas.openxmlformats.org/drawingml/2006/main">
              <a:ext uri="{FF2B5EF4-FFF2-40B4-BE49-F238E27FC236}">
                <a16:creationId xmlns:a16="http://schemas.microsoft.com/office/drawing/2014/main" id="{73D60414-BD06-494B-A3D1-5404E69E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207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단계</a:t>
            </a:r>
          </a:p>
        </p:txBody>
      </p:sp>
      <p:sp>
        <p:nvSpPr>
          <p:cNvPr id="8" name="table-cell-212.64-0-1">
            <a:extLst xmlns:a="http://schemas.openxmlformats.org/drawingml/2006/main">
              <a:ext uri="{FF2B5EF4-FFF2-40B4-BE49-F238E27FC236}">
                <a16:creationId xmlns:a16="http://schemas.microsoft.com/office/drawing/2014/main" id="{FC2C8FE2-0289-4887-BA6E-C4C9FDC1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02539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212.64-0-1">
            <a:extLst xmlns:a="http://schemas.openxmlformats.org/drawingml/2006/main">
              <a:ext uri="{FF2B5EF4-FFF2-40B4-BE49-F238E27FC236}">
                <a16:creationId xmlns:a16="http://schemas.microsoft.com/office/drawing/2014/main" id="{D189642A-A2DA-400E-9411-45B8AF09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09207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 결정</a:t>
            </a:r>
          </a:p>
        </p:txBody>
      </p:sp>
      <p:sp>
        <p:nvSpPr>
          <p:cNvPr id="10" name="table-cell-212.64-0-2">
            <a:extLst xmlns:a="http://schemas.openxmlformats.org/drawingml/2006/main">
              <a:ext uri="{FF2B5EF4-FFF2-40B4-BE49-F238E27FC236}">
                <a16:creationId xmlns:a16="http://schemas.microsoft.com/office/drawing/2014/main" id="{56515609-E388-40C4-B19E-755CF48E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02539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212.64-0-2">
            <a:extLst xmlns:a="http://schemas.openxmlformats.org/drawingml/2006/main">
              <a:ext uri="{FF2B5EF4-FFF2-40B4-BE49-F238E27FC236}">
                <a16:creationId xmlns:a16="http://schemas.microsoft.com/office/drawing/2014/main" id="{91814DE4-D98A-4166-B89E-46AE8AE7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09207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AI의 기여</a:t>
            </a:r>
          </a:p>
        </p:txBody>
      </p:sp>
      <p:sp>
        <p:nvSpPr>
          <p:cNvPr id="12" name="table-cell-212.64-1-0">
            <a:extLst xmlns:a="http://schemas.openxmlformats.org/drawingml/2006/main">
              <a:ext uri="{FF2B5EF4-FFF2-40B4-BE49-F238E27FC236}">
                <a16:creationId xmlns:a16="http://schemas.microsoft.com/office/drawing/2014/main" id="{02022B62-9FD5-45EA-836E-21A3616A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25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212.64-1-0">
            <a:extLst xmlns:a="http://schemas.openxmlformats.org/drawingml/2006/main">
              <a:ext uri="{FF2B5EF4-FFF2-40B4-BE49-F238E27FC236}">
                <a16:creationId xmlns:a16="http://schemas.microsoft.com/office/drawing/2014/main" id="{8C5B6EC1-A848-419C-81A4-CE02037F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492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14" name="table-cell-212.64-1-1">
            <a:extLst xmlns:a="http://schemas.openxmlformats.org/drawingml/2006/main">
              <a:ext uri="{FF2B5EF4-FFF2-40B4-BE49-F238E27FC236}">
                <a16:creationId xmlns:a16="http://schemas.microsoft.com/office/drawing/2014/main" id="{859292EC-C83A-4145-A433-B57D9126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4825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212.64-1-1">
            <a:extLst xmlns:a="http://schemas.openxmlformats.org/drawingml/2006/main">
              <a:ext uri="{FF2B5EF4-FFF2-40B4-BE49-F238E27FC236}">
                <a16:creationId xmlns:a16="http://schemas.microsoft.com/office/drawing/2014/main" id="{0465A9EF-B72A-411D-91AA-74DEFE36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5492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어떤 플레이 경험을 바꿀지 결정</a:t>
            </a:r>
          </a:p>
        </p:txBody>
      </p:sp>
      <p:sp>
        <p:nvSpPr>
          <p:cNvPr id="16" name="table-cell-212.64-1-2">
            <a:extLst xmlns:a="http://schemas.openxmlformats.org/drawingml/2006/main">
              <a:ext uri="{FF2B5EF4-FFF2-40B4-BE49-F238E27FC236}">
                <a16:creationId xmlns:a16="http://schemas.microsoft.com/office/drawing/2014/main" id="{5C7678B5-25A9-49D1-95D4-3D484353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4825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212.64-1-2">
            <a:extLst xmlns:a="http://schemas.openxmlformats.org/drawingml/2006/main">
              <a:ext uri="{FF2B5EF4-FFF2-40B4-BE49-F238E27FC236}">
                <a16:creationId xmlns:a16="http://schemas.microsoft.com/office/drawing/2014/main" id="{5D449ED9-9CBB-4722-9EB1-84C603A9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5492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코드·화면·데이터에서 원인 탐색</a:t>
            </a:r>
          </a:p>
        </p:txBody>
      </p:sp>
      <p:sp>
        <p:nvSpPr>
          <p:cNvPr id="18" name="table-cell-212.64-2-0">
            <a:extLst xmlns:a="http://schemas.openxmlformats.org/drawingml/2006/main">
              <a:ext uri="{FF2B5EF4-FFF2-40B4-BE49-F238E27FC236}">
                <a16:creationId xmlns:a16="http://schemas.microsoft.com/office/drawing/2014/main" id="{5F76D97C-9A89-456D-B357-802A15A4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826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212.64-2-0">
            <a:extLst xmlns:a="http://schemas.openxmlformats.org/drawingml/2006/main">
              <a:ext uri="{FF2B5EF4-FFF2-40B4-BE49-F238E27FC236}">
                <a16:creationId xmlns:a16="http://schemas.microsoft.com/office/drawing/2014/main" id="{1F380000-B4B4-4918-885E-99D62F5D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493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설계</a:t>
            </a:r>
          </a:p>
        </p:txBody>
      </p:sp>
      <p:sp>
        <p:nvSpPr>
          <p:cNvPr id="20" name="table-cell-212.64-2-1">
            <a:extLst xmlns:a="http://schemas.openxmlformats.org/drawingml/2006/main">
              <a:ext uri="{FF2B5EF4-FFF2-40B4-BE49-F238E27FC236}">
                <a16:creationId xmlns:a16="http://schemas.microsoft.com/office/drawing/2014/main" id="{82249565-9BC8-4CB7-A8AF-5D378EB0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8826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212.64-2-1">
            <a:extLst xmlns:a="http://schemas.openxmlformats.org/drawingml/2006/main">
              <a:ext uri="{FF2B5EF4-FFF2-40B4-BE49-F238E27FC236}">
                <a16:creationId xmlns:a16="http://schemas.microsoft.com/office/drawing/2014/main" id="{785DF1A3-D155-4838-B2BC-1F5B62C4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9493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공정성·접근성·기록 정책 확정</a:t>
            </a:r>
          </a:p>
        </p:txBody>
      </p:sp>
      <p:sp>
        <p:nvSpPr>
          <p:cNvPr id="22" name="table-cell-212.64-2-2">
            <a:extLst xmlns:a="http://schemas.openxmlformats.org/drawingml/2006/main">
              <a:ext uri="{FF2B5EF4-FFF2-40B4-BE49-F238E27FC236}">
                <a16:creationId xmlns:a16="http://schemas.microsoft.com/office/drawing/2014/main" id="{B7E056CB-07A7-41AF-AF37-C9C63C43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8826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212.64-2-2">
            <a:extLst xmlns:a="http://schemas.openxmlformats.org/drawingml/2006/main">
              <a:ext uri="{FF2B5EF4-FFF2-40B4-BE49-F238E27FC236}">
                <a16:creationId xmlns:a16="http://schemas.microsoft.com/office/drawing/2014/main" id="{C338ADC5-F7DD-45D9-B44D-7C757CB2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9493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대안과 영향 범위 비교</a:t>
            </a:r>
          </a:p>
        </p:txBody>
      </p:sp>
      <p:sp>
        <p:nvSpPr>
          <p:cNvPr id="24" name="table-cell-212.64-3-0">
            <a:extLst xmlns:a="http://schemas.openxmlformats.org/drawingml/2006/main">
              <a:ext uri="{FF2B5EF4-FFF2-40B4-BE49-F238E27FC236}">
                <a16:creationId xmlns:a16="http://schemas.microsoft.com/office/drawing/2014/main" id="{E4779AFE-8249-4332-8686-56638D8B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26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212.64-3-0">
            <a:extLst xmlns:a="http://schemas.openxmlformats.org/drawingml/2006/main">
              <a:ext uri="{FF2B5EF4-FFF2-40B4-BE49-F238E27FC236}">
                <a16:creationId xmlns:a16="http://schemas.microsoft.com/office/drawing/2014/main" id="{1D7DFFD7-8018-42C5-8F26-01964BAA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493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구현</a:t>
            </a:r>
          </a:p>
        </p:txBody>
      </p:sp>
      <p:sp>
        <p:nvSpPr>
          <p:cNvPr id="26" name="table-cell-212.64-3-1">
            <a:extLst xmlns:a="http://schemas.openxmlformats.org/drawingml/2006/main">
              <a:ext uri="{FF2B5EF4-FFF2-40B4-BE49-F238E27FC236}">
                <a16:creationId xmlns:a16="http://schemas.microsoft.com/office/drawing/2014/main" id="{C9EFEF4B-FC11-4668-BF4F-A5CC24780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2826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212.64-3-1">
            <a:extLst xmlns:a="http://schemas.openxmlformats.org/drawingml/2006/main">
              <a:ext uri="{FF2B5EF4-FFF2-40B4-BE49-F238E27FC236}">
                <a16:creationId xmlns:a16="http://schemas.microsoft.com/office/drawing/2014/main" id="{51173D53-09F8-4B6C-A215-370E7E56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3493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우선순위와 공유 파일 소유권 관리</a:t>
            </a:r>
          </a:p>
        </p:txBody>
      </p:sp>
      <p:sp>
        <p:nvSpPr>
          <p:cNvPr id="28" name="table-cell-212.64-3-2">
            <a:extLst xmlns:a="http://schemas.openxmlformats.org/drawingml/2006/main">
              <a:ext uri="{FF2B5EF4-FFF2-40B4-BE49-F238E27FC236}">
                <a16:creationId xmlns:a16="http://schemas.microsoft.com/office/drawing/2014/main" id="{E55D975A-FBD3-4BA7-B6F5-33A17E25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2826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9" name="table-text-212.64-3-2">
            <a:extLst xmlns:a="http://schemas.openxmlformats.org/drawingml/2006/main">
              <a:ext uri="{FF2B5EF4-FFF2-40B4-BE49-F238E27FC236}">
                <a16:creationId xmlns:a16="http://schemas.microsoft.com/office/drawing/2014/main" id="{2CFCCFE5-9C2D-4662-883B-4E931D8B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3493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기능·테스트·문서 구현</a:t>
            </a:r>
          </a:p>
        </p:txBody>
      </p:sp>
      <p:sp>
        <p:nvSpPr>
          <p:cNvPr id="30" name="table-cell-212.64-4-0">
            <a:extLst xmlns:a="http://schemas.openxmlformats.org/drawingml/2006/main">
              <a:ext uri="{FF2B5EF4-FFF2-40B4-BE49-F238E27FC236}">
                <a16:creationId xmlns:a16="http://schemas.microsoft.com/office/drawing/2014/main" id="{B339B109-3CBF-4A13-AA0D-9E855130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82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1" name="table-text-212.64-4-0">
            <a:extLst xmlns:a="http://schemas.openxmlformats.org/drawingml/2006/main">
              <a:ext uri="{FF2B5EF4-FFF2-40B4-BE49-F238E27FC236}">
                <a16:creationId xmlns:a16="http://schemas.microsoft.com/office/drawing/2014/main" id="{EF6C6788-32BB-426A-95D1-A00F7CF0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49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32" name="table-cell-212.64-4-1">
            <a:extLst xmlns:a="http://schemas.openxmlformats.org/drawingml/2006/main">
              <a:ext uri="{FF2B5EF4-FFF2-40B4-BE49-F238E27FC236}">
                <a16:creationId xmlns:a16="http://schemas.microsoft.com/office/drawing/2014/main" id="{BE3E27FC-8B46-4F33-94B7-280DAAC0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682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3" name="table-text-212.64-4-1">
            <a:extLst xmlns:a="http://schemas.openxmlformats.org/drawingml/2006/main">
              <a:ext uri="{FF2B5EF4-FFF2-40B4-BE49-F238E27FC236}">
                <a16:creationId xmlns:a16="http://schemas.microsoft.com/office/drawing/2014/main" id="{8792477C-F71D-45C1-BDA4-50003164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749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통과 기준과 반려 여부 결정</a:t>
            </a:r>
          </a:p>
        </p:txBody>
      </p:sp>
      <p:sp>
        <p:nvSpPr>
          <p:cNvPr id="34" name="table-cell-212.64-4-2">
            <a:extLst xmlns:a="http://schemas.openxmlformats.org/drawingml/2006/main">
              <a:ext uri="{FF2B5EF4-FFF2-40B4-BE49-F238E27FC236}">
                <a16:creationId xmlns:a16="http://schemas.microsoft.com/office/drawing/2014/main" id="{F16D385B-D152-4FD1-B5AA-825D9380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682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5" name="table-text-212.64-4-2">
            <a:extLst xmlns:a="http://schemas.openxmlformats.org/drawingml/2006/main">
              <a:ext uri="{FF2B5EF4-FFF2-40B4-BE49-F238E27FC236}">
                <a16:creationId xmlns:a16="http://schemas.microsoft.com/office/drawing/2014/main" id="{33D00806-070A-4B97-A667-0FA7E91A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749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감사, 회귀·시각·결정론 확인</a:t>
            </a:r>
          </a:p>
        </p:txBody>
      </p:sp>
      <p:sp>
        <p:nvSpPr>
          <p:cNvPr id="36" name="paragraph-444.64">
            <a:extLst xmlns:a="http://schemas.openxmlformats.org/drawingml/2006/main">
              <a:ext uri="{FF2B5EF4-FFF2-40B4-BE49-F238E27FC236}">
                <a16:creationId xmlns:a16="http://schemas.microsoft.com/office/drawing/2014/main" id="{89CE70BC-4182-4C24-97FF-A9212DBB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35196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가장 중요한 학습은 AI가 만든 검증 지표도 틀릴 수 있다는 점이었다. 레벨 우위 계산에서 서로 다른 표본 수를 나눈 오류를 감사 에이전트가 찾아냈고, 동일 입력 격자 비교로 계약을 다시 만들었다.</a:t>
            </a:r>
          </a:p>
        </p:txBody>
      </p:sp>
    </p:spTree>
    <p:extLst>
      <p:ext uri="{BB962C8B-B14F-4D97-AF65-F5344CB8AC3E}">
        <p14:creationId xmlns:p14="http://schemas.microsoft.com/office/powerpoint/2010/main" val="2727987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5820FEDD-B2C2-438A-A46F-1F8B4F3B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6D01F1-52E3-4BCF-9A6B-84646480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A4F71D99-1C6E-4860-8927-414CBE42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FEFBA1-58F7-40A1-A91B-ADB96CC9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기술 구조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3DD90163-8BB6-40A0-BA53-B1A2E145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E6737FA2-E302-47A1-A453-0F136F55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계층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F050A73B-C0AA-47EA-9939-DF1486A7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E1F9516D-DD1D-4149-90BC-9421FA13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설계 의도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4E8DB0CB-D4AC-4EDA-8C5A-8F1A36CB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AA0E31DE-A42F-413D-9CE8-BBDBBF03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데이터 기반 StageCatalog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F1C4D0F9-AB7F-4670-BD14-986B5F40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38C7283B-CC08-4E26-9238-5095E34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40패턴을 코드 수정 없이 검증·생성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2C08D636-85BB-4F97-9E61-8B9F09C8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6B52F83E-8764-4B95-974A-18A267C7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결정론 ShotResolver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D65E1BCE-C56B-4BF7-8259-3F976F7B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4A7C1815-32BE-4CEE-B1AD-97A99AEE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리플레이와 미리보기, 테스트가 같은 판정 사용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33D795C4-701D-4B4E-A7B0-B8676CDF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A8046AB5-3732-447A-8D42-2AAF7D7C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RunState v3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84BA6D7A-5530-4BD4-806B-4CB31948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1C9B185D-94E4-498D-95EF-88F71107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잔류 공·보상·힌트·열쇠를 안전하게 복구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913AB680-B8F0-4CE8-8B8D-231F9174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AD837132-C9CE-4A7E-923B-91591ABA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Flutter + Flame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48C13EDC-6AE2-4819-95AC-E4F60D73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DB8F56F3-5607-4617-AC3B-324873D1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적응형 UI와 Canvas 게임판 분리</a:t>
            </a:r>
          </a:p>
        </p:txBody>
      </p:sp>
      <p:sp>
        <p:nvSpPr>
          <p:cNvPr id="25" name="table-cell-140-5-0">
            <a:extLst xmlns:a="http://schemas.openxmlformats.org/drawingml/2006/main">
              <a:ext uri="{FF2B5EF4-FFF2-40B4-BE49-F238E27FC236}">
                <a16:creationId xmlns:a16="http://schemas.microsoft.com/office/drawing/2014/main" id="{F9F5EB9C-96BE-4E67-8554-0742719C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140-5-0">
            <a:extLst xmlns:a="http://schemas.openxmlformats.org/drawingml/2006/main">
              <a:ext uri="{FF2B5EF4-FFF2-40B4-BE49-F238E27FC236}">
                <a16:creationId xmlns:a16="http://schemas.microsoft.com/office/drawing/2014/main" id="{E7B8A8CA-E966-4687-93AE-C078318B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Validator + Golden</a:t>
            </a:r>
          </a:p>
        </p:txBody>
      </p:sp>
      <p:sp>
        <p:nvSpPr>
          <p:cNvPr id="27" name="table-cell-140-5-1">
            <a:extLst xmlns:a="http://schemas.openxmlformats.org/drawingml/2006/main">
              <a:ext uri="{FF2B5EF4-FFF2-40B4-BE49-F238E27FC236}">
                <a16:creationId xmlns:a16="http://schemas.microsoft.com/office/drawing/2014/main" id="{DBC05F9C-74F1-4ABE-A8E0-F22FC338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140-5-1">
            <a:extLst xmlns:a="http://schemas.openxmlformats.org/drawingml/2006/main">
              <a:ext uri="{FF2B5EF4-FFF2-40B4-BE49-F238E27FC236}">
                <a16:creationId xmlns:a16="http://schemas.microsoft.com/office/drawing/2014/main" id="{0C4C891D-DA2B-47AD-8D77-BE1B70C1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구조·물리·접근성·화면을 자동 검사</a:t>
            </a:r>
          </a:p>
        </p:txBody>
      </p:sp>
    </p:spTree>
    <p:extLst>
      <p:ext uri="{BB962C8B-B14F-4D97-AF65-F5344CB8AC3E}">
        <p14:creationId xmlns:p14="http://schemas.microsoft.com/office/powerpoint/2010/main" val="4104125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438B034C-5D81-4106-9ADA-7679DAB8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3AC9327-99ED-46B3-BD44-7A330131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7310AB6-E4B9-433A-B1D6-4CBEBF88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936F31-6996-4023-988F-AC8451DD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7. 결과와 품질 증거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22A27858-F2CD-4FAD-B9F6-5B392513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2037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 모두 플레이 가능하며 각 단계에서 기믹 사용이 우회보다 유리하다.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320×568 모바일부터 태블릿까지 보드·보상·게이지·SafeArea 화면을 검증했다.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난이도 변경·앱 재개·크래시 복구에서도 보통 기록이 오염되지 않는다.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60초 시연 영상은 실제 탄성 플레이와 19개 주요 기능 장면을 담고, 방향·장면 길이·이벤트를 자동 확인한다.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Web 공개 빌드와 Android release 빌드를 생성했다.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72dc382794a03"/>
          <a:stretch xmlns:a="http://schemas.openxmlformats.org/drawingml/2006/main"/>
        </p:blipFill>
        <p:spPr>
          <a:xfrm xmlns:a="http://schemas.openxmlformats.org/drawingml/2006/main">
            <a:off x="2896002" y="3466338"/>
            <a:ext cx="1770845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image-caption-363.92">
            <a:extLst xmlns:a="http://schemas.openxmlformats.org/drawingml/2006/main">
              <a:ext uri="{FF2B5EF4-FFF2-40B4-BE49-F238E27FC236}">
                <a16:creationId xmlns:a16="http://schemas.microsoft.com/office/drawing/2014/main" id="{627E2E20-1145-4A7A-A970-9D4BF131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6738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모바일 클리어 보상 화면</a:t>
            </a:r>
          </a:p>
        </p:txBody>
      </p:sp>
    </p:spTree>
    <p:extLst>
      <p:ext uri="{BB962C8B-B14F-4D97-AF65-F5344CB8AC3E}">
        <p14:creationId xmlns:p14="http://schemas.microsoft.com/office/powerpoint/2010/main" val="644764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97FBA33E-9947-414E-8740-41969309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8AD58A-DD41-4318-A780-9697C4DF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11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0DC3A5B-693A-4CD3-BCA4-51B7CCC6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2E6528-BE35-4704-BAFA-91B782E6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8. 내가 만든 가치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43C6F9E7-8FCC-4D9F-965D-F013978F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2037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단순 조준 게임을 ‘장면 상태를 편집하는 퍼즐’로 확장했다.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초보 지원과 기록 공정성을 동시에 만족하는 난이도 정책을 만들었다.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자연어 피드백을 데이터·테스트·시연 증거로 전환하는 AI 제작 체계를 설계했다.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잘못된 AI 결과를 독립 감사로 반려하고 수정하는 운영 문화를 만들었다.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게임, 기술 문서, 편집 가능한 발표 자료, 검증된 영상을 하나의 제출 패키지로 완성했다.</a:t>
            </a:r>
          </a:p>
        </p:txBody>
      </p:sp>
    </p:spTree>
    <p:extLst>
      <p:ext uri="{BB962C8B-B14F-4D97-AF65-F5344CB8AC3E}">
        <p14:creationId xmlns:p14="http://schemas.microsoft.com/office/powerpoint/2010/main" val="122983414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4FA23318-03D1-4152-8050-F8239343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BAEE83-4F2F-454B-8E3C-BDCEBC37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6917098-B804-4229-8183-E7A7247E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07A2C0-8A4F-420B-8988-67BF8E54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9. 다음 단계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DDF9081D-879F-473F-ADCC-F5F5C7EE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1459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외부 초보자 플레이테스트로 첫 클리어 시간·힌트 사용률·재도전 의사를 측정한다.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iOS 실기기에서 장시간 성능과 터치 피로도를 확인한다.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플레이 데이터로 패턴별 난이도와 힌트 노출 시점을 개인화한다.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아트·사운드의 상업 출시 품질과 에셋 권리를 최종 정리한다.</a:t>
            </a:r>
          </a:p>
        </p:txBody>
      </p:sp>
    </p:spTree>
    <p:extLst>
      <p:ext uri="{BB962C8B-B14F-4D97-AF65-F5344CB8AC3E}">
        <p14:creationId xmlns:p14="http://schemas.microsoft.com/office/powerpoint/2010/main" val="11143941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2026-08-10T12:06:01.8670000Z</dcterms:created>
  <dcterms:modified xsi:type="dcterms:W3CDTF">2026-08-10T12:06:01.8670000Z</dcterms:modified>
</coreProperties>
</file>