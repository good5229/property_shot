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996519c7e134489" /><Relationship Type="http://schemas.openxmlformats.org/officeDocument/2006/relationships/extended-properties" Target="/docProps/app.xml" Id="Rd14383f69db34c20" /><Relationship Type="http://schemas.openxmlformats.org/officeDocument/2006/relationships/officeDocument" Target="/ppt/presentation.xml" Id="Ra340f7a6211c4b2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353c99e94194251"/>
  </p:sldMasterIdLst>
  <p:notesMasterIdLst>
    <p:notesMasterId xmlns:r="http://schemas.openxmlformats.org/officeDocument/2006/relationships" r:id="Rfe7c71c32fa346fb"/>
  </p:notesMasterIdLst>
  <p:sldIdLst>
    <p:sldId xmlns:r="http://schemas.openxmlformats.org/officeDocument/2006/relationships" id="256" r:id="R1c0d2809f0634bec"/>
    <p:sldId xmlns:r="http://schemas.openxmlformats.org/officeDocument/2006/relationships" id="257" r:id="Rbefe678e9efe4c27"/>
    <p:sldId xmlns:r="http://schemas.openxmlformats.org/officeDocument/2006/relationships" id="258" r:id="Re767b82c3d754f8c"/>
    <p:sldId xmlns:r="http://schemas.openxmlformats.org/officeDocument/2006/relationships" id="259" r:id="R07737fd69731470a"/>
    <p:sldId xmlns:r="http://schemas.openxmlformats.org/officeDocument/2006/relationships" id="260" r:id="R64fd63873e1d480a"/>
    <p:sldId xmlns:r="http://schemas.openxmlformats.org/officeDocument/2006/relationships" id="261" r:id="R69bdd9df2ce34e82"/>
  </p:sldIdLst>
  <p:sldSz cx="7562850" cy="1069657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d7ec22e79d64e12" /><Relationship Type="http://schemas.openxmlformats.org/officeDocument/2006/relationships/slideMaster" Target="/ppt/slideMasters/slideMaster1.xml" Id="Rc353c99e94194251" /><Relationship Type="http://schemas.openxmlformats.org/officeDocument/2006/relationships/notesMaster" Target="/ppt/notesMasters/notesMaster1.xml" Id="Rfe7c71c32fa346fb" /><Relationship Type="http://schemas.openxmlformats.org/officeDocument/2006/relationships/presProps" Target="/ppt/presProps.xml" Id="Raf9922bc50f24131" /><Relationship Type="http://schemas.openxmlformats.org/officeDocument/2006/relationships/tableStyles" Target="/ppt/tableStyles.xml" Id="Rdce107e9f35c45ea" /><Relationship Type="http://schemas.openxmlformats.org/officeDocument/2006/relationships/slide" Target="/ppt/slides/slide1.xml" Id="R1c0d2809f0634bec" /><Relationship Type="http://schemas.openxmlformats.org/officeDocument/2006/relationships/slide" Target="/ppt/slides/slide2.xml" Id="Rbefe678e9efe4c27" /><Relationship Type="http://schemas.openxmlformats.org/officeDocument/2006/relationships/slide" Target="/ppt/slides/slide3.xml" Id="Re767b82c3d754f8c" /><Relationship Type="http://schemas.openxmlformats.org/officeDocument/2006/relationships/slide" Target="/ppt/slides/slide4.xml" Id="R07737fd69731470a" /><Relationship Type="http://schemas.openxmlformats.org/officeDocument/2006/relationships/slide" Target="/ppt/slides/slide5.xml" Id="R64fd63873e1d480a" /><Relationship Type="http://schemas.openxmlformats.org/officeDocument/2006/relationships/slide" Target="/ppt/slides/slide6.xml" Id="R69bdd9df2ce34e8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ea25d8d1d40485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acf9746c235471d" /><Relationship Type="http://schemas.openxmlformats.org/officeDocument/2006/relationships/notesMaster" Target="/ppt/notesMasters/notesMaster1.xml" Id="R9e89c0b66875401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8bbbb51b96449a9" /><Relationship Type="http://schemas.openxmlformats.org/officeDocument/2006/relationships/notesMaster" Target="/ppt/notesMasters/notesMaster1.xml" Id="R18ee4db2a3e241be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97f680f4e1d40bc" /><Relationship Type="http://schemas.openxmlformats.org/officeDocument/2006/relationships/notesMaster" Target="/ppt/notesMasters/notesMaster1.xml" Id="R6d11de12c2b0419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7807da192fe4bc3" /><Relationship Type="http://schemas.openxmlformats.org/officeDocument/2006/relationships/notesMaster" Target="/ppt/notesMasters/notesMaster1.xml" Id="Rb9b0e2aa7d6b44e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67a26c18b7b4601" /><Relationship Type="http://schemas.openxmlformats.org/officeDocument/2006/relationships/notesMaster" Target="/ppt/notesMasters/notesMaster1.xml" Id="R7901b190de844ee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9e89491bb1a4800" /><Relationship Type="http://schemas.openxmlformats.org/officeDocument/2006/relationships/notesMaster" Target="/ppt/notesMasters/notesMaster1.xml" Id="Rf3c7358f7a044f1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/Users/bellhundred/git-repo/nhn_hackerton/output/pdf/2026경기게임오디션_게임소개서_김종백.pdf (page 1)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/Users/bellhundred/git-repo/nhn_hackerton/output/pdf/2026경기게임오디션_게임소개서_김종백.pdf (page 2)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/Users/bellhundred/git-repo/nhn_hackerton/output/pdf/2026경기게임오디션_게임소개서_김종백.pdf (page 3)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/Users/bellhundred/git-repo/nhn_hackerton/output/pdf/2026경기게임오디션_게임소개서_김종백.pdf (page 4)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/Users/bellhundred/git-repo/nhn_hackerton/output/pdf/2026경기게임오디션_게임소개서_김종백.pdf (page 5)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/Users/bellhundred/git-repo/nhn_hackerton/output/pdf/2026경기게임오디션_게임소개서_김종백.pdf (page 6)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12f525d50be4ac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cf09efcb8304431" /><Relationship Type="http://schemas.openxmlformats.org/officeDocument/2006/relationships/slideLayout" Target="/ppt/slideLayouts/slideLayout1.xml" Id="R88dd1dcb668d4e1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8dd1dcb668d4e1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3485b204994508" /><Relationship Type="http://schemas.openxmlformats.org/officeDocument/2006/relationships/image" Target="/ppt/media/image.png" Id="Ra1282741d627419d" /><Relationship Type="http://schemas.openxmlformats.org/officeDocument/2006/relationships/notesSlide" Target="/ppt/notesSlides/notesSlide1.xml" Id="Rc9b85d5865954b3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7be2d8397b4a27" /><Relationship Type="http://schemas.openxmlformats.org/officeDocument/2006/relationships/image" Target="/ppt/media/image2.png" Id="R9a5df662cca643e9" /><Relationship Type="http://schemas.openxmlformats.org/officeDocument/2006/relationships/notesSlide" Target="/ppt/notesSlides/notesSlide2.xml" Id="Rcac5bdaa47d648d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043bd73a034f25" /><Relationship Type="http://schemas.openxmlformats.org/officeDocument/2006/relationships/image" Target="/ppt/media/image3.png" Id="R4dec858e21eb41de" /><Relationship Type="http://schemas.openxmlformats.org/officeDocument/2006/relationships/image" Target="/ppt/media/image4.png" Id="Rad8353d5b56647ac" /><Relationship Type="http://schemas.openxmlformats.org/officeDocument/2006/relationships/image" Target="/ppt/media/image5.png" Id="R36e28c958c6042ce" /><Relationship Type="http://schemas.openxmlformats.org/officeDocument/2006/relationships/image" Target="/ppt/media/image6.png" Id="R7fa0dbb4b44b4542" /><Relationship Type="http://schemas.openxmlformats.org/officeDocument/2006/relationships/image" Target="/ppt/media/image7.png" Id="R777d88362ed34cd2" /><Relationship Type="http://schemas.openxmlformats.org/officeDocument/2006/relationships/image" Target="/ppt/media/image8.png" Id="Re4346957c8794da0" /><Relationship Type="http://schemas.openxmlformats.org/officeDocument/2006/relationships/notesSlide" Target="/ppt/notesSlides/notesSlide3.xml" Id="Re5ce8213e7dc4f0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884b09af2345a8" /><Relationship Type="http://schemas.openxmlformats.org/officeDocument/2006/relationships/image" Target="/ppt/media/image9.png" Id="R45a510ec251b4086" /><Relationship Type="http://schemas.openxmlformats.org/officeDocument/2006/relationships/image" Target="/ppt/media/image10.png" Id="R27ec3a32c0ee459f" /><Relationship Type="http://schemas.openxmlformats.org/officeDocument/2006/relationships/image" Target="/ppt/media/image11.png" Id="Raa94d8b18f3b4c47" /><Relationship Type="http://schemas.openxmlformats.org/officeDocument/2006/relationships/image" Target="/ppt/media/image12.png" Id="Re8969d1eea7d4fbb" /><Relationship Type="http://schemas.openxmlformats.org/officeDocument/2006/relationships/notesSlide" Target="/ppt/notesSlides/notesSlide4.xml" Id="Rfbd9e0de12d14ab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fd3547c5f9347c3" /><Relationship Type="http://schemas.openxmlformats.org/officeDocument/2006/relationships/image" Target="/ppt/media/image13.png" Id="R8d842772ef934f58" /><Relationship Type="http://schemas.openxmlformats.org/officeDocument/2006/relationships/image" Target="/ppt/media/image14.png" Id="R1828d84721654cb1" /><Relationship Type="http://schemas.openxmlformats.org/officeDocument/2006/relationships/image" Target="/ppt/media/image15.png" Id="Re54a2d97eb53490f" /><Relationship Type="http://schemas.openxmlformats.org/officeDocument/2006/relationships/image" Target="/ppt/media/image16.png" Id="R2377df31892745ff" /><Relationship Type="http://schemas.openxmlformats.org/officeDocument/2006/relationships/image" Target="/ppt/media/image17.png" Id="Rd6dd8483ec82484b" /><Relationship Type="http://schemas.openxmlformats.org/officeDocument/2006/relationships/image" Target="/ppt/media/image18.png" Id="R4dfe51cd7cd6461a" /><Relationship Type="http://schemas.openxmlformats.org/officeDocument/2006/relationships/image" Target="/ppt/media/image19.png" Id="Reca0fe45d63e440d" /><Relationship Type="http://schemas.openxmlformats.org/officeDocument/2006/relationships/image" Target="/ppt/media/image20.png" Id="R241856d95fe3454b" /><Relationship Type="http://schemas.openxmlformats.org/officeDocument/2006/relationships/image" Target="/ppt/media/image21.png" Id="R3992ec4e19b54afd" /><Relationship Type="http://schemas.openxmlformats.org/officeDocument/2006/relationships/image" Target="/ppt/media/image22.png" Id="Re0e93879e610421b" /><Relationship Type="http://schemas.openxmlformats.org/officeDocument/2006/relationships/image" Target="/ppt/media/image23.png" Id="Rd9d5440321744a62" /><Relationship Type="http://schemas.openxmlformats.org/officeDocument/2006/relationships/image" Target="/ppt/media/image24.png" Id="Rbca342adfa1a435a" /><Relationship Type="http://schemas.openxmlformats.org/officeDocument/2006/relationships/notesSlide" Target="/ppt/notesSlides/notesSlide5.xml" Id="Rf88231744dc6426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7a2c4010ce4f6f" /><Relationship Type="http://schemas.openxmlformats.org/officeDocument/2006/relationships/notesSlide" Target="/ppt/notesSlides/notesSlide6.xml" Id="R455af66d3920499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page-01-rect-000">
            <a:extLst xmlns:a="http://schemas.openxmlformats.org/drawingml/2006/main">
              <a:ext uri="{FF2B5EF4-FFF2-40B4-BE49-F238E27FC236}">
                <a16:creationId xmlns:a16="http://schemas.microsoft.com/office/drawing/2014/main" id="{4F1D8B61-5A93-47A8-9DD4-BB26A92B9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2"/>
            <a:ext cx="7562850" cy="10696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282741d627419d"/>
          <a:srcRect xmlns:a="http://schemas.openxmlformats.org/drawingml/2006/main" l="25" t="0" r="25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35354" y="2501718"/>
            <a:ext cx="2292071" cy="4954867"/>
          </a:xfrm>
          <a:prstGeom xmlns:a="http://schemas.openxmlformats.org/drawingml/2006/main" prst="rect">
            <a:avLst/>
          </a:prstGeom>
        </p:spPr>
      </p:pic>
      <p:sp>
        <p:nvSpPr>
          <p:cNvPr id="3" name="page-01-text-000-00">
            <a:extLst xmlns:a="http://schemas.openxmlformats.org/drawingml/2006/main">
              <a:ext uri="{FF2B5EF4-FFF2-40B4-BE49-F238E27FC236}">
                <a16:creationId xmlns:a16="http://schemas.microsoft.com/office/drawing/2014/main" id="{8700C6F3-4B25-44DB-8CE7-AA5AF8274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076" y="826112"/>
            <a:ext cx="1808102" cy="47640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180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속성 한방</a:t>
            </a:r>
          </a:p>
        </p:txBody>
      </p:sp>
      <p:sp>
        <p:nvSpPr>
          <p:cNvPr id="4" name="page-01-text-001-00">
            <a:extLst xmlns:a="http://schemas.openxmlformats.org/drawingml/2006/main">
              <a:ext uri="{FF2B5EF4-FFF2-40B4-BE49-F238E27FC236}">
                <a16:creationId xmlns:a16="http://schemas.microsoft.com/office/drawing/2014/main" id="{5EFD6A30-77E8-4BFF-859F-5DADF134F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86" y="1388477"/>
            <a:ext cx="4244906" cy="235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0" b="1" i="0">
                <a:solidFill>
                  <a:srgbClr val="087E83"/>
                </a:solidFill>
                <a:latin typeface="Nanum Gothic"/>
                <a:ea typeface="Nanum Gothic"/>
                <a:cs typeface="Nanum Gothic"/>
              </a:defRPr>
            </a:pPr>
            <a:r>
              <a:rPr sz="740" b="1" i="0">
                <a:solidFill>
                  <a:srgbClr val="087E83"/>
                </a:solidFill>
                <a:latin typeface="Nanum Gothic"/>
                <a:ea typeface="Nanum Gothic"/>
                <a:cs typeface="Nanum Gothic"/>
              </a:rPr>
              <a:t>속성을 옮겨, 한 번의 발사로 물리 연쇄를 완성하는 퍼즐</a:t>
            </a:r>
          </a:p>
        </p:txBody>
      </p:sp>
      <p:sp>
        <p:nvSpPr>
          <p:cNvPr id="5" name="page-01-text-002-00">
            <a:extLst xmlns:a="http://schemas.openxmlformats.org/drawingml/2006/main">
              <a:ext uri="{FF2B5EF4-FFF2-40B4-BE49-F238E27FC236}">
                <a16:creationId xmlns:a16="http://schemas.microsoft.com/office/drawing/2014/main" id="{97222202-A2AC-4F91-AF82-EC3692D09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6096" y="7811075"/>
            <a:ext cx="839997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6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캐주얼 물리 퍼즐</a:t>
            </a:r>
          </a:p>
        </p:txBody>
      </p:sp>
      <p:sp>
        <p:nvSpPr>
          <p:cNvPr id="6" name="page-01-text-002-01">
            <a:extLst xmlns:a="http://schemas.openxmlformats.org/drawingml/2006/main">
              <a:ext uri="{FF2B5EF4-FFF2-40B4-BE49-F238E27FC236}">
                <a16:creationId xmlns:a16="http://schemas.microsoft.com/office/drawing/2014/main" id="{872FE7A3-8C2F-472E-B4DC-FB3A020DF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058" y="7811075"/>
            <a:ext cx="864289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4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84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모바일 · PC Web</a:t>
            </a:r>
          </a:p>
        </p:txBody>
      </p:sp>
      <p:sp>
        <p:nvSpPr>
          <p:cNvPr id="7" name="page-01-text-002-02">
            <a:extLst xmlns:a="http://schemas.openxmlformats.org/drawingml/2006/main">
              <a:ext uri="{FF2B5EF4-FFF2-40B4-BE49-F238E27FC236}">
                <a16:creationId xmlns:a16="http://schemas.microsoft.com/office/drawing/2014/main" id="{DA2B6A0A-33A6-40A9-824B-6E3FAD4A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7650" y="7811075"/>
            <a:ext cx="1377969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21" b="1" i="0">
                <a:solidFill>
                  <a:srgbClr val="173F43"/>
                </a:solidFill>
                <a:latin typeface="Aptos"/>
                <a:ea typeface="Aptos"/>
                <a:cs typeface="Aptos"/>
              </a:defRPr>
            </a:pPr>
            <a:r>
              <a:rPr sz="421" b="1" i="0">
                <a:solidFill>
                  <a:srgbClr val="173F43"/>
                </a:solidFill>
                <a:latin typeface="Aptos"/>
                <a:ea typeface="Aptos"/>
                <a:cs typeface="Aptos"/>
              </a:rPr>
              <a:t>10 STAGES · 40 PATTERNS</a:t>
            </a:r>
          </a:p>
        </p:txBody>
      </p:sp>
      <p:sp>
        <p:nvSpPr>
          <p:cNvPr id="8" name="page-01-text-003-00">
            <a:extLst xmlns:a="http://schemas.openxmlformats.org/drawingml/2006/main">
              <a:ext uri="{FF2B5EF4-FFF2-40B4-BE49-F238E27FC236}">
                <a16:creationId xmlns:a16="http://schemas.microsoft.com/office/drawing/2014/main" id="{DE8C40CE-67CE-4A6C-BCD9-EE4AFDFDD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43" y="8516292"/>
            <a:ext cx="884210" cy="247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6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86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팀 김종백</a:t>
            </a:r>
          </a:p>
        </p:txBody>
      </p:sp>
      <p:sp>
        <p:nvSpPr>
          <p:cNvPr id="9" name="page-01-text-004-00">
            <a:extLst xmlns:a="http://schemas.openxmlformats.org/drawingml/2006/main">
              <a:ext uri="{FF2B5EF4-FFF2-40B4-BE49-F238E27FC236}">
                <a16:creationId xmlns:a16="http://schemas.microsoft.com/office/drawing/2014/main" id="{2DC2A54F-384B-42B2-BDFE-3C25D373EB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43" y="8857441"/>
            <a:ext cx="3840036" cy="1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3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53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가치 있는 것을 만들어보고자 처음 게임 개발에 도전하는 AI 개발자</a:t>
            </a:r>
          </a:p>
        </p:txBody>
      </p:sp>
      <p:sp>
        <p:nvSpPr>
          <p:cNvPr id="10" name="page-01-text-005-00">
            <a:extLst xmlns:a="http://schemas.openxmlformats.org/drawingml/2006/main">
              <a:ext uri="{FF2B5EF4-FFF2-40B4-BE49-F238E27FC236}">
                <a16:creationId xmlns:a16="http://schemas.microsoft.com/office/drawing/2014/main" id="{9A4C1BF3-A952-4CE0-B974-BA97849F0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943" y="9425498"/>
            <a:ext cx="1536537" cy="165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1" b="0" i="0">
                <a:solidFill>
                  <a:srgbClr val="667B78"/>
                </a:solidFill>
                <a:latin typeface="Nanum Gothic"/>
                <a:ea typeface="Nanum Gothic"/>
                <a:cs typeface="Nanum Gothic"/>
              </a:defRPr>
            </a:pPr>
            <a:r>
              <a:rPr sz="451" b="0" i="0">
                <a:solidFill>
                  <a:srgbClr val="667B78"/>
                </a:solidFill>
                <a:latin typeface="Nanum Gothic"/>
                <a:ea typeface="Nanum Gothic"/>
                <a:cs typeface="Nanum Gothic"/>
              </a:rPr>
              <a:t>기획 · 게임 디자인 · 개발 · 검증</a:t>
            </a:r>
          </a:p>
        </p:txBody>
      </p:sp>
      <p:sp>
        <p:nvSpPr>
          <p:cNvPr id="11" name="page-01-text-006-00">
            <a:extLst xmlns:a="http://schemas.openxmlformats.org/drawingml/2006/main">
              <a:ext uri="{FF2B5EF4-FFF2-40B4-BE49-F238E27FC236}">
                <a16:creationId xmlns:a16="http://schemas.microsoft.com/office/drawing/2014/main" id="{BCBF329D-6708-4396-99D9-DCC6E3B0E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94" y="10331146"/>
            <a:ext cx="1090968" cy="146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defRPr>
            </a:pPr>
            <a:r>
              <a: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rPr>
              <a:t>속성 한방 · 팀 김종백 01</a:t>
            </a:r>
          </a:p>
        </p:txBody>
      </p:sp>
    </p:spTree>
    <p:extLst>
      <p:ext uri="{BB962C8B-B14F-4D97-AF65-F5344CB8AC3E}">
        <p14:creationId xmlns:p14="http://schemas.microsoft.com/office/powerpoint/2010/main" val="191942008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page-02-rect-000">
            <a:extLst xmlns:a="http://schemas.openxmlformats.org/drawingml/2006/main">
              <a:ext uri="{FF2B5EF4-FFF2-40B4-BE49-F238E27FC236}">
                <a16:creationId xmlns:a16="http://schemas.microsoft.com/office/drawing/2014/main" id="{393D0235-9D97-4019-B8C7-39F644536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2"/>
            <a:ext cx="7562850" cy="10696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a5df662cca643e9"/>
          <a:srcRect xmlns:a="http://schemas.openxmlformats.org/drawingml/2006/main" l="0" t="13" r="0" b="1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601" y="1883249"/>
            <a:ext cx="3201606" cy="6928683"/>
          </a:xfrm>
          <a:prstGeom xmlns:a="http://schemas.openxmlformats.org/drawingml/2006/main" prst="rect">
            <a:avLst/>
          </a:prstGeom>
        </p:spPr>
      </p:pic>
      <p:sp>
        <p:nvSpPr>
          <p:cNvPr id="3" name="page-02-text-000-00">
            <a:extLst xmlns:a="http://schemas.openxmlformats.org/drawingml/2006/main">
              <a:ext uri="{FF2B5EF4-FFF2-40B4-BE49-F238E27FC236}">
                <a16:creationId xmlns:a16="http://schemas.microsoft.com/office/drawing/2014/main" id="{60FFCEAC-BCD9-41BA-BCDC-C2FFEABB8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6" y="508137"/>
            <a:ext cx="760516" cy="165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51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551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GAME LOOP</a:t>
            </a:r>
          </a:p>
        </p:txBody>
      </p:sp>
      <p:sp>
        <p:nvSpPr>
          <p:cNvPr id="4" name="page-02-text-001-00">
            <a:extLst xmlns:a="http://schemas.openxmlformats.org/drawingml/2006/main">
              <a:ext uri="{FF2B5EF4-FFF2-40B4-BE49-F238E27FC236}">
                <a16:creationId xmlns:a16="http://schemas.microsoft.com/office/drawing/2014/main" id="{61E58258-AC88-459C-BF6D-8745C05F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6" y="756998"/>
            <a:ext cx="3299390" cy="34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0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1230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게임은 이렇게 진행됩니다</a:t>
            </a:r>
          </a:p>
        </p:txBody>
      </p:sp>
      <p:sp>
        <p:nvSpPr>
          <p:cNvPr id="5" name="page-02-text-002-00">
            <a:extLst xmlns:a="http://schemas.openxmlformats.org/drawingml/2006/main">
              <a:ext uri="{FF2B5EF4-FFF2-40B4-BE49-F238E27FC236}">
                <a16:creationId xmlns:a16="http://schemas.microsoft.com/office/drawing/2014/main" id="{0900927A-A711-46CB-8E4C-C5EEFBB9F0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313" y="1927894"/>
            <a:ext cx="377035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74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관찰</a:t>
            </a:r>
          </a:p>
        </p:txBody>
      </p:sp>
      <p:sp>
        <p:nvSpPr>
          <p:cNvPr id="6" name="page-02-text-003-00">
            <a:extLst xmlns:a="http://schemas.openxmlformats.org/drawingml/2006/main">
              <a:ext uri="{FF2B5EF4-FFF2-40B4-BE49-F238E27FC236}">
                <a16:creationId xmlns:a16="http://schemas.microsoft.com/office/drawing/2014/main" id="{02EF1DFD-5D04-4D0A-9792-23610F050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788" y="2014998"/>
            <a:ext cx="228600" cy="18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7" name="page-02-text-004-00">
            <a:extLst xmlns:a="http://schemas.openxmlformats.org/drawingml/2006/main">
              <a:ext uri="{FF2B5EF4-FFF2-40B4-BE49-F238E27FC236}">
                <a16:creationId xmlns:a16="http://schemas.microsoft.com/office/drawing/2014/main" id="{2A7A5D0B-8898-4DC2-919F-63F4AA14D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313" y="2174326"/>
            <a:ext cx="1702304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4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44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스테이지의 물체와 속성을 살핍니다.</a:t>
            </a:r>
          </a:p>
        </p:txBody>
      </p:sp>
      <p:sp>
        <p:nvSpPr>
          <p:cNvPr id="8" name="page-02-text-005-00">
            <a:extLst xmlns:a="http://schemas.openxmlformats.org/drawingml/2006/main">
              <a:ext uri="{FF2B5EF4-FFF2-40B4-BE49-F238E27FC236}">
                <a16:creationId xmlns:a16="http://schemas.microsoft.com/office/drawing/2014/main" id="{92A32A3C-763E-41F5-B711-E4CAAB469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313" y="3249192"/>
            <a:ext cx="678901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5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속성 이전</a:t>
            </a:r>
          </a:p>
        </p:txBody>
      </p:sp>
      <p:sp>
        <p:nvSpPr>
          <p:cNvPr id="9" name="page-02-text-006-00">
            <a:extLst xmlns:a="http://schemas.openxmlformats.org/drawingml/2006/main">
              <a:ext uri="{FF2B5EF4-FFF2-40B4-BE49-F238E27FC236}">
                <a16:creationId xmlns:a16="http://schemas.microsoft.com/office/drawing/2014/main" id="{420EBAC6-50E5-4E24-BD4B-8893B5198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788" y="3336296"/>
            <a:ext cx="228600" cy="18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0" name="page-02-text-007-00">
            <a:extLst xmlns:a="http://schemas.openxmlformats.org/drawingml/2006/main">
              <a:ext uri="{FF2B5EF4-FFF2-40B4-BE49-F238E27FC236}">
                <a16:creationId xmlns:a16="http://schemas.microsoft.com/office/drawing/2014/main" id="{8F0E0853-B2FF-469F-8EE3-EB9110E7A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313" y="3495624"/>
            <a:ext cx="1763770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1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31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돌·젤리·뾰족함·점착을 공에 옮깁니다.</a:t>
            </a:r>
          </a:p>
        </p:txBody>
      </p:sp>
      <p:sp>
        <p:nvSpPr>
          <p:cNvPr id="11" name="page-02-text-008-00">
            <a:extLst xmlns:a="http://schemas.openxmlformats.org/drawingml/2006/main">
              <a:ext uri="{FF2B5EF4-FFF2-40B4-BE49-F238E27FC236}">
                <a16:creationId xmlns:a16="http://schemas.microsoft.com/office/drawing/2014/main" id="{A7D1495E-E820-43BB-BCC4-554C229FA2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313" y="4570490"/>
            <a:ext cx="810268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7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37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조준과 발사</a:t>
            </a:r>
          </a:p>
        </p:txBody>
      </p:sp>
      <p:sp>
        <p:nvSpPr>
          <p:cNvPr id="12" name="page-02-text-009-00">
            <a:extLst xmlns:a="http://schemas.openxmlformats.org/drawingml/2006/main">
              <a:ext uri="{FF2B5EF4-FFF2-40B4-BE49-F238E27FC236}">
                <a16:creationId xmlns:a16="http://schemas.microsoft.com/office/drawing/2014/main" id="{C4741D91-43CC-47CB-9880-4B9FB7317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788" y="4657594"/>
            <a:ext cx="228600" cy="18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3" name="page-02-text-010-00">
            <a:extLst xmlns:a="http://schemas.openxmlformats.org/drawingml/2006/main">
              <a:ext uri="{FF2B5EF4-FFF2-40B4-BE49-F238E27FC236}">
                <a16:creationId xmlns:a16="http://schemas.microsoft.com/office/drawing/2014/main" id="{3E594665-2D22-41C4-9C5B-C976D16E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313" y="4816922"/>
            <a:ext cx="1858573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3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43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방향과 힘을 정하고 한 번에 발사합니다.</a:t>
            </a:r>
          </a:p>
        </p:txBody>
      </p:sp>
      <p:sp>
        <p:nvSpPr>
          <p:cNvPr id="14" name="page-02-text-011-00">
            <a:extLst xmlns:a="http://schemas.openxmlformats.org/drawingml/2006/main">
              <a:ext uri="{FF2B5EF4-FFF2-40B4-BE49-F238E27FC236}">
                <a16:creationId xmlns:a16="http://schemas.microsoft.com/office/drawing/2014/main" id="{B7C1CF14-A46E-4418-916B-E1116BF6D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313" y="5891788"/>
            <a:ext cx="678901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5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인과 발견</a:t>
            </a:r>
          </a:p>
        </p:txBody>
      </p:sp>
      <p:sp>
        <p:nvSpPr>
          <p:cNvPr id="15" name="page-02-text-012-00">
            <a:extLst xmlns:a="http://schemas.openxmlformats.org/drawingml/2006/main">
              <a:ext uri="{FF2B5EF4-FFF2-40B4-BE49-F238E27FC236}">
                <a16:creationId xmlns:a16="http://schemas.microsoft.com/office/drawing/2014/main" id="{6DB9C9F6-615C-469B-970E-A37B1D397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788" y="5978892"/>
            <a:ext cx="228600" cy="18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6" name="page-02-text-013-00">
            <a:extLst xmlns:a="http://schemas.openxmlformats.org/drawingml/2006/main">
              <a:ext uri="{FF2B5EF4-FFF2-40B4-BE49-F238E27FC236}">
                <a16:creationId xmlns:a16="http://schemas.microsoft.com/office/drawing/2014/main" id="{1C706343-25B6-4C58-9571-A741CB58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313" y="6138220"/>
            <a:ext cx="2184654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0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30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반사·스위치·풍선·과거 공의 연쇄를 확인합니다.</a:t>
            </a:r>
          </a:p>
        </p:txBody>
      </p:sp>
      <p:sp>
        <p:nvSpPr>
          <p:cNvPr id="17" name="page-02-text-014-00">
            <a:extLst xmlns:a="http://schemas.openxmlformats.org/drawingml/2006/main">
              <a:ext uri="{FF2B5EF4-FFF2-40B4-BE49-F238E27FC236}">
                <a16:creationId xmlns:a16="http://schemas.microsoft.com/office/drawing/2014/main" id="{FC6787A8-FE0D-48AF-9029-DD8208E2E9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313" y="7213086"/>
            <a:ext cx="678901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5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다시 시도</a:t>
            </a:r>
          </a:p>
        </p:txBody>
      </p:sp>
      <p:sp>
        <p:nvSpPr>
          <p:cNvPr id="18" name="page-02-text-015-00">
            <a:extLst xmlns:a="http://schemas.openxmlformats.org/drawingml/2006/main">
              <a:ext uri="{FF2B5EF4-FFF2-40B4-BE49-F238E27FC236}">
                <a16:creationId xmlns:a16="http://schemas.microsoft.com/office/drawing/2014/main" id="{FD9E0608-D605-4E50-B065-3C77FA55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0788" y="7300190"/>
            <a:ext cx="228600" cy="1841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96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60" b="1" i="0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19" name="page-02-text-016-00">
            <a:extLst xmlns:a="http://schemas.openxmlformats.org/drawingml/2006/main">
              <a:ext uri="{FF2B5EF4-FFF2-40B4-BE49-F238E27FC236}">
                <a16:creationId xmlns:a16="http://schemas.microsoft.com/office/drawing/2014/main" id="{4AEF0C2A-6FD8-49A6-98B4-9FD6C0831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2313" y="7459518"/>
            <a:ext cx="2083601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1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41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직전 조준과 팁을 비교해 한 가지만 바꿉니다.</a:t>
            </a:r>
          </a:p>
        </p:txBody>
      </p:sp>
      <p:sp>
        <p:nvSpPr>
          <p:cNvPr id="20" name="page-02-text-017-00">
            <a:extLst xmlns:a="http://schemas.openxmlformats.org/drawingml/2006/main">
              <a:ext uri="{FF2B5EF4-FFF2-40B4-BE49-F238E27FC236}">
                <a16:creationId xmlns:a16="http://schemas.microsoft.com/office/drawing/2014/main" id="{E6802FF8-943B-4447-B5CC-C5F6FF7E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94" y="10331146"/>
            <a:ext cx="1090968" cy="146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defRPr>
            </a:pPr>
            <a:r>
              <a: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rPr>
              <a:t>속성 한방 · 팀 김종백 02</a:t>
            </a:r>
          </a:p>
        </p:txBody>
      </p:sp>
    </p:spTree>
    <p:extLst>
      <p:ext uri="{BB962C8B-B14F-4D97-AF65-F5344CB8AC3E}">
        <p14:creationId xmlns:p14="http://schemas.microsoft.com/office/powerpoint/2010/main" val="68860178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page-03-rect-000">
            <a:extLst xmlns:a="http://schemas.openxmlformats.org/drawingml/2006/main">
              <a:ext uri="{FF2B5EF4-FFF2-40B4-BE49-F238E27FC236}">
                <a16:creationId xmlns:a16="http://schemas.microsoft.com/office/drawing/2014/main" id="{5D2CC9E0-A0A3-4DA0-A479-53CF48485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2"/>
            <a:ext cx="7562850" cy="10696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ec858e21eb41d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7697" y="3086138"/>
            <a:ext cx="406553" cy="406553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8353d5b56647a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0942" y="3086138"/>
            <a:ext cx="406553" cy="406553"/>
          </a:xfrm>
          <a:prstGeom xmlns:a="http://schemas.openxmlformats.org/drawingml/2006/main" prst="rect">
            <a:avLst/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e28c958c6042ce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87697" y="4991856"/>
            <a:ext cx="406553" cy="406553"/>
          </a:xfrm>
          <a:prstGeom xmlns:a="http://schemas.openxmlformats.org/drawingml/2006/main" prst="rect">
            <a:avLst/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a0dbb4b44b454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90942" y="4991856"/>
            <a:ext cx="406553" cy="406553"/>
          </a:xfrm>
          <a:prstGeom xmlns:a="http://schemas.openxmlformats.org/drawingml/2006/main" prst="rect">
            <a:avLst/>
          </a:prstGeom>
        </p:spPr>
      </p:pic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77d88362ed34cd2"/>
          <a:srcRect xmlns:a="http://schemas.openxmlformats.org/drawingml/2006/main" l="399" t="0" r="3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6059" y="6997053"/>
            <a:ext cx="2795053" cy="3726822"/>
          </a:xfrm>
          <a:prstGeom xmlns:a="http://schemas.openxmlformats.org/drawingml/2006/main" prst="rect">
            <a:avLst/>
          </a:prstGeom>
        </p:spPr>
      </p:pic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4346957c8794da0"/>
          <a:srcRect xmlns:a="http://schemas.openxmlformats.org/drawingml/2006/main" l="399" t="0" r="39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078237" y="6997053"/>
            <a:ext cx="2795053" cy="3726822"/>
          </a:xfrm>
          <a:prstGeom xmlns:a="http://schemas.openxmlformats.org/drawingml/2006/main" prst="rect">
            <a:avLst/>
          </a:prstGeom>
        </p:spPr>
      </p:pic>
      <p:sp>
        <p:nvSpPr>
          <p:cNvPr id="8" name="page-03-text-000-00">
            <a:extLst xmlns:a="http://schemas.openxmlformats.org/drawingml/2006/main">
              <a:ext uri="{FF2B5EF4-FFF2-40B4-BE49-F238E27FC236}">
                <a16:creationId xmlns:a16="http://schemas.microsoft.com/office/drawing/2014/main" id="{11014143-CB10-417B-8A49-5CBC94E4E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6" y="508137"/>
            <a:ext cx="1063970" cy="165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1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491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CORE MECHANICS</a:t>
            </a:r>
          </a:p>
        </p:txBody>
      </p:sp>
      <p:sp>
        <p:nvSpPr>
          <p:cNvPr id="9" name="page-03-text-001-00">
            <a:extLst xmlns:a="http://schemas.openxmlformats.org/drawingml/2006/main">
              <a:ext uri="{FF2B5EF4-FFF2-40B4-BE49-F238E27FC236}">
                <a16:creationId xmlns:a16="http://schemas.microsoft.com/office/drawing/2014/main" id="{657D3763-8FF7-45DA-9DDD-3DB8999A9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6" y="756998"/>
            <a:ext cx="3024713" cy="34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3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1233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속성이 규칙을 바꿉니다</a:t>
            </a:r>
          </a:p>
        </p:txBody>
      </p:sp>
      <p:sp>
        <p:nvSpPr>
          <p:cNvPr id="10" name="page-03-text-002-00">
            <a:extLst xmlns:a="http://schemas.openxmlformats.org/drawingml/2006/main">
              <a:ext uri="{FF2B5EF4-FFF2-40B4-BE49-F238E27FC236}">
                <a16:creationId xmlns:a16="http://schemas.microsoft.com/office/drawing/2014/main" id="{0804E6FD-CA34-4E8A-A590-CA8F3CCCC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73" y="3134849"/>
            <a:ext cx="508403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6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86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무거움</a:t>
            </a:r>
          </a:p>
        </p:txBody>
      </p:sp>
      <p:sp>
        <p:nvSpPr>
          <p:cNvPr id="11" name="page-03-text-002-01">
            <a:extLst xmlns:a="http://schemas.openxmlformats.org/drawingml/2006/main">
              <a:ext uri="{FF2B5EF4-FFF2-40B4-BE49-F238E27FC236}">
                <a16:creationId xmlns:a16="http://schemas.microsoft.com/office/drawing/2014/main" id="{D693B0E4-B93F-498A-B3DB-D6C720BB9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018" y="3134849"/>
            <a:ext cx="377035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74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탄성</a:t>
            </a:r>
          </a:p>
        </p:txBody>
      </p:sp>
      <p:sp>
        <p:nvSpPr>
          <p:cNvPr id="12" name="page-03-text-003-00">
            <a:extLst xmlns:a="http://schemas.openxmlformats.org/drawingml/2006/main">
              <a:ext uri="{FF2B5EF4-FFF2-40B4-BE49-F238E27FC236}">
                <a16:creationId xmlns:a16="http://schemas.microsoft.com/office/drawing/2014/main" id="{3CEF33DD-693C-4ACF-83F7-5B14FCCAD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73" y="3468040"/>
            <a:ext cx="2131632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2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52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상자를 밀고 스위치를 눌러 닫힌 길을 엽니다.</a:t>
            </a:r>
          </a:p>
        </p:txBody>
      </p:sp>
      <p:sp>
        <p:nvSpPr>
          <p:cNvPr id="13" name="page-03-text-003-01">
            <a:extLst xmlns:a="http://schemas.openxmlformats.org/drawingml/2006/main">
              <a:ext uri="{FF2B5EF4-FFF2-40B4-BE49-F238E27FC236}">
                <a16:creationId xmlns:a16="http://schemas.microsoft.com/office/drawing/2014/main" id="{A29E3BB9-06C5-467D-B499-83E7B9A7C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018" y="3468040"/>
            <a:ext cx="1738582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9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59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벽과 기믹에 부딪힌 뒤에도 반발력을</a:t>
            </a:r>
          </a:p>
        </p:txBody>
      </p:sp>
      <p:sp>
        <p:nvSpPr>
          <p:cNvPr id="14" name="page-03-text-004-00">
            <a:extLst xmlns:a="http://schemas.openxmlformats.org/drawingml/2006/main">
              <a:ext uri="{FF2B5EF4-FFF2-40B4-BE49-F238E27FC236}">
                <a16:creationId xmlns:a16="http://schemas.microsoft.com/office/drawing/2014/main" id="{24DAF827-C906-4F3F-85E3-DC961DBE3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018" y="3633202"/>
            <a:ext cx="648221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87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유지합니다.</a:t>
            </a:r>
          </a:p>
        </p:txBody>
      </p:sp>
      <p:sp>
        <p:nvSpPr>
          <p:cNvPr id="15" name="page-03-text-005-00">
            <a:extLst xmlns:a="http://schemas.openxmlformats.org/drawingml/2006/main">
              <a:ext uri="{FF2B5EF4-FFF2-40B4-BE49-F238E27FC236}">
                <a16:creationId xmlns:a16="http://schemas.microsoft.com/office/drawing/2014/main" id="{B9FA5890-6788-4658-852C-C936AB55F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73" y="5040567"/>
            <a:ext cx="508403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86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86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뾰족함</a:t>
            </a:r>
          </a:p>
        </p:txBody>
      </p:sp>
      <p:sp>
        <p:nvSpPr>
          <p:cNvPr id="16" name="page-03-text-005-01">
            <a:extLst xmlns:a="http://schemas.openxmlformats.org/drawingml/2006/main">
              <a:ext uri="{FF2B5EF4-FFF2-40B4-BE49-F238E27FC236}">
                <a16:creationId xmlns:a16="http://schemas.microsoft.com/office/drawing/2014/main" id="{B654E628-5E2E-4EB8-BD1B-D0FDDAA2A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018" y="5040567"/>
            <a:ext cx="377035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4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74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점착</a:t>
            </a:r>
          </a:p>
        </p:txBody>
      </p:sp>
      <p:sp>
        <p:nvSpPr>
          <p:cNvPr id="17" name="page-03-text-006-00">
            <a:extLst xmlns:a="http://schemas.openxmlformats.org/drawingml/2006/main">
              <a:ext uri="{FF2B5EF4-FFF2-40B4-BE49-F238E27FC236}">
                <a16:creationId xmlns:a16="http://schemas.microsoft.com/office/drawing/2014/main" id="{72D26D5F-5DA0-4957-B14E-8B1F0CC95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73" y="5373758"/>
            <a:ext cx="1768463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9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59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풍선을 터뜨려 뒤에 숨은 장치와 길을</a:t>
            </a:r>
          </a:p>
        </p:txBody>
      </p:sp>
      <p:sp>
        <p:nvSpPr>
          <p:cNvPr id="18" name="page-03-text-006-01">
            <a:extLst xmlns:a="http://schemas.openxmlformats.org/drawingml/2006/main">
              <a:ext uri="{FF2B5EF4-FFF2-40B4-BE49-F238E27FC236}">
                <a16:creationId xmlns:a16="http://schemas.microsoft.com/office/drawing/2014/main" id="{47DA2AE3-B686-403B-87DA-3BDCA563B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018" y="5373758"/>
            <a:ext cx="2099296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55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55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공을 원하는 위치에 남겨 다음 샷의 발판으로</a:t>
            </a:r>
          </a:p>
        </p:txBody>
      </p:sp>
      <p:sp>
        <p:nvSpPr>
          <p:cNvPr id="19" name="page-03-text-007-00">
            <a:extLst xmlns:a="http://schemas.openxmlformats.org/drawingml/2006/main">
              <a:ext uri="{FF2B5EF4-FFF2-40B4-BE49-F238E27FC236}">
                <a16:creationId xmlns:a16="http://schemas.microsoft.com/office/drawing/2014/main" id="{418316B7-9094-4493-B6A1-1FBE3124F3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1773" y="5538920"/>
            <a:ext cx="648221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7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87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드러냅니다.</a:t>
            </a:r>
          </a:p>
        </p:txBody>
      </p:sp>
      <p:sp>
        <p:nvSpPr>
          <p:cNvPr id="20" name="page-03-text-007-01">
            <a:extLst xmlns:a="http://schemas.openxmlformats.org/drawingml/2006/main">
              <a:ext uri="{FF2B5EF4-FFF2-40B4-BE49-F238E27FC236}">
                <a16:creationId xmlns:a16="http://schemas.microsoft.com/office/drawing/2014/main" id="{DBF456F1-C3DA-4B6C-8482-07C6DCEB6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5018" y="5538920"/>
            <a:ext cx="547904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9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만듭니다.</a:t>
            </a:r>
          </a:p>
        </p:txBody>
      </p:sp>
      <p:sp>
        <p:nvSpPr>
          <p:cNvPr id="21" name="page-03-text-008-00">
            <a:extLst xmlns:a="http://schemas.openxmlformats.org/drawingml/2006/main">
              <a:ext uri="{FF2B5EF4-FFF2-40B4-BE49-F238E27FC236}">
                <a16:creationId xmlns:a16="http://schemas.microsoft.com/office/drawing/2014/main" id="{F20061C0-46C8-4B94-A7C8-8A6C89436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86" y="6761202"/>
            <a:ext cx="2988631" cy="235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50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750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단순 직선보다 기믹 경로가 유리하도록</a:t>
            </a:r>
          </a:p>
        </p:txBody>
      </p:sp>
      <p:sp>
        <p:nvSpPr>
          <p:cNvPr id="22" name="page-03-text-009-00">
            <a:extLst xmlns:a="http://schemas.openxmlformats.org/drawingml/2006/main">
              <a:ext uri="{FF2B5EF4-FFF2-40B4-BE49-F238E27FC236}">
                <a16:creationId xmlns:a16="http://schemas.microsoft.com/office/drawing/2014/main" id="{57067D6F-683A-486C-B931-826E746CA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86" y="7131023"/>
            <a:ext cx="6496520" cy="174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5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85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모든 패턴은 의도한 물리 기믹을 활용한 성공 영역이 우회 경로보다 넓도록 검증했습니다. 우회는 가능하더라도 매우 정밀한 입력을</a:t>
            </a:r>
          </a:p>
        </p:txBody>
      </p:sp>
      <p:sp>
        <p:nvSpPr>
          <p:cNvPr id="23" name="page-03-text-010-00">
            <a:extLst xmlns:a="http://schemas.openxmlformats.org/drawingml/2006/main">
              <a:ext uri="{FF2B5EF4-FFF2-40B4-BE49-F238E27FC236}">
                <a16:creationId xmlns:a16="http://schemas.microsoft.com/office/drawing/2014/main" id="{76C70C1D-DD10-4448-A4B8-36DED22F74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486" y="7321595"/>
            <a:ext cx="699071" cy="17403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2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요구합니다.</a:t>
            </a:r>
          </a:p>
        </p:txBody>
      </p:sp>
      <p:sp>
        <p:nvSpPr>
          <p:cNvPr id="24" name="page-03-text-011-00">
            <a:extLst xmlns:a="http://schemas.openxmlformats.org/drawingml/2006/main">
              <a:ext uri="{FF2B5EF4-FFF2-40B4-BE49-F238E27FC236}">
                <a16:creationId xmlns:a16="http://schemas.microsoft.com/office/drawing/2014/main" id="{376B9E5D-FCF2-423D-AA57-BB0BA5EC2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94" y="10331146"/>
            <a:ext cx="1090968" cy="146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defRPr>
            </a:pPr>
            <a:r>
              <a: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rPr>
              <a:t>속성 한방 · 팀 김종백 03</a:t>
            </a:r>
          </a:p>
        </p:txBody>
      </p:sp>
    </p:spTree>
    <p:extLst>
      <p:ext uri="{BB962C8B-B14F-4D97-AF65-F5344CB8AC3E}">
        <p14:creationId xmlns:p14="http://schemas.microsoft.com/office/powerpoint/2010/main" val="6821036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page-04-rect-000">
            <a:extLst xmlns:a="http://schemas.openxmlformats.org/drawingml/2006/main">
              <a:ext uri="{FF2B5EF4-FFF2-40B4-BE49-F238E27FC236}">
                <a16:creationId xmlns:a16="http://schemas.microsoft.com/office/drawing/2014/main" id="{9A15D45E-A62E-4CDB-B1C3-1A45EDF00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2"/>
            <a:ext cx="7562850" cy="10696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a510ec251b4086"/>
          <a:srcRect xmlns:a="http://schemas.openxmlformats.org/drawingml/2006/main" l="79" t="0" r="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33963" y="1739430"/>
            <a:ext cx="1763170" cy="3811436"/>
          </a:xfrm>
          <a:prstGeom xmlns:a="http://schemas.openxmlformats.org/drawingml/2006/main" prst="rect">
            <a:avLst/>
          </a:prstGeom>
        </p:spPr>
      </p:pic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7ec3a32c0ee459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0277" y="2069755"/>
            <a:ext cx="406553" cy="406553"/>
          </a:xfrm>
          <a:prstGeom xmlns:a="http://schemas.openxmlformats.org/drawingml/2006/main" prst="rect">
            <a:avLst/>
          </a:prstGeom>
        </p:spPr>
      </p:pic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94d8b18f3b4c47"/>
          <a:srcRect xmlns:a="http://schemas.openxmlformats.org/drawingml/2006/main" l="0" t="236" r="0" b="23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95268" y="3721377"/>
            <a:ext cx="376570" cy="406553"/>
          </a:xfrm>
          <a:prstGeom xmlns:a="http://schemas.openxmlformats.org/drawingml/2006/main" prst="rect">
            <a:avLst/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8969d1eea7d4fbb"/>
          <a:srcRect xmlns:a="http://schemas.openxmlformats.org/drawingml/2006/main" l="704" t="0" r="70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980277" y="5440970"/>
            <a:ext cx="406553" cy="270612"/>
          </a:xfrm>
          <a:prstGeom xmlns:a="http://schemas.openxmlformats.org/drawingml/2006/main" prst="rect">
            <a:avLst/>
          </a:prstGeom>
        </p:spPr>
      </p:pic>
      <p:sp>
        <p:nvSpPr>
          <p:cNvPr id="6" name="page-04-text-000-00">
            <a:extLst xmlns:a="http://schemas.openxmlformats.org/drawingml/2006/main">
              <a:ext uri="{FF2B5EF4-FFF2-40B4-BE49-F238E27FC236}">
                <a16:creationId xmlns:a16="http://schemas.microsoft.com/office/drawing/2014/main" id="{F43B166E-F11B-4C74-A064-D92ED52C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6" y="508137"/>
            <a:ext cx="1664074" cy="165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463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PROGRESSION &amp; MOTIVATION</a:t>
            </a:r>
          </a:p>
        </p:txBody>
      </p:sp>
      <p:sp>
        <p:nvSpPr>
          <p:cNvPr id="7" name="page-04-text-001-00">
            <a:extLst xmlns:a="http://schemas.openxmlformats.org/drawingml/2006/main">
              <a:ext uri="{FF2B5EF4-FFF2-40B4-BE49-F238E27FC236}">
                <a16:creationId xmlns:a16="http://schemas.microsoft.com/office/drawing/2014/main" id="{B7282BFF-E6E1-4DCD-A5BF-3AAD47E91D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6" y="756998"/>
            <a:ext cx="3299390" cy="34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30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1230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실패해도 발견은 남습니다</a:t>
            </a:r>
          </a:p>
        </p:txBody>
      </p:sp>
      <p:sp>
        <p:nvSpPr>
          <p:cNvPr id="8" name="page-04-text-002-00">
            <a:extLst xmlns:a="http://schemas.openxmlformats.org/drawingml/2006/main">
              <a:ext uri="{FF2B5EF4-FFF2-40B4-BE49-F238E27FC236}">
                <a16:creationId xmlns:a16="http://schemas.microsoft.com/office/drawing/2014/main" id="{F498F349-B2B7-4EB2-9B1C-4069F41A4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53" y="2118466"/>
            <a:ext cx="810268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7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37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관측소 복구</a:t>
            </a:r>
          </a:p>
        </p:txBody>
      </p:sp>
      <p:sp>
        <p:nvSpPr>
          <p:cNvPr id="9" name="page-04-text-003-00">
            <a:extLst xmlns:a="http://schemas.openxmlformats.org/drawingml/2006/main">
              <a:ext uri="{FF2B5EF4-FFF2-40B4-BE49-F238E27FC236}">
                <a16:creationId xmlns:a16="http://schemas.microsoft.com/office/drawing/2014/main" id="{845D6E63-D2B7-4A48-84DD-ED6629124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53" y="2451657"/>
            <a:ext cx="1236997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6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발견 수에 따라 팁과 실험</a:t>
            </a:r>
          </a:p>
        </p:txBody>
      </p:sp>
      <p:sp>
        <p:nvSpPr>
          <p:cNvPr id="10" name="page-04-text-004-00">
            <a:extLst xmlns:a="http://schemas.openxmlformats.org/drawingml/2006/main">
              <a:ext uri="{FF2B5EF4-FFF2-40B4-BE49-F238E27FC236}">
                <a16:creationId xmlns:a16="http://schemas.microsoft.com/office/drawing/2014/main" id="{A9F1C3BD-5749-4F95-946D-DC6C73329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53" y="2616819"/>
            <a:ext cx="878737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3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73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기능이 열립니다.</a:t>
            </a:r>
          </a:p>
        </p:txBody>
      </p:sp>
      <p:sp>
        <p:nvSpPr>
          <p:cNvPr id="11" name="page-04-text-005-00">
            <a:extLst xmlns:a="http://schemas.openxmlformats.org/drawingml/2006/main">
              <a:ext uri="{FF2B5EF4-FFF2-40B4-BE49-F238E27FC236}">
                <a16:creationId xmlns:a16="http://schemas.microsoft.com/office/drawing/2014/main" id="{EFC705EE-3037-4A4E-9008-16DB4BBAD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53" y="3770088"/>
            <a:ext cx="678901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5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등대 복구</a:t>
            </a:r>
          </a:p>
        </p:txBody>
      </p:sp>
      <p:sp>
        <p:nvSpPr>
          <p:cNvPr id="12" name="page-04-text-006-00">
            <a:extLst xmlns:a="http://schemas.openxmlformats.org/drawingml/2006/main">
              <a:ext uri="{FF2B5EF4-FFF2-40B4-BE49-F238E27FC236}">
                <a16:creationId xmlns:a16="http://schemas.microsoft.com/office/drawing/2014/main" id="{F8A8D5AF-6E4B-496D-A0A9-2CDC41453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53" y="4103279"/>
            <a:ext cx="1207115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9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69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다음 목표와 진행 방향을</a:t>
            </a:r>
          </a:p>
        </p:txBody>
      </p:sp>
      <p:sp>
        <p:nvSpPr>
          <p:cNvPr id="13" name="page-04-text-007-00">
            <a:extLst xmlns:a="http://schemas.openxmlformats.org/drawingml/2006/main">
              <a:ext uri="{FF2B5EF4-FFF2-40B4-BE49-F238E27FC236}">
                <a16:creationId xmlns:a16="http://schemas.microsoft.com/office/drawing/2014/main" id="{186794C4-1586-43DC-8B39-335C71ED9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53" y="4268441"/>
            <a:ext cx="1209570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3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63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더 분명하게 보여줍니다.</a:t>
            </a:r>
          </a:p>
        </p:txBody>
      </p:sp>
      <p:sp>
        <p:nvSpPr>
          <p:cNvPr id="14" name="page-04-text-008-00">
            <a:extLst xmlns:a="http://schemas.openxmlformats.org/drawingml/2006/main">
              <a:ext uri="{FF2B5EF4-FFF2-40B4-BE49-F238E27FC236}">
                <a16:creationId xmlns:a16="http://schemas.microsoft.com/office/drawing/2014/main" id="{1F120969-18ED-4DE1-B60C-10F4666C8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53" y="5421711"/>
            <a:ext cx="678901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5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5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다리 복구</a:t>
            </a:r>
          </a:p>
        </p:txBody>
      </p:sp>
      <p:sp>
        <p:nvSpPr>
          <p:cNvPr id="15" name="page-04-text-009-00">
            <a:extLst xmlns:a="http://schemas.openxmlformats.org/drawingml/2006/main">
              <a:ext uri="{FF2B5EF4-FFF2-40B4-BE49-F238E27FC236}">
                <a16:creationId xmlns:a16="http://schemas.microsoft.com/office/drawing/2014/main" id="{4DD2DEB9-6CD9-4402-A43F-789D1331B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53" y="5754901"/>
            <a:ext cx="1207115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69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69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새 탐사와 반복 플레이의</a:t>
            </a:r>
          </a:p>
        </p:txBody>
      </p:sp>
      <p:sp>
        <p:nvSpPr>
          <p:cNvPr id="16" name="page-04-text-010-00">
            <a:extLst xmlns:a="http://schemas.openxmlformats.org/drawingml/2006/main">
              <a:ext uri="{FF2B5EF4-FFF2-40B4-BE49-F238E27FC236}">
                <a16:creationId xmlns:a16="http://schemas.microsoft.com/office/drawing/2014/main" id="{2A3D9E41-86AA-49BE-8246-3F5CCFDD7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4353" y="5920064"/>
            <a:ext cx="878737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3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73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길을 연결합니다.</a:t>
            </a:r>
          </a:p>
        </p:txBody>
      </p:sp>
      <p:sp>
        <p:nvSpPr>
          <p:cNvPr id="17" name="page-04-text-011-00">
            <a:extLst xmlns:a="http://schemas.openxmlformats.org/drawingml/2006/main">
              <a:ext uri="{FF2B5EF4-FFF2-40B4-BE49-F238E27FC236}">
                <a16:creationId xmlns:a16="http://schemas.microsoft.com/office/drawing/2014/main" id="{41451B77-EEA6-43A2-BCEB-0CA3738AE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305" y="6000744"/>
            <a:ext cx="2961443" cy="247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04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804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클리어만이 진전의 전부가 아닙니다</a:t>
            </a:r>
          </a:p>
        </p:txBody>
      </p:sp>
      <p:sp>
        <p:nvSpPr>
          <p:cNvPr id="18" name="page-04-text-012-00">
            <a:extLst xmlns:a="http://schemas.openxmlformats.org/drawingml/2006/main">
              <a:ext uri="{FF2B5EF4-FFF2-40B4-BE49-F238E27FC236}">
                <a16:creationId xmlns:a16="http://schemas.microsoft.com/office/drawing/2014/main" id="{71F3A3E8-B659-487A-944D-70B5CB3F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6" y="6447140"/>
            <a:ext cx="2778494" cy="171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3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83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상자를 움직이거나 풍선을 터뜨린 순간도 발견으로 기록</a:t>
            </a:r>
          </a:p>
        </p:txBody>
      </p:sp>
      <p:sp>
        <p:nvSpPr>
          <p:cNvPr id="19" name="page-04-text-013-00">
            <a:extLst xmlns:a="http://schemas.openxmlformats.org/drawingml/2006/main">
              <a:ext uri="{FF2B5EF4-FFF2-40B4-BE49-F238E27FC236}">
                <a16:creationId xmlns:a16="http://schemas.microsoft.com/office/drawing/2014/main" id="{8950175F-A158-489B-B715-B3081C56D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6" y="6993445"/>
            <a:ext cx="2909988" cy="171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7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직전 조준 비교와 L1·L2 팁으로 실패를 다음 실험으로 전환</a:t>
            </a:r>
          </a:p>
        </p:txBody>
      </p:sp>
      <p:sp>
        <p:nvSpPr>
          <p:cNvPr id="20" name="page-04-text-014-00">
            <a:extLst xmlns:a="http://schemas.openxmlformats.org/drawingml/2006/main">
              <a:ext uri="{FF2B5EF4-FFF2-40B4-BE49-F238E27FC236}">
                <a16:creationId xmlns:a16="http://schemas.microsoft.com/office/drawing/2014/main" id="{C966B534-1D1D-42F7-B298-76CF7B97F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6" y="7539751"/>
            <a:ext cx="2671011" cy="171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4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84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스테이지 클리어 보상은 이후 플레이의 선택지를 확장</a:t>
            </a:r>
          </a:p>
        </p:txBody>
      </p:sp>
      <p:sp>
        <p:nvSpPr>
          <p:cNvPr id="21" name="page-04-text-015-00">
            <a:extLst xmlns:a="http://schemas.openxmlformats.org/drawingml/2006/main">
              <a:ext uri="{FF2B5EF4-FFF2-40B4-BE49-F238E27FC236}">
                <a16:creationId xmlns:a16="http://schemas.microsoft.com/office/drawing/2014/main" id="{4ED11608-3CB9-4FA2-8284-FB43D85B2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696" y="8086057"/>
            <a:ext cx="3119694" cy="17149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7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7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10단계 캠페인, 3단계 탐사, 물리 실험실로 플레이 리듬을 분리</a:t>
            </a:r>
          </a:p>
        </p:txBody>
      </p:sp>
      <p:sp>
        <p:nvSpPr>
          <p:cNvPr id="22" name="page-04-text-016-00">
            <a:extLst xmlns:a="http://schemas.openxmlformats.org/drawingml/2006/main">
              <a:ext uri="{FF2B5EF4-FFF2-40B4-BE49-F238E27FC236}">
                <a16:creationId xmlns:a16="http://schemas.microsoft.com/office/drawing/2014/main" id="{631EABEE-C371-4B72-A51F-828F5B390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94" y="10331146"/>
            <a:ext cx="1090968" cy="146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defRPr>
            </a:pPr>
            <a:r>
              <a: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rPr>
              <a:t>속성 한방 · 팀 김종백 04</a:t>
            </a:r>
          </a:p>
        </p:txBody>
      </p:sp>
    </p:spTree>
    <p:extLst>
      <p:ext uri="{BB962C8B-B14F-4D97-AF65-F5344CB8AC3E}">
        <p14:creationId xmlns:p14="http://schemas.microsoft.com/office/powerpoint/2010/main" val="17892974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0" name="page-05-rect-000">
            <a:extLst xmlns:a="http://schemas.openxmlformats.org/drawingml/2006/main">
              <a:ext uri="{FF2B5EF4-FFF2-40B4-BE49-F238E27FC236}">
                <a16:creationId xmlns:a16="http://schemas.microsoft.com/office/drawing/2014/main" id="{C407D7BE-B085-49C7-941A-E89987D61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2"/>
            <a:ext cx="7562850" cy="10696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4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842772ef934f58"/>
          <a:srcRect xmlns:a="http://schemas.openxmlformats.org/drawingml/2006/main" l="376" t="0" r="3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992" y="2544406"/>
            <a:ext cx="711468" cy="473634"/>
          </a:xfrm>
          <a:prstGeom xmlns:a="http://schemas.openxmlformats.org/drawingml/2006/main" prst="rect">
            <a:avLst/>
          </a:prstGeom>
        </p:spPr>
      </p:pic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828d84721654cb1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6290" y="2425489"/>
            <a:ext cx="711468" cy="711468"/>
          </a:xfrm>
          <a:prstGeom xmlns:a="http://schemas.openxmlformats.org/drawingml/2006/main" prst="rect">
            <a:avLst/>
          </a:prstGeom>
        </p:spPr>
      </p:pic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4a2d97eb53490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7588" y="2514422"/>
            <a:ext cx="711468" cy="533601"/>
          </a:xfrm>
          <a:prstGeom xmlns:a="http://schemas.openxmlformats.org/drawingml/2006/main" prst="rect">
            <a:avLst/>
          </a:prstGeom>
        </p:spPr>
      </p:pic>
      <p:pic>
        <p:nvPicPr>
          <p:cNvPr id="4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77df31892745ff"/>
          <a:srcRect xmlns:a="http://schemas.openxmlformats.org/drawingml/2006/main" l="176" t="0" r="1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8886" y="2456107"/>
            <a:ext cx="711468" cy="650231"/>
          </a:xfrm>
          <a:prstGeom xmlns:a="http://schemas.openxmlformats.org/drawingml/2006/main" prst="rect">
            <a:avLst/>
          </a:prstGeom>
        </p:spPr>
      </p:pic>
      <p:pic>
        <p:nvPicPr>
          <p:cNvPr id="4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6dd8483ec82484b"/>
          <a:srcRect xmlns:a="http://schemas.openxmlformats.org/drawingml/2006/main" l="176" t="0" r="1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0184" y="2456107"/>
            <a:ext cx="711468" cy="650231"/>
          </a:xfrm>
          <a:prstGeom xmlns:a="http://schemas.openxmlformats.org/drawingml/2006/main" prst="rect">
            <a:avLst/>
          </a:prstGeom>
        </p:spPr>
      </p:pic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fe51cd7cd6461a"/>
          <a:srcRect xmlns:a="http://schemas.openxmlformats.org/drawingml/2006/main" l="113" t="0" r="113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74992" y="4349502"/>
            <a:ext cx="711468" cy="674878"/>
          </a:xfrm>
          <a:prstGeom xmlns:a="http://schemas.openxmlformats.org/drawingml/2006/main" prst="rect">
            <a:avLst/>
          </a:prstGeom>
        </p:spPr>
      </p:pic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ca0fe45d63e440d"/>
          <a:srcRect xmlns:a="http://schemas.openxmlformats.org/drawingml/2006/main" l="176" t="0" r="17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096290" y="4361826"/>
            <a:ext cx="711468" cy="650231"/>
          </a:xfrm>
          <a:prstGeom xmlns:a="http://schemas.openxmlformats.org/drawingml/2006/main" prst="rect">
            <a:avLst/>
          </a:prstGeom>
        </p:spPr>
      </p:pic>
      <p:pic>
        <p:nvPicPr>
          <p:cNvPr id="4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1856d95fe3454b"/>
          <a:srcRect xmlns:a="http://schemas.openxmlformats.org/drawingml/2006/main" l="0" t="120" r="0" b="12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417588" y="4370084"/>
            <a:ext cx="711468" cy="633715"/>
          </a:xfrm>
          <a:prstGeom xmlns:a="http://schemas.openxmlformats.org/drawingml/2006/main" prst="rect">
            <a:avLst/>
          </a:prstGeom>
        </p:spPr>
      </p:pic>
      <p:pic>
        <p:nvPicPr>
          <p:cNvPr id="4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92ec4e19b54afd"/>
          <a:srcRect xmlns:a="http://schemas.openxmlformats.org/drawingml/2006/main" l="0" t="300" r="0" b="3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738886" y="4371227"/>
            <a:ext cx="711468" cy="631428"/>
          </a:xfrm>
          <a:prstGeom xmlns:a="http://schemas.openxmlformats.org/drawingml/2006/main" prst="rect">
            <a:avLst/>
          </a:prstGeom>
        </p:spPr>
      </p:pic>
      <p:pic>
        <p:nvPicPr>
          <p:cNvPr id="5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e93879e610421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60184" y="4331207"/>
            <a:ext cx="711468" cy="711468"/>
          </a:xfrm>
          <a:prstGeom xmlns:a="http://schemas.openxmlformats.org/drawingml/2006/main" prst="rect">
            <a:avLst/>
          </a:prstGeom>
        </p:spPr>
      </p:pic>
      <p:pic>
        <p:nvPicPr>
          <p:cNvPr id="5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d5440321744a6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9057" y="7202489"/>
            <a:ext cx="4167170" cy="2604481"/>
          </a:xfrm>
          <a:prstGeom xmlns:a="http://schemas.openxmlformats.org/drawingml/2006/main" prst="rect">
            <a:avLst/>
          </a:prstGeom>
        </p:spPr>
      </p:pic>
      <p:pic>
        <p:nvPicPr>
          <p:cNvPr id="5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ca342adfa1a435a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85826" y="7202489"/>
            <a:ext cx="4167170" cy="2604481"/>
          </a:xfrm>
          <a:prstGeom xmlns:a="http://schemas.openxmlformats.org/drawingml/2006/main" prst="rect">
            <a:avLst/>
          </a:prstGeom>
        </p:spPr>
      </p:pic>
      <p:sp>
        <p:nvSpPr>
          <p:cNvPr id="14" name="page-05-text-000-00">
            <a:extLst xmlns:a="http://schemas.openxmlformats.org/drawingml/2006/main">
              <a:ext uri="{FF2B5EF4-FFF2-40B4-BE49-F238E27FC236}">
                <a16:creationId xmlns:a16="http://schemas.microsoft.com/office/drawing/2014/main" id="{8C2B6624-99B9-471B-8BEF-550F20BA3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6" y="508137"/>
            <a:ext cx="608789" cy="165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4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524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CONTENT</a:t>
            </a:r>
          </a:p>
        </p:txBody>
      </p:sp>
      <p:sp>
        <p:nvSpPr>
          <p:cNvPr id="15" name="page-05-text-001-00">
            <a:extLst xmlns:a="http://schemas.openxmlformats.org/drawingml/2006/main">
              <a:ext uri="{FF2B5EF4-FFF2-40B4-BE49-F238E27FC236}">
                <a16:creationId xmlns:a16="http://schemas.microsoft.com/office/drawing/2014/main" id="{C0498BCD-E03D-453A-9A34-7D4BB7850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6" y="756998"/>
            <a:ext cx="4019104" cy="34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1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121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짧게 시작하고, 깊게 이어집니다</a:t>
            </a:r>
          </a:p>
        </p:txBody>
      </p:sp>
      <p:sp>
        <p:nvSpPr>
          <p:cNvPr id="16" name="page-05-text-002-00">
            <a:extLst xmlns:a="http://schemas.openxmlformats.org/drawingml/2006/main">
              <a:ext uri="{FF2B5EF4-FFF2-40B4-BE49-F238E27FC236}">
                <a16:creationId xmlns:a16="http://schemas.microsoft.com/office/drawing/2014/main" id="{C9283ECF-8EBF-4304-B8C6-739B4D709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38" y="2316254"/>
            <a:ext cx="228600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8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768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page-05-text-002-01">
            <a:extLst xmlns:a="http://schemas.openxmlformats.org/drawingml/2006/main">
              <a:ext uri="{FF2B5EF4-FFF2-40B4-BE49-F238E27FC236}">
                <a16:creationId xmlns:a16="http://schemas.microsoft.com/office/drawing/2014/main" id="{02C95A50-C53A-46F4-B5D1-D29096582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536" y="2316254"/>
            <a:ext cx="228600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8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768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page-05-text-002-02">
            <a:extLst xmlns:a="http://schemas.openxmlformats.org/drawingml/2006/main">
              <a:ext uri="{FF2B5EF4-FFF2-40B4-BE49-F238E27FC236}">
                <a16:creationId xmlns:a16="http://schemas.microsoft.com/office/drawing/2014/main" id="{80AF18DB-3BB5-4028-861B-9C9EE914F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834" y="2316254"/>
            <a:ext cx="228600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8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768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9" name="page-05-text-002-03">
            <a:extLst xmlns:a="http://schemas.openxmlformats.org/drawingml/2006/main">
              <a:ext uri="{FF2B5EF4-FFF2-40B4-BE49-F238E27FC236}">
                <a16:creationId xmlns:a16="http://schemas.microsoft.com/office/drawing/2014/main" id="{0798D28F-2A65-4F3C-BF01-9B2D7174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132" y="2316254"/>
            <a:ext cx="228600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8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768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20" name="page-05-text-002-04">
            <a:extLst xmlns:a="http://schemas.openxmlformats.org/drawingml/2006/main">
              <a:ext uri="{FF2B5EF4-FFF2-40B4-BE49-F238E27FC236}">
                <a16:creationId xmlns:a16="http://schemas.microsoft.com/office/drawing/2014/main" id="{3B9C3E57-B8A6-41EB-9537-610F6A91A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430" y="2316254"/>
            <a:ext cx="228600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8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768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21" name="page-05-text-003-00">
            <a:extLst xmlns:a="http://schemas.openxmlformats.org/drawingml/2006/main">
              <a:ext uri="{FF2B5EF4-FFF2-40B4-BE49-F238E27FC236}">
                <a16:creationId xmlns:a16="http://schemas.microsoft.com/office/drawing/2014/main" id="{FDA366A2-97D2-41D1-B5FE-DF706C71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308" y="3343167"/>
            <a:ext cx="408086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39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39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무거움</a:t>
            </a:r>
          </a:p>
        </p:txBody>
      </p:sp>
      <p:sp>
        <p:nvSpPr>
          <p:cNvPr id="22" name="page-05-text-003-01">
            <a:extLst xmlns:a="http://schemas.openxmlformats.org/drawingml/2006/main">
              <a:ext uri="{FF2B5EF4-FFF2-40B4-BE49-F238E27FC236}">
                <a16:creationId xmlns:a16="http://schemas.microsoft.com/office/drawing/2014/main" id="{85D5B9FD-B69A-4C39-AE73-D33A15EB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570" y="3343167"/>
            <a:ext cx="310157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탄성</a:t>
            </a:r>
          </a:p>
        </p:txBody>
      </p:sp>
      <p:sp>
        <p:nvSpPr>
          <p:cNvPr id="23" name="page-05-text-003-02">
            <a:extLst xmlns:a="http://schemas.openxmlformats.org/drawingml/2006/main">
              <a:ext uri="{FF2B5EF4-FFF2-40B4-BE49-F238E27FC236}">
                <a16:creationId xmlns:a16="http://schemas.microsoft.com/office/drawing/2014/main" id="{DEA26463-131A-4138-BD9E-6621F6F8F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2319" y="3343167"/>
            <a:ext cx="437256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9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29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문 열기</a:t>
            </a:r>
          </a:p>
        </p:txBody>
      </p:sp>
      <p:sp>
        <p:nvSpPr>
          <p:cNvPr id="24" name="page-05-text-003-03">
            <a:extLst xmlns:a="http://schemas.openxmlformats.org/drawingml/2006/main">
              <a:ext uri="{FF2B5EF4-FFF2-40B4-BE49-F238E27FC236}">
                <a16:creationId xmlns:a16="http://schemas.microsoft.com/office/drawing/2014/main" id="{98FC3446-3E31-4534-AC57-1389CEE02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7166" y="3343167"/>
            <a:ext cx="310157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풍선</a:t>
            </a:r>
          </a:p>
        </p:txBody>
      </p:sp>
      <p:sp>
        <p:nvSpPr>
          <p:cNvPr id="25" name="page-05-text-003-04">
            <a:extLst xmlns:a="http://schemas.openxmlformats.org/drawingml/2006/main">
              <a:ext uri="{FF2B5EF4-FFF2-40B4-BE49-F238E27FC236}">
                <a16:creationId xmlns:a16="http://schemas.microsoft.com/office/drawing/2014/main" id="{E96611F5-9626-417D-A475-69523647B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8464" y="3343167"/>
            <a:ext cx="310157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잔류</a:t>
            </a:r>
          </a:p>
        </p:txBody>
      </p:sp>
      <p:sp>
        <p:nvSpPr>
          <p:cNvPr id="26" name="page-05-text-004-00">
            <a:extLst xmlns:a="http://schemas.openxmlformats.org/drawingml/2006/main">
              <a:ext uri="{FF2B5EF4-FFF2-40B4-BE49-F238E27FC236}">
                <a16:creationId xmlns:a16="http://schemas.microsoft.com/office/drawing/2014/main" id="{EC15D7FB-DB62-4A26-8D8C-C2698D5A3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9238" y="4221972"/>
            <a:ext cx="228600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8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768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27" name="page-05-text-004-01">
            <a:extLst xmlns:a="http://schemas.openxmlformats.org/drawingml/2006/main">
              <a:ext uri="{FF2B5EF4-FFF2-40B4-BE49-F238E27FC236}">
                <a16:creationId xmlns:a16="http://schemas.microsoft.com/office/drawing/2014/main" id="{BFE467A3-75BB-491A-A83B-5D928724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536" y="4221972"/>
            <a:ext cx="228600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8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768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8" name="page-05-text-004-02">
            <a:extLst xmlns:a="http://schemas.openxmlformats.org/drawingml/2006/main">
              <a:ext uri="{FF2B5EF4-FFF2-40B4-BE49-F238E27FC236}">
                <a16:creationId xmlns:a16="http://schemas.microsoft.com/office/drawing/2014/main" id="{D328D080-473F-4297-9A5B-8CFB91E75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1834" y="4221972"/>
            <a:ext cx="228600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8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768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29" name="page-05-text-004-03">
            <a:extLst xmlns:a="http://schemas.openxmlformats.org/drawingml/2006/main">
              <a:ext uri="{FF2B5EF4-FFF2-40B4-BE49-F238E27FC236}">
                <a16:creationId xmlns:a16="http://schemas.microsoft.com/office/drawing/2014/main" id="{E6CBB0E4-E976-4A5D-A1CE-69F1B25E2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3132" y="4221972"/>
            <a:ext cx="228600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68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768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30" name="page-05-text-004-04">
            <a:extLst xmlns:a="http://schemas.openxmlformats.org/drawingml/2006/main">
              <a:ext uri="{FF2B5EF4-FFF2-40B4-BE49-F238E27FC236}">
                <a16:creationId xmlns:a16="http://schemas.microsoft.com/office/drawing/2014/main" id="{FEBD8ED1-D751-4654-8AAB-E7860B86B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74430" y="4221972"/>
            <a:ext cx="237486" cy="158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41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641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31" name="page-05-text-005-00">
            <a:extLst xmlns:a="http://schemas.openxmlformats.org/drawingml/2006/main">
              <a:ext uri="{FF2B5EF4-FFF2-40B4-BE49-F238E27FC236}">
                <a16:creationId xmlns:a16="http://schemas.microsoft.com/office/drawing/2014/main" id="{92F893D8-B433-4D4C-9C75-14F3093D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3273" y="5248885"/>
            <a:ext cx="310157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9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가속</a:t>
            </a:r>
          </a:p>
        </p:txBody>
      </p:sp>
      <p:sp>
        <p:nvSpPr>
          <p:cNvPr id="32" name="page-05-text-005-01">
            <a:extLst xmlns:a="http://schemas.openxmlformats.org/drawingml/2006/main">
              <a:ext uri="{FF2B5EF4-FFF2-40B4-BE49-F238E27FC236}">
                <a16:creationId xmlns:a16="http://schemas.microsoft.com/office/drawing/2014/main" id="{78C34715-C512-4A43-9C5D-A6D0DD50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1021" y="5248885"/>
            <a:ext cx="437256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29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29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과거 공</a:t>
            </a:r>
          </a:p>
        </p:txBody>
      </p:sp>
      <p:sp>
        <p:nvSpPr>
          <p:cNvPr id="33" name="page-05-text-005-02">
            <a:extLst xmlns:a="http://schemas.openxmlformats.org/drawingml/2006/main">
              <a:ext uri="{FF2B5EF4-FFF2-40B4-BE49-F238E27FC236}">
                <a16:creationId xmlns:a16="http://schemas.microsoft.com/office/drawing/2014/main" id="{FC45E2AC-B052-4421-8B9F-2C2B7B87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3355" y="5248885"/>
            <a:ext cx="535184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6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06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연쇄 점수</a:t>
            </a:r>
          </a:p>
        </p:txBody>
      </p:sp>
      <p:sp>
        <p:nvSpPr>
          <p:cNvPr id="34" name="page-05-text-005-03">
            <a:extLst xmlns:a="http://schemas.openxmlformats.org/drawingml/2006/main">
              <a:ext uri="{FF2B5EF4-FFF2-40B4-BE49-F238E27FC236}">
                <a16:creationId xmlns:a16="http://schemas.microsoft.com/office/drawing/2014/main" id="{7A733D6E-4325-4A0E-86A0-752AB302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4653" y="5248885"/>
            <a:ext cx="535184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6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06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회전 반사</a:t>
            </a:r>
          </a:p>
        </p:txBody>
      </p:sp>
      <p:sp>
        <p:nvSpPr>
          <p:cNvPr id="35" name="page-05-text-005-04">
            <a:extLst xmlns:a="http://schemas.openxmlformats.org/drawingml/2006/main">
              <a:ext uri="{FF2B5EF4-FFF2-40B4-BE49-F238E27FC236}">
                <a16:creationId xmlns:a16="http://schemas.microsoft.com/office/drawing/2014/main" id="{762E6D38-740A-4F07-B37F-49488423B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5951" y="5248885"/>
            <a:ext cx="535184" cy="161329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6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06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속성 종합</a:t>
            </a:r>
          </a:p>
        </p:txBody>
      </p:sp>
      <p:sp>
        <p:nvSpPr>
          <p:cNvPr id="36" name="page-05-text-006-00">
            <a:extLst xmlns:a="http://schemas.openxmlformats.org/drawingml/2006/main">
              <a:ext uri="{FF2B5EF4-FFF2-40B4-BE49-F238E27FC236}">
                <a16:creationId xmlns:a16="http://schemas.microsoft.com/office/drawing/2014/main" id="{5BFD7643-4C18-473C-A7BF-42B7798B7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95" y="6204021"/>
            <a:ext cx="3900200" cy="2477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98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798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각 스테이지는 4개 패턴으로 다시 플레이됩니다</a:t>
            </a:r>
          </a:p>
        </p:txBody>
      </p:sp>
      <p:sp>
        <p:nvSpPr>
          <p:cNvPr id="37" name="page-05-text-007-00">
            <a:extLst xmlns:a="http://schemas.openxmlformats.org/drawingml/2006/main">
              <a:ext uri="{FF2B5EF4-FFF2-40B4-BE49-F238E27FC236}">
                <a16:creationId xmlns:a16="http://schemas.microsoft.com/office/drawing/2014/main" id="{FC02CBF5-E28C-4981-AA0D-BC4042DB3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95" y="6621744"/>
            <a:ext cx="6433086" cy="17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8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8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같은 규칙을 다른 배치와 순서로 다시 해석하도록 10개 스테이지 × 4개 패턴을 구성했습니다. 후반에는 과거 공, 연쇄 점수, 회전</a:t>
            </a:r>
          </a:p>
        </p:txBody>
      </p:sp>
      <p:sp>
        <p:nvSpPr>
          <p:cNvPr id="38" name="page-05-text-008-00">
            <a:extLst xmlns:a="http://schemas.openxmlformats.org/drawingml/2006/main">
              <a:ext uri="{FF2B5EF4-FFF2-40B4-BE49-F238E27FC236}">
                <a16:creationId xmlns:a16="http://schemas.microsoft.com/office/drawing/2014/main" id="{BBB3E36F-8F3E-4359-90DF-24336E053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95" y="6812316"/>
            <a:ext cx="1729000" cy="17530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9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9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반사판, 복합 속성이 결합됩니다.</a:t>
            </a:r>
          </a:p>
        </p:txBody>
      </p:sp>
      <p:sp>
        <p:nvSpPr>
          <p:cNvPr id="39" name="page-05-text-009-00">
            <a:extLst xmlns:a="http://schemas.openxmlformats.org/drawingml/2006/main">
              <a:ext uri="{FF2B5EF4-FFF2-40B4-BE49-F238E27FC236}">
                <a16:creationId xmlns:a16="http://schemas.microsoft.com/office/drawing/2014/main" id="{3082E060-27F6-4DA4-A31F-55A48C070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94" y="10331146"/>
            <a:ext cx="1090968" cy="146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defRPr>
            </a:pPr>
            <a:r>
              <a: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rPr>
              <a:t>속성 한방 · 팀 김종백 05</a:t>
            </a:r>
          </a:p>
        </p:txBody>
      </p:sp>
    </p:spTree>
    <p:extLst>
      <p:ext uri="{BB962C8B-B14F-4D97-AF65-F5344CB8AC3E}">
        <p14:creationId xmlns:p14="http://schemas.microsoft.com/office/powerpoint/2010/main" val="19641200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6D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page-06-rect-000">
            <a:extLst xmlns:a="http://schemas.openxmlformats.org/drawingml/2006/main">
              <a:ext uri="{FF2B5EF4-FFF2-40B4-BE49-F238E27FC236}">
                <a16:creationId xmlns:a16="http://schemas.microsoft.com/office/drawing/2014/main" id="{D86166F5-A571-4921-BB79-D89FCDE75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72"/>
            <a:ext cx="7562850" cy="1069603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BF4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page-06-text-000-00">
            <a:extLst xmlns:a="http://schemas.openxmlformats.org/drawingml/2006/main">
              <a:ext uri="{FF2B5EF4-FFF2-40B4-BE49-F238E27FC236}">
                <a16:creationId xmlns:a16="http://schemas.microsoft.com/office/drawing/2014/main" id="{9E7DA275-5567-49C8-958E-0A217F286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6" y="508137"/>
            <a:ext cx="1336107" cy="16514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03" b="1" i="0">
                <a:solidFill>
                  <a:srgbClr val="087E83"/>
                </a:solidFill>
                <a:latin typeface="Aptos"/>
                <a:ea typeface="Aptos"/>
                <a:cs typeface="Aptos"/>
              </a:defRPr>
            </a:pPr>
            <a:r>
              <a:rPr sz="503" b="1" i="0">
                <a:solidFill>
                  <a:srgbClr val="087E83"/>
                </a:solidFill>
                <a:latin typeface="Aptos"/>
                <a:ea typeface="Aptos"/>
                <a:cs typeface="Aptos"/>
              </a:rPr>
              <a:t>TEAM &amp; DEVELOPMENT</a:t>
            </a:r>
          </a:p>
        </p:txBody>
      </p:sp>
      <p:sp>
        <p:nvSpPr>
          <p:cNvPr id="3" name="page-06-text-001-00">
            <a:extLst xmlns:a="http://schemas.openxmlformats.org/drawingml/2006/main">
              <a:ext uri="{FF2B5EF4-FFF2-40B4-BE49-F238E27FC236}">
                <a16:creationId xmlns:a16="http://schemas.microsoft.com/office/drawing/2014/main" id="{6F328A66-8B11-426B-BA67-D823F066C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666" y="756998"/>
            <a:ext cx="4211962" cy="3493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1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121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처음이지만, 끝까지 검증했습니다</a:t>
            </a:r>
          </a:p>
        </p:txBody>
      </p:sp>
      <p:sp>
        <p:nvSpPr>
          <p:cNvPr id="4" name="page-06-text-002-00">
            <a:extLst xmlns:a="http://schemas.openxmlformats.org/drawingml/2006/main">
              <a:ext uri="{FF2B5EF4-FFF2-40B4-BE49-F238E27FC236}">
                <a16:creationId xmlns:a16="http://schemas.microsoft.com/office/drawing/2014/main" id="{6FA58C6D-0321-4EC4-8398-11C03071E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95" y="2020588"/>
            <a:ext cx="1140847" cy="31124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1122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팀 김종백</a:t>
            </a:r>
          </a:p>
        </p:txBody>
      </p:sp>
      <p:sp>
        <p:nvSpPr>
          <p:cNvPr id="5" name="page-06-text-003-00">
            <a:extLst xmlns:a="http://schemas.openxmlformats.org/drawingml/2006/main">
              <a:ext uri="{FF2B5EF4-FFF2-40B4-BE49-F238E27FC236}">
                <a16:creationId xmlns:a16="http://schemas.microsoft.com/office/drawing/2014/main" id="{F199F61A-724F-473B-BE9A-AFD8BEF83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95" y="2552258"/>
            <a:ext cx="4372284" cy="20960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3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31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가치 있는 것을 만들어보고자 처음 게임 개발에 도전하는 AI 개발자</a:t>
            </a:r>
          </a:p>
        </p:txBody>
      </p:sp>
      <p:sp>
        <p:nvSpPr>
          <p:cNvPr id="6" name="page-06-text-004-00">
            <a:extLst xmlns:a="http://schemas.openxmlformats.org/drawingml/2006/main">
              <a:ext uri="{FF2B5EF4-FFF2-40B4-BE49-F238E27FC236}">
                <a16:creationId xmlns:a16="http://schemas.microsoft.com/office/drawing/2014/main" id="{9BAAFD91-6CC8-461D-8983-C880BA69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81" y="3477878"/>
            <a:ext cx="980767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2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25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사람이 정한 것</a:t>
            </a:r>
          </a:p>
        </p:txBody>
      </p:sp>
      <p:sp>
        <p:nvSpPr>
          <p:cNvPr id="7" name="page-06-text-005-00">
            <a:extLst xmlns:a="http://schemas.openxmlformats.org/drawingml/2006/main">
              <a:ext uri="{FF2B5EF4-FFF2-40B4-BE49-F238E27FC236}">
                <a16:creationId xmlns:a16="http://schemas.microsoft.com/office/drawing/2014/main" id="{45A4F1ED-C4F5-4EEB-AA48-3B16DA9CC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81" y="3811069"/>
            <a:ext cx="2887852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43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43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게임의 주제, 재미의 기준, 플레이 흐름, 최종 선택과 품질 판단</a:t>
            </a:r>
          </a:p>
        </p:txBody>
      </p:sp>
      <p:sp>
        <p:nvSpPr>
          <p:cNvPr id="8" name="page-06-text-006-00">
            <a:extLst xmlns:a="http://schemas.openxmlformats.org/drawingml/2006/main">
              <a:ext uri="{FF2B5EF4-FFF2-40B4-BE49-F238E27FC236}">
                <a16:creationId xmlns:a16="http://schemas.microsoft.com/office/drawing/2014/main" id="{FA0AC9FE-1FE2-40AE-AEE1-69998AC4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81" y="5065977"/>
            <a:ext cx="853452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598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598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AI로 넓힌 것</a:t>
            </a:r>
          </a:p>
        </p:txBody>
      </p:sp>
      <p:sp>
        <p:nvSpPr>
          <p:cNvPr id="9" name="page-06-text-007-00">
            <a:extLst xmlns:a="http://schemas.openxmlformats.org/drawingml/2006/main">
              <a:ext uri="{FF2B5EF4-FFF2-40B4-BE49-F238E27FC236}">
                <a16:creationId xmlns:a16="http://schemas.microsoft.com/office/drawing/2014/main" id="{1136DE11-08AC-41B4-A215-D795814BD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81" y="5399167"/>
            <a:ext cx="2890947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38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레퍼런스 조사, 구현 후보, 레벨 탐색, 반응형 UI와 테스트 초안</a:t>
            </a:r>
          </a:p>
        </p:txBody>
      </p:sp>
      <p:sp>
        <p:nvSpPr>
          <p:cNvPr id="10" name="page-06-text-008-00">
            <a:extLst xmlns:a="http://schemas.openxmlformats.org/drawingml/2006/main">
              <a:ext uri="{FF2B5EF4-FFF2-40B4-BE49-F238E27FC236}">
                <a16:creationId xmlns:a16="http://schemas.microsoft.com/office/drawing/2014/main" id="{E54223E0-8D11-4611-93FD-5D6038B5D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81" y="6654075"/>
            <a:ext cx="1112134" cy="196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618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618" b="1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코드로 검증한 것</a:t>
            </a:r>
          </a:p>
        </p:txBody>
      </p:sp>
      <p:sp>
        <p:nvSpPr>
          <p:cNvPr id="11" name="page-06-text-009-00">
            <a:extLst xmlns:a="http://schemas.openxmlformats.org/drawingml/2006/main">
              <a:ext uri="{FF2B5EF4-FFF2-40B4-BE49-F238E27FC236}">
                <a16:creationId xmlns:a16="http://schemas.microsoft.com/office/drawing/2014/main" id="{B175F8FB-783B-4DDC-8689-1F5A18BB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3581" y="6987266"/>
            <a:ext cx="3179731" cy="16387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39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defRPr>
            </a:pPr>
            <a:r>
              <a:rPr sz="439" b="0" i="0">
                <a:solidFill>
                  <a:srgbClr val="173F43"/>
                </a:solidFill>
                <a:latin typeface="Nanum Gothic"/>
                <a:ea typeface="Nanum Gothic"/>
                <a:cs typeface="Nanum Gothic"/>
              </a:rPr>
              <a:t>결정론 물리, 40패턴 기믹 우위, 저장 복구, 접근성, 화면 크기별 회귀</a:t>
            </a:r>
          </a:p>
        </p:txBody>
      </p:sp>
      <p:sp>
        <p:nvSpPr>
          <p:cNvPr id="12" name="page-06-text-010-00">
            <a:extLst xmlns:a="http://schemas.openxmlformats.org/drawingml/2006/main">
              <a:ext uri="{FF2B5EF4-FFF2-40B4-BE49-F238E27FC236}">
                <a16:creationId xmlns:a16="http://schemas.microsoft.com/office/drawing/2014/main" id="{8C0AA5A5-2515-4042-9E20-6BC3CC0EF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895" y="9365683"/>
            <a:ext cx="6020552" cy="235017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734" b="1" i="0">
                <a:solidFill>
                  <a:srgbClr val="087E83"/>
                </a:solidFill>
                <a:latin typeface="Nanum Gothic"/>
                <a:ea typeface="Nanum Gothic"/>
                <a:cs typeface="Nanum Gothic"/>
              </a:defRPr>
            </a:pPr>
            <a:r>
              <a:rPr sz="734" b="1" i="0">
                <a:solidFill>
                  <a:srgbClr val="087E83"/>
                </a:solidFill>
                <a:latin typeface="Nanum Gothic"/>
                <a:ea typeface="Nanum Gothic"/>
                <a:cs typeface="Nanum Gothic"/>
              </a:rPr>
              <a:t>목표는 정답을 맞히는 순간보다, 규칙을 알아낸 순간을 기억하게 하는 것입니다.</a:t>
            </a:r>
          </a:p>
        </p:txBody>
      </p:sp>
      <p:sp>
        <p:nvSpPr>
          <p:cNvPr id="13" name="page-06-text-011-00">
            <a:extLst xmlns:a="http://schemas.openxmlformats.org/drawingml/2006/main">
              <a:ext uri="{FF2B5EF4-FFF2-40B4-BE49-F238E27FC236}">
                <a16:creationId xmlns:a16="http://schemas.microsoft.com/office/drawing/2014/main" id="{549A00A5-8197-4989-9AC6-A176B4BB8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4694" y="10331146"/>
            <a:ext cx="1090968" cy="1460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defRPr>
            </a:pPr>
            <a:r>
              <a:rPr sz="413" b="0" i="0">
                <a:solidFill>
                  <a:srgbClr val="6F817E"/>
                </a:solidFill>
                <a:latin typeface="Nanum Gothic"/>
                <a:ea typeface="Nanum Gothic"/>
                <a:cs typeface="Nanum Gothic"/>
              </a:rPr>
              <a:t>속성 한방 · 팀 김종백 06</a:t>
            </a:r>
          </a:p>
        </p:txBody>
      </p:sp>
    </p:spTree>
    <p:extLst>
      <p:ext uri="{BB962C8B-B14F-4D97-AF65-F5344CB8AC3E}">
        <p14:creationId xmlns:p14="http://schemas.microsoft.com/office/powerpoint/2010/main" val="15231816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2026-08-17T06:32:37.1730000Z</dcterms:created>
  <dcterms:modified xsi:type="dcterms:W3CDTF">2026-08-17T06:32:37.1730000Z</dcterms:modified>
</coreProperties>
</file>