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30d846db524288" /><Relationship Type="http://schemas.openxmlformats.org/officeDocument/2006/relationships/extended-properties" Target="/docProps/app.xml" Id="R51d824522aad44ee" /><Relationship Type="http://schemas.openxmlformats.org/officeDocument/2006/relationships/officeDocument" Target="/ppt/presentation.xml" Id="R6b4e3c84f93449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a43f11b14c4517"/>
  </p:sldMasterIdLst>
  <p:notesMasterIdLst>
    <p:notesMasterId xmlns:r="http://schemas.openxmlformats.org/officeDocument/2006/relationships" r:id="R6f9c3eea604f48da"/>
  </p:notesMasterIdLst>
  <p:sldIdLst>
    <p:sldId xmlns:r="http://schemas.openxmlformats.org/officeDocument/2006/relationships" id="256" r:id="Rf87760654b434699"/>
    <p:sldId xmlns:r="http://schemas.openxmlformats.org/officeDocument/2006/relationships" id="257" r:id="R2d5c4e52085b4d08"/>
    <p:sldId xmlns:r="http://schemas.openxmlformats.org/officeDocument/2006/relationships" id="258" r:id="R188f93690bfe4ee2"/>
    <p:sldId xmlns:r="http://schemas.openxmlformats.org/officeDocument/2006/relationships" id="259" r:id="R351c49acbd184a35"/>
    <p:sldId xmlns:r="http://schemas.openxmlformats.org/officeDocument/2006/relationships" id="260" r:id="Rb5d977ea58914c24"/>
    <p:sldId xmlns:r="http://schemas.openxmlformats.org/officeDocument/2006/relationships" id="261" r:id="Rb9ce14bdbb684432"/>
    <p:sldId xmlns:r="http://schemas.openxmlformats.org/officeDocument/2006/relationships" id="262" r:id="Rbedcf8d3978a4ad4"/>
    <p:sldId xmlns:r="http://schemas.openxmlformats.org/officeDocument/2006/relationships" id="263" r:id="R708f725ebda14609"/>
    <p:sldId xmlns:r="http://schemas.openxmlformats.org/officeDocument/2006/relationships" id="264" r:id="R3396b7590a2145e9"/>
    <p:sldId xmlns:r="http://schemas.openxmlformats.org/officeDocument/2006/relationships" id="265" r:id="R96aac10787104ae5"/>
    <p:sldId xmlns:r="http://schemas.openxmlformats.org/officeDocument/2006/relationships" id="266" r:id="Ra17d5005827d40cd"/>
    <p:sldId xmlns:r="http://schemas.openxmlformats.org/officeDocument/2006/relationships" id="267" r:id="R5b01320620534990"/>
    <p:sldId xmlns:r="http://schemas.openxmlformats.org/officeDocument/2006/relationships" id="268" r:id="Rffb2f6c31ba04c0d"/>
    <p:sldId xmlns:r="http://schemas.openxmlformats.org/officeDocument/2006/relationships" id="269" r:id="R99669ca21fd34b56"/>
    <p:sldId xmlns:r="http://schemas.openxmlformats.org/officeDocument/2006/relationships" id="270" r:id="Rfb9b9076630949ae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91948bc93548f3" /><Relationship Type="http://schemas.openxmlformats.org/officeDocument/2006/relationships/slideMaster" Target="/ppt/slideMasters/slideMaster1.xml" Id="R2ca43f11b14c4517" /><Relationship Type="http://schemas.openxmlformats.org/officeDocument/2006/relationships/notesMaster" Target="/ppt/notesMasters/notesMaster1.xml" Id="R6f9c3eea604f48da" /><Relationship Type="http://schemas.openxmlformats.org/officeDocument/2006/relationships/presProps" Target="/ppt/presProps.xml" Id="R87db72e8cdb94c23" /><Relationship Type="http://schemas.openxmlformats.org/officeDocument/2006/relationships/tableStyles" Target="/ppt/tableStyles.xml" Id="Re983f06f49b04122" /><Relationship Type="http://schemas.openxmlformats.org/officeDocument/2006/relationships/slide" Target="/ppt/slides/slide1.xml" Id="Rf87760654b434699" /><Relationship Type="http://schemas.openxmlformats.org/officeDocument/2006/relationships/slide" Target="/ppt/slides/slide2.xml" Id="R2d5c4e52085b4d08" /><Relationship Type="http://schemas.openxmlformats.org/officeDocument/2006/relationships/slide" Target="/ppt/slides/slide3.xml" Id="R188f93690bfe4ee2" /><Relationship Type="http://schemas.openxmlformats.org/officeDocument/2006/relationships/slide" Target="/ppt/slides/slide4.xml" Id="R351c49acbd184a35" /><Relationship Type="http://schemas.openxmlformats.org/officeDocument/2006/relationships/slide" Target="/ppt/slides/slide5.xml" Id="Rb5d977ea58914c24" /><Relationship Type="http://schemas.openxmlformats.org/officeDocument/2006/relationships/slide" Target="/ppt/slides/slide6.xml" Id="Rb9ce14bdbb684432" /><Relationship Type="http://schemas.openxmlformats.org/officeDocument/2006/relationships/slide" Target="/ppt/slides/slide7.xml" Id="Rbedcf8d3978a4ad4" /><Relationship Type="http://schemas.openxmlformats.org/officeDocument/2006/relationships/slide" Target="/ppt/slides/slide8.xml" Id="R708f725ebda14609" /><Relationship Type="http://schemas.openxmlformats.org/officeDocument/2006/relationships/slide" Target="/ppt/slides/slide9.xml" Id="R3396b7590a2145e9" /><Relationship Type="http://schemas.openxmlformats.org/officeDocument/2006/relationships/slide" Target="/ppt/slides/slide10.xml" Id="R96aac10787104ae5" /><Relationship Type="http://schemas.openxmlformats.org/officeDocument/2006/relationships/slide" Target="/ppt/slides/slide11.xml" Id="Ra17d5005827d40cd" /><Relationship Type="http://schemas.openxmlformats.org/officeDocument/2006/relationships/slide" Target="/ppt/slides/slide12.xml" Id="R5b01320620534990" /><Relationship Type="http://schemas.openxmlformats.org/officeDocument/2006/relationships/slide" Target="/ppt/slides/slide13.xml" Id="Rffb2f6c31ba04c0d" /><Relationship Type="http://schemas.openxmlformats.org/officeDocument/2006/relationships/slide" Target="/ppt/slides/slide14.xml" Id="R99669ca21fd34b56" /><Relationship Type="http://schemas.openxmlformats.org/officeDocument/2006/relationships/slide" Target="/ppt/slides/slide15.xml" Id="Rfb9b9076630949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9be84307c244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42b369d9aa400a" /><Relationship Type="http://schemas.openxmlformats.org/officeDocument/2006/relationships/notesMaster" Target="/ppt/notesMasters/notesMaster1.xml" Id="Rc970e747d05442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90f0af07494992" /><Relationship Type="http://schemas.openxmlformats.org/officeDocument/2006/relationships/notesMaster" Target="/ppt/notesMasters/notesMaster1.xml" Id="R359ab46eaf5b48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9d9290fb3a4bc2" /><Relationship Type="http://schemas.openxmlformats.org/officeDocument/2006/relationships/notesMaster" Target="/ppt/notesMasters/notesMaster1.xml" Id="R364b69d70c0c46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06eff3136e490a" /><Relationship Type="http://schemas.openxmlformats.org/officeDocument/2006/relationships/notesMaster" Target="/ppt/notesMasters/notesMaster1.xml" Id="R1899093da80742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58922e963e46e0" /><Relationship Type="http://schemas.openxmlformats.org/officeDocument/2006/relationships/notesMaster" Target="/ppt/notesMasters/notesMaster1.xml" Id="R99613496c70a47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fb361c3d834659" /><Relationship Type="http://schemas.openxmlformats.org/officeDocument/2006/relationships/notesMaster" Target="/ppt/notesMasters/notesMaster1.xml" Id="R2a9270aa315d4b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1612018d604cfe" /><Relationship Type="http://schemas.openxmlformats.org/officeDocument/2006/relationships/notesMaster" Target="/ppt/notesMasters/notesMaster1.xml" Id="R6fd5163fc17841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3f5eb0dad5488b" /><Relationship Type="http://schemas.openxmlformats.org/officeDocument/2006/relationships/notesMaster" Target="/ppt/notesMasters/notesMaster1.xml" Id="Rd918d7546c9843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cd515ecdfe49c0" /><Relationship Type="http://schemas.openxmlformats.org/officeDocument/2006/relationships/notesMaster" Target="/ppt/notesMasters/notesMaster1.xml" Id="Rf2f1b91485e44f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021b380d214d19" /><Relationship Type="http://schemas.openxmlformats.org/officeDocument/2006/relationships/notesMaster" Target="/ppt/notesMasters/notesMaster1.xml" Id="R53733ec4d7f94c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7aaef2c9b94c7a" /><Relationship Type="http://schemas.openxmlformats.org/officeDocument/2006/relationships/notesMaster" Target="/ppt/notesMasters/notesMaster1.xml" Id="R6a7d9f80b63741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a6843a1d194bae" /><Relationship Type="http://schemas.openxmlformats.org/officeDocument/2006/relationships/notesMaster" Target="/ppt/notesMasters/notesMaster1.xml" Id="Refd50afe00064e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ea61b40c534a8c" /><Relationship Type="http://schemas.openxmlformats.org/officeDocument/2006/relationships/notesMaster" Target="/ppt/notesMasters/notesMaster1.xml" Id="Re64bbdf3d91042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cb8f27b07f425f" /><Relationship Type="http://schemas.openxmlformats.org/officeDocument/2006/relationships/notesMaster" Target="/ppt/notesMasters/notesMaster1.xml" Id="R1738e6b210db48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b8ef23822f342b1" /><Relationship Type="http://schemas.openxmlformats.org/officeDocument/2006/relationships/notesMaster" Target="/ppt/notesMasters/notesMaster1.xml" Id="R7e68a101d5df42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/Users/bellhundred/git-repo/nhn_hackerton/report/dist/property_shot_final_report.pdf (page 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/Users/bellhundred/git-repo/nhn_hackerton/report/dist/property_shot_final_report.pdf (page 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/Users/bellhundred/git-repo/nhn_hackerton/report/dist/property_shot_final_report.pdf (page 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/Users/bellhundred/git-repo/nhn_hackerton/report/dist/property_shot_final_report.pdf (page 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/Users/bellhundred/git-repo/nhn_hackerton/report/dist/property_shot_final_report.pdf (page 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/Users/bellhundred/git-repo/nhn_hackerton/report/dist/property_shot_final_report.pdf (page 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/Users/bellhundred/git-repo/nhn_hackerton/report/dist/property_shot_final_report.pdf (page 7)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/Users/bellhundred/git-repo/nhn_hackerton/report/dist/property_shot_final_report.pdf (page 8)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/Users/bellhundred/git-repo/nhn_hackerton/report/dist/property_shot_final_report.pdf (page 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/Users/bellhundred/git-repo/nhn_hackerton/report/dist/property_shot_final_report.pdf (page 10)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/Users/bellhundred/git-repo/nhn_hackerton/report/dist/property_shot_final_report.pdf (page 11)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/Users/bellhundred/git-repo/nhn_hackerton/report/dist/property_shot_final_report.pdf (page 12)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/Users/bellhundred/git-repo/nhn_hackerton/report/dist/property_shot_final_report.pdf (page 13)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/Users/bellhundred/git-repo/nhn_hackerton/report/dist/property_shot_final_report.pdf (page 14)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/Users/bellhundred/git-repo/nhn_hackerton/report/dist/property_shot_final_report.pdf (page 15)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342118da5749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592fe57e234c7e" /><Relationship Type="http://schemas.openxmlformats.org/officeDocument/2006/relationships/slideLayout" Target="/ppt/slideLayouts/slideLayout1.xml" Id="Re9d82c51451c45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d82c51451c45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d3dd1713d4445" /><Relationship Type="http://schemas.openxmlformats.org/officeDocument/2006/relationships/image" Target="/ppt/media/image.png" Id="R4fda6aed758c4158" /><Relationship Type="http://schemas.openxmlformats.org/officeDocument/2006/relationships/notesSlide" Target="/ppt/notesSlides/notesSlide1.xml" Id="R0b2e80ff344742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19f3e6fd14d5d" /><Relationship Type="http://schemas.openxmlformats.org/officeDocument/2006/relationships/image" Target="/ppt/media/image2.png" Id="Re5b6e77af5e34b0f" /><Relationship Type="http://schemas.openxmlformats.org/officeDocument/2006/relationships/image" Target="/ppt/media/image3.png" Id="R775c32a8b7fd4313" /><Relationship Type="http://schemas.openxmlformats.org/officeDocument/2006/relationships/notesSlide" Target="/ppt/notesSlides/notesSlide2.xml" Id="Re2eff681e8fc4e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b24dd6d1940ab" /><Relationship Type="http://schemas.openxmlformats.org/officeDocument/2006/relationships/image" Target="/ppt/media/image4.png" Id="R88f98cbe8b204f6b" /><Relationship Type="http://schemas.openxmlformats.org/officeDocument/2006/relationships/notesSlide" Target="/ppt/notesSlides/notesSlide3.xml" Id="R472b6da2789242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35721636e405a" /><Relationship Type="http://schemas.openxmlformats.org/officeDocument/2006/relationships/image" Target="/ppt/media/image5.png" Id="R869c8366276b40fa" /><Relationship Type="http://schemas.openxmlformats.org/officeDocument/2006/relationships/notesSlide" Target="/ppt/notesSlides/notesSlide4.xml" Id="R50f8d4c75eea4e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bb68dde7e4488" /><Relationship Type="http://schemas.openxmlformats.org/officeDocument/2006/relationships/image" Target="/ppt/media/image6.png" Id="R9ebdf1efc40b4bc8" /><Relationship Type="http://schemas.openxmlformats.org/officeDocument/2006/relationships/image" Target="/ppt/media/image7.png" Id="R1f72ab9983704618" /><Relationship Type="http://schemas.openxmlformats.org/officeDocument/2006/relationships/notesSlide" Target="/ppt/notesSlides/notesSlide5.xml" Id="R67708c4e29b348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e0e7d1bb5426f" /><Relationship Type="http://schemas.openxmlformats.org/officeDocument/2006/relationships/image" Target="/ppt/media/image8.png" Id="R8e5fe834c4b744d3" /><Relationship Type="http://schemas.openxmlformats.org/officeDocument/2006/relationships/notesSlide" Target="/ppt/notesSlides/notesSlide6.xml" Id="R528fc07bc64f4a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adb0428894029" /><Relationship Type="http://schemas.openxmlformats.org/officeDocument/2006/relationships/image" Target="/ppt/media/image9.png" Id="Rbfd12324cb7b45a8" /><Relationship Type="http://schemas.openxmlformats.org/officeDocument/2006/relationships/image" Target="/ppt/media/image10.png" Id="R7b5ceeab953b41f7" /><Relationship Type="http://schemas.openxmlformats.org/officeDocument/2006/relationships/notesSlide" Target="/ppt/notesSlides/notesSlide7.xml" Id="Rd663ceeb8aa241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182e60d06452e" /><Relationship Type="http://schemas.openxmlformats.org/officeDocument/2006/relationships/image" Target="/ppt/media/image11.png" Id="R437b705bfbc14a16" /><Relationship Type="http://schemas.openxmlformats.org/officeDocument/2006/relationships/image" Target="/ppt/media/image12.png" Id="R73d9c90b8588482f" /><Relationship Type="http://schemas.openxmlformats.org/officeDocument/2006/relationships/notesSlide" Target="/ppt/notesSlides/notesSlide8.xml" Id="R7a6e4f7427934a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18cc987804dd7" /><Relationship Type="http://schemas.openxmlformats.org/officeDocument/2006/relationships/image" Target="/ppt/media/image13.png" Id="R44a3299b74564c0f" /><Relationship Type="http://schemas.openxmlformats.org/officeDocument/2006/relationships/notesSlide" Target="/ppt/notesSlides/notesSlide9.xml" Id="Rb2829f5fe76044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47ab26b09460c" /><Relationship Type="http://schemas.openxmlformats.org/officeDocument/2006/relationships/image" Target="/ppt/media/image14.png" Id="R5a78cee4338146d2" /><Relationship Type="http://schemas.openxmlformats.org/officeDocument/2006/relationships/notesSlide" Target="/ppt/notesSlides/notesSlide10.xml" Id="R9ed4c4b6f9a143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1a6c48f2542e4" /><Relationship Type="http://schemas.openxmlformats.org/officeDocument/2006/relationships/image" Target="/ppt/media/image15.png" Id="R5c561c618cb841c2" /><Relationship Type="http://schemas.openxmlformats.org/officeDocument/2006/relationships/notesSlide" Target="/ppt/notesSlides/notesSlide11.xml" Id="R2f47c59fd32641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e8815c013459a" /><Relationship Type="http://schemas.openxmlformats.org/officeDocument/2006/relationships/image" Target="/ppt/media/image16.png" Id="R01ee9a41053b413a" /><Relationship Type="http://schemas.openxmlformats.org/officeDocument/2006/relationships/notesSlide" Target="/ppt/notesSlides/notesSlide12.xml" Id="R305bc342127046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d52125c7143df" /><Relationship Type="http://schemas.openxmlformats.org/officeDocument/2006/relationships/image" Target="/ppt/media/image17.png" Id="R932ca7190807478a" /><Relationship Type="http://schemas.openxmlformats.org/officeDocument/2006/relationships/notesSlide" Target="/ppt/notesSlides/notesSlide13.xml" Id="Ra233f1f16d97449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3405d21bf4b56" /><Relationship Type="http://schemas.openxmlformats.org/officeDocument/2006/relationships/image" Target="/ppt/media/image18.png" Id="Rcba502da8e5e432b" /><Relationship Type="http://schemas.openxmlformats.org/officeDocument/2006/relationships/notesSlide" Target="/ppt/notesSlides/notesSlide14.xml" Id="R93df63ce48af40a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0170734144f31" /><Relationship Type="http://schemas.openxmlformats.org/officeDocument/2006/relationships/image" Target="/ppt/media/image19.png" Id="R7aa2d8b01acb40bd" /><Relationship Type="http://schemas.openxmlformats.org/officeDocument/2006/relationships/notesSlide" Target="/ppt/notesSlides/notesSlide15.xml" Id="Re525b58cb39440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a6aed758c4158"/>
          <a:srcRect xmlns:a="http://schemas.openxmlformats.org/drawingml/2006/main" l="14648" t="0" r="146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lide-1-background">
            <a:extLst xmlns:a="http://schemas.openxmlformats.org/drawingml/2006/main">
              <a:ext uri="{FF2B5EF4-FFF2-40B4-BE49-F238E27FC236}">
                <a16:creationId xmlns:a16="http://schemas.microsoft.com/office/drawing/2014/main" id="{7AB8C268-E511-40F6-9698-DE4CC1D5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01-rect-000">
            <a:extLst xmlns:a="http://schemas.openxmlformats.org/drawingml/2006/main">
              <a:ext uri="{FF2B5EF4-FFF2-40B4-BE49-F238E27FC236}">
                <a16:creationId xmlns:a16="http://schemas.microsoft.com/office/drawing/2014/main" id="{D63006A5-062E-4953-AD82-64B916E3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5405012"/>
            <a:ext cx="1173354" cy="357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1-rect-001">
            <a:extLst xmlns:a="http://schemas.openxmlformats.org/drawingml/2006/main">
              <a:ext uri="{FF2B5EF4-FFF2-40B4-BE49-F238E27FC236}">
                <a16:creationId xmlns:a16="http://schemas.microsoft.com/office/drawing/2014/main" id="{A5E171B1-1117-4CC2-88AC-CB16EE11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5762915"/>
            <a:ext cx="1173354" cy="3585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01-rect-002">
            <a:extLst xmlns:a="http://schemas.openxmlformats.org/drawingml/2006/main">
              <a:ext uri="{FF2B5EF4-FFF2-40B4-BE49-F238E27FC236}">
                <a16:creationId xmlns:a16="http://schemas.microsoft.com/office/drawing/2014/main" id="{18EE329D-9F49-421F-B8A7-3E160596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6122168"/>
            <a:ext cx="1173354" cy="357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01-rect-003">
            <a:extLst xmlns:a="http://schemas.openxmlformats.org/drawingml/2006/main">
              <a:ext uri="{FF2B5EF4-FFF2-40B4-BE49-F238E27FC236}">
                <a16:creationId xmlns:a16="http://schemas.microsoft.com/office/drawing/2014/main" id="{AAFFB59A-2043-41EB-A493-D06FA6AA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6480072"/>
            <a:ext cx="1173354" cy="3585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-01-rect-004">
            <a:extLst xmlns:a="http://schemas.openxmlformats.org/drawingml/2006/main">
              <a:ext uri="{FF2B5EF4-FFF2-40B4-BE49-F238E27FC236}">
                <a16:creationId xmlns:a16="http://schemas.microsoft.com/office/drawing/2014/main" id="{891C0B43-9F0A-4658-969B-F49AC52F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6839325"/>
            <a:ext cx="1173354" cy="357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-01-rect-005">
            <a:extLst xmlns:a="http://schemas.openxmlformats.org/drawingml/2006/main">
              <a:ext uri="{FF2B5EF4-FFF2-40B4-BE49-F238E27FC236}">
                <a16:creationId xmlns:a16="http://schemas.microsoft.com/office/drawing/2014/main" id="{263F6E41-7E39-407C-91AB-4C145264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7197228"/>
            <a:ext cx="1173354" cy="3585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-01-rect-006">
            <a:extLst xmlns:a="http://schemas.openxmlformats.org/drawingml/2006/main">
              <a:ext uri="{FF2B5EF4-FFF2-40B4-BE49-F238E27FC236}">
                <a16:creationId xmlns:a16="http://schemas.microsoft.com/office/drawing/2014/main" id="{EDC41C24-5B1E-45F3-BE6F-2752328F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7556482"/>
            <a:ext cx="1173354" cy="357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ge-01-rect-007">
            <a:extLst xmlns:a="http://schemas.openxmlformats.org/drawingml/2006/main">
              <a:ext uri="{FF2B5EF4-FFF2-40B4-BE49-F238E27FC236}">
                <a16:creationId xmlns:a16="http://schemas.microsoft.com/office/drawing/2014/main" id="{E5598A53-0A73-422A-A7EB-60C878A0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5405012"/>
            <a:ext cx="1173354" cy="357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01-rect-008">
            <a:extLst xmlns:a="http://schemas.openxmlformats.org/drawingml/2006/main">
              <a:ext uri="{FF2B5EF4-FFF2-40B4-BE49-F238E27FC236}">
                <a16:creationId xmlns:a16="http://schemas.microsoft.com/office/drawing/2014/main" id="{5E93037C-2B8E-400C-B46C-740F5166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5762915"/>
            <a:ext cx="1173354" cy="3585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01-rect-009">
            <a:extLst xmlns:a="http://schemas.openxmlformats.org/drawingml/2006/main">
              <a:ext uri="{FF2B5EF4-FFF2-40B4-BE49-F238E27FC236}">
                <a16:creationId xmlns:a16="http://schemas.microsoft.com/office/drawing/2014/main" id="{C309EE15-E241-4526-806A-5524C51C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6122168"/>
            <a:ext cx="1173354" cy="357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ge-01-rect-010">
            <a:extLst xmlns:a="http://schemas.openxmlformats.org/drawingml/2006/main">
              <a:ext uri="{FF2B5EF4-FFF2-40B4-BE49-F238E27FC236}">
                <a16:creationId xmlns:a16="http://schemas.microsoft.com/office/drawing/2014/main" id="{30658F4F-CFF1-4327-8C7E-EDDD323F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6480072"/>
            <a:ext cx="1173354" cy="3585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01-rect-011">
            <a:extLst xmlns:a="http://schemas.openxmlformats.org/drawingml/2006/main">
              <a:ext uri="{FF2B5EF4-FFF2-40B4-BE49-F238E27FC236}">
                <a16:creationId xmlns:a16="http://schemas.microsoft.com/office/drawing/2014/main" id="{FEC06F2B-3A4A-4A8B-939D-E03D28CB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6839325"/>
            <a:ext cx="1173354" cy="357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ge-01-rect-012">
            <a:extLst xmlns:a="http://schemas.openxmlformats.org/drawingml/2006/main">
              <a:ext uri="{FF2B5EF4-FFF2-40B4-BE49-F238E27FC236}">
                <a16:creationId xmlns:a16="http://schemas.microsoft.com/office/drawing/2014/main" id="{5B0E021C-F649-40FE-819A-5397769B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7197228"/>
            <a:ext cx="1173354" cy="3585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01-rect-013">
            <a:extLst xmlns:a="http://schemas.openxmlformats.org/drawingml/2006/main">
              <a:ext uri="{FF2B5EF4-FFF2-40B4-BE49-F238E27FC236}">
                <a16:creationId xmlns:a16="http://schemas.microsoft.com/office/drawing/2014/main" id="{38DC4FD2-8FD2-4AD5-BC52-4334E6C3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7556482"/>
            <a:ext cx="1173354" cy="357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01-line-000">
            <a:extLst xmlns:a="http://schemas.openxmlformats.org/drawingml/2006/main">
              <a:ext uri="{FF2B5EF4-FFF2-40B4-BE49-F238E27FC236}">
                <a16:creationId xmlns:a16="http://schemas.microsoft.com/office/drawing/2014/main" id="{8A908D29-6CA9-41CC-B098-D7A34335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100" y="7096610"/>
            <a:ext cx="675961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18" name="page-01-line-001">
            <a:extLst xmlns:a="http://schemas.openxmlformats.org/drawingml/2006/main">
              <a:ext uri="{FF2B5EF4-FFF2-40B4-BE49-F238E27FC236}">
                <a16:creationId xmlns:a16="http://schemas.microsoft.com/office/drawing/2014/main" id="{8596586A-0B00-4943-838C-F4D0F996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864" y="7455189"/>
            <a:ext cx="453524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19" name="page-01-line-002">
            <a:extLst xmlns:a="http://schemas.openxmlformats.org/drawingml/2006/main">
              <a:ext uri="{FF2B5EF4-FFF2-40B4-BE49-F238E27FC236}">
                <a16:creationId xmlns:a16="http://schemas.microsoft.com/office/drawing/2014/main" id="{309FC892-DE3E-4B97-AC06-354F943C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006" y="7455189"/>
            <a:ext cx="421394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20" name="page-01-line-003">
            <a:extLst xmlns:a="http://schemas.openxmlformats.org/drawingml/2006/main">
              <a:ext uri="{FF2B5EF4-FFF2-40B4-BE49-F238E27FC236}">
                <a16:creationId xmlns:a16="http://schemas.microsoft.com/office/drawing/2014/main" id="{9E17F0E6-B64C-4A82-9A5D-93794580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864" y="7813767"/>
            <a:ext cx="453524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21" name="page-01-line-004">
            <a:extLst xmlns:a="http://schemas.openxmlformats.org/drawingml/2006/main">
              <a:ext uri="{FF2B5EF4-FFF2-40B4-BE49-F238E27FC236}">
                <a16:creationId xmlns:a16="http://schemas.microsoft.com/office/drawing/2014/main" id="{110AE3B3-9BC1-442B-BCA6-B38A22B9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006" y="7813767"/>
            <a:ext cx="3707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22" name="page-01-line-005">
            <a:extLst xmlns:a="http://schemas.openxmlformats.org/drawingml/2006/main">
              <a:ext uri="{FF2B5EF4-FFF2-40B4-BE49-F238E27FC236}">
                <a16:creationId xmlns:a16="http://schemas.microsoft.com/office/drawing/2014/main" id="{3F2550DF-F6F8-479A-B0BD-9C0ABF8C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697" y="7813767"/>
            <a:ext cx="46835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23" name="page-01-line-006">
            <a:extLst xmlns:a="http://schemas.openxmlformats.org/drawingml/2006/main">
              <a:ext uri="{FF2B5EF4-FFF2-40B4-BE49-F238E27FC236}">
                <a16:creationId xmlns:a16="http://schemas.microsoft.com/office/drawing/2014/main" id="{967CDBAE-86CA-43AD-91A9-353B013A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668" y="7813767"/>
            <a:ext cx="58698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24" name="page-01-line-007">
            <a:extLst xmlns:a="http://schemas.openxmlformats.org/drawingml/2006/main">
              <a:ext uri="{FF2B5EF4-FFF2-40B4-BE49-F238E27FC236}">
                <a16:creationId xmlns:a16="http://schemas.microsoft.com/office/drawing/2014/main" id="{4E35DB81-AF3F-42A5-81B0-1A7AE09E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5132870"/>
            <a:ext cx="578273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447">
            <a:solidFill>
              <a:srgbClr val="D7DBE2"/>
            </a:solidFill>
            <a:prstDash val="solid"/>
          </a:ln>
        </p:spPr>
      </p:sp>
      <p:sp>
        <p:nvSpPr>
          <p:cNvPr id="25" name="page-01-line-008">
            <a:extLst xmlns:a="http://schemas.openxmlformats.org/drawingml/2006/main">
              <a:ext uri="{FF2B5EF4-FFF2-40B4-BE49-F238E27FC236}">
                <a16:creationId xmlns:a16="http://schemas.microsoft.com/office/drawing/2014/main" id="{16A11F13-792C-4D63-B359-1C3C2C44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5132870"/>
            <a:ext cx="578273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447">
            <a:solidFill>
              <a:srgbClr val="D7DBE2"/>
            </a:solidFill>
            <a:prstDash val="solid"/>
          </a:ln>
        </p:spPr>
      </p:sp>
      <p:sp>
        <p:nvSpPr>
          <p:cNvPr id="26" name="page-01-text-000-00">
            <a:extLst xmlns:a="http://schemas.openxmlformats.org/drawingml/2006/main">
              <a:ext uri="{FF2B5EF4-FFF2-40B4-BE49-F238E27FC236}">
                <a16:creationId xmlns:a16="http://schemas.microsoft.com/office/drawing/2014/main" id="{48A1BAD5-6B49-4F07-A60F-CBA85239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329" y="3033853"/>
            <a:ext cx="1427567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1" i="0">
                <a:solidFill>
                  <a:srgbClr val="7A5A00"/>
                </a:solidFill>
                <a:latin typeface="Aptos"/>
                <a:ea typeface="Aptos"/>
                <a:cs typeface="Aptos"/>
              </a:defRPr>
            </a:pPr>
            <a:r>
              <a:rPr sz="555" b="1" i="0">
                <a:solidFill>
                  <a:srgbClr val="7A5A00"/>
                </a:solidFill>
                <a:latin typeface="Aptos"/>
                <a:ea typeface="Aptos"/>
                <a:cs typeface="Aptos"/>
              </a:rPr>
              <a:t>Project Result Report</a:t>
            </a:r>
          </a:p>
        </p:txBody>
      </p:sp>
      <p:sp>
        <p:nvSpPr>
          <p:cNvPr id="27" name="page-01-text-001-00">
            <a:extLst xmlns:a="http://schemas.openxmlformats.org/drawingml/2006/main">
              <a:ext uri="{FF2B5EF4-FFF2-40B4-BE49-F238E27FC236}">
                <a16:creationId xmlns:a16="http://schemas.microsoft.com/office/drawing/2014/main" id="{B3982B45-72FA-49AF-8117-A5AE269E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864" y="3500221"/>
            <a:ext cx="4210967" cy="462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150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속성 한방(Property Shot)</a:t>
            </a:r>
          </a:p>
        </p:txBody>
      </p:sp>
      <p:sp>
        <p:nvSpPr>
          <p:cNvPr id="28" name="page-01-text-002-00">
            <a:extLst xmlns:a="http://schemas.openxmlformats.org/drawingml/2006/main">
              <a:ext uri="{FF2B5EF4-FFF2-40B4-BE49-F238E27FC236}">
                <a16:creationId xmlns:a16="http://schemas.microsoft.com/office/drawing/2014/main" id="{FD8CEA50-B161-4AAA-81FC-32F9D267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593" y="4213812"/>
            <a:ext cx="5332586" cy="239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2" b="0" i="0">
                <a:solidFill>
                  <a:srgbClr val="1F4D78"/>
                </a:solidFill>
                <a:latin typeface="Nanum Gothic"/>
                <a:ea typeface="Nanum Gothic"/>
                <a:cs typeface="Nanum Gothic"/>
              </a:defRPr>
            </a:pPr>
            <a:r>
              <a:rPr sz="692" b="0" i="0">
                <a:solidFill>
                  <a:srgbClr val="1F4D78"/>
                </a:solidFill>
                <a:latin typeface="Nanum Gothic"/>
                <a:ea typeface="Nanum Gothic"/>
                <a:cs typeface="Nanum Gothic"/>
              </a:rPr>
              <a:t>속성을 옮기고, 비워진 원본과 잔류 공까지 해법으로 쓰는 세로형 물리 퍼즐</a:t>
            </a:r>
          </a:p>
        </p:txBody>
      </p:sp>
      <p:sp>
        <p:nvSpPr>
          <p:cNvPr id="29" name="page-01-text-003-00">
            <a:extLst xmlns:a="http://schemas.openxmlformats.org/drawingml/2006/main">
              <a:ext uri="{FF2B5EF4-FFF2-40B4-BE49-F238E27FC236}">
                <a16:creationId xmlns:a16="http://schemas.microsoft.com/office/drawing/2014/main" id="{0E6BD1D5-95F8-41C2-99E2-8DC1DCD2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5500008"/>
            <a:ext cx="49708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9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69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작성일</a:t>
            </a:r>
          </a:p>
        </p:txBody>
      </p:sp>
      <p:sp>
        <p:nvSpPr>
          <p:cNvPr id="30" name="page-01-text-003-01">
            <a:extLst xmlns:a="http://schemas.openxmlformats.org/drawingml/2006/main">
              <a:ext uri="{FF2B5EF4-FFF2-40B4-BE49-F238E27FC236}">
                <a16:creationId xmlns:a16="http://schemas.microsoft.com/office/drawing/2014/main" id="{9E079EF2-7AE0-49C0-A3AB-C4CB7F7D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575" y="5484166"/>
            <a:ext cx="114426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4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554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2026-08-09 KST</a:t>
            </a:r>
          </a:p>
        </p:txBody>
      </p:sp>
      <p:sp>
        <p:nvSpPr>
          <p:cNvPr id="31" name="page-01-text-004-00">
            <a:extLst xmlns:a="http://schemas.openxmlformats.org/drawingml/2006/main">
              <a:ext uri="{FF2B5EF4-FFF2-40B4-BE49-F238E27FC236}">
                <a16:creationId xmlns:a16="http://schemas.microsoft.com/office/drawing/2014/main" id="{D6F27937-E77B-4C68-B950-F7632B12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5858586"/>
            <a:ext cx="66306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최종 점검</a:t>
            </a:r>
          </a:p>
        </p:txBody>
      </p:sp>
      <p:sp>
        <p:nvSpPr>
          <p:cNvPr id="32" name="page-01-text-004-01">
            <a:extLst xmlns:a="http://schemas.openxmlformats.org/drawingml/2006/main">
              <a:ext uri="{FF2B5EF4-FFF2-40B4-BE49-F238E27FC236}">
                <a16:creationId xmlns:a16="http://schemas.microsoft.com/office/drawing/2014/main" id="{FA886F73-C7C9-4863-84DC-16884995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575" y="5842744"/>
            <a:ext cx="175844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34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534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2026-08-09 11:56:08 KST</a:t>
            </a:r>
          </a:p>
        </p:txBody>
      </p:sp>
      <p:sp>
        <p:nvSpPr>
          <p:cNvPr id="33" name="page-01-text-005-00">
            <a:extLst xmlns:a="http://schemas.openxmlformats.org/drawingml/2006/main">
              <a:ext uri="{FF2B5EF4-FFF2-40B4-BE49-F238E27FC236}">
                <a16:creationId xmlns:a16="http://schemas.microsoft.com/office/drawing/2014/main" id="{D43875A8-E773-4A27-8EDD-73836037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6217165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기준</a:t>
            </a:r>
          </a:p>
        </p:txBody>
      </p:sp>
      <p:sp>
        <p:nvSpPr>
          <p:cNvPr id="34" name="page-01-text-005-01">
            <a:extLst xmlns:a="http://schemas.openxmlformats.org/drawingml/2006/main">
              <a:ext uri="{FF2B5EF4-FFF2-40B4-BE49-F238E27FC236}">
                <a16:creationId xmlns:a16="http://schemas.microsoft.com/office/drawing/2014/main" id="{B98C1B54-C9CF-4A71-B544-F359D727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575" y="6201322"/>
            <a:ext cx="373139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8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568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main / 30d018a72745a92ccb75276d6ae662303559e3ef</a:t>
            </a:r>
          </a:p>
        </p:txBody>
      </p:sp>
      <p:sp>
        <p:nvSpPr>
          <p:cNvPr id="35" name="page-01-text-006-00">
            <a:extLst xmlns:a="http://schemas.openxmlformats.org/drawingml/2006/main">
              <a:ext uri="{FF2B5EF4-FFF2-40B4-BE49-F238E27FC236}">
                <a16:creationId xmlns:a16="http://schemas.microsoft.com/office/drawing/2014/main" id="{B6A5F06B-A9AF-40C9-ACD0-A8567CBB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6575743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판정</a:t>
            </a:r>
          </a:p>
        </p:txBody>
      </p:sp>
      <p:sp>
        <p:nvSpPr>
          <p:cNvPr id="36" name="page-01-text-006-01">
            <a:extLst xmlns:a="http://schemas.openxmlformats.org/drawingml/2006/main">
              <a:ext uri="{FF2B5EF4-FFF2-40B4-BE49-F238E27FC236}">
                <a16:creationId xmlns:a16="http://schemas.microsoft.com/office/drawing/2014/main" id="{F8D73CA9-13ED-4E46-930A-E9837536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575" y="6559901"/>
            <a:ext cx="1067207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0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61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Conditional Go</a:t>
            </a:r>
          </a:p>
        </p:txBody>
      </p:sp>
      <p:sp>
        <p:nvSpPr>
          <p:cNvPr id="37" name="page-01-text-007-00">
            <a:extLst xmlns:a="http://schemas.openxmlformats.org/drawingml/2006/main">
              <a:ext uri="{FF2B5EF4-FFF2-40B4-BE49-F238E27FC236}">
                <a16:creationId xmlns:a16="http://schemas.microsoft.com/office/drawing/2014/main" id="{A551C073-C0BF-4B80-98AF-F17EA3D2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6934321"/>
            <a:ext cx="70347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Web 데모</a:t>
            </a:r>
          </a:p>
        </p:txBody>
      </p:sp>
      <p:sp>
        <p:nvSpPr>
          <p:cNvPr id="38" name="page-01-text-007-01">
            <a:extLst xmlns:a="http://schemas.openxmlformats.org/drawingml/2006/main">
              <a:ext uri="{FF2B5EF4-FFF2-40B4-BE49-F238E27FC236}">
                <a16:creationId xmlns:a16="http://schemas.microsoft.com/office/drawing/2014/main" id="{5DE56CA5-132E-4E01-8406-E37B40D8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575" y="6918479"/>
            <a:ext cx="790298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1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21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바로 플레이</a:t>
            </a:r>
          </a:p>
        </p:txBody>
      </p:sp>
      <p:sp>
        <p:nvSpPr>
          <p:cNvPr id="39" name="page-01-text-008-00">
            <a:extLst xmlns:a="http://schemas.openxmlformats.org/drawingml/2006/main">
              <a:ext uri="{FF2B5EF4-FFF2-40B4-BE49-F238E27FC236}">
                <a16:creationId xmlns:a16="http://schemas.microsoft.com/office/drawing/2014/main" id="{0D487144-D939-41E4-81EB-CB95E466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7292900"/>
            <a:ext cx="49708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9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69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저장소</a:t>
            </a:r>
          </a:p>
        </p:txBody>
      </p:sp>
      <p:sp>
        <p:nvSpPr>
          <p:cNvPr id="40" name="page-01-text-008-01">
            <a:extLst xmlns:a="http://schemas.openxmlformats.org/drawingml/2006/main">
              <a:ext uri="{FF2B5EF4-FFF2-40B4-BE49-F238E27FC236}">
                <a16:creationId xmlns:a16="http://schemas.microsoft.com/office/drawing/2014/main" id="{7D16DA62-4B4C-4F60-B4A4-081235AC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575" y="7277058"/>
            <a:ext cx="989428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1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GitHub 저장소</a:t>
            </a:r>
          </a:p>
        </p:txBody>
      </p:sp>
      <p:sp>
        <p:nvSpPr>
          <p:cNvPr id="41" name="page-01-text-009-00">
            <a:extLst xmlns:a="http://schemas.openxmlformats.org/drawingml/2006/main">
              <a:ext uri="{FF2B5EF4-FFF2-40B4-BE49-F238E27FC236}">
                <a16:creationId xmlns:a16="http://schemas.microsoft.com/office/drawing/2014/main" id="{614E569F-F895-45CA-B889-8EB4315A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7651478"/>
            <a:ext cx="66306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배포 기록</a:t>
            </a:r>
          </a:p>
        </p:txBody>
      </p:sp>
      <p:sp>
        <p:nvSpPr>
          <p:cNvPr id="42" name="page-01-text-009-01">
            <a:extLst xmlns:a="http://schemas.openxmlformats.org/drawingml/2006/main">
              <a:ext uri="{FF2B5EF4-FFF2-40B4-BE49-F238E27FC236}">
                <a16:creationId xmlns:a16="http://schemas.microsoft.com/office/drawing/2014/main" id="{51D0A44C-A157-4DE3-8F29-07E9D757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575" y="7635636"/>
            <a:ext cx="166152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585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GitHub Actions 성공 기록</a:t>
            </a:r>
          </a:p>
        </p:txBody>
      </p:sp>
    </p:spTree>
    <p:extLst>
      <p:ext uri="{BB962C8B-B14F-4D97-AF65-F5344CB8AC3E}">
        <p14:creationId xmlns:p14="http://schemas.microsoft.com/office/powerpoint/2010/main" val="18442629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6e77af5e34b0f"/>
          <a:srcRect xmlns:a="http://schemas.openxmlformats.org/drawingml/2006/main" l="14648" t="0" r="146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lide-2-background">
            <a:extLst xmlns:a="http://schemas.openxmlformats.org/drawingml/2006/main">
              <a:ext uri="{FF2B5EF4-FFF2-40B4-BE49-F238E27FC236}">
                <a16:creationId xmlns:a16="http://schemas.microsoft.com/office/drawing/2014/main" id="{9BD0B558-63C7-4E6D-BCEF-EAEF3171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c32a8b7fd4313"/>
          <a:srcRect xmlns:a="http://schemas.openxmlformats.org/drawingml/2006/main" l="4264" t="0" r="42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80460" y="971741"/>
            <a:ext cx="2001931" cy="4735125"/>
          </a:xfrm>
          <a:prstGeom xmlns:a="http://schemas.openxmlformats.org/drawingml/2006/main" prst="rect">
            <a:avLst/>
          </a:prstGeom>
        </p:spPr>
      </p:pic>
      <p:sp>
        <p:nvSpPr>
          <p:cNvPr id="4" name="page-02-text-000-00">
            <a:extLst xmlns:a="http://schemas.openxmlformats.org/drawingml/2006/main">
              <a:ext uri="{FF2B5EF4-FFF2-40B4-BE49-F238E27FC236}">
                <a16:creationId xmlns:a16="http://schemas.microsoft.com/office/drawing/2014/main" id="{892A8D23-B860-4919-B952-FD7C908B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96" y="497671"/>
            <a:ext cx="1456558" cy="178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Final Report</a:t>
            </a:r>
          </a:p>
        </p:txBody>
      </p:sp>
      <p:sp>
        <p:nvSpPr>
          <p:cNvPr id="5" name="page-02-text-001-00">
            <a:extLst xmlns:a="http://schemas.openxmlformats.org/drawingml/2006/main">
              <a:ext uri="{FF2B5EF4-FFF2-40B4-BE49-F238E27FC236}">
                <a16:creationId xmlns:a16="http://schemas.microsoft.com/office/drawing/2014/main" id="{59E705FA-0F20-495B-84B2-3B8A04BF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182" y="5908382"/>
            <a:ext cx="1118899" cy="171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4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64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최신 공개 데모 홈 화면</a:t>
            </a:r>
          </a:p>
        </p:txBody>
      </p:sp>
      <p:sp>
        <p:nvSpPr>
          <p:cNvPr id="6" name="page-02-text-002-00">
            <a:extLst xmlns:a="http://schemas.openxmlformats.org/drawingml/2006/main">
              <a:ext uri="{FF2B5EF4-FFF2-40B4-BE49-F238E27FC236}">
                <a16:creationId xmlns:a16="http://schemas.microsoft.com/office/drawing/2014/main" id="{062F1851-ABFC-4C4B-ADF5-9C2F75F9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896" y="10018730"/>
            <a:ext cx="184703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5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45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Final Report · Page 2</a:t>
            </a:r>
          </a:p>
        </p:txBody>
      </p:sp>
    </p:spTree>
    <p:extLst>
      <p:ext uri="{BB962C8B-B14F-4D97-AF65-F5344CB8AC3E}">
        <p14:creationId xmlns:p14="http://schemas.microsoft.com/office/powerpoint/2010/main" val="12148778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98cbe8b204f6b"/>
          <a:srcRect xmlns:a="http://schemas.openxmlformats.org/drawingml/2006/main" l="14648" t="0" r="146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lide-3-background">
            <a:extLst xmlns:a="http://schemas.openxmlformats.org/drawingml/2006/main">
              <a:ext uri="{FF2B5EF4-FFF2-40B4-BE49-F238E27FC236}">
                <a16:creationId xmlns:a16="http://schemas.microsoft.com/office/drawing/2014/main" id="{2974BA79-8E44-462B-BE8C-05C9ED09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03-rect-000">
            <a:extLst xmlns:a="http://schemas.openxmlformats.org/drawingml/2006/main">
              <a:ext uri="{FF2B5EF4-FFF2-40B4-BE49-F238E27FC236}">
                <a16:creationId xmlns:a16="http://schemas.microsoft.com/office/drawing/2014/main" id="{DC4D701E-79F2-481D-98D6-3171F8C1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5789926"/>
            <a:ext cx="1049778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-rect-001">
            <a:extLst xmlns:a="http://schemas.openxmlformats.org/drawingml/2006/main">
              <a:ext uri="{FF2B5EF4-FFF2-40B4-BE49-F238E27FC236}">
                <a16:creationId xmlns:a16="http://schemas.microsoft.com/office/drawing/2014/main" id="{0F5F9D18-1BED-4D2C-B022-D92080B0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143" y="5789926"/>
            <a:ext cx="2100174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03-rect-002">
            <a:extLst xmlns:a="http://schemas.openxmlformats.org/drawingml/2006/main">
              <a:ext uri="{FF2B5EF4-FFF2-40B4-BE49-F238E27FC236}">
                <a16:creationId xmlns:a16="http://schemas.microsoft.com/office/drawing/2014/main" id="{4C226D70-A433-4323-A9C6-D53AF020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935" y="5789926"/>
            <a:ext cx="2631551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03-rect-003">
            <a:extLst xmlns:a="http://schemas.openxmlformats.org/drawingml/2006/main">
              <a:ext uri="{FF2B5EF4-FFF2-40B4-BE49-F238E27FC236}">
                <a16:creationId xmlns:a16="http://schemas.microsoft.com/office/drawing/2014/main" id="{B050D5B6-96DD-4A95-A517-152D2592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5789926"/>
            <a:ext cx="1049778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-03-rect-004">
            <a:extLst xmlns:a="http://schemas.openxmlformats.org/drawingml/2006/main">
              <a:ext uri="{FF2B5EF4-FFF2-40B4-BE49-F238E27FC236}">
                <a16:creationId xmlns:a16="http://schemas.microsoft.com/office/drawing/2014/main" id="{20CD51F4-85CE-41E4-B3D3-BC8E6801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143" y="5789926"/>
            <a:ext cx="2100174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-03-rect-005">
            <a:extLst xmlns:a="http://schemas.openxmlformats.org/drawingml/2006/main">
              <a:ext uri="{FF2B5EF4-FFF2-40B4-BE49-F238E27FC236}">
                <a16:creationId xmlns:a16="http://schemas.microsoft.com/office/drawing/2014/main" id="{2E2E212C-65EF-4FCA-B35F-5C70768A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935" y="5789926"/>
            <a:ext cx="2631551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-03-line-000">
            <a:extLst xmlns:a="http://schemas.openxmlformats.org/drawingml/2006/main">
              <a:ext uri="{FF2B5EF4-FFF2-40B4-BE49-F238E27FC236}">
                <a16:creationId xmlns:a16="http://schemas.microsoft.com/office/drawing/2014/main" id="{A672D985-7962-4ACD-957F-7621EF5D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58" y="5793303"/>
            <a:ext cx="578953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0" name="page-03-line-001">
            <a:extLst xmlns:a="http://schemas.openxmlformats.org/drawingml/2006/main">
              <a:ext uri="{FF2B5EF4-FFF2-40B4-BE49-F238E27FC236}">
                <a16:creationId xmlns:a16="http://schemas.microsoft.com/office/drawing/2014/main" id="{F5836055-2843-44AA-A404-4EFBAA8A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6118792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1" name="page-03-line-002">
            <a:extLst xmlns:a="http://schemas.openxmlformats.org/drawingml/2006/main">
              <a:ext uri="{FF2B5EF4-FFF2-40B4-BE49-F238E27FC236}">
                <a16:creationId xmlns:a16="http://schemas.microsoft.com/office/drawing/2014/main" id="{EF0B0ADD-BBB7-45E0-BB8E-F0F0F5F7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6484799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2" name="page-03-line-003">
            <a:extLst xmlns:a="http://schemas.openxmlformats.org/drawingml/2006/main">
              <a:ext uri="{FF2B5EF4-FFF2-40B4-BE49-F238E27FC236}">
                <a16:creationId xmlns:a16="http://schemas.microsoft.com/office/drawing/2014/main" id="{CD195DE6-27FA-43F3-B1EC-16416A0E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6849455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3" name="page-03-line-004">
            <a:extLst xmlns:a="http://schemas.openxmlformats.org/drawingml/2006/main">
              <a:ext uri="{FF2B5EF4-FFF2-40B4-BE49-F238E27FC236}">
                <a16:creationId xmlns:a16="http://schemas.microsoft.com/office/drawing/2014/main" id="{F75CE4D1-27A7-4AB8-9F8F-AFFB60B8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7215461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4" name="page-03-line-005">
            <a:extLst xmlns:a="http://schemas.openxmlformats.org/drawingml/2006/main">
              <a:ext uri="{FF2B5EF4-FFF2-40B4-BE49-F238E27FC236}">
                <a16:creationId xmlns:a16="http://schemas.microsoft.com/office/drawing/2014/main" id="{0940EEF4-90E5-44D4-8D3C-DA145728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7580117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5" name="page-03-line-006">
            <a:extLst xmlns:a="http://schemas.openxmlformats.org/drawingml/2006/main">
              <a:ext uri="{FF2B5EF4-FFF2-40B4-BE49-F238E27FC236}">
                <a16:creationId xmlns:a16="http://schemas.microsoft.com/office/drawing/2014/main" id="{6C3C26C9-3387-4827-8C9E-C0C2A624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8205435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6" name="page-03-line-007">
            <a:extLst xmlns:a="http://schemas.openxmlformats.org/drawingml/2006/main">
              <a:ext uri="{FF2B5EF4-FFF2-40B4-BE49-F238E27FC236}">
                <a16:creationId xmlns:a16="http://schemas.microsoft.com/office/drawing/2014/main" id="{D18D952C-A611-455F-BE1D-D80D8F80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8829401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7" name="page-03-line-008">
            <a:extLst xmlns:a="http://schemas.openxmlformats.org/drawingml/2006/main">
              <a:ext uri="{FF2B5EF4-FFF2-40B4-BE49-F238E27FC236}">
                <a16:creationId xmlns:a16="http://schemas.microsoft.com/office/drawing/2014/main" id="{71F0C1BF-9532-45C9-8158-F4391CDC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58" y="9454719"/>
            <a:ext cx="578953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8" name="page-03-line-009">
            <a:extLst xmlns:a="http://schemas.openxmlformats.org/drawingml/2006/main">
              <a:ext uri="{FF2B5EF4-FFF2-40B4-BE49-F238E27FC236}">
                <a16:creationId xmlns:a16="http://schemas.microsoft.com/office/drawing/2014/main" id="{8211867C-A5A1-441C-9998-98108F74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5789926"/>
            <a:ext cx="9525" cy="36681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9" name="page-03-line-010">
            <a:extLst xmlns:a="http://schemas.openxmlformats.org/drawingml/2006/main">
              <a:ext uri="{FF2B5EF4-FFF2-40B4-BE49-F238E27FC236}">
                <a16:creationId xmlns:a16="http://schemas.microsoft.com/office/drawing/2014/main" id="{81EABB71-3BB8-4D81-B313-3A3D39C3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143" y="5796679"/>
            <a:ext cx="9525" cy="36546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0" name="page-03-line-011">
            <a:extLst xmlns:a="http://schemas.openxmlformats.org/drawingml/2006/main">
              <a:ext uri="{FF2B5EF4-FFF2-40B4-BE49-F238E27FC236}">
                <a16:creationId xmlns:a16="http://schemas.microsoft.com/office/drawing/2014/main" id="{45F595B4-4FA2-4E4A-A5EA-9E156B77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935" y="5796679"/>
            <a:ext cx="9525" cy="36546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1" name="page-03-line-012">
            <a:extLst xmlns:a="http://schemas.openxmlformats.org/drawingml/2006/main">
              <a:ext uri="{FF2B5EF4-FFF2-40B4-BE49-F238E27FC236}">
                <a16:creationId xmlns:a16="http://schemas.microsoft.com/office/drawing/2014/main" id="{43897CD8-36B6-493E-A0AE-B0BF51A8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103" y="5789926"/>
            <a:ext cx="9525" cy="36681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2" name="page-03-text-000-00">
            <a:extLst xmlns:a="http://schemas.openxmlformats.org/drawingml/2006/main">
              <a:ext uri="{FF2B5EF4-FFF2-40B4-BE49-F238E27FC236}">
                <a16:creationId xmlns:a16="http://schemas.microsoft.com/office/drawing/2014/main" id="{55521B5B-CCE0-4692-B8C0-420CE881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96" y="497671"/>
            <a:ext cx="1456558" cy="178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Final Report</a:t>
            </a:r>
          </a:p>
        </p:txBody>
      </p:sp>
      <p:sp>
        <p:nvSpPr>
          <p:cNvPr id="23" name="page-03-text-001-00">
            <a:extLst xmlns:a="http://schemas.openxmlformats.org/drawingml/2006/main">
              <a:ext uri="{FF2B5EF4-FFF2-40B4-BE49-F238E27FC236}">
                <a16:creationId xmlns:a16="http://schemas.microsoft.com/office/drawing/2014/main" id="{877CB8C2-FE27-4BB3-AF4C-13CB4037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1014834"/>
            <a:ext cx="1878990" cy="273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2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0. 심사자용 5분 요약</a:t>
            </a:r>
          </a:p>
        </p:txBody>
      </p:sp>
      <p:sp>
        <p:nvSpPr>
          <p:cNvPr id="24" name="page-03-text-002-00">
            <a:extLst xmlns:a="http://schemas.openxmlformats.org/drawingml/2006/main">
              <a:ext uri="{FF2B5EF4-FFF2-40B4-BE49-F238E27FC236}">
                <a16:creationId xmlns:a16="http://schemas.microsoft.com/office/drawing/2014/main" id="{91332EC2-CE48-4694-A0F9-8FB1013D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1604118"/>
            <a:ext cx="1215387" cy="23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705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무엇을 만들었나</a:t>
            </a:r>
          </a:p>
        </p:txBody>
      </p:sp>
      <p:sp>
        <p:nvSpPr>
          <p:cNvPr id="25" name="page-03-text-003-00">
            <a:extLst xmlns:a="http://schemas.openxmlformats.org/drawingml/2006/main">
              <a:ext uri="{FF2B5EF4-FFF2-40B4-BE49-F238E27FC236}">
                <a16:creationId xmlns:a16="http://schemas.microsoft.com/office/drawing/2014/main" id="{46E5F1C2-7F6F-431E-BBAD-E92C41CC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2031049"/>
            <a:ext cx="5894739" cy="206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5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속성 한방은 골프형 조준에 속성 이전, 원본 상태 변화, 잔류 공의 재활용을 결합한 Flutter/Flame 기반</a:t>
            </a:r>
          </a:p>
        </p:txBody>
      </p:sp>
      <p:sp>
        <p:nvSpPr>
          <p:cNvPr id="26" name="page-03-text-004-00">
            <a:extLst xmlns:a="http://schemas.openxmlformats.org/drawingml/2006/main">
              <a:ext uri="{FF2B5EF4-FFF2-40B4-BE49-F238E27FC236}">
                <a16:creationId xmlns:a16="http://schemas.microsoft.com/office/drawing/2014/main" id="{1296F7F9-0740-494B-BC9A-07C2E522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2331917"/>
            <a:ext cx="58202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모바일 물리 퍼즐이다. 10단계와 단계별 4개 생산 패턴, 총 40개 패턴을 Web에서 플레이할 수 있다.</a:t>
            </a:r>
          </a:p>
        </p:txBody>
      </p:sp>
      <p:sp>
        <p:nvSpPr>
          <p:cNvPr id="27" name="page-03-text-005-00">
            <a:extLst xmlns:a="http://schemas.openxmlformats.org/drawingml/2006/main">
              <a:ext uri="{FF2B5EF4-FFF2-40B4-BE49-F238E27FC236}">
                <a16:creationId xmlns:a16="http://schemas.microsoft.com/office/drawing/2014/main" id="{47A4A771-752E-47F3-8BA4-BEC2D556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2801405"/>
            <a:ext cx="1064216" cy="23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2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712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무엇이 다른가</a:t>
            </a:r>
          </a:p>
        </p:txBody>
      </p:sp>
      <p:sp>
        <p:nvSpPr>
          <p:cNvPr id="28" name="page-03-text-006-00">
            <a:extLst xmlns:a="http://schemas.openxmlformats.org/drawingml/2006/main">
              <a:ext uri="{FF2B5EF4-FFF2-40B4-BE49-F238E27FC236}">
                <a16:creationId xmlns:a16="http://schemas.microsoft.com/office/drawing/2014/main" id="{D79BD249-3792-4B2D-BD59-DB438177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3229376"/>
            <a:ext cx="554587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일반 골프형 게임이 방향과 힘의 정밀도에 집중한다면, 이 게임은 다음 세 상태를 함께 설계한다.</a:t>
            </a:r>
          </a:p>
        </p:txBody>
      </p:sp>
      <p:sp>
        <p:nvSpPr>
          <p:cNvPr id="29" name="page-03-text-007-00">
            <a:extLst xmlns:a="http://schemas.openxmlformats.org/drawingml/2006/main">
              <a:ext uri="{FF2B5EF4-FFF2-40B4-BE49-F238E27FC236}">
                <a16:creationId xmlns:a16="http://schemas.microsoft.com/office/drawing/2014/main" id="{3C1E1ACE-ABA3-44C0-86F5-C61049DC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3637251"/>
            <a:ext cx="225210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1. 현재 공이 획득한 속성과 발사 경로</a:t>
            </a:r>
          </a:p>
        </p:txBody>
      </p:sp>
      <p:sp>
        <p:nvSpPr>
          <p:cNvPr id="30" name="page-03-text-008-00">
            <a:extLst xmlns:a="http://schemas.openxmlformats.org/drawingml/2006/main">
              <a:ext uri="{FF2B5EF4-FFF2-40B4-BE49-F238E27FC236}">
                <a16:creationId xmlns:a16="http://schemas.microsoft.com/office/drawing/2014/main" id="{9722D86D-AF3F-4881-8032-BD016870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3964091"/>
            <a:ext cx="3055878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2. 속성을 잃거나 보존한 원본 오브젝트의 다음 반응</a:t>
            </a:r>
          </a:p>
        </p:txBody>
      </p:sp>
      <p:sp>
        <p:nvSpPr>
          <p:cNvPr id="31" name="page-03-text-009-00">
            <a:extLst xmlns:a="http://schemas.openxmlformats.org/drawingml/2006/main">
              <a:ext uri="{FF2B5EF4-FFF2-40B4-BE49-F238E27FC236}">
                <a16:creationId xmlns:a16="http://schemas.microsoft.com/office/drawing/2014/main" id="{8F37FC03-265E-4A3B-B614-B6123E42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4290930"/>
            <a:ext cx="3259506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3. 실패 뒤에도 남아 다음 충돌에 참여하는 이전 샷의 공</a:t>
            </a:r>
          </a:p>
        </p:txBody>
      </p:sp>
      <p:sp>
        <p:nvSpPr>
          <p:cNvPr id="32" name="page-03-text-010-00">
            <a:extLst xmlns:a="http://schemas.openxmlformats.org/drawingml/2006/main">
              <a:ext uri="{FF2B5EF4-FFF2-40B4-BE49-F238E27FC236}">
                <a16:creationId xmlns:a16="http://schemas.microsoft.com/office/drawing/2014/main" id="{8601EC08-1B80-482B-8888-63F0248A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4617770"/>
            <a:ext cx="587940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따라서 실패한 샷도 다음 샷의 발판이 될 수 있으며, 하나의 장치 사용을 유일한 정답으로 강제하지 않</a:t>
            </a:r>
          </a:p>
        </p:txBody>
      </p:sp>
      <p:sp>
        <p:nvSpPr>
          <p:cNvPr id="33" name="page-03-text-011-00">
            <a:extLst xmlns:a="http://schemas.openxmlformats.org/drawingml/2006/main">
              <a:ext uri="{FF2B5EF4-FFF2-40B4-BE49-F238E27FC236}">
                <a16:creationId xmlns:a16="http://schemas.microsoft.com/office/drawing/2014/main" id="{23003146-11FD-49FB-911D-55E4CEAB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4917598"/>
            <a:ext cx="41067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5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는다.</a:t>
            </a:r>
          </a:p>
        </p:txBody>
      </p:sp>
      <p:sp>
        <p:nvSpPr>
          <p:cNvPr id="34" name="page-03-text-012-00">
            <a:extLst xmlns:a="http://schemas.openxmlformats.org/drawingml/2006/main">
              <a:ext uri="{FF2B5EF4-FFF2-40B4-BE49-F238E27FC236}">
                <a16:creationId xmlns:a16="http://schemas.microsoft.com/office/drawing/2014/main" id="{85522526-DF73-408F-8B71-05FBC072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5387086"/>
            <a:ext cx="762839" cy="23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73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현재 결과</a:t>
            </a:r>
          </a:p>
        </p:txBody>
      </p:sp>
      <p:sp>
        <p:nvSpPr>
          <p:cNvPr id="35" name="page-03-text-013-00">
            <a:extLst xmlns:a="http://schemas.openxmlformats.org/drawingml/2006/main">
              <a:ext uri="{FF2B5EF4-FFF2-40B4-BE49-F238E27FC236}">
                <a16:creationId xmlns:a16="http://schemas.microsoft.com/office/drawing/2014/main" id="{2E98592D-5454-4F1A-B632-DB4B6661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5872092"/>
            <a:ext cx="66306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핵심 지표</a:t>
            </a:r>
          </a:p>
        </p:txBody>
      </p:sp>
      <p:sp>
        <p:nvSpPr>
          <p:cNvPr id="36" name="page-03-text-013-01">
            <a:extLst xmlns:a="http://schemas.openxmlformats.org/drawingml/2006/main">
              <a:ext uri="{FF2B5EF4-FFF2-40B4-BE49-F238E27FC236}">
                <a16:creationId xmlns:a16="http://schemas.microsoft.com/office/drawing/2014/main" id="{F48FC77B-C1A1-4409-A5A1-F3655234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5872092"/>
            <a:ext cx="66306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현재 증거</a:t>
            </a:r>
          </a:p>
        </p:txBody>
      </p:sp>
      <p:sp>
        <p:nvSpPr>
          <p:cNvPr id="37" name="page-03-text-013-02">
            <a:extLst xmlns:a="http://schemas.openxmlformats.org/drawingml/2006/main">
              <a:ext uri="{FF2B5EF4-FFF2-40B4-BE49-F238E27FC236}">
                <a16:creationId xmlns:a16="http://schemas.microsoft.com/office/drawing/2014/main" id="{1CEEE6BA-3598-460F-BBD8-AC50F95F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5872092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해석</a:t>
            </a:r>
          </a:p>
        </p:txBody>
      </p:sp>
      <p:sp>
        <p:nvSpPr>
          <p:cNvPr id="38" name="page-03-text-014-00">
            <a:extLst xmlns:a="http://schemas.openxmlformats.org/drawingml/2006/main">
              <a:ext uri="{FF2B5EF4-FFF2-40B4-BE49-F238E27FC236}">
                <a16:creationId xmlns:a16="http://schemas.microsoft.com/office/drawing/2014/main" id="{0AAAECDD-4E95-43E6-8ED4-B6D3E0A5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6201998"/>
            <a:ext cx="49708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6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콘텐츠</a:t>
            </a:r>
          </a:p>
        </p:txBody>
      </p:sp>
      <p:sp>
        <p:nvSpPr>
          <p:cNvPr id="39" name="page-03-text-014-01">
            <a:extLst xmlns:a="http://schemas.openxmlformats.org/drawingml/2006/main">
              <a:ext uri="{FF2B5EF4-FFF2-40B4-BE49-F238E27FC236}">
                <a16:creationId xmlns:a16="http://schemas.microsoft.com/office/drawing/2014/main" id="{C9F3F0E8-1332-43B2-AF36-D3CBC7CB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6201998"/>
            <a:ext cx="1611250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10단계 × 4패턴 = 40패턴</a:t>
            </a:r>
          </a:p>
        </p:txBody>
      </p:sp>
      <p:sp>
        <p:nvSpPr>
          <p:cNvPr id="40" name="page-03-text-014-02">
            <a:extLst xmlns:a="http://schemas.openxmlformats.org/drawingml/2006/main">
              <a:ext uri="{FF2B5EF4-FFF2-40B4-BE49-F238E27FC236}">
                <a16:creationId xmlns:a16="http://schemas.microsoft.com/office/drawing/2014/main" id="{DE00A5C6-3AAC-4068-85DE-272BAFBF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6201998"/>
            <a:ext cx="2346465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생산 카탈로그와 제한 런타임 검증 통과</a:t>
            </a:r>
          </a:p>
        </p:txBody>
      </p:sp>
      <p:sp>
        <p:nvSpPr>
          <p:cNvPr id="41" name="page-03-text-015-00">
            <a:extLst xmlns:a="http://schemas.openxmlformats.org/drawingml/2006/main">
              <a:ext uri="{FF2B5EF4-FFF2-40B4-BE49-F238E27FC236}">
                <a16:creationId xmlns:a16="http://schemas.microsoft.com/office/drawing/2014/main" id="{9AA88710-3625-47A9-A117-2014903C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6567329"/>
            <a:ext cx="66306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자동 회귀</a:t>
            </a:r>
          </a:p>
        </p:txBody>
      </p:sp>
      <p:sp>
        <p:nvSpPr>
          <p:cNvPr id="42" name="page-03-text-015-01">
            <a:extLst xmlns:a="http://schemas.openxmlformats.org/drawingml/2006/main">
              <a:ext uri="{FF2B5EF4-FFF2-40B4-BE49-F238E27FC236}">
                <a16:creationId xmlns:a16="http://schemas.microsoft.com/office/drawing/2014/main" id="{BD7294E9-D9DA-4E0B-B6BA-B28D64D1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6567329"/>
            <a:ext cx="781820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0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901개 통과</a:t>
            </a:r>
          </a:p>
        </p:txBody>
      </p:sp>
      <p:sp>
        <p:nvSpPr>
          <p:cNvPr id="43" name="page-03-text-015-02">
            <a:extLst xmlns:a="http://schemas.openxmlformats.org/drawingml/2006/main">
              <a:ext uri="{FF2B5EF4-FFF2-40B4-BE49-F238E27FC236}">
                <a16:creationId xmlns:a16="http://schemas.microsoft.com/office/drawing/2014/main" id="{2AA41302-D93E-4F22-B892-A001DB89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6567329"/>
            <a:ext cx="2558546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물리·저장·리플레이·Golden·스트레스 포함</a:t>
            </a:r>
          </a:p>
        </p:txBody>
      </p:sp>
      <p:sp>
        <p:nvSpPr>
          <p:cNvPr id="44" name="page-03-text-016-00">
            <a:extLst xmlns:a="http://schemas.openxmlformats.org/drawingml/2006/main">
              <a:ext uri="{FF2B5EF4-FFF2-40B4-BE49-F238E27FC236}">
                <a16:creationId xmlns:a16="http://schemas.microsoft.com/office/drawing/2014/main" id="{305D8CF2-E1B5-4C30-934F-E8BB2316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6932660"/>
            <a:ext cx="66306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정적 분석</a:t>
            </a:r>
          </a:p>
        </p:txBody>
      </p:sp>
      <p:sp>
        <p:nvSpPr>
          <p:cNvPr id="45" name="page-03-text-016-01">
            <a:extLst xmlns:a="http://schemas.openxmlformats.org/drawingml/2006/main">
              <a:ext uri="{FF2B5EF4-FFF2-40B4-BE49-F238E27FC236}">
                <a16:creationId xmlns:a16="http://schemas.microsoft.com/office/drawing/2014/main" id="{1C64F58D-5320-45A3-8C20-64890522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6932660"/>
            <a:ext cx="61774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3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이슈 0건</a:t>
            </a:r>
          </a:p>
        </p:txBody>
      </p:sp>
      <p:sp>
        <p:nvSpPr>
          <p:cNvPr id="46" name="page-03-text-016-02">
            <a:extLst xmlns:a="http://schemas.openxmlformats.org/drawingml/2006/main">
              <a:ext uri="{FF2B5EF4-FFF2-40B4-BE49-F238E27FC236}">
                <a16:creationId xmlns:a16="http://schemas.microsoft.com/office/drawing/2014/main" id="{7F3463B9-6B3F-4848-8736-3A14F968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6932660"/>
            <a:ext cx="1297256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5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flutter analyze 통과</a:t>
            </a:r>
          </a:p>
        </p:txBody>
      </p:sp>
      <p:sp>
        <p:nvSpPr>
          <p:cNvPr id="47" name="page-03-text-017-00">
            <a:extLst xmlns:a="http://schemas.openxmlformats.org/drawingml/2006/main">
              <a:ext uri="{FF2B5EF4-FFF2-40B4-BE49-F238E27FC236}">
                <a16:creationId xmlns:a16="http://schemas.microsoft.com/office/drawing/2014/main" id="{CCC0D586-1F24-40F8-8384-96207BAC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7297991"/>
            <a:ext cx="177362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3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Web 공개본 HTTP 200</a:t>
            </a:r>
          </a:p>
        </p:txBody>
      </p:sp>
      <p:sp>
        <p:nvSpPr>
          <p:cNvPr id="48" name="page-03-text-017-01">
            <a:extLst xmlns:a="http://schemas.openxmlformats.org/drawingml/2006/main">
              <a:ext uri="{FF2B5EF4-FFF2-40B4-BE49-F238E27FC236}">
                <a16:creationId xmlns:a16="http://schemas.microsoft.com/office/drawing/2014/main" id="{074FF4DA-AE5E-4B37-BADA-919A800B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7297991"/>
            <a:ext cx="171095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0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main 최신 Pages 배포 성공</a:t>
            </a:r>
          </a:p>
        </p:txBody>
      </p:sp>
      <p:sp>
        <p:nvSpPr>
          <p:cNvPr id="49" name="page-03-text-018-00">
            <a:extLst xmlns:a="http://schemas.openxmlformats.org/drawingml/2006/main">
              <a:ext uri="{FF2B5EF4-FFF2-40B4-BE49-F238E27FC236}">
                <a16:creationId xmlns:a16="http://schemas.microsoft.com/office/drawing/2014/main" id="{0BE38B67-74B6-49A3-B88D-788BD907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7663323"/>
            <a:ext cx="469794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5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p90 17.9~18.1ms, p99 누락 프레임·50ms 초과·Long Task·콘솔 오</a:t>
            </a:r>
          </a:p>
        </p:txBody>
      </p:sp>
      <p:sp>
        <p:nvSpPr>
          <p:cNvPr id="50" name="page-03-text-019-00">
            <a:extLst xmlns:a="http://schemas.openxmlformats.org/drawingml/2006/main">
              <a:ext uri="{FF2B5EF4-FFF2-40B4-BE49-F238E27FC236}">
                <a16:creationId xmlns:a16="http://schemas.microsoft.com/office/drawing/2014/main" id="{5DE8E3D0-D62C-4BED-8D14-73C56C26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7792978"/>
            <a:ext cx="99668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6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Web 발사 구간</a:t>
            </a:r>
          </a:p>
        </p:txBody>
      </p:sp>
      <p:sp>
        <p:nvSpPr>
          <p:cNvPr id="51" name="page-03-text-020-00">
            <a:extLst xmlns:a="http://schemas.openxmlformats.org/drawingml/2006/main">
              <a:ext uri="{FF2B5EF4-FFF2-40B4-BE49-F238E27FC236}">
                <a16:creationId xmlns:a16="http://schemas.microsoft.com/office/drawing/2014/main" id="{B8C05DAE-8648-4499-827C-8C71D9E7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7922634"/>
            <a:ext cx="960215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18.5~18.6ms</a:t>
            </a:r>
          </a:p>
        </p:txBody>
      </p:sp>
      <p:sp>
        <p:nvSpPr>
          <p:cNvPr id="52" name="page-03-text-020-01">
            <a:extLst xmlns:a="http://schemas.openxmlformats.org/drawingml/2006/main">
              <a:ext uri="{FF2B5EF4-FFF2-40B4-BE49-F238E27FC236}">
                <a16:creationId xmlns:a16="http://schemas.microsoft.com/office/drawing/2014/main" id="{5AA58CB1-C17B-4216-AA4D-29A1A917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7922634"/>
            <a:ext cx="2328707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류 0건, 엄격 p90 16.7ms 목표는 미달</a:t>
            </a:r>
          </a:p>
        </p:txBody>
      </p:sp>
      <p:sp>
        <p:nvSpPr>
          <p:cNvPr id="53" name="page-03-text-021-00">
            <a:extLst xmlns:a="http://schemas.openxmlformats.org/drawingml/2006/main">
              <a:ext uri="{FF2B5EF4-FFF2-40B4-BE49-F238E27FC236}">
                <a16:creationId xmlns:a16="http://schemas.microsoft.com/office/drawing/2014/main" id="{778D523B-5E99-434E-AAB3-E143FAE1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8287965"/>
            <a:ext cx="101534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6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Android 대 리</a:t>
            </a:r>
          </a:p>
        </p:txBody>
      </p:sp>
      <p:sp>
        <p:nvSpPr>
          <p:cNvPr id="54" name="page-03-text-021-01">
            <a:extLst xmlns:a="http://schemas.openxmlformats.org/drawingml/2006/main">
              <a:ext uri="{FF2B5EF4-FFF2-40B4-BE49-F238E27FC236}">
                <a16:creationId xmlns:a16="http://schemas.microsoft.com/office/drawing/2014/main" id="{73FF5892-BE66-4211-91F0-57ADE4E3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8287965"/>
            <a:ext cx="259713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실제 입력·20회×2 반복, 앱 치명적 예외 0</a:t>
            </a:r>
          </a:p>
        </p:txBody>
      </p:sp>
      <p:sp>
        <p:nvSpPr>
          <p:cNvPr id="55" name="page-03-text-022-00">
            <a:extLst xmlns:a="http://schemas.openxmlformats.org/drawingml/2006/main">
              <a:ext uri="{FF2B5EF4-FFF2-40B4-BE49-F238E27FC236}">
                <a16:creationId xmlns:a16="http://schemas.microsoft.com/office/drawing/2014/main" id="{113EAC47-5C08-46F2-80E5-824A4B1B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8417620"/>
            <a:ext cx="1778288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Release ARM64 에뮬레이터</a:t>
            </a:r>
          </a:p>
        </p:txBody>
      </p:sp>
      <p:sp>
        <p:nvSpPr>
          <p:cNvPr id="56" name="page-03-text-023-00">
            <a:extLst xmlns:a="http://schemas.openxmlformats.org/drawingml/2006/main">
              <a:ext uri="{FF2B5EF4-FFF2-40B4-BE49-F238E27FC236}">
                <a16:creationId xmlns:a16="http://schemas.microsoft.com/office/drawing/2014/main" id="{C00172F2-E517-4D17-BC4E-E4DFCE79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8547276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검증</a:t>
            </a:r>
          </a:p>
        </p:txBody>
      </p:sp>
      <p:sp>
        <p:nvSpPr>
          <p:cNvPr id="57" name="page-03-text-023-01">
            <a:extLst xmlns:a="http://schemas.openxmlformats.org/drawingml/2006/main">
              <a:ext uri="{FF2B5EF4-FFF2-40B4-BE49-F238E27FC236}">
                <a16:creationId xmlns:a16="http://schemas.microsoft.com/office/drawing/2014/main" id="{423B6E57-CA9A-4682-8C97-22EDCA52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8547276"/>
            <a:ext cx="242078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9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89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건</a:t>
            </a:r>
          </a:p>
        </p:txBody>
      </p:sp>
      <p:sp>
        <p:nvSpPr>
          <p:cNvPr id="58" name="page-03-text-024-00">
            <a:extLst xmlns:a="http://schemas.openxmlformats.org/drawingml/2006/main">
              <a:ext uri="{FF2B5EF4-FFF2-40B4-BE49-F238E27FC236}">
                <a16:creationId xmlns:a16="http://schemas.microsoft.com/office/drawing/2014/main" id="{A52BCF77-B330-45B7-84A9-52A18947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8912607"/>
            <a:ext cx="259532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실기기·외부 플레이테스트·최종 권리 승인</a:t>
            </a:r>
          </a:p>
        </p:txBody>
      </p:sp>
      <p:sp>
        <p:nvSpPr>
          <p:cNvPr id="59" name="page-03-text-025-00">
            <a:extLst xmlns:a="http://schemas.openxmlformats.org/drawingml/2006/main">
              <a:ext uri="{FF2B5EF4-FFF2-40B4-BE49-F238E27FC236}">
                <a16:creationId xmlns:a16="http://schemas.microsoft.com/office/drawing/2014/main" id="{6C110AAA-B166-456B-A2F1-F01F15FC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9042263"/>
            <a:ext cx="66306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최종 판정</a:t>
            </a:r>
          </a:p>
        </p:txBody>
      </p:sp>
      <p:sp>
        <p:nvSpPr>
          <p:cNvPr id="60" name="page-03-text-025-01">
            <a:extLst xmlns:a="http://schemas.openxmlformats.org/drawingml/2006/main">
              <a:ext uri="{FF2B5EF4-FFF2-40B4-BE49-F238E27FC236}">
                <a16:creationId xmlns:a16="http://schemas.microsoft.com/office/drawing/2014/main" id="{C12F1594-AEEC-425A-8396-B4AC4138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9042263"/>
            <a:ext cx="1067207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0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61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Conditional Go</a:t>
            </a:r>
          </a:p>
        </p:txBody>
      </p:sp>
      <p:sp>
        <p:nvSpPr>
          <p:cNvPr id="61" name="page-03-text-026-00">
            <a:extLst xmlns:a="http://schemas.openxmlformats.org/drawingml/2006/main">
              <a:ext uri="{FF2B5EF4-FFF2-40B4-BE49-F238E27FC236}">
                <a16:creationId xmlns:a16="http://schemas.microsoft.com/office/drawing/2014/main" id="{6FAEC6AC-DBFB-41C8-86C1-6FA69359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9171918"/>
            <a:ext cx="535286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5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은 남음</a:t>
            </a:r>
          </a:p>
        </p:txBody>
      </p:sp>
      <p:sp>
        <p:nvSpPr>
          <p:cNvPr id="62" name="page-03-text-027-00">
            <a:extLst xmlns:a="http://schemas.openxmlformats.org/drawingml/2006/main">
              <a:ext uri="{FF2B5EF4-FFF2-40B4-BE49-F238E27FC236}">
                <a16:creationId xmlns:a16="http://schemas.microsoft.com/office/drawing/2014/main" id="{E5C58194-91EB-4FF8-BF17-D57FC555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896" y="10018730"/>
            <a:ext cx="184703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5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45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Final Report · Page 3</a:t>
            </a:r>
          </a:p>
        </p:txBody>
      </p:sp>
    </p:spTree>
    <p:extLst>
      <p:ext uri="{BB962C8B-B14F-4D97-AF65-F5344CB8AC3E}">
        <p14:creationId xmlns:p14="http://schemas.microsoft.com/office/powerpoint/2010/main" val="13832409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c8366276b40fa"/>
          <a:srcRect xmlns:a="http://schemas.openxmlformats.org/drawingml/2006/main" l="14648" t="0" r="146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lide-4-background">
            <a:extLst xmlns:a="http://schemas.openxmlformats.org/drawingml/2006/main">
              <a:ext uri="{FF2B5EF4-FFF2-40B4-BE49-F238E27FC236}">
                <a16:creationId xmlns:a16="http://schemas.microsoft.com/office/drawing/2014/main" id="{DBF35632-D741-480B-B2BF-4E75CF95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04-text-000-00">
            <a:extLst xmlns:a="http://schemas.openxmlformats.org/drawingml/2006/main">
              <a:ext uri="{FF2B5EF4-FFF2-40B4-BE49-F238E27FC236}">
                <a16:creationId xmlns:a16="http://schemas.microsoft.com/office/drawing/2014/main" id="{7835666C-6C0F-4562-950C-22129ED7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96" y="497671"/>
            <a:ext cx="1456558" cy="178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Final Report</a:t>
            </a:r>
          </a:p>
        </p:txBody>
      </p:sp>
      <p:sp>
        <p:nvSpPr>
          <p:cNvPr id="4" name="page-04-text-001-00">
            <a:extLst xmlns:a="http://schemas.openxmlformats.org/drawingml/2006/main">
              <a:ext uri="{FF2B5EF4-FFF2-40B4-BE49-F238E27FC236}">
                <a16:creationId xmlns:a16="http://schemas.microsoft.com/office/drawing/2014/main" id="{AF6017AC-8C67-48D6-9E6D-86790A48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1005812"/>
            <a:ext cx="1456039" cy="23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9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가장 빠른 확인 순서</a:t>
            </a:r>
          </a:p>
        </p:txBody>
      </p:sp>
      <p:sp>
        <p:nvSpPr>
          <p:cNvPr id="5" name="page-04-text-002-00">
            <a:extLst xmlns:a="http://schemas.openxmlformats.org/drawingml/2006/main">
              <a:ext uri="{FF2B5EF4-FFF2-40B4-BE49-F238E27FC236}">
                <a16:creationId xmlns:a16="http://schemas.microsoft.com/office/drawing/2014/main" id="{5D54D0D8-C8A6-40B4-BC48-4DE232B8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1433783"/>
            <a:ext cx="268941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4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1. Web 링크에서 첫 섬에서 시작하기를 누른다.</a:t>
            </a:r>
          </a:p>
        </p:txBody>
      </p:sp>
      <p:sp>
        <p:nvSpPr>
          <p:cNvPr id="6" name="page-04-text-003-00">
            <a:extLst xmlns:a="http://schemas.openxmlformats.org/drawingml/2006/main">
              <a:ext uri="{FF2B5EF4-FFF2-40B4-BE49-F238E27FC236}">
                <a16:creationId xmlns:a16="http://schemas.microsoft.com/office/drawing/2014/main" id="{B5E8B6A2-F9EB-4F6B-A812-C0A31E4F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1760623"/>
            <a:ext cx="2460180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5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2. 바위를 선택해 무거움을 공으로 옮긴다.</a:t>
            </a:r>
          </a:p>
        </p:txBody>
      </p:sp>
      <p:sp>
        <p:nvSpPr>
          <p:cNvPr id="7" name="page-04-text-004-00">
            <a:extLst xmlns:a="http://schemas.openxmlformats.org/drawingml/2006/main">
              <a:ext uri="{FF2B5EF4-FFF2-40B4-BE49-F238E27FC236}">
                <a16:creationId xmlns:a16="http://schemas.microsoft.com/office/drawing/2014/main" id="{DF6BDAEB-7B6A-42CB-A8E6-A5CF063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2087463"/>
            <a:ext cx="368667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3. 공 주변을 드래그해 방향을 잡고 길게 눌렀다 놓아 발사한다.</a:t>
            </a:r>
          </a:p>
        </p:txBody>
      </p:sp>
      <p:sp>
        <p:nvSpPr>
          <p:cNvPr id="8" name="page-04-text-005-00">
            <a:extLst xmlns:a="http://schemas.openxmlformats.org/drawingml/2006/main">
              <a:ext uri="{FF2B5EF4-FFF2-40B4-BE49-F238E27FC236}">
                <a16:creationId xmlns:a16="http://schemas.microsoft.com/office/drawing/2014/main" id="{C6307FA6-670F-4C13-8461-3A2A2740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2414303"/>
            <a:ext cx="2842648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4. 섬 지도에서 10단계의 기믹 흐름을 확인한다.</a:t>
            </a:r>
          </a:p>
        </p:txBody>
      </p:sp>
      <p:sp>
        <p:nvSpPr>
          <p:cNvPr id="9" name="page-04-text-006-00">
            <a:extLst xmlns:a="http://schemas.openxmlformats.org/drawingml/2006/main">
              <a:ext uri="{FF2B5EF4-FFF2-40B4-BE49-F238E27FC236}">
                <a16:creationId xmlns:a16="http://schemas.microsoft.com/office/drawing/2014/main" id="{60AF4C5B-7C84-47D4-90BB-DAF38678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2741142"/>
            <a:ext cx="3623030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4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5. 오늘의 도전에서 날짜·버전 기반 고정 seed 흐름을 확인한다.</a:t>
            </a:r>
          </a:p>
        </p:txBody>
      </p:sp>
      <p:sp>
        <p:nvSpPr>
          <p:cNvPr id="10" name="page-04-text-007-00">
            <a:extLst xmlns:a="http://schemas.openxmlformats.org/drawingml/2006/main">
              <a:ext uri="{FF2B5EF4-FFF2-40B4-BE49-F238E27FC236}">
                <a16:creationId xmlns:a16="http://schemas.microsoft.com/office/drawing/2014/main" id="{F2DA7B09-FEC9-4188-B5EF-85A6EF69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3273675"/>
            <a:ext cx="2186076" cy="273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2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1. 문제 정의와 제품 가설</a:t>
            </a:r>
          </a:p>
        </p:txBody>
      </p:sp>
      <p:sp>
        <p:nvSpPr>
          <p:cNvPr id="11" name="page-04-text-008-00">
            <a:extLst xmlns:a="http://schemas.openxmlformats.org/drawingml/2006/main">
              <a:ext uri="{FF2B5EF4-FFF2-40B4-BE49-F238E27FC236}">
                <a16:creationId xmlns:a16="http://schemas.microsoft.com/office/drawing/2014/main" id="{AC15FEDF-BB08-4D6F-824C-193649EF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3862959"/>
            <a:ext cx="415998" cy="23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2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문제</a:t>
            </a:r>
          </a:p>
        </p:txBody>
      </p:sp>
      <p:sp>
        <p:nvSpPr>
          <p:cNvPr id="12" name="page-04-text-009-00">
            <a:extLst xmlns:a="http://schemas.openxmlformats.org/drawingml/2006/main">
              <a:ext uri="{FF2B5EF4-FFF2-40B4-BE49-F238E27FC236}">
                <a16:creationId xmlns:a16="http://schemas.microsoft.com/office/drawing/2014/main" id="{E21FFC73-3581-43D9-A120-E6270E37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4290930"/>
            <a:ext cx="589753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한 번의 정답 궤적만 맞히는 물리 퍼즐은 실패가 곧 초기화로 이어지기 쉽고, 반복 플레이에서 전략의</a:t>
            </a:r>
          </a:p>
        </p:txBody>
      </p:sp>
      <p:sp>
        <p:nvSpPr>
          <p:cNvPr id="13" name="page-04-text-010-00">
            <a:extLst xmlns:a="http://schemas.openxmlformats.org/drawingml/2006/main">
              <a:ext uri="{FF2B5EF4-FFF2-40B4-BE49-F238E27FC236}">
                <a16:creationId xmlns:a16="http://schemas.microsoft.com/office/drawing/2014/main" id="{8A32BD86-EFAF-46F9-8067-BF2C8D33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4590759"/>
            <a:ext cx="141905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누적이 약해질 수 있다.</a:t>
            </a:r>
          </a:p>
        </p:txBody>
      </p:sp>
      <p:sp>
        <p:nvSpPr>
          <p:cNvPr id="14" name="page-04-text-011-00">
            <a:extLst xmlns:a="http://schemas.openxmlformats.org/drawingml/2006/main">
              <a:ext uri="{FF2B5EF4-FFF2-40B4-BE49-F238E27FC236}">
                <a16:creationId xmlns:a16="http://schemas.microsoft.com/office/drawing/2014/main" id="{3BCF386A-938E-4554-83A7-2815A00C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5060246"/>
            <a:ext cx="415998" cy="23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2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가설</a:t>
            </a:r>
          </a:p>
        </p:txBody>
      </p:sp>
      <p:sp>
        <p:nvSpPr>
          <p:cNvPr id="15" name="page-04-text-012-00">
            <a:extLst xmlns:a="http://schemas.openxmlformats.org/drawingml/2006/main">
              <a:ext uri="{FF2B5EF4-FFF2-40B4-BE49-F238E27FC236}">
                <a16:creationId xmlns:a16="http://schemas.microsoft.com/office/drawing/2014/main" id="{5D310FFA-C9A2-4E28-95DB-BDED4E70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5487177"/>
            <a:ext cx="5891354" cy="206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공의 속성뿐 아니라 원본 오브젝트와 실패 공의 상태를 유지하면, 플레이어가 실패를 자원으로 바꾸고</a:t>
            </a:r>
          </a:p>
        </p:txBody>
      </p:sp>
      <p:sp>
        <p:nvSpPr>
          <p:cNvPr id="16" name="page-04-text-013-00">
            <a:extLst xmlns:a="http://schemas.openxmlformats.org/drawingml/2006/main">
              <a:ext uri="{FF2B5EF4-FFF2-40B4-BE49-F238E27FC236}">
                <a16:creationId xmlns:a16="http://schemas.microsoft.com/office/drawing/2014/main" id="{747B01B7-7B91-4FF8-88D1-443B6BCF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5788046"/>
            <a:ext cx="284944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여러 해법을 발견하는 퍼즐 경험을 만들 수 있다.</a:t>
            </a:r>
          </a:p>
        </p:txBody>
      </p:sp>
      <p:sp>
        <p:nvSpPr>
          <p:cNvPr id="17" name="page-04-text-014-00">
            <a:extLst xmlns:a="http://schemas.openxmlformats.org/drawingml/2006/main">
              <a:ext uri="{FF2B5EF4-FFF2-40B4-BE49-F238E27FC236}">
                <a16:creationId xmlns:a16="http://schemas.microsoft.com/office/drawing/2014/main" id="{165B192C-B01B-4CFF-8070-5472EF6D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6257533"/>
            <a:ext cx="762839" cy="23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73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제품 원칙</a:t>
            </a:r>
          </a:p>
        </p:txBody>
      </p:sp>
      <p:sp>
        <p:nvSpPr>
          <p:cNvPr id="18" name="page-04-text-015-00">
            <a:extLst xmlns:a="http://schemas.openxmlformats.org/drawingml/2006/main">
              <a:ext uri="{FF2B5EF4-FFF2-40B4-BE49-F238E27FC236}">
                <a16:creationId xmlns:a16="http://schemas.microsoft.com/office/drawing/2014/main" id="{F39BB097-73BF-4D9E-8268-898BFF10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6685505"/>
            <a:ext cx="2450912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홀 진입은 기본 성공 조건으로 유지한다.</a:t>
            </a:r>
          </a:p>
        </p:txBody>
      </p:sp>
      <p:sp>
        <p:nvSpPr>
          <p:cNvPr id="19" name="page-04-text-016-00">
            <a:extLst xmlns:a="http://schemas.openxmlformats.org/drawingml/2006/main">
              <a:ext uri="{FF2B5EF4-FFF2-40B4-BE49-F238E27FC236}">
                <a16:creationId xmlns:a16="http://schemas.microsoft.com/office/drawing/2014/main" id="{3C52D04D-D4EF-42F0-99DC-A1B0D24E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6958321"/>
            <a:ext cx="3716330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5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특정 속성·문·스위치·풍선을 유일한 정답으로 강제하지 않는다.</a:t>
            </a:r>
          </a:p>
        </p:txBody>
      </p:sp>
      <p:sp>
        <p:nvSpPr>
          <p:cNvPr id="20" name="page-04-text-017-00">
            <a:extLst xmlns:a="http://schemas.openxmlformats.org/drawingml/2006/main">
              <a:ext uri="{FF2B5EF4-FFF2-40B4-BE49-F238E27FC236}">
                <a16:creationId xmlns:a16="http://schemas.microsoft.com/office/drawing/2014/main" id="{4B509643-8DD9-4E4D-A288-5E6D8AB8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7231138"/>
            <a:ext cx="3038515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같은 초기 상태와 같은 입력은 같은 결과를 만든다.</a:t>
            </a:r>
          </a:p>
        </p:txBody>
      </p:sp>
      <p:sp>
        <p:nvSpPr>
          <p:cNvPr id="21" name="page-04-text-018-00">
            <a:extLst xmlns:a="http://schemas.openxmlformats.org/drawingml/2006/main">
              <a:ext uri="{FF2B5EF4-FFF2-40B4-BE49-F238E27FC236}">
                <a16:creationId xmlns:a16="http://schemas.microsoft.com/office/drawing/2014/main" id="{6461BBD5-6C64-454E-9349-957448D9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7503955"/>
            <a:ext cx="2157419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물리 판정과 화면 연출을 분리한다.</a:t>
            </a:r>
          </a:p>
        </p:txBody>
      </p:sp>
      <p:sp>
        <p:nvSpPr>
          <p:cNvPr id="22" name="page-04-text-019-00">
            <a:extLst xmlns:a="http://schemas.openxmlformats.org/drawingml/2006/main">
              <a:ext uri="{FF2B5EF4-FFF2-40B4-BE49-F238E27FC236}">
                <a16:creationId xmlns:a16="http://schemas.microsoft.com/office/drawing/2014/main" id="{C71B97EA-6D6B-41BC-B8E6-366873C9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7776771"/>
            <a:ext cx="2285320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사용자 노출 문구는 한글로 제공한다.</a:t>
            </a:r>
          </a:p>
        </p:txBody>
      </p:sp>
      <p:sp>
        <p:nvSpPr>
          <p:cNvPr id="23" name="page-04-text-020-00">
            <a:extLst xmlns:a="http://schemas.openxmlformats.org/drawingml/2006/main">
              <a:ext uri="{FF2B5EF4-FFF2-40B4-BE49-F238E27FC236}">
                <a16:creationId xmlns:a16="http://schemas.microsoft.com/office/drawing/2014/main" id="{800E80E3-A3BE-40DF-A048-A8CF66D7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8049588"/>
            <a:ext cx="4092001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5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자동 검증, 에뮬레이터, 실기기, 사용자 증거를 서로 대체하지 않는다.</a:t>
            </a:r>
          </a:p>
        </p:txBody>
      </p:sp>
      <p:sp>
        <p:nvSpPr>
          <p:cNvPr id="24" name="page-04-text-021-00">
            <a:extLst xmlns:a="http://schemas.openxmlformats.org/drawingml/2006/main">
              <a:ext uri="{FF2B5EF4-FFF2-40B4-BE49-F238E27FC236}">
                <a16:creationId xmlns:a16="http://schemas.microsoft.com/office/drawing/2014/main" id="{914BF374-A8E8-45C9-8B68-08656120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896" y="10018730"/>
            <a:ext cx="184703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5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45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Final Report · Page 4</a:t>
            </a:r>
          </a:p>
        </p:txBody>
      </p:sp>
    </p:spTree>
    <p:extLst>
      <p:ext uri="{BB962C8B-B14F-4D97-AF65-F5344CB8AC3E}">
        <p14:creationId xmlns:p14="http://schemas.microsoft.com/office/powerpoint/2010/main" val="20266600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df1efc40b4bc8"/>
          <a:srcRect xmlns:a="http://schemas.openxmlformats.org/drawingml/2006/main" l="14648" t="0" r="146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lide-5-background">
            <a:extLst xmlns:a="http://schemas.openxmlformats.org/drawingml/2006/main">
              <a:ext uri="{FF2B5EF4-FFF2-40B4-BE49-F238E27FC236}">
                <a16:creationId xmlns:a16="http://schemas.microsoft.com/office/drawing/2014/main" id="{CC313245-026E-4F62-BF50-45B927DE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2ab9983704618"/>
          <a:srcRect xmlns:a="http://schemas.openxmlformats.org/drawingml/2006/main" l="4222" t="0" r="42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35972" y="3693830"/>
            <a:ext cx="2090906" cy="4945815"/>
          </a:xfrm>
          <a:prstGeom xmlns:a="http://schemas.openxmlformats.org/drawingml/2006/main" prst="rect">
            <a:avLst/>
          </a:prstGeom>
        </p:spPr>
      </p:pic>
      <p:sp>
        <p:nvSpPr>
          <p:cNvPr id="4" name="page-05-text-000-00">
            <a:extLst xmlns:a="http://schemas.openxmlformats.org/drawingml/2006/main">
              <a:ext uri="{FF2B5EF4-FFF2-40B4-BE49-F238E27FC236}">
                <a16:creationId xmlns:a16="http://schemas.microsoft.com/office/drawing/2014/main" id="{9B677118-B24C-4B80-A97D-1DF1954C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96" y="497671"/>
            <a:ext cx="1456558" cy="178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Final Report</a:t>
            </a:r>
          </a:p>
        </p:txBody>
      </p:sp>
      <p:sp>
        <p:nvSpPr>
          <p:cNvPr id="5" name="page-05-text-001-00">
            <a:extLst xmlns:a="http://schemas.openxmlformats.org/drawingml/2006/main">
              <a:ext uri="{FF2B5EF4-FFF2-40B4-BE49-F238E27FC236}">
                <a16:creationId xmlns:a16="http://schemas.microsoft.com/office/drawing/2014/main" id="{B7000EF7-882A-4319-9460-0980F59E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1014834"/>
            <a:ext cx="1332710" cy="273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38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38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2. 플레이 경험</a:t>
            </a:r>
          </a:p>
        </p:txBody>
      </p:sp>
      <p:sp>
        <p:nvSpPr>
          <p:cNvPr id="6" name="page-05-text-002-00">
            <a:extLst xmlns:a="http://schemas.openxmlformats.org/drawingml/2006/main">
              <a:ext uri="{FF2B5EF4-FFF2-40B4-BE49-F238E27FC236}">
                <a16:creationId xmlns:a16="http://schemas.microsoft.com/office/drawing/2014/main" id="{F5A003DE-9053-4854-AFE5-92C0BF5B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1604118"/>
            <a:ext cx="1743365" cy="23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6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76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2.1 한 번의 플레이 흐름</a:t>
            </a:r>
          </a:p>
        </p:txBody>
      </p:sp>
      <p:sp>
        <p:nvSpPr>
          <p:cNvPr id="7" name="page-05-text-003-00">
            <a:extLst xmlns:a="http://schemas.openxmlformats.org/drawingml/2006/main">
              <a:ext uri="{FF2B5EF4-FFF2-40B4-BE49-F238E27FC236}">
                <a16:creationId xmlns:a16="http://schemas.microsoft.com/office/drawing/2014/main" id="{C461DF82-1494-47BF-94B0-818A2828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2031049"/>
            <a:ext cx="3039751" cy="206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1. 탐색 — 속성 공급원과 장치, 홀의 위치를 읽는다.</a:t>
            </a:r>
          </a:p>
        </p:txBody>
      </p:sp>
      <p:sp>
        <p:nvSpPr>
          <p:cNvPr id="8" name="page-05-text-004-00">
            <a:extLst xmlns:a="http://schemas.openxmlformats.org/drawingml/2006/main">
              <a:ext uri="{FF2B5EF4-FFF2-40B4-BE49-F238E27FC236}">
                <a16:creationId xmlns:a16="http://schemas.microsoft.com/office/drawing/2014/main" id="{B446436D-99E1-4545-A91F-97FE2367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2357889"/>
            <a:ext cx="3931970" cy="206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2. 선택 — 속성을 공으로 이전하거나 복제 코어를 사용해 복사한다.</a:t>
            </a:r>
          </a:p>
        </p:txBody>
      </p:sp>
      <p:sp>
        <p:nvSpPr>
          <p:cNvPr id="9" name="page-05-text-005-00">
            <a:extLst xmlns:a="http://schemas.openxmlformats.org/drawingml/2006/main">
              <a:ext uri="{FF2B5EF4-FFF2-40B4-BE49-F238E27FC236}">
                <a16:creationId xmlns:a16="http://schemas.microsoft.com/office/drawing/2014/main" id="{75CCD3D8-B947-4645-B32C-25484E6D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2684729"/>
            <a:ext cx="3548266" cy="206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3. 조준 — 드래그로 방향을 정하고 길게 눌러 힘을 충전한다.</a:t>
            </a:r>
          </a:p>
        </p:txBody>
      </p:sp>
      <p:sp>
        <p:nvSpPr>
          <p:cNvPr id="10" name="page-05-text-006-00">
            <a:extLst xmlns:a="http://schemas.openxmlformats.org/drawingml/2006/main">
              <a:ext uri="{FF2B5EF4-FFF2-40B4-BE49-F238E27FC236}">
                <a16:creationId xmlns:a16="http://schemas.microsoft.com/office/drawing/2014/main" id="{AA4930D0-6C4A-4831-8583-C8FC810D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3011569"/>
            <a:ext cx="3969661" cy="206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4. 발사 — 손을 떼면 자동 발사되고 결정론적 물리 결과가 확정된다.</a:t>
            </a:r>
          </a:p>
        </p:txBody>
      </p:sp>
      <p:sp>
        <p:nvSpPr>
          <p:cNvPr id="11" name="page-05-text-007-00">
            <a:extLst xmlns:a="http://schemas.openxmlformats.org/drawingml/2006/main">
              <a:ext uri="{FF2B5EF4-FFF2-40B4-BE49-F238E27FC236}">
                <a16:creationId xmlns:a16="http://schemas.microsoft.com/office/drawing/2014/main" id="{F2D665CA-0D08-4913-8DC9-A8273FFB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3338408"/>
            <a:ext cx="4597426" cy="206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5. 누적 — 잔류 공과 움직인 오브젝트, 장치 상태를 다음 샷 전략으로 사용한다.</a:t>
            </a:r>
          </a:p>
        </p:txBody>
      </p:sp>
      <p:sp>
        <p:nvSpPr>
          <p:cNvPr id="12" name="page-05-text-008-00">
            <a:extLst xmlns:a="http://schemas.openxmlformats.org/drawingml/2006/main">
              <a:ext uri="{FF2B5EF4-FFF2-40B4-BE49-F238E27FC236}">
                <a16:creationId xmlns:a16="http://schemas.microsoft.com/office/drawing/2014/main" id="{E73E2AAD-F85D-43F5-B6CE-3C28E4BA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321" y="8760127"/>
            <a:ext cx="1316373" cy="171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8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58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최신 공개 데모 플레이 화면</a:t>
            </a:r>
          </a:p>
        </p:txBody>
      </p:sp>
      <p:sp>
        <p:nvSpPr>
          <p:cNvPr id="13" name="page-05-text-009-00">
            <a:extLst xmlns:a="http://schemas.openxmlformats.org/drawingml/2006/main">
              <a:ext uri="{FF2B5EF4-FFF2-40B4-BE49-F238E27FC236}">
                <a16:creationId xmlns:a16="http://schemas.microsoft.com/office/drawing/2014/main" id="{57646B46-1AD9-4AC8-AD2A-309DF6BF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896" y="10018730"/>
            <a:ext cx="184703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5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45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Final Report · Page 5</a:t>
            </a:r>
          </a:p>
        </p:txBody>
      </p:sp>
    </p:spTree>
    <p:extLst>
      <p:ext uri="{BB962C8B-B14F-4D97-AF65-F5344CB8AC3E}">
        <p14:creationId xmlns:p14="http://schemas.microsoft.com/office/powerpoint/2010/main" val="20838524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fe834c4b744d3"/>
          <a:srcRect xmlns:a="http://schemas.openxmlformats.org/drawingml/2006/main" l="14648" t="0" r="146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lide-6-background">
            <a:extLst xmlns:a="http://schemas.openxmlformats.org/drawingml/2006/main">
              <a:ext uri="{FF2B5EF4-FFF2-40B4-BE49-F238E27FC236}">
                <a16:creationId xmlns:a16="http://schemas.microsoft.com/office/drawing/2014/main" id="{8E833AF8-FC31-41AF-AFE7-5CA7AD59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06-rect-000">
            <a:extLst xmlns:a="http://schemas.openxmlformats.org/drawingml/2006/main">
              <a:ext uri="{FF2B5EF4-FFF2-40B4-BE49-F238E27FC236}">
                <a16:creationId xmlns:a16="http://schemas.microsoft.com/office/drawing/2014/main" id="{CB965202-6D68-4E39-A7E1-AED5DA84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1408652"/>
            <a:ext cx="740838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6-rect-001">
            <a:extLst xmlns:a="http://schemas.openxmlformats.org/drawingml/2006/main">
              <a:ext uri="{FF2B5EF4-FFF2-40B4-BE49-F238E27FC236}">
                <a16:creationId xmlns:a16="http://schemas.microsoft.com/office/drawing/2014/main" id="{261DF5CE-7097-48D7-BCB8-A750EB1A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203" y="1408652"/>
            <a:ext cx="1519367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06-rect-002">
            <a:extLst xmlns:a="http://schemas.openxmlformats.org/drawingml/2006/main">
              <a:ext uri="{FF2B5EF4-FFF2-40B4-BE49-F238E27FC236}">
                <a16:creationId xmlns:a16="http://schemas.microsoft.com/office/drawing/2014/main" id="{4103D059-E66A-451B-A3E6-CFB82503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188" y="1408652"/>
            <a:ext cx="1766519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06-rect-003">
            <a:extLst xmlns:a="http://schemas.openxmlformats.org/drawingml/2006/main">
              <a:ext uri="{FF2B5EF4-FFF2-40B4-BE49-F238E27FC236}">
                <a16:creationId xmlns:a16="http://schemas.microsoft.com/office/drawing/2014/main" id="{8D509551-9F33-4DB0-A2B2-8362EE16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324" y="1408652"/>
            <a:ext cx="1754161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-06-rect-004">
            <a:extLst xmlns:a="http://schemas.openxmlformats.org/drawingml/2006/main">
              <a:ext uri="{FF2B5EF4-FFF2-40B4-BE49-F238E27FC236}">
                <a16:creationId xmlns:a16="http://schemas.microsoft.com/office/drawing/2014/main" id="{8A2A6EFC-CEB0-42D6-AC2E-0B3A4554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4578458"/>
            <a:ext cx="1049778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-06-rect-005">
            <a:extLst xmlns:a="http://schemas.openxmlformats.org/drawingml/2006/main">
              <a:ext uri="{FF2B5EF4-FFF2-40B4-BE49-F238E27FC236}">
                <a16:creationId xmlns:a16="http://schemas.microsoft.com/office/drawing/2014/main" id="{416F0C10-C293-4F2B-ACE1-79078594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143" y="4578458"/>
            <a:ext cx="2100174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-06-rect-006">
            <a:extLst xmlns:a="http://schemas.openxmlformats.org/drawingml/2006/main">
              <a:ext uri="{FF2B5EF4-FFF2-40B4-BE49-F238E27FC236}">
                <a16:creationId xmlns:a16="http://schemas.microsoft.com/office/drawing/2014/main" id="{A865A741-E74F-479B-86AD-27D3D5FB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935" y="4578458"/>
            <a:ext cx="2631551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ge-06-rect-007">
            <a:extLst xmlns:a="http://schemas.openxmlformats.org/drawingml/2006/main">
              <a:ext uri="{FF2B5EF4-FFF2-40B4-BE49-F238E27FC236}">
                <a16:creationId xmlns:a16="http://schemas.microsoft.com/office/drawing/2014/main" id="{08B537B1-11E6-44C2-BC8F-35DDDAE1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1408652"/>
            <a:ext cx="740838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06-rect-008">
            <a:extLst xmlns:a="http://schemas.openxmlformats.org/drawingml/2006/main">
              <a:ext uri="{FF2B5EF4-FFF2-40B4-BE49-F238E27FC236}">
                <a16:creationId xmlns:a16="http://schemas.microsoft.com/office/drawing/2014/main" id="{2FC4709E-E665-452E-B610-82D3908B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203" y="1408652"/>
            <a:ext cx="1519367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06-rect-009">
            <a:extLst xmlns:a="http://schemas.openxmlformats.org/drawingml/2006/main">
              <a:ext uri="{FF2B5EF4-FFF2-40B4-BE49-F238E27FC236}">
                <a16:creationId xmlns:a16="http://schemas.microsoft.com/office/drawing/2014/main" id="{4DDCC8BD-DBCC-426E-8898-412FBFF4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188" y="1408652"/>
            <a:ext cx="1766519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ge-06-rect-010">
            <a:extLst xmlns:a="http://schemas.openxmlformats.org/drawingml/2006/main">
              <a:ext uri="{FF2B5EF4-FFF2-40B4-BE49-F238E27FC236}">
                <a16:creationId xmlns:a16="http://schemas.microsoft.com/office/drawing/2014/main" id="{18570107-BF50-4A82-9575-03090ED3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324" y="1408652"/>
            <a:ext cx="1754161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06-rect-011">
            <a:extLst xmlns:a="http://schemas.openxmlformats.org/drawingml/2006/main">
              <a:ext uri="{FF2B5EF4-FFF2-40B4-BE49-F238E27FC236}">
                <a16:creationId xmlns:a16="http://schemas.microsoft.com/office/drawing/2014/main" id="{36B8C84E-F9E1-4DCC-BF38-9BE9B604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4578458"/>
            <a:ext cx="1049778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ge-06-rect-012">
            <a:extLst xmlns:a="http://schemas.openxmlformats.org/drawingml/2006/main">
              <a:ext uri="{FF2B5EF4-FFF2-40B4-BE49-F238E27FC236}">
                <a16:creationId xmlns:a16="http://schemas.microsoft.com/office/drawing/2014/main" id="{341040EB-2037-4C07-A147-E1598D14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143" y="4578458"/>
            <a:ext cx="2100174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06-rect-013">
            <a:extLst xmlns:a="http://schemas.openxmlformats.org/drawingml/2006/main">
              <a:ext uri="{FF2B5EF4-FFF2-40B4-BE49-F238E27FC236}">
                <a16:creationId xmlns:a16="http://schemas.microsoft.com/office/drawing/2014/main" id="{E3BFF1AC-02BC-4BC9-9066-946A0C43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935" y="4578458"/>
            <a:ext cx="2631551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06-line-000">
            <a:extLst xmlns:a="http://schemas.openxmlformats.org/drawingml/2006/main">
              <a:ext uri="{FF2B5EF4-FFF2-40B4-BE49-F238E27FC236}">
                <a16:creationId xmlns:a16="http://schemas.microsoft.com/office/drawing/2014/main" id="{55D953ED-F25B-43F2-89C8-CDC0647E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58" y="1412029"/>
            <a:ext cx="578953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8" name="page-06-line-001">
            <a:extLst xmlns:a="http://schemas.openxmlformats.org/drawingml/2006/main">
              <a:ext uri="{FF2B5EF4-FFF2-40B4-BE49-F238E27FC236}">
                <a16:creationId xmlns:a16="http://schemas.microsoft.com/office/drawing/2014/main" id="{DB211AF1-BAF0-474D-AA14-6980E9C1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1737518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9" name="page-06-line-002">
            <a:extLst xmlns:a="http://schemas.openxmlformats.org/drawingml/2006/main">
              <a:ext uri="{FF2B5EF4-FFF2-40B4-BE49-F238E27FC236}">
                <a16:creationId xmlns:a16="http://schemas.microsoft.com/office/drawing/2014/main" id="{329116BE-A066-4B97-8BFC-37950EA1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2362836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0" name="page-06-line-003">
            <a:extLst xmlns:a="http://schemas.openxmlformats.org/drawingml/2006/main">
              <a:ext uri="{FF2B5EF4-FFF2-40B4-BE49-F238E27FC236}">
                <a16:creationId xmlns:a16="http://schemas.microsoft.com/office/drawing/2014/main" id="{C5D9BA10-1CF3-441E-B0AD-F3C3373A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2727492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1" name="page-06-line-004">
            <a:extLst xmlns:a="http://schemas.openxmlformats.org/drawingml/2006/main">
              <a:ext uri="{FF2B5EF4-FFF2-40B4-BE49-F238E27FC236}">
                <a16:creationId xmlns:a16="http://schemas.microsoft.com/office/drawing/2014/main" id="{398936E2-B4B1-4DE2-A833-0764ABFD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3352809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2" name="page-06-line-005">
            <a:extLst xmlns:a="http://schemas.openxmlformats.org/drawingml/2006/main">
              <a:ext uri="{FF2B5EF4-FFF2-40B4-BE49-F238E27FC236}">
                <a16:creationId xmlns:a16="http://schemas.microsoft.com/office/drawing/2014/main" id="{E37E4603-E60A-48E7-9D3E-5A727DAC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58" y="3976776"/>
            <a:ext cx="578953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3" name="page-06-line-006">
            <a:extLst xmlns:a="http://schemas.openxmlformats.org/drawingml/2006/main">
              <a:ext uri="{FF2B5EF4-FFF2-40B4-BE49-F238E27FC236}">
                <a16:creationId xmlns:a16="http://schemas.microsoft.com/office/drawing/2014/main" id="{2E4B79FA-BAC2-487A-950A-B1841641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1408652"/>
            <a:ext cx="9525" cy="2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4" name="page-06-line-007">
            <a:extLst xmlns:a="http://schemas.openxmlformats.org/drawingml/2006/main">
              <a:ext uri="{FF2B5EF4-FFF2-40B4-BE49-F238E27FC236}">
                <a16:creationId xmlns:a16="http://schemas.microsoft.com/office/drawing/2014/main" id="{D585B92F-F0FA-4829-98FD-17293EB3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203" y="1415405"/>
            <a:ext cx="9525" cy="25579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5" name="page-06-line-008">
            <a:extLst xmlns:a="http://schemas.openxmlformats.org/drawingml/2006/main">
              <a:ext uri="{FF2B5EF4-FFF2-40B4-BE49-F238E27FC236}">
                <a16:creationId xmlns:a16="http://schemas.microsoft.com/office/drawing/2014/main" id="{1F64CBA5-4B6B-4F74-95D3-11F0E2C7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188" y="1415405"/>
            <a:ext cx="9525" cy="25579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6" name="page-06-line-009">
            <a:extLst xmlns:a="http://schemas.openxmlformats.org/drawingml/2006/main">
              <a:ext uri="{FF2B5EF4-FFF2-40B4-BE49-F238E27FC236}">
                <a16:creationId xmlns:a16="http://schemas.microsoft.com/office/drawing/2014/main" id="{9E00950E-6E94-4250-907C-91F608B9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324" y="1415405"/>
            <a:ext cx="9525" cy="25579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7" name="page-06-line-010">
            <a:extLst xmlns:a="http://schemas.openxmlformats.org/drawingml/2006/main">
              <a:ext uri="{FF2B5EF4-FFF2-40B4-BE49-F238E27FC236}">
                <a16:creationId xmlns:a16="http://schemas.microsoft.com/office/drawing/2014/main" id="{0526FEFD-EB79-4494-B8F9-8E723ED8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103" y="1408652"/>
            <a:ext cx="9525" cy="2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8" name="page-06-line-011">
            <a:extLst xmlns:a="http://schemas.openxmlformats.org/drawingml/2006/main">
              <a:ext uri="{FF2B5EF4-FFF2-40B4-BE49-F238E27FC236}">
                <a16:creationId xmlns:a16="http://schemas.microsoft.com/office/drawing/2014/main" id="{4172F4DA-EEB6-4A0F-9FDB-F086BD9F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58" y="4581835"/>
            <a:ext cx="578953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9" name="page-06-line-012">
            <a:extLst xmlns:a="http://schemas.openxmlformats.org/drawingml/2006/main">
              <a:ext uri="{FF2B5EF4-FFF2-40B4-BE49-F238E27FC236}">
                <a16:creationId xmlns:a16="http://schemas.microsoft.com/office/drawing/2014/main" id="{EA98B5B5-809C-4EEC-890D-F9562160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4907324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30" name="page-06-line-013">
            <a:extLst xmlns:a="http://schemas.openxmlformats.org/drawingml/2006/main">
              <a:ext uri="{FF2B5EF4-FFF2-40B4-BE49-F238E27FC236}">
                <a16:creationId xmlns:a16="http://schemas.microsoft.com/office/drawing/2014/main" id="{D4EB5A84-05EC-4999-B782-CF3DF1C8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5273330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31" name="page-06-line-014">
            <a:extLst xmlns:a="http://schemas.openxmlformats.org/drawingml/2006/main">
              <a:ext uri="{FF2B5EF4-FFF2-40B4-BE49-F238E27FC236}">
                <a16:creationId xmlns:a16="http://schemas.microsoft.com/office/drawing/2014/main" id="{33F71EB0-E437-49DD-A9E5-9FE27F1A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5637986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32" name="page-06-line-015">
            <a:extLst xmlns:a="http://schemas.openxmlformats.org/drawingml/2006/main">
              <a:ext uri="{FF2B5EF4-FFF2-40B4-BE49-F238E27FC236}">
                <a16:creationId xmlns:a16="http://schemas.microsoft.com/office/drawing/2014/main" id="{CDB67DF0-9D69-41C8-BA90-F2AF5BB7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6003993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33" name="page-06-line-016">
            <a:extLst xmlns:a="http://schemas.openxmlformats.org/drawingml/2006/main">
              <a:ext uri="{FF2B5EF4-FFF2-40B4-BE49-F238E27FC236}">
                <a16:creationId xmlns:a16="http://schemas.microsoft.com/office/drawing/2014/main" id="{5C413B2B-3995-4216-B625-312F1689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6368649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34" name="page-06-line-017">
            <a:extLst xmlns:a="http://schemas.openxmlformats.org/drawingml/2006/main">
              <a:ext uri="{FF2B5EF4-FFF2-40B4-BE49-F238E27FC236}">
                <a16:creationId xmlns:a16="http://schemas.microsoft.com/office/drawing/2014/main" id="{04A1184E-5547-48EF-B1CB-D6FA6B1B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6734655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35" name="page-06-line-018">
            <a:extLst xmlns:a="http://schemas.openxmlformats.org/drawingml/2006/main">
              <a:ext uri="{FF2B5EF4-FFF2-40B4-BE49-F238E27FC236}">
                <a16:creationId xmlns:a16="http://schemas.microsoft.com/office/drawing/2014/main" id="{456644E6-BF32-4271-9F7C-A78D2E12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7099311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36" name="page-06-line-019">
            <a:extLst xmlns:a="http://schemas.openxmlformats.org/drawingml/2006/main">
              <a:ext uri="{FF2B5EF4-FFF2-40B4-BE49-F238E27FC236}">
                <a16:creationId xmlns:a16="http://schemas.microsoft.com/office/drawing/2014/main" id="{037DD755-5B97-4D62-9A2E-0A28E233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7465318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37" name="page-06-line-020">
            <a:extLst xmlns:a="http://schemas.openxmlformats.org/drawingml/2006/main">
              <a:ext uri="{FF2B5EF4-FFF2-40B4-BE49-F238E27FC236}">
                <a16:creationId xmlns:a16="http://schemas.microsoft.com/office/drawing/2014/main" id="{CF3A741C-A298-4B7E-88DF-78E06150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7829974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38" name="page-06-line-021">
            <a:extLst xmlns:a="http://schemas.openxmlformats.org/drawingml/2006/main">
              <a:ext uri="{FF2B5EF4-FFF2-40B4-BE49-F238E27FC236}">
                <a16:creationId xmlns:a16="http://schemas.microsoft.com/office/drawing/2014/main" id="{D0420C86-0FE0-46D5-A5CA-984C729C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8195980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39" name="page-06-line-022">
            <a:extLst xmlns:a="http://schemas.openxmlformats.org/drawingml/2006/main">
              <a:ext uri="{FF2B5EF4-FFF2-40B4-BE49-F238E27FC236}">
                <a16:creationId xmlns:a16="http://schemas.microsoft.com/office/drawing/2014/main" id="{30983F12-B08F-4A86-AB0E-84259DEA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58" y="8560636"/>
            <a:ext cx="578953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40" name="page-06-line-023">
            <a:extLst xmlns:a="http://schemas.openxmlformats.org/drawingml/2006/main">
              <a:ext uri="{FF2B5EF4-FFF2-40B4-BE49-F238E27FC236}">
                <a16:creationId xmlns:a16="http://schemas.microsoft.com/office/drawing/2014/main" id="{9D2AE953-1CC7-4B09-84FA-05184B31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4578458"/>
            <a:ext cx="9525" cy="39855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41" name="page-06-line-024">
            <a:extLst xmlns:a="http://schemas.openxmlformats.org/drawingml/2006/main">
              <a:ext uri="{FF2B5EF4-FFF2-40B4-BE49-F238E27FC236}">
                <a16:creationId xmlns:a16="http://schemas.microsoft.com/office/drawing/2014/main" id="{1A06E40B-C491-4775-9D92-C4CF232A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143" y="4585211"/>
            <a:ext cx="9525" cy="39720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42" name="page-06-line-025">
            <a:extLst xmlns:a="http://schemas.openxmlformats.org/drawingml/2006/main">
              <a:ext uri="{FF2B5EF4-FFF2-40B4-BE49-F238E27FC236}">
                <a16:creationId xmlns:a16="http://schemas.microsoft.com/office/drawing/2014/main" id="{652A1EA4-B693-4A67-A86F-366272B3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935" y="4585211"/>
            <a:ext cx="9525" cy="39720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43" name="page-06-line-026">
            <a:extLst xmlns:a="http://schemas.openxmlformats.org/drawingml/2006/main">
              <a:ext uri="{FF2B5EF4-FFF2-40B4-BE49-F238E27FC236}">
                <a16:creationId xmlns:a16="http://schemas.microsoft.com/office/drawing/2014/main" id="{5A5FCA0C-32F9-449B-AB83-5D5BAE4D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103" y="4578458"/>
            <a:ext cx="9525" cy="39855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44" name="page-06-text-000-00">
            <a:extLst xmlns:a="http://schemas.openxmlformats.org/drawingml/2006/main">
              <a:ext uri="{FF2B5EF4-FFF2-40B4-BE49-F238E27FC236}">
                <a16:creationId xmlns:a16="http://schemas.microsoft.com/office/drawing/2014/main" id="{0CB666D6-A944-4DF6-8B33-5CCA6778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96" y="497671"/>
            <a:ext cx="1456558" cy="178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Final Report</a:t>
            </a:r>
          </a:p>
        </p:txBody>
      </p:sp>
      <p:sp>
        <p:nvSpPr>
          <p:cNvPr id="45" name="page-06-text-001-00">
            <a:extLst xmlns:a="http://schemas.openxmlformats.org/drawingml/2006/main">
              <a:ext uri="{FF2B5EF4-FFF2-40B4-BE49-F238E27FC236}">
                <a16:creationId xmlns:a16="http://schemas.microsoft.com/office/drawing/2014/main" id="{D8709CAE-772E-4D4C-ABA3-0C023DA9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1005812"/>
            <a:ext cx="1592677" cy="23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7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2.2 네 가지 핵심 속성</a:t>
            </a:r>
          </a:p>
        </p:txBody>
      </p:sp>
      <p:sp>
        <p:nvSpPr>
          <p:cNvPr id="46" name="page-06-text-002-00">
            <a:extLst xmlns:a="http://schemas.openxmlformats.org/drawingml/2006/main">
              <a:ext uri="{FF2B5EF4-FFF2-40B4-BE49-F238E27FC236}">
                <a16:creationId xmlns:a16="http://schemas.microsoft.com/office/drawing/2014/main" id="{E0B3399C-8DCF-42D0-957C-393E0FF4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1490818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속성</a:t>
            </a:r>
          </a:p>
        </p:txBody>
      </p:sp>
      <p:sp>
        <p:nvSpPr>
          <p:cNvPr id="47" name="page-06-text-002-01">
            <a:extLst xmlns:a="http://schemas.openxmlformats.org/drawingml/2006/main">
              <a:ext uri="{FF2B5EF4-FFF2-40B4-BE49-F238E27FC236}">
                <a16:creationId xmlns:a16="http://schemas.microsoft.com/office/drawing/2014/main" id="{E6C3EE06-DFA6-438D-A9EC-9AFB8265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441" y="1490818"/>
            <a:ext cx="66306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공의 변화</a:t>
            </a:r>
          </a:p>
        </p:txBody>
      </p:sp>
      <p:sp>
        <p:nvSpPr>
          <p:cNvPr id="48" name="page-06-text-002-02">
            <a:extLst xmlns:a="http://schemas.openxmlformats.org/drawingml/2006/main">
              <a:ext uri="{FF2B5EF4-FFF2-40B4-BE49-F238E27FC236}">
                <a16:creationId xmlns:a16="http://schemas.microsoft.com/office/drawing/2014/main" id="{E6F54E94-C289-485B-AD57-9E18F4FB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426" y="1490818"/>
            <a:ext cx="790298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1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21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원본의 변화</a:t>
            </a:r>
          </a:p>
        </p:txBody>
      </p:sp>
      <p:sp>
        <p:nvSpPr>
          <p:cNvPr id="49" name="page-06-text-002-03">
            <a:extLst xmlns:a="http://schemas.openxmlformats.org/drawingml/2006/main">
              <a:ext uri="{FF2B5EF4-FFF2-40B4-BE49-F238E27FC236}">
                <a16:creationId xmlns:a16="http://schemas.microsoft.com/office/drawing/2014/main" id="{6B2CE15A-9886-4F26-80C6-31AFCB18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180" y="1490818"/>
            <a:ext cx="66306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대표 전략</a:t>
            </a:r>
          </a:p>
        </p:txBody>
      </p:sp>
      <p:sp>
        <p:nvSpPr>
          <p:cNvPr id="50" name="page-06-text-003-00">
            <a:extLst xmlns:a="http://schemas.openxmlformats.org/drawingml/2006/main">
              <a:ext uri="{FF2B5EF4-FFF2-40B4-BE49-F238E27FC236}">
                <a16:creationId xmlns:a16="http://schemas.microsoft.com/office/drawing/2014/main" id="{F66D53C7-2ED2-4F67-9404-9AC2696A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180" y="1820724"/>
            <a:ext cx="1715560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상자·이동체를 밀어 경로 개</a:t>
            </a:r>
          </a:p>
        </p:txBody>
      </p:sp>
      <p:sp>
        <p:nvSpPr>
          <p:cNvPr id="51" name="page-06-text-004-00">
            <a:extLst xmlns:a="http://schemas.openxmlformats.org/drawingml/2006/main">
              <a:ext uri="{FF2B5EF4-FFF2-40B4-BE49-F238E27FC236}">
                <a16:creationId xmlns:a16="http://schemas.microsoft.com/office/drawing/2014/main" id="{C4EB4983-8919-4EA4-A947-C407F759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1950379"/>
            <a:ext cx="186323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1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무거움 더 큰 운동량 전달</a:t>
            </a:r>
          </a:p>
        </p:txBody>
      </p:sp>
      <p:sp>
        <p:nvSpPr>
          <p:cNvPr id="52" name="page-06-text-004-01">
            <a:extLst xmlns:a="http://schemas.openxmlformats.org/drawingml/2006/main">
              <a:ext uri="{FF2B5EF4-FFF2-40B4-BE49-F238E27FC236}">
                <a16:creationId xmlns:a16="http://schemas.microsoft.com/office/drawing/2014/main" id="{EA570AC8-0D5F-4D1A-8BEA-51E4587C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426" y="1950379"/>
            <a:ext cx="150601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이전 시 무거움이 비워짐</a:t>
            </a:r>
          </a:p>
        </p:txBody>
      </p:sp>
      <p:sp>
        <p:nvSpPr>
          <p:cNvPr id="53" name="page-06-text-005-00">
            <a:extLst xmlns:a="http://schemas.openxmlformats.org/drawingml/2006/main">
              <a:ext uri="{FF2B5EF4-FFF2-40B4-BE49-F238E27FC236}">
                <a16:creationId xmlns:a16="http://schemas.microsoft.com/office/drawing/2014/main" id="{B9F29214-DAC8-40AD-B656-E76C7E01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180" y="2080035"/>
            <a:ext cx="242078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9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89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방</a:t>
            </a:r>
          </a:p>
        </p:txBody>
      </p:sp>
      <p:sp>
        <p:nvSpPr>
          <p:cNvPr id="54" name="page-06-text-006-00">
            <a:extLst xmlns:a="http://schemas.openxmlformats.org/drawingml/2006/main">
              <a:ext uri="{FF2B5EF4-FFF2-40B4-BE49-F238E27FC236}">
                <a16:creationId xmlns:a16="http://schemas.microsoft.com/office/drawing/2014/main" id="{983EFCBE-A0A8-43E6-BD80-968575C1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2445366"/>
            <a:ext cx="36936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2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탄성</a:t>
            </a:r>
          </a:p>
        </p:txBody>
      </p:sp>
      <p:sp>
        <p:nvSpPr>
          <p:cNvPr id="55" name="page-06-text-006-01">
            <a:extLst xmlns:a="http://schemas.openxmlformats.org/drawingml/2006/main">
              <a:ext uri="{FF2B5EF4-FFF2-40B4-BE49-F238E27FC236}">
                <a16:creationId xmlns:a16="http://schemas.microsoft.com/office/drawing/2014/main" id="{88345305-C626-4D09-8689-52D4C0E7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441" y="2445366"/>
            <a:ext cx="2898096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충돌 에너지 보존 강화 이전 시 탄성이 비워짐</a:t>
            </a:r>
          </a:p>
        </p:txBody>
      </p:sp>
      <p:sp>
        <p:nvSpPr>
          <p:cNvPr id="56" name="page-06-text-006-02">
            <a:extLst xmlns:a="http://schemas.openxmlformats.org/drawingml/2006/main">
              <a:ext uri="{FF2B5EF4-FFF2-40B4-BE49-F238E27FC236}">
                <a16:creationId xmlns:a16="http://schemas.microsoft.com/office/drawing/2014/main" id="{98A6C004-053C-40A8-B39A-1C2FAEA3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180" y="2445366"/>
            <a:ext cx="1544568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벽·젤리 반사로 방향 전환</a:t>
            </a:r>
          </a:p>
        </p:txBody>
      </p:sp>
      <p:sp>
        <p:nvSpPr>
          <p:cNvPr id="57" name="page-06-text-007-00">
            <a:extLst xmlns:a="http://schemas.openxmlformats.org/drawingml/2006/main">
              <a:ext uri="{FF2B5EF4-FFF2-40B4-BE49-F238E27FC236}">
                <a16:creationId xmlns:a16="http://schemas.microsoft.com/office/drawing/2014/main" id="{DD040F7A-B6B2-4047-BE85-1B167187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441" y="2810697"/>
            <a:ext cx="148095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점착면에서 튕기지 않고</a:t>
            </a:r>
          </a:p>
        </p:txBody>
      </p:sp>
      <p:sp>
        <p:nvSpPr>
          <p:cNvPr id="58" name="page-06-text-007-01">
            <a:extLst xmlns:a="http://schemas.openxmlformats.org/drawingml/2006/main">
              <a:ext uri="{FF2B5EF4-FFF2-40B4-BE49-F238E27FC236}">
                <a16:creationId xmlns:a16="http://schemas.microsoft.com/office/drawing/2014/main" id="{A2FB42CD-B006-4BFD-82DE-07508959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180" y="2810697"/>
            <a:ext cx="171764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정렬 지점 확보와 다중 샷 준</a:t>
            </a:r>
          </a:p>
        </p:txBody>
      </p:sp>
      <p:sp>
        <p:nvSpPr>
          <p:cNvPr id="59" name="page-06-text-008-00">
            <a:extLst xmlns:a="http://schemas.openxmlformats.org/drawingml/2006/main">
              <a:ext uri="{FF2B5EF4-FFF2-40B4-BE49-F238E27FC236}">
                <a16:creationId xmlns:a16="http://schemas.microsoft.com/office/drawing/2014/main" id="{0B3CE7AD-424A-450D-B0C7-8258994A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2940353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점착</a:t>
            </a:r>
          </a:p>
        </p:txBody>
      </p:sp>
      <p:sp>
        <p:nvSpPr>
          <p:cNvPr id="60" name="page-06-text-008-01">
            <a:extLst xmlns:a="http://schemas.openxmlformats.org/drawingml/2006/main">
              <a:ext uri="{FF2B5EF4-FFF2-40B4-BE49-F238E27FC236}">
                <a16:creationId xmlns:a16="http://schemas.microsoft.com/office/drawing/2014/main" id="{49533BB5-041C-438C-9126-82853A99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426" y="2940353"/>
            <a:ext cx="137811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이전 시 점착이 비워짐</a:t>
            </a:r>
          </a:p>
        </p:txBody>
      </p:sp>
      <p:sp>
        <p:nvSpPr>
          <p:cNvPr id="61" name="page-06-text-009-00">
            <a:extLst xmlns:a="http://schemas.openxmlformats.org/drawingml/2006/main">
              <a:ext uri="{FF2B5EF4-FFF2-40B4-BE49-F238E27FC236}">
                <a16:creationId xmlns:a16="http://schemas.microsoft.com/office/drawing/2014/main" id="{254C7E63-DBB9-4629-82AE-E675E4CB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441" y="3070008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정지</a:t>
            </a:r>
          </a:p>
        </p:txBody>
      </p:sp>
      <p:sp>
        <p:nvSpPr>
          <p:cNvPr id="62" name="page-06-text-009-01">
            <a:extLst xmlns:a="http://schemas.openxmlformats.org/drawingml/2006/main">
              <a:ext uri="{FF2B5EF4-FFF2-40B4-BE49-F238E27FC236}">
                <a16:creationId xmlns:a16="http://schemas.microsoft.com/office/drawing/2014/main" id="{692A558B-A627-4967-8F20-C8DABAF1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180" y="3070008"/>
            <a:ext cx="242078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9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89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비</a:t>
            </a:r>
          </a:p>
        </p:txBody>
      </p:sp>
      <p:sp>
        <p:nvSpPr>
          <p:cNvPr id="63" name="page-06-text-010-00">
            <a:extLst xmlns:a="http://schemas.openxmlformats.org/drawingml/2006/main">
              <a:ext uri="{FF2B5EF4-FFF2-40B4-BE49-F238E27FC236}">
                <a16:creationId xmlns:a16="http://schemas.microsoft.com/office/drawing/2014/main" id="{7BD13D31-8D6F-426A-9BB1-E46252C4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180" y="3435339"/>
            <a:ext cx="1721900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9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풍선→스위치→문 인과 연</a:t>
            </a:r>
          </a:p>
        </p:txBody>
      </p:sp>
      <p:sp>
        <p:nvSpPr>
          <p:cNvPr id="64" name="page-06-text-011-00">
            <a:extLst xmlns:a="http://schemas.openxmlformats.org/drawingml/2006/main">
              <a:ext uri="{FF2B5EF4-FFF2-40B4-BE49-F238E27FC236}">
                <a16:creationId xmlns:a16="http://schemas.microsoft.com/office/drawing/2014/main" id="{45AD47CC-C186-4D5F-AFA3-701B5EBB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3564995"/>
            <a:ext cx="3766835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6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뾰족함 풍선 충돌 시 1회 소모 이전 시 뾰족함이 비워짐</a:t>
            </a:r>
          </a:p>
        </p:txBody>
      </p:sp>
      <p:sp>
        <p:nvSpPr>
          <p:cNvPr id="65" name="page-06-text-012-00">
            <a:extLst xmlns:a="http://schemas.openxmlformats.org/drawingml/2006/main">
              <a:ext uri="{FF2B5EF4-FFF2-40B4-BE49-F238E27FC236}">
                <a16:creationId xmlns:a16="http://schemas.microsoft.com/office/drawing/2014/main" id="{62C17680-ED07-402B-8F61-3339627C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180" y="3694650"/>
            <a:ext cx="242078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9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89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결</a:t>
            </a:r>
          </a:p>
        </p:txBody>
      </p:sp>
      <p:sp>
        <p:nvSpPr>
          <p:cNvPr id="66" name="page-06-text-013-00">
            <a:extLst xmlns:a="http://schemas.openxmlformats.org/drawingml/2006/main">
              <a:ext uri="{FF2B5EF4-FFF2-40B4-BE49-F238E27FC236}">
                <a16:creationId xmlns:a16="http://schemas.microsoft.com/office/drawing/2014/main" id="{9AFB8EBC-D644-49F7-A157-6CEDACA4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4175618"/>
            <a:ext cx="1591144" cy="23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3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73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2.3 10단계 학습 곡선</a:t>
            </a:r>
          </a:p>
        </p:txBody>
      </p:sp>
      <p:sp>
        <p:nvSpPr>
          <p:cNvPr id="67" name="page-06-text-014-00">
            <a:extLst xmlns:a="http://schemas.openxmlformats.org/drawingml/2006/main">
              <a:ext uri="{FF2B5EF4-FFF2-40B4-BE49-F238E27FC236}">
                <a16:creationId xmlns:a16="http://schemas.microsoft.com/office/drawing/2014/main" id="{1BBFF290-5B65-4FE2-AF2E-65B8FE8B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4660624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단계</a:t>
            </a:r>
          </a:p>
        </p:txBody>
      </p:sp>
      <p:sp>
        <p:nvSpPr>
          <p:cNvPr id="68" name="page-06-text-014-01">
            <a:extLst xmlns:a="http://schemas.openxmlformats.org/drawingml/2006/main">
              <a:ext uri="{FF2B5EF4-FFF2-40B4-BE49-F238E27FC236}">
                <a16:creationId xmlns:a16="http://schemas.microsoft.com/office/drawing/2014/main" id="{F2AA21E1-8D60-461E-BFEC-7E79E208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4660624"/>
            <a:ext cx="66306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핵심 기믹</a:t>
            </a:r>
          </a:p>
        </p:txBody>
      </p:sp>
      <p:sp>
        <p:nvSpPr>
          <p:cNvPr id="69" name="page-06-text-014-02">
            <a:extLst xmlns:a="http://schemas.openxmlformats.org/drawingml/2006/main">
              <a:ext uri="{FF2B5EF4-FFF2-40B4-BE49-F238E27FC236}">
                <a16:creationId xmlns:a16="http://schemas.microsoft.com/office/drawing/2014/main" id="{4FFDAB29-D243-4BF6-A97B-19E7744C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4660624"/>
            <a:ext cx="66306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학습 목표</a:t>
            </a:r>
          </a:p>
        </p:txBody>
      </p:sp>
      <p:sp>
        <p:nvSpPr>
          <p:cNvPr id="70" name="page-06-text-015-00">
            <a:extLst xmlns:a="http://schemas.openxmlformats.org/drawingml/2006/main">
              <a:ext uri="{FF2B5EF4-FFF2-40B4-BE49-F238E27FC236}">
                <a16:creationId xmlns:a16="http://schemas.microsoft.com/office/drawing/2014/main" id="{4D960929-C250-4603-BCDB-0A6E8DF3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4990530"/>
            <a:ext cx="228600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02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1" name="page-06-text-015-01">
            <a:extLst xmlns:a="http://schemas.openxmlformats.org/drawingml/2006/main">
              <a:ext uri="{FF2B5EF4-FFF2-40B4-BE49-F238E27FC236}">
                <a16:creationId xmlns:a16="http://schemas.microsoft.com/office/drawing/2014/main" id="{BD9B79A5-BD84-4761-A8C0-3CD76B1A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4990530"/>
            <a:ext cx="49726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7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무거움</a:t>
            </a:r>
          </a:p>
        </p:txBody>
      </p:sp>
      <p:sp>
        <p:nvSpPr>
          <p:cNvPr id="72" name="page-06-text-015-02">
            <a:extLst xmlns:a="http://schemas.openxmlformats.org/drawingml/2006/main">
              <a:ext uri="{FF2B5EF4-FFF2-40B4-BE49-F238E27FC236}">
                <a16:creationId xmlns:a16="http://schemas.microsoft.com/office/drawing/2014/main" id="{F984C4C4-B3C5-4983-A88B-E9A35DF5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4990530"/>
            <a:ext cx="108422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0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질량과 상자 이동</a:t>
            </a:r>
          </a:p>
        </p:txBody>
      </p:sp>
      <p:sp>
        <p:nvSpPr>
          <p:cNvPr id="73" name="page-06-text-016-00">
            <a:extLst xmlns:a="http://schemas.openxmlformats.org/drawingml/2006/main">
              <a:ext uri="{FF2B5EF4-FFF2-40B4-BE49-F238E27FC236}">
                <a16:creationId xmlns:a16="http://schemas.microsoft.com/office/drawing/2014/main" id="{FC81DD4C-535D-4C39-83FA-F85B5B1E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5355861"/>
            <a:ext cx="228600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02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4" name="page-06-text-016-01">
            <a:extLst xmlns:a="http://schemas.openxmlformats.org/drawingml/2006/main">
              <a:ext uri="{FF2B5EF4-FFF2-40B4-BE49-F238E27FC236}">
                <a16:creationId xmlns:a16="http://schemas.microsoft.com/office/drawing/2014/main" id="{3EE6A685-C7C3-4A1A-84B2-ADCFE6E3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5355861"/>
            <a:ext cx="36936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2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탄성</a:t>
            </a:r>
          </a:p>
        </p:txBody>
      </p:sp>
      <p:sp>
        <p:nvSpPr>
          <p:cNvPr id="75" name="page-06-text-016-02">
            <a:extLst xmlns:a="http://schemas.openxmlformats.org/drawingml/2006/main">
              <a:ext uri="{FF2B5EF4-FFF2-40B4-BE49-F238E27FC236}">
                <a16:creationId xmlns:a16="http://schemas.microsoft.com/office/drawing/2014/main" id="{9B96FD55-AC81-40CC-A966-DB6267B6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5355861"/>
            <a:ext cx="1504950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충돌면 법선과 반사 경로</a:t>
            </a:r>
          </a:p>
        </p:txBody>
      </p:sp>
      <p:sp>
        <p:nvSpPr>
          <p:cNvPr id="76" name="page-06-text-017-00">
            <a:extLst xmlns:a="http://schemas.openxmlformats.org/drawingml/2006/main">
              <a:ext uri="{FF2B5EF4-FFF2-40B4-BE49-F238E27FC236}">
                <a16:creationId xmlns:a16="http://schemas.microsoft.com/office/drawing/2014/main" id="{A670B4BD-A71B-441B-A2DE-7AA94813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5721192"/>
            <a:ext cx="228600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02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7" name="page-06-text-017-01">
            <a:extLst xmlns:a="http://schemas.openxmlformats.org/drawingml/2006/main">
              <a:ext uri="{FF2B5EF4-FFF2-40B4-BE49-F238E27FC236}">
                <a16:creationId xmlns:a16="http://schemas.microsoft.com/office/drawing/2014/main" id="{1107207F-8D1A-4601-B082-56001A82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5721192"/>
            <a:ext cx="95753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문·스위치·점착</a:t>
            </a:r>
          </a:p>
        </p:txBody>
      </p:sp>
      <p:sp>
        <p:nvSpPr>
          <p:cNvPr id="78" name="page-06-text-017-02">
            <a:extLst xmlns:a="http://schemas.openxmlformats.org/drawingml/2006/main">
              <a:ext uri="{FF2B5EF4-FFF2-40B4-BE49-F238E27FC236}">
                <a16:creationId xmlns:a16="http://schemas.microsoft.com/office/drawing/2014/main" id="{A47EB969-4930-43C9-8FB9-B60768AF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5721192"/>
            <a:ext cx="1084866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0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장치 인과와 우회</a:t>
            </a:r>
          </a:p>
        </p:txBody>
      </p:sp>
      <p:sp>
        <p:nvSpPr>
          <p:cNvPr id="79" name="page-06-text-018-00">
            <a:extLst xmlns:a="http://schemas.openxmlformats.org/drawingml/2006/main">
              <a:ext uri="{FF2B5EF4-FFF2-40B4-BE49-F238E27FC236}">
                <a16:creationId xmlns:a16="http://schemas.microsoft.com/office/drawing/2014/main" id="{41061EC1-C7B8-49A9-8E90-B46653E0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6086523"/>
            <a:ext cx="228600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02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0" name="page-06-text-018-01">
            <a:extLst xmlns:a="http://schemas.openxmlformats.org/drawingml/2006/main">
              <a:ext uri="{FF2B5EF4-FFF2-40B4-BE49-F238E27FC236}">
                <a16:creationId xmlns:a16="http://schemas.microsoft.com/office/drawing/2014/main" id="{5AF95C6E-91D5-49B4-A9E2-C16754CA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6086523"/>
            <a:ext cx="79137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0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뾰족함·풍선</a:t>
            </a:r>
          </a:p>
        </p:txBody>
      </p:sp>
      <p:sp>
        <p:nvSpPr>
          <p:cNvPr id="81" name="page-06-text-018-02">
            <a:extLst xmlns:a="http://schemas.openxmlformats.org/drawingml/2006/main">
              <a:ext uri="{FF2B5EF4-FFF2-40B4-BE49-F238E27FC236}">
                <a16:creationId xmlns:a16="http://schemas.microsoft.com/office/drawing/2014/main" id="{DD238BCD-F6DD-4AC0-A0A6-8F8F1A85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6086523"/>
            <a:ext cx="108474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0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소모 속성과 연쇄</a:t>
            </a:r>
          </a:p>
        </p:txBody>
      </p:sp>
      <p:sp>
        <p:nvSpPr>
          <p:cNvPr id="82" name="page-06-text-019-00">
            <a:extLst xmlns:a="http://schemas.openxmlformats.org/drawingml/2006/main">
              <a:ext uri="{FF2B5EF4-FFF2-40B4-BE49-F238E27FC236}">
                <a16:creationId xmlns:a16="http://schemas.microsoft.com/office/drawing/2014/main" id="{237C1842-258B-4882-9593-A009CCBE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6451855"/>
            <a:ext cx="228600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02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83" name="page-06-text-019-01">
            <a:extLst xmlns:a="http://schemas.openxmlformats.org/drawingml/2006/main">
              <a:ext uri="{FF2B5EF4-FFF2-40B4-BE49-F238E27FC236}">
                <a16:creationId xmlns:a16="http://schemas.microsoft.com/office/drawing/2014/main" id="{2108D11F-E496-40E8-AA67-84A4A95D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6451855"/>
            <a:ext cx="79059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비워진 속성</a:t>
            </a:r>
          </a:p>
        </p:txBody>
      </p:sp>
      <p:sp>
        <p:nvSpPr>
          <p:cNvPr id="84" name="page-06-text-019-02">
            <a:extLst xmlns:a="http://schemas.openxmlformats.org/drawingml/2006/main">
              <a:ext uri="{FF2B5EF4-FFF2-40B4-BE49-F238E27FC236}">
                <a16:creationId xmlns:a16="http://schemas.microsoft.com/office/drawing/2014/main" id="{75CD9136-873C-446F-B20C-AAFC4BB0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6451855"/>
            <a:ext cx="141491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속성 이전 뒤 원본 변화</a:t>
            </a:r>
          </a:p>
        </p:txBody>
      </p:sp>
      <p:sp>
        <p:nvSpPr>
          <p:cNvPr id="85" name="page-06-text-020-00">
            <a:extLst xmlns:a="http://schemas.openxmlformats.org/drawingml/2006/main">
              <a:ext uri="{FF2B5EF4-FFF2-40B4-BE49-F238E27FC236}">
                <a16:creationId xmlns:a16="http://schemas.microsoft.com/office/drawing/2014/main" id="{877B0C86-F4B8-4621-A8C6-182B8965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6817186"/>
            <a:ext cx="228600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02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86" name="page-06-text-020-01">
            <a:extLst xmlns:a="http://schemas.openxmlformats.org/drawingml/2006/main">
              <a:ext uri="{FF2B5EF4-FFF2-40B4-BE49-F238E27FC236}">
                <a16:creationId xmlns:a16="http://schemas.microsoft.com/office/drawing/2014/main" id="{515ECB51-5CE5-4B93-B924-E59CFDA0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6817186"/>
            <a:ext cx="918656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1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파워 슬라이더</a:t>
            </a:r>
          </a:p>
        </p:txBody>
      </p:sp>
      <p:sp>
        <p:nvSpPr>
          <p:cNvPr id="87" name="page-06-text-020-02">
            <a:extLst xmlns:a="http://schemas.openxmlformats.org/drawingml/2006/main">
              <a:ext uri="{FF2B5EF4-FFF2-40B4-BE49-F238E27FC236}">
                <a16:creationId xmlns:a16="http://schemas.microsoft.com/office/drawing/2014/main" id="{5B8C07DE-09ED-4ADC-AC78-2DA26D9B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6817186"/>
            <a:ext cx="918125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1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감속과 재가속</a:t>
            </a:r>
          </a:p>
        </p:txBody>
      </p:sp>
      <p:sp>
        <p:nvSpPr>
          <p:cNvPr id="88" name="page-06-text-021-00">
            <a:extLst xmlns:a="http://schemas.openxmlformats.org/drawingml/2006/main">
              <a:ext uri="{FF2B5EF4-FFF2-40B4-BE49-F238E27FC236}">
                <a16:creationId xmlns:a16="http://schemas.microsoft.com/office/drawing/2014/main" id="{12A67995-EE07-4BCA-9B6F-533119DD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7182517"/>
            <a:ext cx="228600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02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89" name="page-06-text-021-01">
            <a:extLst xmlns:a="http://schemas.openxmlformats.org/drawingml/2006/main">
              <a:ext uri="{FF2B5EF4-FFF2-40B4-BE49-F238E27FC236}">
                <a16:creationId xmlns:a16="http://schemas.microsoft.com/office/drawing/2014/main" id="{823DF033-E649-42E5-AE81-E90930D4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7182517"/>
            <a:ext cx="535336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5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잔류 공</a:t>
            </a:r>
          </a:p>
        </p:txBody>
      </p:sp>
      <p:sp>
        <p:nvSpPr>
          <p:cNvPr id="90" name="page-06-text-021-02">
            <a:extLst xmlns:a="http://schemas.openxmlformats.org/drawingml/2006/main">
              <a:ext uri="{FF2B5EF4-FFF2-40B4-BE49-F238E27FC236}">
                <a16:creationId xmlns:a16="http://schemas.microsoft.com/office/drawing/2014/main" id="{BAA2B804-A5C7-4131-92AD-3D2699F3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7182517"/>
            <a:ext cx="1963676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이전 공을 다음 샷 자원으로 사용</a:t>
            </a:r>
          </a:p>
        </p:txBody>
      </p:sp>
      <p:sp>
        <p:nvSpPr>
          <p:cNvPr id="91" name="page-06-text-022-00">
            <a:extLst xmlns:a="http://schemas.openxmlformats.org/drawingml/2006/main">
              <a:ext uri="{FF2B5EF4-FFF2-40B4-BE49-F238E27FC236}">
                <a16:creationId xmlns:a16="http://schemas.microsoft.com/office/drawing/2014/main" id="{C3ED14A5-669C-4151-A318-297BAEE7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7547848"/>
            <a:ext cx="228600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02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92" name="page-06-text-022-01">
            <a:extLst xmlns:a="http://schemas.openxmlformats.org/drawingml/2006/main">
              <a:ext uri="{FF2B5EF4-FFF2-40B4-BE49-F238E27FC236}">
                <a16:creationId xmlns:a16="http://schemas.microsoft.com/office/drawing/2014/main" id="{BD3D28FA-8419-4C37-9FDE-7CF2044C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7547848"/>
            <a:ext cx="45148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7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3연쇄</a:t>
            </a:r>
          </a:p>
        </p:txBody>
      </p:sp>
      <p:sp>
        <p:nvSpPr>
          <p:cNvPr id="93" name="page-06-text-022-02">
            <a:extLst xmlns:a="http://schemas.openxmlformats.org/drawingml/2006/main">
              <a:ext uri="{FF2B5EF4-FFF2-40B4-BE49-F238E27FC236}">
                <a16:creationId xmlns:a16="http://schemas.microsoft.com/office/drawing/2014/main" id="{91A9B17C-88A6-4E9A-8EDF-0C6CC614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7547848"/>
            <a:ext cx="167185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깊은 다중 충돌과 창의 점수</a:t>
            </a:r>
          </a:p>
        </p:txBody>
      </p:sp>
      <p:sp>
        <p:nvSpPr>
          <p:cNvPr id="94" name="page-06-text-023-00">
            <a:extLst xmlns:a="http://schemas.openxmlformats.org/drawingml/2006/main">
              <a:ext uri="{FF2B5EF4-FFF2-40B4-BE49-F238E27FC236}">
                <a16:creationId xmlns:a16="http://schemas.microsoft.com/office/drawing/2014/main" id="{E5FD1561-EB2A-4A31-A798-48E00A51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7913180"/>
            <a:ext cx="228600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02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95" name="page-06-text-023-01">
            <a:extLst xmlns:a="http://schemas.openxmlformats.org/drawingml/2006/main">
              <a:ext uri="{FF2B5EF4-FFF2-40B4-BE49-F238E27FC236}">
                <a16:creationId xmlns:a16="http://schemas.microsoft.com/office/drawing/2014/main" id="{73F652CF-366F-4CED-AD23-97D029A3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7913180"/>
            <a:ext cx="790298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회전 반사판</a:t>
            </a:r>
          </a:p>
        </p:txBody>
      </p:sp>
      <p:sp>
        <p:nvSpPr>
          <p:cNvPr id="96" name="page-06-text-023-02">
            <a:extLst xmlns:a="http://schemas.openxmlformats.org/drawingml/2006/main">
              <a:ext uri="{FF2B5EF4-FFF2-40B4-BE49-F238E27FC236}">
                <a16:creationId xmlns:a16="http://schemas.microsoft.com/office/drawing/2014/main" id="{1B2C51BE-562E-4C2E-84E9-3AFFBA5E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7913180"/>
            <a:ext cx="137725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장치 방향의 상태 누적</a:t>
            </a:r>
          </a:p>
        </p:txBody>
      </p:sp>
      <p:sp>
        <p:nvSpPr>
          <p:cNvPr id="97" name="page-06-text-024-00">
            <a:extLst xmlns:a="http://schemas.openxmlformats.org/drawingml/2006/main">
              <a:ext uri="{FF2B5EF4-FFF2-40B4-BE49-F238E27FC236}">
                <a16:creationId xmlns:a16="http://schemas.microsoft.com/office/drawing/2014/main" id="{682E0A6B-437B-4935-8251-1C67B5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8278511"/>
            <a:ext cx="278916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5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775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8" name="page-06-text-024-01">
            <a:extLst xmlns:a="http://schemas.openxmlformats.org/drawingml/2006/main">
              <a:ext uri="{FF2B5EF4-FFF2-40B4-BE49-F238E27FC236}">
                <a16:creationId xmlns:a16="http://schemas.microsoft.com/office/drawing/2014/main" id="{687313E5-3442-44E9-9DB5-533D67BC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8278511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통합</a:t>
            </a:r>
          </a:p>
        </p:txBody>
      </p:sp>
      <p:sp>
        <p:nvSpPr>
          <p:cNvPr id="99" name="page-06-text-024-02">
            <a:extLst xmlns:a="http://schemas.openxmlformats.org/drawingml/2006/main">
              <a:ext uri="{FF2B5EF4-FFF2-40B4-BE49-F238E27FC236}">
                <a16:creationId xmlns:a16="http://schemas.microsoft.com/office/drawing/2014/main" id="{16E43501-3B78-4E74-80F6-D377A358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8278511"/>
            <a:ext cx="167227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속성·연쇄·보상 선택의 종합</a:t>
            </a:r>
          </a:p>
        </p:txBody>
      </p:sp>
      <p:sp>
        <p:nvSpPr>
          <p:cNvPr id="100" name="page-06-text-025-00">
            <a:extLst xmlns:a="http://schemas.openxmlformats.org/drawingml/2006/main">
              <a:ext uri="{FF2B5EF4-FFF2-40B4-BE49-F238E27FC236}">
                <a16:creationId xmlns:a16="http://schemas.microsoft.com/office/drawing/2014/main" id="{B348956D-9E2C-4E09-A737-46EAD256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896" y="10018730"/>
            <a:ext cx="184703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5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45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Final Report · Page 6</a:t>
            </a:r>
          </a:p>
        </p:txBody>
      </p:sp>
    </p:spTree>
    <p:extLst>
      <p:ext uri="{BB962C8B-B14F-4D97-AF65-F5344CB8AC3E}">
        <p14:creationId xmlns:p14="http://schemas.microsoft.com/office/powerpoint/2010/main" val="12005566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12324cb7b45a8"/>
          <a:srcRect xmlns:a="http://schemas.openxmlformats.org/drawingml/2006/main" l="14648" t="0" r="146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lide-7-background">
            <a:extLst xmlns:a="http://schemas.openxmlformats.org/drawingml/2006/main">
              <a:ext uri="{FF2B5EF4-FFF2-40B4-BE49-F238E27FC236}">
                <a16:creationId xmlns:a16="http://schemas.microsoft.com/office/drawing/2014/main" id="{A701D176-B872-47CB-AC30-EA3DD4D1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ceeab953b41f7"/>
          <a:srcRect xmlns:a="http://schemas.openxmlformats.org/drawingml/2006/main" l="4222" t="0" r="42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35972" y="971741"/>
            <a:ext cx="2090906" cy="4945815"/>
          </a:xfrm>
          <a:prstGeom xmlns:a="http://schemas.openxmlformats.org/drawingml/2006/main" prst="rect">
            <a:avLst/>
          </a:prstGeom>
        </p:spPr>
      </p:pic>
      <p:sp>
        <p:nvSpPr>
          <p:cNvPr id="4" name="page-07-text-000-00">
            <a:extLst xmlns:a="http://schemas.openxmlformats.org/drawingml/2006/main">
              <a:ext uri="{FF2B5EF4-FFF2-40B4-BE49-F238E27FC236}">
                <a16:creationId xmlns:a16="http://schemas.microsoft.com/office/drawing/2014/main" id="{F2C727EE-7703-4BBB-9430-93A2C629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96" y="497671"/>
            <a:ext cx="1456558" cy="178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Final Report</a:t>
            </a:r>
          </a:p>
        </p:txBody>
      </p:sp>
      <p:sp>
        <p:nvSpPr>
          <p:cNvPr id="5" name="page-07-text-001-00">
            <a:extLst xmlns:a="http://schemas.openxmlformats.org/drawingml/2006/main">
              <a:ext uri="{FF2B5EF4-FFF2-40B4-BE49-F238E27FC236}">
                <a16:creationId xmlns:a16="http://schemas.microsoft.com/office/drawing/2014/main" id="{193C4BF7-5C37-44F3-A0A3-0D2E7FE1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302" y="6038038"/>
            <a:ext cx="793251" cy="171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75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75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10단계 섬 지도</a:t>
            </a:r>
          </a:p>
        </p:txBody>
      </p:sp>
      <p:sp>
        <p:nvSpPr>
          <p:cNvPr id="6" name="page-07-text-002-00">
            <a:extLst xmlns:a="http://schemas.openxmlformats.org/drawingml/2006/main">
              <a:ext uri="{FF2B5EF4-FFF2-40B4-BE49-F238E27FC236}">
                <a16:creationId xmlns:a16="http://schemas.microsoft.com/office/drawing/2014/main" id="{1451AEF3-6BCB-4046-8ECD-7ECF0713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6446614"/>
            <a:ext cx="1201336" cy="23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4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84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2.4 반복 플레이</a:t>
            </a:r>
          </a:p>
        </p:txBody>
      </p:sp>
      <p:sp>
        <p:nvSpPr>
          <p:cNvPr id="7" name="page-07-text-003-00">
            <a:extLst xmlns:a="http://schemas.openxmlformats.org/drawingml/2006/main">
              <a:ext uri="{FF2B5EF4-FFF2-40B4-BE49-F238E27FC236}">
                <a16:creationId xmlns:a16="http://schemas.microsoft.com/office/drawing/2014/main" id="{B7ACB332-3BE5-4ACC-9810-C89BB629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6873545"/>
            <a:ext cx="3837434" cy="215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단계별 4패턴: 같은 기믹을 다른 배치와 조건으로 다시 해석한다.</a:t>
            </a:r>
          </a:p>
        </p:txBody>
      </p:sp>
      <p:sp>
        <p:nvSpPr>
          <p:cNvPr id="8" name="page-07-text-004-00">
            <a:extLst xmlns:a="http://schemas.openxmlformats.org/drawingml/2006/main">
              <a:ext uri="{FF2B5EF4-FFF2-40B4-BE49-F238E27FC236}">
                <a16:creationId xmlns:a16="http://schemas.microsoft.com/office/drawing/2014/main" id="{DB240B12-5576-45BB-B7E8-58687FA8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7146362"/>
            <a:ext cx="4816156" cy="215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런 보상: 단계 완료 뒤 결정론적 세 후보 중 하나를 선택하며 A/B 저장에 반영한다.</a:t>
            </a:r>
          </a:p>
        </p:txBody>
      </p:sp>
      <p:sp>
        <p:nvSpPr>
          <p:cNvPr id="9" name="page-07-text-005-00">
            <a:extLst xmlns:a="http://schemas.openxmlformats.org/drawingml/2006/main">
              <a:ext uri="{FF2B5EF4-FFF2-40B4-BE49-F238E27FC236}">
                <a16:creationId xmlns:a16="http://schemas.microsoft.com/office/drawing/2014/main" id="{B95E651C-9DF4-4789-89E7-FF63ACD4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7419179"/>
            <a:ext cx="4940968" cy="215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오늘의 도전: KST 날짜와 버전을 결합한 고정 seed로 같은 날 같은 도전을 재현한다.</a:t>
            </a:r>
          </a:p>
        </p:txBody>
      </p:sp>
      <p:sp>
        <p:nvSpPr>
          <p:cNvPr id="10" name="page-07-text-006-00">
            <a:extLst xmlns:a="http://schemas.openxmlformats.org/drawingml/2006/main">
              <a:ext uri="{FF2B5EF4-FFF2-40B4-BE49-F238E27FC236}">
                <a16:creationId xmlns:a16="http://schemas.microsoft.com/office/drawing/2014/main" id="{F1E04452-E98D-44A7-958B-CD150E79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7691995"/>
            <a:ext cx="5721375" cy="215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리플레이: 단일·다중 샷 입력, 이벤트, 결과 지문을 보존하고 공유 코드의 무결성과 물리 버전을 확</a:t>
            </a:r>
          </a:p>
        </p:txBody>
      </p:sp>
      <p:sp>
        <p:nvSpPr>
          <p:cNvPr id="11" name="page-07-text-007-00">
            <a:extLst xmlns:a="http://schemas.openxmlformats.org/drawingml/2006/main">
              <a:ext uri="{FF2B5EF4-FFF2-40B4-BE49-F238E27FC236}">
                <a16:creationId xmlns:a16="http://schemas.microsoft.com/office/drawing/2014/main" id="{CD612D0F-922B-4142-83D7-80A612D4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113" y="7965852"/>
            <a:ext cx="53857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인한다.</a:t>
            </a:r>
          </a:p>
        </p:txBody>
      </p:sp>
      <p:sp>
        <p:nvSpPr>
          <p:cNvPr id="12" name="page-07-text-008-00">
            <a:extLst xmlns:a="http://schemas.openxmlformats.org/drawingml/2006/main">
              <a:ext uri="{FF2B5EF4-FFF2-40B4-BE49-F238E27FC236}">
                <a16:creationId xmlns:a16="http://schemas.microsoft.com/office/drawing/2014/main" id="{DFB53E24-0A7E-4406-8A02-71DEAC7F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8237629"/>
            <a:ext cx="5503856" cy="215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4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설정 14종: 충돌 정보, 실패 인과, 진동, 저모션, 화면 흔들림, 효과음, 배경음악 등을 조절한다.</a:t>
            </a:r>
          </a:p>
        </p:txBody>
      </p:sp>
      <p:sp>
        <p:nvSpPr>
          <p:cNvPr id="13" name="page-07-text-009-00">
            <a:extLst xmlns:a="http://schemas.openxmlformats.org/drawingml/2006/main">
              <a:ext uri="{FF2B5EF4-FFF2-40B4-BE49-F238E27FC236}">
                <a16:creationId xmlns:a16="http://schemas.microsoft.com/office/drawing/2014/main" id="{9AF60D6F-F098-44FB-9802-66F648C5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896" y="10018730"/>
            <a:ext cx="184703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5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45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Final Report · Page 7</a:t>
            </a:r>
          </a:p>
        </p:txBody>
      </p:sp>
    </p:spTree>
    <p:extLst>
      <p:ext uri="{BB962C8B-B14F-4D97-AF65-F5344CB8AC3E}">
        <p14:creationId xmlns:p14="http://schemas.microsoft.com/office/powerpoint/2010/main" val="6505487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b705bfbc14a16"/>
          <a:srcRect xmlns:a="http://schemas.openxmlformats.org/drawingml/2006/main" l="14648" t="0" r="146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lide-8-background">
            <a:extLst xmlns:a="http://schemas.openxmlformats.org/drawingml/2006/main">
              <a:ext uri="{FF2B5EF4-FFF2-40B4-BE49-F238E27FC236}">
                <a16:creationId xmlns:a16="http://schemas.microsoft.com/office/drawing/2014/main" id="{1376520D-A2BB-4193-A090-972C9A8F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d9c90b8588482f"/>
          <a:srcRect xmlns:a="http://schemas.openxmlformats.org/drawingml/2006/main" l="4222" t="0" r="42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35972" y="971741"/>
            <a:ext cx="2090906" cy="4945815"/>
          </a:xfrm>
          <a:prstGeom xmlns:a="http://schemas.openxmlformats.org/drawingml/2006/main" prst="rect">
            <a:avLst/>
          </a:prstGeom>
        </p:spPr>
      </p:pic>
      <p:sp>
        <p:nvSpPr>
          <p:cNvPr id="4" name="page-08-text-000-00">
            <a:extLst xmlns:a="http://schemas.openxmlformats.org/drawingml/2006/main">
              <a:ext uri="{FF2B5EF4-FFF2-40B4-BE49-F238E27FC236}">
                <a16:creationId xmlns:a16="http://schemas.microsoft.com/office/drawing/2014/main" id="{1B1FBC7E-2908-4CD4-8D8E-C8498E31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96" y="497671"/>
            <a:ext cx="1456558" cy="178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Final Report</a:t>
            </a:r>
          </a:p>
        </p:txBody>
      </p:sp>
      <p:sp>
        <p:nvSpPr>
          <p:cNvPr id="5" name="page-08-text-001-00">
            <a:extLst xmlns:a="http://schemas.openxmlformats.org/drawingml/2006/main">
              <a:ext uri="{FF2B5EF4-FFF2-40B4-BE49-F238E27FC236}">
                <a16:creationId xmlns:a16="http://schemas.microsoft.com/office/drawing/2014/main" id="{C5CE5CBD-2157-4C2F-AB08-007AE515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701" y="6038038"/>
            <a:ext cx="863442" cy="171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75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75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오늘의 도전 화면</a:t>
            </a:r>
          </a:p>
        </p:txBody>
      </p:sp>
      <p:sp>
        <p:nvSpPr>
          <p:cNvPr id="6" name="page-08-text-002-00">
            <a:extLst xmlns:a="http://schemas.openxmlformats.org/drawingml/2006/main">
              <a:ext uri="{FF2B5EF4-FFF2-40B4-BE49-F238E27FC236}">
                <a16:creationId xmlns:a16="http://schemas.microsoft.com/office/drawing/2014/main" id="{057BE5C1-1D90-4524-9A50-76022582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6536671"/>
            <a:ext cx="1146851" cy="273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2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42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3. 기술 구현</a:t>
            </a:r>
          </a:p>
        </p:txBody>
      </p:sp>
      <p:sp>
        <p:nvSpPr>
          <p:cNvPr id="7" name="page-08-text-003-00">
            <a:extLst xmlns:a="http://schemas.openxmlformats.org/drawingml/2006/main">
              <a:ext uri="{FF2B5EF4-FFF2-40B4-BE49-F238E27FC236}">
                <a16:creationId xmlns:a16="http://schemas.microsoft.com/office/drawing/2014/main" id="{F0E38B3D-3B12-473E-B3AA-5AEDC3DF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7125955"/>
            <a:ext cx="703807" cy="23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3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703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3.1 구조</a:t>
            </a:r>
          </a:p>
        </p:txBody>
      </p:sp>
      <p:sp>
        <p:nvSpPr>
          <p:cNvPr id="8" name="page-08-text-004-00">
            <a:extLst xmlns:a="http://schemas.openxmlformats.org/drawingml/2006/main">
              <a:ext uri="{FF2B5EF4-FFF2-40B4-BE49-F238E27FC236}">
                <a16:creationId xmlns:a16="http://schemas.microsoft.com/office/drawing/2014/main" id="{66447268-0DE8-45C9-BA79-3901A43C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7524726"/>
            <a:ext cx="664275" cy="178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7" b="0" i="0">
                <a:solidFill>
                  <a:srgbClr val="282D34"/>
                </a:solidFill>
                <a:latin typeface="Nanum Gothic"/>
                <a:ea typeface="Nanum Gothic"/>
                <a:cs typeface="Nanum Gothic"/>
              </a:defRPr>
            </a:pPr>
            <a:r>
              <a:rPr sz="517" b="0" i="0">
                <a:solidFill>
                  <a:srgbClr val="282D34"/>
                </a:solidFill>
                <a:latin typeface="Nanum Gothic"/>
                <a:ea typeface="Nanum Gothic"/>
                <a:cs typeface="Nanum Gothic"/>
              </a:rPr>
              <a:t>사용자 입력</a:t>
            </a:r>
          </a:p>
        </p:txBody>
      </p:sp>
      <p:sp>
        <p:nvSpPr>
          <p:cNvPr id="9" name="page-08-text-005-00">
            <a:extLst xmlns:a="http://schemas.openxmlformats.org/drawingml/2006/main">
              <a:ext uri="{FF2B5EF4-FFF2-40B4-BE49-F238E27FC236}">
                <a16:creationId xmlns:a16="http://schemas.microsoft.com/office/drawing/2014/main" id="{2FDF19ED-FB9F-4790-926D-17595D50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67" y="7708405"/>
            <a:ext cx="1291163" cy="189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5" b="0" i="0">
                <a:solidFill>
                  <a:srgbClr val="282D34"/>
                </a:solidFill>
                <a:latin typeface="Nanum Gothic"/>
                <a:ea typeface="Nanum Gothic"/>
                <a:cs typeface="Nanum Gothic"/>
              </a:defRPr>
            </a:pPr>
            <a:r>
              <a:rPr sz="505" b="0" i="0">
                <a:solidFill>
                  <a:srgbClr val="282D34"/>
                </a:solidFill>
                <a:latin typeface="Nanum Gothic"/>
                <a:ea typeface="Nanum Gothic"/>
                <a:cs typeface="Nanum Gothic"/>
              </a:rPr>
              <a:t>→ 방향·충전 입력 정규화</a:t>
            </a:r>
          </a:p>
        </p:txBody>
      </p:sp>
      <p:sp>
        <p:nvSpPr>
          <p:cNvPr id="10" name="page-08-text-006-00">
            <a:extLst xmlns:a="http://schemas.openxmlformats.org/drawingml/2006/main">
              <a:ext uri="{FF2B5EF4-FFF2-40B4-BE49-F238E27FC236}">
                <a16:creationId xmlns:a16="http://schemas.microsoft.com/office/drawing/2014/main" id="{AC3A5F40-E61F-40D8-996D-F7B38930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67" y="7892084"/>
            <a:ext cx="2012996" cy="189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0" b="0" i="0">
                <a:solidFill>
                  <a:srgbClr val="282D34"/>
                </a:solidFill>
                <a:latin typeface="Nanum Gothic"/>
                <a:ea typeface="Nanum Gothic"/>
                <a:cs typeface="Nanum Gothic"/>
              </a:defRPr>
            </a:pPr>
            <a:r>
              <a:rPr sz="460" b="0" i="0">
                <a:solidFill>
                  <a:srgbClr val="282D34"/>
                </a:solidFill>
                <a:latin typeface="Nanum Gothic"/>
                <a:ea typeface="Nanum Gothic"/>
                <a:cs typeface="Nanum Gothic"/>
              </a:rPr>
              <a:t>→ ShotResolver가 순수 Dart로 결과 확정</a:t>
            </a:r>
          </a:p>
        </p:txBody>
      </p:sp>
      <p:sp>
        <p:nvSpPr>
          <p:cNvPr id="11" name="page-08-text-007-00">
            <a:extLst xmlns:a="http://schemas.openxmlformats.org/drawingml/2006/main">
              <a:ext uri="{FF2B5EF4-FFF2-40B4-BE49-F238E27FC236}">
                <a16:creationId xmlns:a16="http://schemas.microsoft.com/office/drawing/2014/main" id="{A0B983F4-B44C-4C85-9B0B-75453123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67" y="8075762"/>
            <a:ext cx="1927296" cy="189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6" b="0" i="0">
                <a:solidFill>
                  <a:srgbClr val="282D34"/>
                </a:solidFill>
                <a:latin typeface="Nanum Gothic"/>
                <a:ea typeface="Nanum Gothic"/>
                <a:cs typeface="Nanum Gothic"/>
              </a:defRPr>
            </a:pPr>
            <a:r>
              <a:rPr sz="466" b="0" i="0">
                <a:solidFill>
                  <a:srgbClr val="282D34"/>
                </a:solidFill>
                <a:latin typeface="Nanum Gothic"/>
                <a:ea typeface="Nanum Gothic"/>
                <a:cs typeface="Nanum Gothic"/>
              </a:rPr>
              <a:t>→ PhysicsEvent/ReplayDocument 저장</a:t>
            </a:r>
          </a:p>
        </p:txBody>
      </p:sp>
      <p:sp>
        <p:nvSpPr>
          <p:cNvPr id="12" name="page-08-text-008-00">
            <a:extLst xmlns:a="http://schemas.openxmlformats.org/drawingml/2006/main">
              <a:ext uri="{FF2B5EF4-FFF2-40B4-BE49-F238E27FC236}">
                <a16:creationId xmlns:a16="http://schemas.microsoft.com/office/drawing/2014/main" id="{949A8DAD-55A5-49EA-9A1C-A70DBC25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67" y="8259441"/>
            <a:ext cx="1933153" cy="189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3" b="0" i="0">
                <a:solidFill>
                  <a:srgbClr val="282D34"/>
                </a:solidFill>
                <a:latin typeface="Nanum Gothic"/>
                <a:ea typeface="Nanum Gothic"/>
                <a:cs typeface="Nanum Gothic"/>
              </a:defRPr>
            </a:pPr>
            <a:r>
              <a:rPr sz="413" b="0" i="0">
                <a:solidFill>
                  <a:srgbClr val="282D34"/>
                </a:solidFill>
                <a:latin typeface="Nanum Gothic"/>
                <a:ea typeface="Nanum Gothic"/>
                <a:cs typeface="Nanum Gothic"/>
              </a:rPr>
              <a:t>→ Flame/Fluttettetteer UI가 확정 결과를 재생</a:t>
            </a:r>
          </a:p>
        </p:txBody>
      </p:sp>
      <p:sp>
        <p:nvSpPr>
          <p:cNvPr id="13" name="page-08-text-009-00">
            <a:extLst xmlns:a="http://schemas.openxmlformats.org/drawingml/2006/main">
              <a:ext uri="{FF2B5EF4-FFF2-40B4-BE49-F238E27FC236}">
                <a16:creationId xmlns:a16="http://schemas.microsoft.com/office/drawing/2014/main" id="{A6251D81-CF03-4C81-8F2B-98585673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67" y="8443119"/>
            <a:ext cx="1801248" cy="189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3" b="0" i="0">
                <a:solidFill>
                  <a:srgbClr val="282D34"/>
                </a:solidFill>
                <a:latin typeface="Nanum Gothic"/>
                <a:ea typeface="Nanum Gothic"/>
                <a:cs typeface="Nanum Gothic"/>
              </a:defRPr>
            </a:pPr>
            <a:r>
              <a:rPr sz="463" b="0" i="0">
                <a:solidFill>
                  <a:srgbClr val="282D34"/>
                </a:solidFill>
                <a:latin typeface="Nanum Gothic"/>
                <a:ea typeface="Nanum Gothic"/>
                <a:cs typeface="Nanum Gothic"/>
              </a:rPr>
              <a:t>→ RunState·진행·리플레이 A/B 저장</a:t>
            </a:r>
          </a:p>
        </p:txBody>
      </p:sp>
      <p:sp>
        <p:nvSpPr>
          <p:cNvPr id="14" name="page-08-text-010-00">
            <a:extLst xmlns:a="http://schemas.openxmlformats.org/drawingml/2006/main">
              <a:ext uri="{FF2B5EF4-FFF2-40B4-BE49-F238E27FC236}">
                <a16:creationId xmlns:a16="http://schemas.microsoft.com/office/drawing/2014/main" id="{4E21A9DA-FE66-4C40-9B66-A7F6DF28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8764044"/>
            <a:ext cx="5894085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판정과 재생을 분리해 화면 프레임률이 결과를 바꾸지 않게 했고, 같은 입력의 이벤트 스트림과 결과</a:t>
            </a:r>
          </a:p>
        </p:txBody>
      </p:sp>
      <p:sp>
        <p:nvSpPr>
          <p:cNvPr id="15" name="page-08-text-011-00">
            <a:extLst xmlns:a="http://schemas.openxmlformats.org/drawingml/2006/main">
              <a:ext uri="{FF2B5EF4-FFF2-40B4-BE49-F238E27FC236}">
                <a16:creationId xmlns:a16="http://schemas.microsoft.com/office/drawing/2014/main" id="{F88346F6-2244-4B54-8AA6-205EFC98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9063872"/>
            <a:ext cx="150926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지문을 회귀로 비교한다.</a:t>
            </a:r>
          </a:p>
        </p:txBody>
      </p:sp>
      <p:sp>
        <p:nvSpPr>
          <p:cNvPr id="16" name="page-08-text-012-00">
            <a:extLst xmlns:a="http://schemas.openxmlformats.org/drawingml/2006/main">
              <a:ext uri="{FF2B5EF4-FFF2-40B4-BE49-F238E27FC236}">
                <a16:creationId xmlns:a16="http://schemas.microsoft.com/office/drawing/2014/main" id="{22F08591-D04D-4852-A307-42F61161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896" y="10018730"/>
            <a:ext cx="184703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5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45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Final Report · Page 8</a:t>
            </a:r>
          </a:p>
        </p:txBody>
      </p:sp>
    </p:spTree>
    <p:extLst>
      <p:ext uri="{BB962C8B-B14F-4D97-AF65-F5344CB8AC3E}">
        <p14:creationId xmlns:p14="http://schemas.microsoft.com/office/powerpoint/2010/main" val="2024539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3299b74564c0f"/>
          <a:srcRect xmlns:a="http://schemas.openxmlformats.org/drawingml/2006/main" l="14648" t="0" r="146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lide-9-background">
            <a:extLst xmlns:a="http://schemas.openxmlformats.org/drawingml/2006/main">
              <a:ext uri="{FF2B5EF4-FFF2-40B4-BE49-F238E27FC236}">
                <a16:creationId xmlns:a16="http://schemas.microsoft.com/office/drawing/2014/main" id="{5CAF4626-8110-48AC-AFB9-73616359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09-rect-000">
            <a:extLst xmlns:a="http://schemas.openxmlformats.org/drawingml/2006/main">
              <a:ext uri="{FF2B5EF4-FFF2-40B4-BE49-F238E27FC236}">
                <a16:creationId xmlns:a16="http://schemas.microsoft.com/office/drawing/2014/main" id="{07B30E9F-723C-4D5B-BA12-B0FA5176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1408652"/>
            <a:ext cx="1049778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9-rect-001">
            <a:extLst xmlns:a="http://schemas.openxmlformats.org/drawingml/2006/main">
              <a:ext uri="{FF2B5EF4-FFF2-40B4-BE49-F238E27FC236}">
                <a16:creationId xmlns:a16="http://schemas.microsoft.com/office/drawing/2014/main" id="{326545E9-B83F-47E7-94BE-E2CDA194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143" y="1408652"/>
            <a:ext cx="2100174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09-rect-002">
            <a:extLst xmlns:a="http://schemas.openxmlformats.org/drawingml/2006/main">
              <a:ext uri="{FF2B5EF4-FFF2-40B4-BE49-F238E27FC236}">
                <a16:creationId xmlns:a16="http://schemas.microsoft.com/office/drawing/2014/main" id="{1FC13D76-D4A6-44DA-8D22-B39F19BE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935" y="1408652"/>
            <a:ext cx="2631551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09-rect-003">
            <a:extLst xmlns:a="http://schemas.openxmlformats.org/drawingml/2006/main">
              <a:ext uri="{FF2B5EF4-FFF2-40B4-BE49-F238E27FC236}">
                <a16:creationId xmlns:a16="http://schemas.microsoft.com/office/drawing/2014/main" id="{08584165-DD2A-4462-8D91-32CD8FC4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7963006"/>
            <a:ext cx="1667658" cy="326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-09-rect-004">
            <a:extLst xmlns:a="http://schemas.openxmlformats.org/drawingml/2006/main">
              <a:ext uri="{FF2B5EF4-FFF2-40B4-BE49-F238E27FC236}">
                <a16:creationId xmlns:a16="http://schemas.microsoft.com/office/drawing/2014/main" id="{159225CC-49F2-4DFF-95BF-BEF613AD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023" y="7963006"/>
            <a:ext cx="4114462" cy="326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-09-rect-005">
            <a:extLst xmlns:a="http://schemas.openxmlformats.org/drawingml/2006/main">
              <a:ext uri="{FF2B5EF4-FFF2-40B4-BE49-F238E27FC236}">
                <a16:creationId xmlns:a16="http://schemas.microsoft.com/office/drawing/2014/main" id="{250D5CEE-B63D-4A11-8E3D-B050B4B9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1408652"/>
            <a:ext cx="1049778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-09-rect-006">
            <a:extLst xmlns:a="http://schemas.openxmlformats.org/drawingml/2006/main">
              <a:ext uri="{FF2B5EF4-FFF2-40B4-BE49-F238E27FC236}">
                <a16:creationId xmlns:a16="http://schemas.microsoft.com/office/drawing/2014/main" id="{31D59879-3B2F-4DB5-AD15-AEA09099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143" y="1408652"/>
            <a:ext cx="2100174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ge-09-rect-007">
            <a:extLst xmlns:a="http://schemas.openxmlformats.org/drawingml/2006/main">
              <a:ext uri="{FF2B5EF4-FFF2-40B4-BE49-F238E27FC236}">
                <a16:creationId xmlns:a16="http://schemas.microsoft.com/office/drawing/2014/main" id="{4774435F-5E3A-41C5-9936-154D7862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935" y="1408652"/>
            <a:ext cx="2631551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09-rect-008">
            <a:extLst xmlns:a="http://schemas.openxmlformats.org/drawingml/2006/main">
              <a:ext uri="{FF2B5EF4-FFF2-40B4-BE49-F238E27FC236}">
                <a16:creationId xmlns:a16="http://schemas.microsoft.com/office/drawing/2014/main" id="{DC217B14-665D-46E4-8237-74B1C76C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7963006"/>
            <a:ext cx="1667658" cy="326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09-rect-009">
            <a:extLst xmlns:a="http://schemas.openxmlformats.org/drawingml/2006/main">
              <a:ext uri="{FF2B5EF4-FFF2-40B4-BE49-F238E27FC236}">
                <a16:creationId xmlns:a16="http://schemas.microsoft.com/office/drawing/2014/main" id="{C29B898A-983E-497A-BB27-73F96160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023" y="7963006"/>
            <a:ext cx="4114462" cy="326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ge-09-line-000">
            <a:extLst xmlns:a="http://schemas.openxmlformats.org/drawingml/2006/main">
              <a:ext uri="{FF2B5EF4-FFF2-40B4-BE49-F238E27FC236}">
                <a16:creationId xmlns:a16="http://schemas.microsoft.com/office/drawing/2014/main" id="{EDD60D7B-1CD2-458D-BDD3-86D8C0C0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58" y="1412029"/>
            <a:ext cx="578953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4" name="page-09-line-001">
            <a:extLst xmlns:a="http://schemas.openxmlformats.org/drawingml/2006/main">
              <a:ext uri="{FF2B5EF4-FFF2-40B4-BE49-F238E27FC236}">
                <a16:creationId xmlns:a16="http://schemas.microsoft.com/office/drawing/2014/main" id="{511DC20B-B8D9-4FE3-8FA9-C495304D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1737518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5" name="page-09-line-002">
            <a:extLst xmlns:a="http://schemas.openxmlformats.org/drawingml/2006/main">
              <a:ext uri="{FF2B5EF4-FFF2-40B4-BE49-F238E27FC236}">
                <a16:creationId xmlns:a16="http://schemas.microsoft.com/office/drawing/2014/main" id="{AB9040A7-ABA6-4177-AA8C-7F7E4130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2362836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6" name="page-09-line-003">
            <a:extLst xmlns:a="http://schemas.openxmlformats.org/drawingml/2006/main">
              <a:ext uri="{FF2B5EF4-FFF2-40B4-BE49-F238E27FC236}">
                <a16:creationId xmlns:a16="http://schemas.microsoft.com/office/drawing/2014/main" id="{7035F6F8-EB6B-4A1D-8378-8737ADBC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2986802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7" name="page-09-line-004">
            <a:extLst xmlns:a="http://schemas.openxmlformats.org/drawingml/2006/main">
              <a:ext uri="{FF2B5EF4-FFF2-40B4-BE49-F238E27FC236}">
                <a16:creationId xmlns:a16="http://schemas.microsoft.com/office/drawing/2014/main" id="{B8BD63FD-86A0-4C41-99B9-135699EC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3352809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8" name="page-09-line-005">
            <a:extLst xmlns:a="http://schemas.openxmlformats.org/drawingml/2006/main">
              <a:ext uri="{FF2B5EF4-FFF2-40B4-BE49-F238E27FC236}">
                <a16:creationId xmlns:a16="http://schemas.microsoft.com/office/drawing/2014/main" id="{C22D41D5-8B5D-4416-9BDF-6F09BF35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3717465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9" name="page-09-line-006">
            <a:extLst xmlns:a="http://schemas.openxmlformats.org/drawingml/2006/main">
              <a:ext uri="{FF2B5EF4-FFF2-40B4-BE49-F238E27FC236}">
                <a16:creationId xmlns:a16="http://schemas.microsoft.com/office/drawing/2014/main" id="{7E68B6D7-C94C-4C84-B5CF-FA00A26C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4083472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0" name="page-09-line-007">
            <a:extLst xmlns:a="http://schemas.openxmlformats.org/drawingml/2006/main">
              <a:ext uri="{FF2B5EF4-FFF2-40B4-BE49-F238E27FC236}">
                <a16:creationId xmlns:a16="http://schemas.microsoft.com/office/drawing/2014/main" id="{C0E02848-684F-4C50-A2E5-B852D33A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58" y="4448127"/>
            <a:ext cx="578953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1" name="page-09-line-008">
            <a:extLst xmlns:a="http://schemas.openxmlformats.org/drawingml/2006/main">
              <a:ext uri="{FF2B5EF4-FFF2-40B4-BE49-F238E27FC236}">
                <a16:creationId xmlns:a16="http://schemas.microsoft.com/office/drawing/2014/main" id="{C2C7459B-F033-48A8-9930-CCA59638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1408652"/>
            <a:ext cx="9525" cy="30428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2" name="page-09-line-009">
            <a:extLst xmlns:a="http://schemas.openxmlformats.org/drawingml/2006/main">
              <a:ext uri="{FF2B5EF4-FFF2-40B4-BE49-F238E27FC236}">
                <a16:creationId xmlns:a16="http://schemas.microsoft.com/office/drawing/2014/main" id="{71C68952-AF5A-4545-890E-0E2FC52A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143" y="1415405"/>
            <a:ext cx="9525" cy="30293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3" name="page-09-line-010">
            <a:extLst xmlns:a="http://schemas.openxmlformats.org/drawingml/2006/main">
              <a:ext uri="{FF2B5EF4-FFF2-40B4-BE49-F238E27FC236}">
                <a16:creationId xmlns:a16="http://schemas.microsoft.com/office/drawing/2014/main" id="{3FB5F695-8ACB-4BED-AB95-44E59AEC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935" y="1415405"/>
            <a:ext cx="9525" cy="30293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4" name="page-09-line-011">
            <a:extLst xmlns:a="http://schemas.openxmlformats.org/drawingml/2006/main">
              <a:ext uri="{FF2B5EF4-FFF2-40B4-BE49-F238E27FC236}">
                <a16:creationId xmlns:a16="http://schemas.microsoft.com/office/drawing/2014/main" id="{EFF3DA39-020D-4D2F-991E-216DE6EE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103" y="1408652"/>
            <a:ext cx="9525" cy="30428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5" name="page-09-line-012">
            <a:extLst xmlns:a="http://schemas.openxmlformats.org/drawingml/2006/main">
              <a:ext uri="{FF2B5EF4-FFF2-40B4-BE49-F238E27FC236}">
                <a16:creationId xmlns:a16="http://schemas.microsoft.com/office/drawing/2014/main" id="{99FF3007-7934-4168-8E76-1A46D216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58" y="7966382"/>
            <a:ext cx="578953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6" name="page-09-line-013">
            <a:extLst xmlns:a="http://schemas.openxmlformats.org/drawingml/2006/main">
              <a:ext uri="{FF2B5EF4-FFF2-40B4-BE49-F238E27FC236}">
                <a16:creationId xmlns:a16="http://schemas.microsoft.com/office/drawing/2014/main" id="{2F6818A9-9CA7-436F-8BE3-F10EC801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8293222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7" name="page-09-line-014">
            <a:extLst xmlns:a="http://schemas.openxmlformats.org/drawingml/2006/main">
              <a:ext uri="{FF2B5EF4-FFF2-40B4-BE49-F238E27FC236}">
                <a16:creationId xmlns:a16="http://schemas.microsoft.com/office/drawing/2014/main" id="{D5F03B78-7ADA-4858-8641-33301DA7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8657878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8" name="page-09-line-015">
            <a:extLst xmlns:a="http://schemas.openxmlformats.org/drawingml/2006/main">
              <a:ext uri="{FF2B5EF4-FFF2-40B4-BE49-F238E27FC236}">
                <a16:creationId xmlns:a16="http://schemas.microsoft.com/office/drawing/2014/main" id="{7E8D821C-24D3-409B-82CC-5093CED8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9283195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9" name="page-09-line-016">
            <a:extLst xmlns:a="http://schemas.openxmlformats.org/drawingml/2006/main">
              <a:ext uri="{FF2B5EF4-FFF2-40B4-BE49-F238E27FC236}">
                <a16:creationId xmlns:a16="http://schemas.microsoft.com/office/drawing/2014/main" id="{367EA5C9-77B5-4205-88A1-8A6E7910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58" y="9647851"/>
            <a:ext cx="578953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30" name="page-09-line-017">
            <a:extLst xmlns:a="http://schemas.openxmlformats.org/drawingml/2006/main">
              <a:ext uri="{FF2B5EF4-FFF2-40B4-BE49-F238E27FC236}">
                <a16:creationId xmlns:a16="http://schemas.microsoft.com/office/drawing/2014/main" id="{745FA033-8374-47AF-BAC4-1FDB160E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7963006"/>
            <a:ext cx="9525" cy="16882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31" name="page-09-line-018">
            <a:extLst xmlns:a="http://schemas.openxmlformats.org/drawingml/2006/main">
              <a:ext uri="{FF2B5EF4-FFF2-40B4-BE49-F238E27FC236}">
                <a16:creationId xmlns:a16="http://schemas.microsoft.com/office/drawing/2014/main" id="{5EC605BE-F219-43D6-AD5A-C2473C27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023" y="7969759"/>
            <a:ext cx="9525" cy="16747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32" name="page-09-line-019">
            <a:extLst xmlns:a="http://schemas.openxmlformats.org/drawingml/2006/main">
              <a:ext uri="{FF2B5EF4-FFF2-40B4-BE49-F238E27FC236}">
                <a16:creationId xmlns:a16="http://schemas.microsoft.com/office/drawing/2014/main" id="{227B3B98-981E-49D6-B6CA-C5C7072C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103" y="7963006"/>
            <a:ext cx="9525" cy="16882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33" name="page-09-text-000-00">
            <a:extLst xmlns:a="http://schemas.openxmlformats.org/drawingml/2006/main">
              <a:ext uri="{FF2B5EF4-FFF2-40B4-BE49-F238E27FC236}">
                <a16:creationId xmlns:a16="http://schemas.microsoft.com/office/drawing/2014/main" id="{3964CCFD-72BC-440B-AA21-617A7E0D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96" y="497671"/>
            <a:ext cx="1456558" cy="178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Final Report</a:t>
            </a:r>
          </a:p>
        </p:txBody>
      </p:sp>
      <p:sp>
        <p:nvSpPr>
          <p:cNvPr id="34" name="page-09-text-001-00">
            <a:extLst xmlns:a="http://schemas.openxmlformats.org/drawingml/2006/main">
              <a:ext uri="{FF2B5EF4-FFF2-40B4-BE49-F238E27FC236}">
                <a16:creationId xmlns:a16="http://schemas.microsoft.com/office/drawing/2014/main" id="{543F85BA-DF55-40B6-98AB-22983AD3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1005812"/>
            <a:ext cx="1050166" cy="23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8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3.2 핵심 모듈</a:t>
            </a:r>
          </a:p>
        </p:txBody>
      </p:sp>
      <p:sp>
        <p:nvSpPr>
          <p:cNvPr id="35" name="page-09-text-002-00">
            <a:extLst xmlns:a="http://schemas.openxmlformats.org/drawingml/2006/main">
              <a:ext uri="{FF2B5EF4-FFF2-40B4-BE49-F238E27FC236}">
                <a16:creationId xmlns:a16="http://schemas.microsoft.com/office/drawing/2014/main" id="{6F741859-38B4-49B1-9819-092D9550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1490818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책임</a:t>
            </a:r>
          </a:p>
        </p:txBody>
      </p:sp>
      <p:sp>
        <p:nvSpPr>
          <p:cNvPr id="36" name="page-09-text-002-01">
            <a:extLst xmlns:a="http://schemas.openxmlformats.org/drawingml/2006/main">
              <a:ext uri="{FF2B5EF4-FFF2-40B4-BE49-F238E27FC236}">
                <a16:creationId xmlns:a16="http://schemas.microsoft.com/office/drawing/2014/main" id="{A3AE7DEE-754D-4A6B-8D82-1D70EF56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1490818"/>
            <a:ext cx="66306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대표 코드</a:t>
            </a:r>
          </a:p>
        </p:txBody>
      </p:sp>
      <p:sp>
        <p:nvSpPr>
          <p:cNvPr id="37" name="page-09-text-002-02">
            <a:extLst xmlns:a="http://schemas.openxmlformats.org/drawingml/2006/main">
              <a:ext uri="{FF2B5EF4-FFF2-40B4-BE49-F238E27FC236}">
                <a16:creationId xmlns:a16="http://schemas.microsoft.com/office/drawing/2014/main" id="{AFFEFC0B-534F-4E18-9759-417553C4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1490818"/>
            <a:ext cx="66306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검증 관점</a:t>
            </a:r>
          </a:p>
        </p:txBody>
      </p:sp>
      <p:sp>
        <p:nvSpPr>
          <p:cNvPr id="38" name="page-09-text-003-00">
            <a:extLst xmlns:a="http://schemas.openxmlformats.org/drawingml/2006/main">
              <a:ext uri="{FF2B5EF4-FFF2-40B4-BE49-F238E27FC236}">
                <a16:creationId xmlns:a16="http://schemas.microsoft.com/office/drawing/2014/main" id="{C35E97FF-DFA2-442B-960A-EAAC7B43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1820724"/>
            <a:ext cx="1370240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636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lib/game/domain/*,</a:t>
            </a:r>
          </a:p>
        </p:txBody>
      </p:sp>
      <p:sp>
        <p:nvSpPr>
          <p:cNvPr id="39" name="page-09-text-004-00">
            <a:extLst xmlns:a="http://schemas.openxmlformats.org/drawingml/2006/main">
              <a:ext uri="{FF2B5EF4-FFF2-40B4-BE49-F238E27FC236}">
                <a16:creationId xmlns:a16="http://schemas.microsoft.com/office/drawing/2014/main" id="{0B062605-87D9-463E-8BA2-52D31BDE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1950379"/>
            <a:ext cx="79132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0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도메인·단계</a:t>
            </a:r>
          </a:p>
        </p:txBody>
      </p:sp>
      <p:sp>
        <p:nvSpPr>
          <p:cNvPr id="40" name="page-09-text-004-01">
            <a:extLst xmlns:a="http://schemas.openxmlformats.org/drawingml/2006/main">
              <a:ext uri="{FF2B5EF4-FFF2-40B4-BE49-F238E27FC236}">
                <a16:creationId xmlns:a16="http://schemas.microsoft.com/office/drawing/2014/main" id="{BD69CC79-9A3B-4DAB-B044-C3DB8FFE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1950379"/>
            <a:ext cx="183542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10단계·40패턴과 스키마 정합</a:t>
            </a:r>
          </a:p>
        </p:txBody>
      </p:sp>
      <p:sp>
        <p:nvSpPr>
          <p:cNvPr id="41" name="page-09-text-005-00">
            <a:extLst xmlns:a="http://schemas.openxmlformats.org/drawingml/2006/main">
              <a:ext uri="{FF2B5EF4-FFF2-40B4-BE49-F238E27FC236}">
                <a16:creationId xmlns:a16="http://schemas.microsoft.com/office/drawing/2014/main" id="{12BA7586-8E85-4010-9559-8577CB2F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2080035"/>
            <a:ext cx="118899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0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58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lib/game/levels/*</a:t>
            </a:r>
          </a:p>
        </p:txBody>
      </p:sp>
      <p:sp>
        <p:nvSpPr>
          <p:cNvPr id="42" name="page-09-text-006-00">
            <a:extLst xmlns:a="http://schemas.openxmlformats.org/drawingml/2006/main">
              <a:ext uri="{FF2B5EF4-FFF2-40B4-BE49-F238E27FC236}">
                <a16:creationId xmlns:a16="http://schemas.microsoft.com/office/drawing/2014/main" id="{F7E79A9B-83BF-4B01-9FCB-2E1EBF2E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2445366"/>
            <a:ext cx="1418855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8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588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lib/game/simulation/</a:t>
            </a:r>
          </a:p>
        </p:txBody>
      </p:sp>
      <p:sp>
        <p:nvSpPr>
          <p:cNvPr id="43" name="page-09-text-007-00">
            <a:extLst xmlns:a="http://schemas.openxmlformats.org/drawingml/2006/main">
              <a:ext uri="{FF2B5EF4-FFF2-40B4-BE49-F238E27FC236}">
                <a16:creationId xmlns:a16="http://schemas.microsoft.com/office/drawing/2014/main" id="{21858AD3-0BCE-4B4D-B299-4B9B016D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2575021"/>
            <a:ext cx="66306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물리 판정</a:t>
            </a:r>
          </a:p>
        </p:txBody>
      </p:sp>
      <p:sp>
        <p:nvSpPr>
          <p:cNvPr id="44" name="page-09-text-007-01">
            <a:extLst xmlns:a="http://schemas.openxmlformats.org/drawingml/2006/main">
              <a:ext uri="{FF2B5EF4-FFF2-40B4-BE49-F238E27FC236}">
                <a16:creationId xmlns:a16="http://schemas.microsoft.com/office/drawing/2014/main" id="{1C2248D0-ADC1-49A5-A1AA-5739C338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2575021"/>
            <a:ext cx="2171716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벽 불변·홀 우선·고속 충돌·연쇄 순서</a:t>
            </a:r>
          </a:p>
        </p:txBody>
      </p:sp>
      <p:sp>
        <p:nvSpPr>
          <p:cNvPr id="45" name="page-09-text-008-00">
            <a:extLst xmlns:a="http://schemas.openxmlformats.org/drawingml/2006/main">
              <a:ext uri="{FF2B5EF4-FFF2-40B4-BE49-F238E27FC236}">
                <a16:creationId xmlns:a16="http://schemas.microsoft.com/office/drawing/2014/main" id="{1C67FD6F-8D63-435B-8F6C-1889B520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2704677"/>
            <a:ext cx="1241535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7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567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shot_resolver.dart</a:t>
            </a:r>
          </a:p>
        </p:txBody>
      </p:sp>
      <p:sp>
        <p:nvSpPr>
          <p:cNvPr id="46" name="page-09-text-009-00">
            <a:extLst xmlns:a="http://schemas.openxmlformats.org/drawingml/2006/main">
              <a:ext uri="{FF2B5EF4-FFF2-40B4-BE49-F238E27FC236}">
                <a16:creationId xmlns:a16="http://schemas.microsoft.com/office/drawing/2014/main" id="{51B54CC4-D404-4D25-95E5-AD568074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3070008"/>
            <a:ext cx="211519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7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런·보상·도전 lib/game/run/*</a:t>
            </a:r>
          </a:p>
        </p:txBody>
      </p:sp>
      <p:sp>
        <p:nvSpPr>
          <p:cNvPr id="47" name="page-09-text-009-01">
            <a:extLst xmlns:a="http://schemas.openxmlformats.org/drawingml/2006/main">
              <a:ext uri="{FF2B5EF4-FFF2-40B4-BE49-F238E27FC236}">
                <a16:creationId xmlns:a16="http://schemas.microsoft.com/office/drawing/2014/main" id="{35C5AF78-9D20-4034-B737-DDBD29C9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3070008"/>
            <a:ext cx="157850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seed·보상·날짜 경계·복구</a:t>
            </a:r>
          </a:p>
        </p:txBody>
      </p:sp>
      <p:sp>
        <p:nvSpPr>
          <p:cNvPr id="48" name="page-09-text-010-00">
            <a:extLst xmlns:a="http://schemas.openxmlformats.org/drawingml/2006/main">
              <a:ext uri="{FF2B5EF4-FFF2-40B4-BE49-F238E27FC236}">
                <a16:creationId xmlns:a16="http://schemas.microsoft.com/office/drawing/2014/main" id="{32A55A7A-E2E4-45A1-BCD3-674222AA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3435339"/>
            <a:ext cx="624867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4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리플레이</a:t>
            </a:r>
          </a:p>
        </p:txBody>
      </p:sp>
      <p:sp>
        <p:nvSpPr>
          <p:cNvPr id="49" name="page-09-text-010-01">
            <a:extLst xmlns:a="http://schemas.openxmlformats.org/drawingml/2006/main">
              <a:ext uri="{FF2B5EF4-FFF2-40B4-BE49-F238E27FC236}">
                <a16:creationId xmlns:a16="http://schemas.microsoft.com/office/drawing/2014/main" id="{0BA3FA26-06A8-45C1-AA43-548B2727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3435339"/>
            <a:ext cx="122729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9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599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lib/game/replay/*</a:t>
            </a:r>
          </a:p>
        </p:txBody>
      </p:sp>
      <p:sp>
        <p:nvSpPr>
          <p:cNvPr id="50" name="page-09-text-010-02">
            <a:extLst xmlns:a="http://schemas.openxmlformats.org/drawingml/2006/main">
              <a:ext uri="{FF2B5EF4-FFF2-40B4-BE49-F238E27FC236}">
                <a16:creationId xmlns:a16="http://schemas.microsoft.com/office/drawing/2014/main" id="{E8524463-F419-40A6-9A9A-0A1EC2B6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3435339"/>
            <a:ext cx="200365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5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무결성·버전·결과 지문·최대 24개</a:t>
            </a:r>
          </a:p>
        </p:txBody>
      </p:sp>
      <p:sp>
        <p:nvSpPr>
          <p:cNvPr id="51" name="page-09-text-011-00">
            <a:extLst xmlns:a="http://schemas.openxmlformats.org/drawingml/2006/main">
              <a:ext uri="{FF2B5EF4-FFF2-40B4-BE49-F238E27FC236}">
                <a16:creationId xmlns:a16="http://schemas.microsoft.com/office/drawing/2014/main" id="{9E3C740A-E8D7-4909-AA25-8B0A6514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3800671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저장</a:t>
            </a:r>
          </a:p>
        </p:txBody>
      </p:sp>
      <p:sp>
        <p:nvSpPr>
          <p:cNvPr id="52" name="page-09-text-011-01">
            <a:extLst xmlns:a="http://schemas.openxmlformats.org/drawingml/2006/main">
              <a:ext uri="{FF2B5EF4-FFF2-40B4-BE49-F238E27FC236}">
                <a16:creationId xmlns:a16="http://schemas.microsoft.com/office/drawing/2014/main" id="{A5E3652B-5E87-4A5E-9AA1-73DDA20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3800671"/>
            <a:ext cx="1551068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7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587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lib/game/persistence/*</a:t>
            </a:r>
          </a:p>
        </p:txBody>
      </p:sp>
      <p:sp>
        <p:nvSpPr>
          <p:cNvPr id="53" name="page-09-text-011-02">
            <a:extLst xmlns:a="http://schemas.openxmlformats.org/drawingml/2006/main">
              <a:ext uri="{FF2B5EF4-FFF2-40B4-BE49-F238E27FC236}">
                <a16:creationId xmlns:a16="http://schemas.microsoft.com/office/drawing/2014/main" id="{39382C28-4AD7-449D-B461-0917009E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3800671"/>
            <a:ext cx="237672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checksum/revision A/B와 구버전 호환</a:t>
            </a:r>
          </a:p>
        </p:txBody>
      </p:sp>
      <p:sp>
        <p:nvSpPr>
          <p:cNvPr id="54" name="page-09-text-012-00">
            <a:extLst xmlns:a="http://schemas.openxmlformats.org/drawingml/2006/main">
              <a:ext uri="{FF2B5EF4-FFF2-40B4-BE49-F238E27FC236}">
                <a16:creationId xmlns:a16="http://schemas.microsoft.com/office/drawing/2014/main" id="{F7BC7E63-B12D-4BE3-BCDC-570E7DFD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4166002"/>
            <a:ext cx="53896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제품 UI</a:t>
            </a:r>
          </a:p>
        </p:txBody>
      </p:sp>
      <p:sp>
        <p:nvSpPr>
          <p:cNvPr id="55" name="page-09-text-012-01">
            <a:extLst xmlns:a="http://schemas.openxmlformats.org/drawingml/2006/main">
              <a:ext uri="{FF2B5EF4-FFF2-40B4-BE49-F238E27FC236}">
                <a16:creationId xmlns:a16="http://schemas.microsoft.com/office/drawing/2014/main" id="{EF7CC1D6-C974-4A8D-8C0C-970AAC40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4166002"/>
            <a:ext cx="56184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7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567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lib/ui/*</a:t>
            </a:r>
          </a:p>
        </p:txBody>
      </p:sp>
      <p:sp>
        <p:nvSpPr>
          <p:cNvPr id="56" name="page-09-text-012-02">
            <a:extLst xmlns:a="http://schemas.openxmlformats.org/drawingml/2006/main">
              <a:ext uri="{FF2B5EF4-FFF2-40B4-BE49-F238E27FC236}">
                <a16:creationId xmlns:a16="http://schemas.microsoft.com/office/drawing/2014/main" id="{A6E3AC7F-226B-4DE3-924C-C7742D10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4166002"/>
            <a:ext cx="234047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한글·작은 화면·큰 글자·저모션·Golden</a:t>
            </a:r>
          </a:p>
        </p:txBody>
      </p:sp>
      <p:sp>
        <p:nvSpPr>
          <p:cNvPr id="57" name="page-09-text-013-00">
            <a:extLst xmlns:a="http://schemas.openxmlformats.org/drawingml/2006/main">
              <a:ext uri="{FF2B5EF4-FFF2-40B4-BE49-F238E27FC236}">
                <a16:creationId xmlns:a16="http://schemas.microsoft.com/office/drawing/2014/main" id="{100BDE6C-7B8C-4C88-A374-ABCFBC16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4646970"/>
            <a:ext cx="1698865" cy="23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6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76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3.3 결정론과 안전 장치</a:t>
            </a:r>
          </a:p>
        </p:txBody>
      </p:sp>
      <p:sp>
        <p:nvSpPr>
          <p:cNvPr id="58" name="page-09-text-014-00">
            <a:extLst xmlns:a="http://schemas.openxmlformats.org/drawingml/2006/main">
              <a:ext uri="{FF2B5EF4-FFF2-40B4-BE49-F238E27FC236}">
                <a16:creationId xmlns:a16="http://schemas.microsoft.com/office/drawing/2014/main" id="{B4E92871-D3A0-4DAF-B94A-0742B00B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5074941"/>
            <a:ext cx="2706714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벽은 어떤 연쇄 충돌에서도 이동하지 않는다.</a:t>
            </a:r>
          </a:p>
        </p:txBody>
      </p:sp>
      <p:sp>
        <p:nvSpPr>
          <p:cNvPr id="59" name="page-09-text-015-00">
            <a:extLst xmlns:a="http://schemas.openxmlformats.org/drawingml/2006/main">
              <a:ext uri="{FF2B5EF4-FFF2-40B4-BE49-F238E27FC236}">
                <a16:creationId xmlns:a16="http://schemas.microsoft.com/office/drawing/2014/main" id="{91855A8D-C540-4E7F-96DD-52FA82E9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5347757"/>
            <a:ext cx="3293700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홀 포획이 확정되면 뒤의 이동이 결과를 뒤집지 않는다.</a:t>
            </a:r>
          </a:p>
        </p:txBody>
      </p:sp>
      <p:sp>
        <p:nvSpPr>
          <p:cNvPr id="60" name="page-09-text-016-00">
            <a:extLst xmlns:a="http://schemas.openxmlformats.org/drawingml/2006/main">
              <a:ext uri="{FF2B5EF4-FFF2-40B4-BE49-F238E27FC236}">
                <a16:creationId xmlns:a16="http://schemas.microsoft.com/office/drawing/2014/main" id="{84FB7683-5EDF-4BCD-A86F-14C0E4CC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5620574"/>
            <a:ext cx="2578813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이전에 발사한 공도 물리 객체로 유지된다.</a:t>
            </a:r>
          </a:p>
        </p:txBody>
      </p:sp>
      <p:sp>
        <p:nvSpPr>
          <p:cNvPr id="61" name="page-09-text-017-00">
            <a:extLst xmlns:a="http://schemas.openxmlformats.org/drawingml/2006/main">
              <a:ext uri="{FF2B5EF4-FFF2-40B4-BE49-F238E27FC236}">
                <a16:creationId xmlns:a16="http://schemas.microsoft.com/office/drawing/2014/main" id="{735E142F-72FA-46A1-99F7-FA3C9A19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5893391"/>
            <a:ext cx="5139925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회전 반사판은 접촉 1회당 한 번만 회전하며, 이탈 뒤 재접촉을 별도 사건으로 처리한다.</a:t>
            </a:r>
          </a:p>
        </p:txBody>
      </p:sp>
      <p:sp>
        <p:nvSpPr>
          <p:cNvPr id="62" name="page-09-text-018-00">
            <a:extLst xmlns:a="http://schemas.openxmlformats.org/drawingml/2006/main">
              <a:ext uri="{FF2B5EF4-FFF2-40B4-BE49-F238E27FC236}">
                <a16:creationId xmlns:a16="http://schemas.microsoft.com/office/drawing/2014/main" id="{39A82AB4-FCC9-4247-8D36-05EE62DA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6166207"/>
            <a:ext cx="3677403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리플레이는 입력뿐 아니라 물리 버전과 결과 지문을 검사한다.</a:t>
            </a:r>
          </a:p>
        </p:txBody>
      </p:sp>
      <p:sp>
        <p:nvSpPr>
          <p:cNvPr id="63" name="page-09-text-019-00">
            <a:extLst xmlns:a="http://schemas.openxmlformats.org/drawingml/2006/main">
              <a:ext uri="{FF2B5EF4-FFF2-40B4-BE49-F238E27FC236}">
                <a16:creationId xmlns:a16="http://schemas.microsoft.com/office/drawing/2014/main" id="{0AB12CA6-398A-44B7-8F96-F51DDFB8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6439024"/>
            <a:ext cx="4535638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5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스트레스 테스트는 재도전·설정·리플레이·10단계 누적·A/B 복구를 반복한다.</a:t>
            </a:r>
          </a:p>
        </p:txBody>
      </p:sp>
      <p:sp>
        <p:nvSpPr>
          <p:cNvPr id="64" name="page-09-text-020-00">
            <a:extLst xmlns:a="http://schemas.openxmlformats.org/drawingml/2006/main">
              <a:ext uri="{FF2B5EF4-FFF2-40B4-BE49-F238E27FC236}">
                <a16:creationId xmlns:a16="http://schemas.microsoft.com/office/drawing/2014/main" id="{87A003B3-7006-41D6-9073-089C19F7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6971557"/>
            <a:ext cx="2191588" cy="273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04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04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4. AI 활용과 인간의 책임</a:t>
            </a:r>
          </a:p>
        </p:txBody>
      </p:sp>
      <p:sp>
        <p:nvSpPr>
          <p:cNvPr id="65" name="page-09-text-021-00">
            <a:extLst xmlns:a="http://schemas.openxmlformats.org/drawingml/2006/main">
              <a:ext uri="{FF2B5EF4-FFF2-40B4-BE49-F238E27FC236}">
                <a16:creationId xmlns:a16="http://schemas.microsoft.com/office/drawing/2014/main" id="{87BF3681-31F3-4663-9599-25BD9443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7560841"/>
            <a:ext cx="1050166" cy="23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8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4.1 역할 분리</a:t>
            </a:r>
          </a:p>
        </p:txBody>
      </p:sp>
      <p:sp>
        <p:nvSpPr>
          <p:cNvPr id="66" name="page-09-text-022-00">
            <a:extLst xmlns:a="http://schemas.openxmlformats.org/drawingml/2006/main">
              <a:ext uri="{FF2B5EF4-FFF2-40B4-BE49-F238E27FC236}">
                <a16:creationId xmlns:a16="http://schemas.microsoft.com/office/drawing/2014/main" id="{600C8AE7-DF49-4A8D-8AA6-4CD5E7DF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8045847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구분</a:t>
            </a:r>
          </a:p>
        </p:txBody>
      </p:sp>
      <p:sp>
        <p:nvSpPr>
          <p:cNvPr id="67" name="page-09-text-022-01">
            <a:extLst xmlns:a="http://schemas.openxmlformats.org/drawingml/2006/main">
              <a:ext uri="{FF2B5EF4-FFF2-40B4-BE49-F238E27FC236}">
                <a16:creationId xmlns:a16="http://schemas.microsoft.com/office/drawing/2014/main" id="{2CB859C9-6216-48A5-8929-9F7A8893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79" y="8045847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담당</a:t>
            </a:r>
          </a:p>
        </p:txBody>
      </p:sp>
      <p:sp>
        <p:nvSpPr>
          <p:cNvPr id="68" name="page-09-text-023-00">
            <a:extLst xmlns:a="http://schemas.openxmlformats.org/drawingml/2006/main">
              <a:ext uri="{FF2B5EF4-FFF2-40B4-BE49-F238E27FC236}">
                <a16:creationId xmlns:a16="http://schemas.microsoft.com/office/drawing/2014/main" id="{F39E3331-F0E8-4EB9-BD6F-0F0D736F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8375752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인간</a:t>
            </a:r>
          </a:p>
        </p:txBody>
      </p:sp>
      <p:sp>
        <p:nvSpPr>
          <p:cNvPr id="69" name="page-09-text-023-01">
            <a:extLst xmlns:a="http://schemas.openxmlformats.org/drawingml/2006/main">
              <a:ext uri="{FF2B5EF4-FFF2-40B4-BE49-F238E27FC236}">
                <a16:creationId xmlns:a16="http://schemas.microsoft.com/office/drawing/2014/main" id="{3E4037D5-6E5A-4DB4-9B97-DF5B6FED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79" y="8375752"/>
            <a:ext cx="372421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5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게임 철학, 난이도 정책, 범위, 사용자 노출, 최종 채택·출시 판단</a:t>
            </a:r>
          </a:p>
        </p:txBody>
      </p:sp>
      <p:sp>
        <p:nvSpPr>
          <p:cNvPr id="70" name="page-09-text-024-00">
            <a:extLst xmlns:a="http://schemas.openxmlformats.org/drawingml/2006/main">
              <a:ext uri="{FF2B5EF4-FFF2-40B4-BE49-F238E27FC236}">
                <a16:creationId xmlns:a16="http://schemas.microsoft.com/office/drawing/2014/main" id="{2694B58E-8323-4353-B0C4-0BC04ACE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79" y="8741084"/>
            <a:ext cx="407749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5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초기 Flutter/Flame 구조와 기능 초안, 반복 구현·분석·테스트·문서 정</a:t>
            </a:r>
          </a:p>
        </p:txBody>
      </p:sp>
      <p:sp>
        <p:nvSpPr>
          <p:cNvPr id="71" name="page-09-text-025-00">
            <a:extLst xmlns:a="http://schemas.openxmlformats.org/drawingml/2006/main">
              <a:ext uri="{FF2B5EF4-FFF2-40B4-BE49-F238E27FC236}">
                <a16:creationId xmlns:a16="http://schemas.microsoft.com/office/drawing/2014/main" id="{A03602AD-A595-467B-B41D-3A6E3E70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8870739"/>
            <a:ext cx="51357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4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754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Codex</a:t>
            </a:r>
          </a:p>
        </p:txBody>
      </p:sp>
      <p:sp>
        <p:nvSpPr>
          <p:cNvPr id="72" name="page-09-text-026-00">
            <a:extLst xmlns:a="http://schemas.openxmlformats.org/drawingml/2006/main">
              <a:ext uri="{FF2B5EF4-FFF2-40B4-BE49-F238E27FC236}">
                <a16:creationId xmlns:a16="http://schemas.microsoft.com/office/drawing/2014/main" id="{E24F3F01-A30E-4EDD-9708-65C7F9F5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79" y="9000395"/>
            <a:ext cx="535286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5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합 지원</a:t>
            </a:r>
          </a:p>
        </p:txBody>
      </p:sp>
      <p:sp>
        <p:nvSpPr>
          <p:cNvPr id="73" name="page-09-text-027-00">
            <a:extLst xmlns:a="http://schemas.openxmlformats.org/drawingml/2006/main">
              <a:ext uri="{FF2B5EF4-FFF2-40B4-BE49-F238E27FC236}">
                <a16:creationId xmlns:a16="http://schemas.microsoft.com/office/drawing/2014/main" id="{3CF4E6DF-D52F-4B7B-A2D3-07426A2A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9365726"/>
            <a:ext cx="790298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이미지 생성</a:t>
            </a:r>
          </a:p>
        </p:txBody>
      </p:sp>
      <p:sp>
        <p:nvSpPr>
          <p:cNvPr id="74" name="page-09-text-027-01">
            <a:extLst xmlns:a="http://schemas.openxmlformats.org/drawingml/2006/main">
              <a:ext uri="{FF2B5EF4-FFF2-40B4-BE49-F238E27FC236}">
                <a16:creationId xmlns:a16="http://schemas.microsoft.com/office/drawing/2014/main" id="{47ACBFB4-EEAE-42C8-BD24-1AA25D76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79" y="9365726"/>
            <a:ext cx="374077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프로젝트 전용 스프라이트·아이콘 원본 생성 지원과 후처리 기록</a:t>
            </a:r>
          </a:p>
        </p:txBody>
      </p:sp>
      <p:sp>
        <p:nvSpPr>
          <p:cNvPr id="75" name="page-09-text-028-00">
            <a:extLst xmlns:a="http://schemas.openxmlformats.org/drawingml/2006/main">
              <a:ext uri="{FF2B5EF4-FFF2-40B4-BE49-F238E27FC236}">
                <a16:creationId xmlns:a16="http://schemas.microsoft.com/office/drawing/2014/main" id="{AA707CCA-B350-4D5E-BCC4-B2F65BD7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896" y="10018730"/>
            <a:ext cx="184703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5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45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Final Report · Page 9</a:t>
            </a:r>
          </a:p>
        </p:txBody>
      </p:sp>
    </p:spTree>
    <p:extLst>
      <p:ext uri="{BB962C8B-B14F-4D97-AF65-F5344CB8AC3E}">
        <p14:creationId xmlns:p14="http://schemas.microsoft.com/office/powerpoint/2010/main" val="12523015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8cee4338146d2"/>
          <a:srcRect xmlns:a="http://schemas.openxmlformats.org/drawingml/2006/main" l="14648" t="0" r="146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lide-10-background">
            <a:extLst xmlns:a="http://schemas.openxmlformats.org/drawingml/2006/main">
              <a:ext uri="{FF2B5EF4-FFF2-40B4-BE49-F238E27FC236}">
                <a16:creationId xmlns:a16="http://schemas.microsoft.com/office/drawing/2014/main" id="{EFFA5368-6091-475D-B5D6-F7FD6126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0-rect-000">
            <a:extLst xmlns:a="http://schemas.openxmlformats.org/drawingml/2006/main">
              <a:ext uri="{FF2B5EF4-FFF2-40B4-BE49-F238E27FC236}">
                <a16:creationId xmlns:a16="http://schemas.microsoft.com/office/drawing/2014/main" id="{775DD07E-FE19-43FB-97AE-15EF5C3D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972416"/>
            <a:ext cx="1667658" cy="326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-rect-001">
            <a:extLst xmlns:a="http://schemas.openxmlformats.org/drawingml/2006/main">
              <a:ext uri="{FF2B5EF4-FFF2-40B4-BE49-F238E27FC236}">
                <a16:creationId xmlns:a16="http://schemas.microsoft.com/office/drawing/2014/main" id="{4D3673C1-23C3-4FDB-8163-5FD686E7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023" y="972416"/>
            <a:ext cx="4114462" cy="326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10-rect-002">
            <a:extLst xmlns:a="http://schemas.openxmlformats.org/drawingml/2006/main">
              <a:ext uri="{FF2B5EF4-FFF2-40B4-BE49-F238E27FC236}">
                <a16:creationId xmlns:a16="http://schemas.microsoft.com/office/drawing/2014/main" id="{036196C0-A169-450C-8A1F-835920BD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972416"/>
            <a:ext cx="1667658" cy="326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10-rect-003">
            <a:extLst xmlns:a="http://schemas.openxmlformats.org/drawingml/2006/main">
              <a:ext uri="{FF2B5EF4-FFF2-40B4-BE49-F238E27FC236}">
                <a16:creationId xmlns:a16="http://schemas.microsoft.com/office/drawing/2014/main" id="{CC0054A8-8E6B-4E2F-9E26-E5E8D385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023" y="972416"/>
            <a:ext cx="4114462" cy="326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-10-line-000">
            <a:extLst xmlns:a="http://schemas.openxmlformats.org/drawingml/2006/main">
              <a:ext uri="{FF2B5EF4-FFF2-40B4-BE49-F238E27FC236}">
                <a16:creationId xmlns:a16="http://schemas.microsoft.com/office/drawing/2014/main" id="{FAFD9B18-86D6-43F8-8694-04DCF3F5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58" y="975792"/>
            <a:ext cx="578953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8" name="page-10-line-001">
            <a:extLst xmlns:a="http://schemas.openxmlformats.org/drawingml/2006/main">
              <a:ext uri="{FF2B5EF4-FFF2-40B4-BE49-F238E27FC236}">
                <a16:creationId xmlns:a16="http://schemas.microsoft.com/office/drawing/2014/main" id="{DAC1CAA8-B3FC-4A22-89D8-07F1286E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1302632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9" name="page-10-line-002">
            <a:extLst xmlns:a="http://schemas.openxmlformats.org/drawingml/2006/main">
              <a:ext uri="{FF2B5EF4-FFF2-40B4-BE49-F238E27FC236}">
                <a16:creationId xmlns:a16="http://schemas.microsoft.com/office/drawing/2014/main" id="{962298DF-733C-4EE5-9F26-712FF2D7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58" y="1667288"/>
            <a:ext cx="578953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0" name="page-10-line-003">
            <a:extLst xmlns:a="http://schemas.openxmlformats.org/drawingml/2006/main">
              <a:ext uri="{FF2B5EF4-FFF2-40B4-BE49-F238E27FC236}">
                <a16:creationId xmlns:a16="http://schemas.microsoft.com/office/drawing/2014/main" id="{3FBAC8CC-941D-405E-AE24-703F73F3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972416"/>
            <a:ext cx="9525" cy="6982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1" name="page-10-line-004">
            <a:extLst xmlns:a="http://schemas.openxmlformats.org/drawingml/2006/main">
              <a:ext uri="{FF2B5EF4-FFF2-40B4-BE49-F238E27FC236}">
                <a16:creationId xmlns:a16="http://schemas.microsoft.com/office/drawing/2014/main" id="{AC4B1A7F-9E15-41E1-9F28-BF98BF61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023" y="979169"/>
            <a:ext cx="9525" cy="6847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2" name="page-10-line-005">
            <a:extLst xmlns:a="http://schemas.openxmlformats.org/drawingml/2006/main">
              <a:ext uri="{FF2B5EF4-FFF2-40B4-BE49-F238E27FC236}">
                <a16:creationId xmlns:a16="http://schemas.microsoft.com/office/drawing/2014/main" id="{323F85D7-EB2A-4F7F-A744-E3B02F1A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103" y="972416"/>
            <a:ext cx="9525" cy="6982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3" name="page-10-text-000-00">
            <a:extLst xmlns:a="http://schemas.openxmlformats.org/drawingml/2006/main">
              <a:ext uri="{FF2B5EF4-FFF2-40B4-BE49-F238E27FC236}">
                <a16:creationId xmlns:a16="http://schemas.microsoft.com/office/drawing/2014/main" id="{D29DD451-4A3C-46AD-973F-6A935EFE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96" y="497671"/>
            <a:ext cx="1456558" cy="178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Final Report</a:t>
            </a:r>
          </a:p>
        </p:txBody>
      </p:sp>
      <p:sp>
        <p:nvSpPr>
          <p:cNvPr id="14" name="page-10-text-001-00">
            <a:extLst xmlns:a="http://schemas.openxmlformats.org/drawingml/2006/main">
              <a:ext uri="{FF2B5EF4-FFF2-40B4-BE49-F238E27FC236}">
                <a16:creationId xmlns:a16="http://schemas.microsoft.com/office/drawing/2014/main" id="{6CEDFF39-60ED-4546-8EB7-011C783E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1055257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구분</a:t>
            </a:r>
          </a:p>
        </p:txBody>
      </p:sp>
      <p:sp>
        <p:nvSpPr>
          <p:cNvPr id="15" name="page-10-text-001-01">
            <a:extLst xmlns:a="http://schemas.openxmlformats.org/drawingml/2006/main">
              <a:ext uri="{FF2B5EF4-FFF2-40B4-BE49-F238E27FC236}">
                <a16:creationId xmlns:a16="http://schemas.microsoft.com/office/drawing/2014/main" id="{2E06F2AB-C0F2-4B86-B85F-25C898ED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79" y="1055257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담당</a:t>
            </a:r>
          </a:p>
        </p:txBody>
      </p:sp>
      <p:sp>
        <p:nvSpPr>
          <p:cNvPr id="16" name="page-10-text-002-00">
            <a:extLst xmlns:a="http://schemas.openxmlformats.org/drawingml/2006/main">
              <a:ext uri="{FF2B5EF4-FFF2-40B4-BE49-F238E27FC236}">
                <a16:creationId xmlns:a16="http://schemas.microsoft.com/office/drawing/2014/main" id="{FBF1CFFC-0EB5-4825-BF6A-9AE3D05C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1385163"/>
            <a:ext cx="113537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4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Flutter/Dart 도구</a:t>
            </a:r>
          </a:p>
        </p:txBody>
      </p:sp>
      <p:sp>
        <p:nvSpPr>
          <p:cNvPr id="17" name="page-10-text-002-01">
            <a:extLst xmlns:a="http://schemas.openxmlformats.org/drawingml/2006/main">
              <a:ext uri="{FF2B5EF4-FFF2-40B4-BE49-F238E27FC236}">
                <a16:creationId xmlns:a16="http://schemas.microsoft.com/office/drawing/2014/main" id="{73FAED31-04D0-430B-A08C-27FF017C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79" y="1385163"/>
            <a:ext cx="2469535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정적 분석·테스트·빌드·Golden·측정 실행</a:t>
            </a:r>
          </a:p>
        </p:txBody>
      </p:sp>
      <p:sp>
        <p:nvSpPr>
          <p:cNvPr id="18" name="page-10-text-003-00">
            <a:extLst xmlns:a="http://schemas.openxmlformats.org/drawingml/2006/main">
              <a:ext uri="{FF2B5EF4-FFF2-40B4-BE49-F238E27FC236}">
                <a16:creationId xmlns:a16="http://schemas.microsoft.com/office/drawing/2014/main" id="{07728786-5761-4DD0-8FF1-5B1CCD6F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1696471"/>
            <a:ext cx="5888746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AI 제안은 즉시 사실로 채택하지 않고 코드·테스트·빌드·캡처 증거와 대조했다. 기여 수준은 다음처럼</a:t>
            </a:r>
          </a:p>
        </p:txBody>
      </p:sp>
      <p:sp>
        <p:nvSpPr>
          <p:cNvPr id="19" name="page-10-text-004-00">
            <a:extLst xmlns:a="http://schemas.openxmlformats.org/drawingml/2006/main">
              <a:ext uri="{FF2B5EF4-FFF2-40B4-BE49-F238E27FC236}">
                <a16:creationId xmlns:a16="http://schemas.microsoft.com/office/drawing/2014/main" id="{BB15B87F-C0F6-40FC-8B82-F24D1872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1996299"/>
            <a:ext cx="666475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1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기록한다.</a:t>
            </a:r>
          </a:p>
        </p:txBody>
      </p:sp>
      <p:sp>
        <p:nvSpPr>
          <p:cNvPr id="20" name="page-10-text-005-00">
            <a:extLst xmlns:a="http://schemas.openxmlformats.org/drawingml/2006/main">
              <a:ext uri="{FF2B5EF4-FFF2-40B4-BE49-F238E27FC236}">
                <a16:creationId xmlns:a16="http://schemas.microsoft.com/office/drawing/2014/main" id="{837273EC-5BBC-46D8-B017-FAA2C114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2403133"/>
            <a:ext cx="4256975" cy="215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5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DIRECT: AI가 생성 또는 직접 수정한 산출물이 저장소 기록으로 확인됨.</a:t>
            </a:r>
          </a:p>
        </p:txBody>
      </p:sp>
      <p:sp>
        <p:nvSpPr>
          <p:cNvPr id="21" name="page-10-text-006-00">
            <a:extLst xmlns:a="http://schemas.openxmlformats.org/drawingml/2006/main">
              <a:ext uri="{FF2B5EF4-FFF2-40B4-BE49-F238E27FC236}">
                <a16:creationId xmlns:a16="http://schemas.microsoft.com/office/drawing/2014/main" id="{7078F3D9-B163-4409-9753-DEF77F5F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2675950"/>
            <a:ext cx="5540311" cy="215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4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ASSISTED: AI가 분석·구현·검증 과정에 참여했으나 개별 변경의 단독 작성자로 단정하지 않음.</a:t>
            </a:r>
          </a:p>
        </p:txBody>
      </p:sp>
      <p:sp>
        <p:nvSpPr>
          <p:cNvPr id="22" name="page-10-text-007-00">
            <a:extLst xmlns:a="http://schemas.openxmlformats.org/drawingml/2006/main">
              <a:ext uri="{FF2B5EF4-FFF2-40B4-BE49-F238E27FC236}">
                <a16:creationId xmlns:a16="http://schemas.microsoft.com/office/drawing/2014/main" id="{1B2D0904-D069-415B-A2EC-573D3B4A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2948767"/>
            <a:ext cx="4461493" cy="215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5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HUMAN DECISION: 제품 철학·범위·최종 승인처럼 인간에게 남겨 둔 판단.</a:t>
            </a:r>
          </a:p>
        </p:txBody>
      </p:sp>
      <p:sp>
        <p:nvSpPr>
          <p:cNvPr id="23" name="page-10-text-008-00">
            <a:extLst xmlns:a="http://schemas.openxmlformats.org/drawingml/2006/main">
              <a:ext uri="{FF2B5EF4-FFF2-40B4-BE49-F238E27FC236}">
                <a16:creationId xmlns:a16="http://schemas.microsoft.com/office/drawing/2014/main" id="{4312B825-A2BF-4239-9803-C6C297FA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3392283"/>
            <a:ext cx="1397006" cy="23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0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80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4.2 대표 활용 사례</a:t>
            </a:r>
          </a:p>
        </p:txBody>
      </p:sp>
      <p:sp>
        <p:nvSpPr>
          <p:cNvPr id="24" name="page-10-text-009-00">
            <a:extLst xmlns:a="http://schemas.openxmlformats.org/drawingml/2006/main">
              <a:ext uri="{FF2B5EF4-FFF2-40B4-BE49-F238E27FC236}">
                <a16:creationId xmlns:a16="http://schemas.microsoft.com/office/drawing/2014/main" id="{FF5F3953-8F8F-40FF-9977-B98BF3C2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3851398"/>
            <a:ext cx="2549291" cy="219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8" b="0" i="0">
                <a:solidFill>
                  <a:srgbClr val="1F4D78"/>
                </a:solidFill>
                <a:latin typeface="Nanum Gothic"/>
                <a:ea typeface="Nanum Gothic"/>
                <a:cs typeface="Nanum Gothic"/>
              </a:defRPr>
            </a:pPr>
            <a:r>
              <a:rPr sz="648" b="0" i="0">
                <a:solidFill>
                  <a:srgbClr val="1F4D78"/>
                </a:solidFill>
                <a:latin typeface="Nanum Gothic"/>
                <a:ea typeface="Nanum Gothic"/>
                <a:cs typeface="Nanum Gothic"/>
              </a:rPr>
              <a:t>사례 A — 초기 실행 가능한 프로토타입</a:t>
            </a:r>
          </a:p>
        </p:txBody>
      </p:sp>
      <p:sp>
        <p:nvSpPr>
          <p:cNvPr id="25" name="page-10-text-010-00">
            <a:extLst xmlns:a="http://schemas.openxmlformats.org/drawingml/2006/main">
              <a:ext uri="{FF2B5EF4-FFF2-40B4-BE49-F238E27FC236}">
                <a16:creationId xmlns:a16="http://schemas.microsoft.com/office/drawing/2014/main" id="{1CC05DE0-8387-471B-90A8-CB37AD0C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4228128"/>
            <a:ext cx="3883157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문제: 빈 저장소에서 결정론적 핵심 재미를 빠르게 검증해야 했다.</a:t>
            </a:r>
          </a:p>
        </p:txBody>
      </p:sp>
      <p:sp>
        <p:nvSpPr>
          <p:cNvPr id="26" name="page-10-text-011-00">
            <a:extLst xmlns:a="http://schemas.openxmlformats.org/drawingml/2006/main">
              <a:ext uri="{FF2B5EF4-FFF2-40B4-BE49-F238E27FC236}">
                <a16:creationId xmlns:a16="http://schemas.microsoft.com/office/drawing/2014/main" id="{106C042B-36F2-47E9-8021-321E9F9D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4500945"/>
            <a:ext cx="5737106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5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AI 기여: Flutter 앱 구조, 도메인 모델, 단계 데이터, 샷 시뮬레이터, Flame 렌더러, UI, 테스트의</a:t>
            </a:r>
          </a:p>
        </p:txBody>
      </p:sp>
      <p:sp>
        <p:nvSpPr>
          <p:cNvPr id="27" name="page-10-text-012-00">
            <a:extLst xmlns:a="http://schemas.openxmlformats.org/drawingml/2006/main">
              <a:ext uri="{FF2B5EF4-FFF2-40B4-BE49-F238E27FC236}">
                <a16:creationId xmlns:a16="http://schemas.microsoft.com/office/drawing/2014/main" id="{1DF1AA51-0A51-4C9B-B41E-ACD96B9A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113" y="4773762"/>
            <a:ext cx="998276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초기 생성·수정.</a:t>
            </a:r>
          </a:p>
        </p:txBody>
      </p:sp>
      <p:sp>
        <p:nvSpPr>
          <p:cNvPr id="28" name="page-10-text-013-00">
            <a:extLst xmlns:a="http://schemas.openxmlformats.org/drawingml/2006/main">
              <a:ext uri="{FF2B5EF4-FFF2-40B4-BE49-F238E27FC236}">
                <a16:creationId xmlns:a16="http://schemas.microsoft.com/office/drawing/2014/main" id="{2DDEC9F3-5125-4D57-9291-9E38C466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5046579"/>
            <a:ext cx="3529112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5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인간 판단: 속성 이전 철학, 잔류 공, 조작 방식과 출시 범위.</a:t>
            </a:r>
          </a:p>
        </p:txBody>
      </p:sp>
      <p:sp>
        <p:nvSpPr>
          <p:cNvPr id="29" name="page-10-text-014-00">
            <a:extLst xmlns:a="http://schemas.openxmlformats.org/drawingml/2006/main">
              <a:ext uri="{FF2B5EF4-FFF2-40B4-BE49-F238E27FC236}">
                <a16:creationId xmlns:a16="http://schemas.microsoft.com/office/drawing/2014/main" id="{2E891350-090F-4538-AC3D-C2D7C18B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5319395"/>
            <a:ext cx="2708568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검증: analyze, test, Web 빌드와 실제 데모.</a:t>
            </a:r>
          </a:p>
        </p:txBody>
      </p:sp>
      <p:sp>
        <p:nvSpPr>
          <p:cNvPr id="30" name="page-10-text-015-00">
            <a:extLst xmlns:a="http://schemas.openxmlformats.org/drawingml/2006/main">
              <a:ext uri="{FF2B5EF4-FFF2-40B4-BE49-F238E27FC236}">
                <a16:creationId xmlns:a16="http://schemas.microsoft.com/office/drawing/2014/main" id="{E8FE7E26-323E-4C66-AD55-91E41D62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5704391"/>
            <a:ext cx="2013885" cy="219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7" b="0" i="0">
                <a:solidFill>
                  <a:srgbClr val="1F4D78"/>
                </a:solidFill>
                <a:latin typeface="Nanum Gothic"/>
                <a:ea typeface="Nanum Gothic"/>
                <a:cs typeface="Nanum Gothic"/>
              </a:defRPr>
            </a:pPr>
            <a:r>
              <a:rPr sz="637" b="0" i="0">
                <a:solidFill>
                  <a:srgbClr val="1F4D78"/>
                </a:solidFill>
                <a:latin typeface="Nanum Gothic"/>
                <a:ea typeface="Nanum Gothic"/>
                <a:cs typeface="Nanum Gothic"/>
              </a:rPr>
              <a:t>사례 B — 10단계·40패턴 확장</a:t>
            </a:r>
          </a:p>
        </p:txBody>
      </p:sp>
      <p:sp>
        <p:nvSpPr>
          <p:cNvPr id="31" name="page-10-text-016-00">
            <a:extLst xmlns:a="http://schemas.openxmlformats.org/drawingml/2006/main">
              <a:ext uri="{FF2B5EF4-FFF2-40B4-BE49-F238E27FC236}">
                <a16:creationId xmlns:a16="http://schemas.microsoft.com/office/drawing/2014/main" id="{474530F1-1463-420B-9D92-DE6D9003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6081121"/>
            <a:ext cx="4214959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문제: 기능이 늘어도 기존 물리 불변 조건과 저장 호환을 유지해야 했다.</a:t>
            </a:r>
          </a:p>
        </p:txBody>
      </p:sp>
      <p:sp>
        <p:nvSpPr>
          <p:cNvPr id="32" name="page-10-text-017-00">
            <a:extLst xmlns:a="http://schemas.openxmlformats.org/drawingml/2006/main">
              <a:ext uri="{FF2B5EF4-FFF2-40B4-BE49-F238E27FC236}">
                <a16:creationId xmlns:a16="http://schemas.microsoft.com/office/drawing/2014/main" id="{D1E41C98-3368-4C96-B704-4A91F5AE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6353938"/>
            <a:ext cx="5088023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4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AI 기여: 데이터 기반 단계 확장, validator/probe, 보상·도전·리플레이·설정 통합 지원.</a:t>
            </a:r>
          </a:p>
        </p:txBody>
      </p:sp>
      <p:sp>
        <p:nvSpPr>
          <p:cNvPr id="33" name="page-10-text-018-00">
            <a:extLst xmlns:a="http://schemas.openxmlformats.org/drawingml/2006/main">
              <a:ext uri="{FF2B5EF4-FFF2-40B4-BE49-F238E27FC236}">
                <a16:creationId xmlns:a16="http://schemas.microsoft.com/office/drawing/2014/main" id="{A2886FF8-4C27-4EE8-967E-3486A4C0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6626754"/>
            <a:ext cx="3425926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4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검증: 생산 카탈로그 --check, 패턴 제한 런타임, 전체 회귀.</a:t>
            </a:r>
          </a:p>
        </p:txBody>
      </p:sp>
      <p:sp>
        <p:nvSpPr>
          <p:cNvPr id="34" name="page-10-text-019-00">
            <a:extLst xmlns:a="http://schemas.openxmlformats.org/drawingml/2006/main">
              <a:ext uri="{FF2B5EF4-FFF2-40B4-BE49-F238E27FC236}">
                <a16:creationId xmlns:a16="http://schemas.microsoft.com/office/drawing/2014/main" id="{9C4B5315-C1A5-4D70-871B-2F70BC05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7011750"/>
            <a:ext cx="2667800" cy="219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1F4D78"/>
                </a:solidFill>
                <a:latin typeface="Nanum Gothic"/>
                <a:ea typeface="Nanum Gothic"/>
                <a:cs typeface="Nanum Gothic"/>
              </a:defRPr>
            </a:pPr>
            <a:r>
              <a:rPr sz="653" b="0" i="0">
                <a:solidFill>
                  <a:srgbClr val="1F4D78"/>
                </a:solidFill>
                <a:latin typeface="Nanum Gothic"/>
                <a:ea typeface="Nanum Gothic"/>
                <a:cs typeface="Nanum Gothic"/>
              </a:rPr>
              <a:t>사례 C — 실패를 증거로 바꾸는 QA 루프</a:t>
            </a:r>
          </a:p>
        </p:txBody>
      </p:sp>
      <p:sp>
        <p:nvSpPr>
          <p:cNvPr id="35" name="page-10-text-020-00">
            <a:extLst xmlns:a="http://schemas.openxmlformats.org/drawingml/2006/main">
              <a:ext uri="{FF2B5EF4-FFF2-40B4-BE49-F238E27FC236}">
                <a16:creationId xmlns:a16="http://schemas.microsoft.com/office/drawing/2014/main" id="{510F2F55-4543-4377-81B0-60EA2B8D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7388480"/>
            <a:ext cx="3755874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문제: 제안과 실제 동작 사이의 차이를 추적할 표준이 필요했다.</a:t>
            </a:r>
          </a:p>
        </p:txBody>
      </p:sp>
      <p:sp>
        <p:nvSpPr>
          <p:cNvPr id="36" name="page-10-text-021-00">
            <a:extLst xmlns:a="http://schemas.openxmlformats.org/drawingml/2006/main">
              <a:ext uri="{FF2B5EF4-FFF2-40B4-BE49-F238E27FC236}">
                <a16:creationId xmlns:a16="http://schemas.microsoft.com/office/drawing/2014/main" id="{29308082-E756-4919-89E0-11FDE35A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7661297"/>
            <a:ext cx="5296867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AI 기여: 문제→증거→구현→테스트 흐름, 실패 재현 fixture, Golden과 하네스 기록 정합.</a:t>
            </a:r>
          </a:p>
        </p:txBody>
      </p:sp>
      <p:sp>
        <p:nvSpPr>
          <p:cNvPr id="37" name="page-10-text-022-00">
            <a:extLst xmlns:a="http://schemas.openxmlformats.org/drawingml/2006/main">
              <a:ext uri="{FF2B5EF4-FFF2-40B4-BE49-F238E27FC236}">
                <a16:creationId xmlns:a16="http://schemas.microsoft.com/office/drawing/2014/main" id="{E5D1971F-F81F-4ECC-8461-F311DE41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7934114"/>
            <a:ext cx="2822875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인간 판단: 통과 기준과 잔여 위험의 승인 여부.</a:t>
            </a:r>
          </a:p>
        </p:txBody>
      </p:sp>
      <p:sp>
        <p:nvSpPr>
          <p:cNvPr id="38" name="page-10-text-023-00">
            <a:extLst xmlns:a="http://schemas.openxmlformats.org/drawingml/2006/main">
              <a:ext uri="{FF2B5EF4-FFF2-40B4-BE49-F238E27FC236}">
                <a16:creationId xmlns:a16="http://schemas.microsoft.com/office/drawing/2014/main" id="{5DD76250-82F7-4028-B098-03FACF63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8319109"/>
            <a:ext cx="2453198" cy="219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3" b="0" i="0">
                <a:solidFill>
                  <a:srgbClr val="1F4D78"/>
                </a:solidFill>
                <a:latin typeface="Nanum Gothic"/>
                <a:ea typeface="Nanum Gothic"/>
                <a:cs typeface="Nanum Gothic"/>
              </a:defRPr>
            </a:pPr>
            <a:r>
              <a:rPr sz="643" b="0" i="0">
                <a:solidFill>
                  <a:srgbClr val="1F4D78"/>
                </a:solidFill>
                <a:latin typeface="Nanum Gothic"/>
                <a:ea typeface="Nanum Gothic"/>
                <a:cs typeface="Nanum Gothic"/>
              </a:rPr>
              <a:t>사례 D — 생성 자산의 권리·번들 경계</a:t>
            </a:r>
          </a:p>
        </p:txBody>
      </p:sp>
      <p:sp>
        <p:nvSpPr>
          <p:cNvPr id="39" name="page-10-text-024-00">
            <a:extLst xmlns:a="http://schemas.openxmlformats.org/drawingml/2006/main">
              <a:ext uri="{FF2B5EF4-FFF2-40B4-BE49-F238E27FC236}">
                <a16:creationId xmlns:a16="http://schemas.microsoft.com/office/drawing/2014/main" id="{6FEF3822-FBC5-4A01-ACE5-73925D69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8695839"/>
            <a:ext cx="4343478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5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문제: 생성 스프라이트의 출처·변환·실제 번들 포함 여부가 분산돼 있었다.</a:t>
            </a:r>
          </a:p>
        </p:txBody>
      </p:sp>
      <p:sp>
        <p:nvSpPr>
          <p:cNvPr id="40" name="page-10-text-025-00">
            <a:extLst xmlns:a="http://schemas.openxmlformats.org/drawingml/2006/main">
              <a:ext uri="{FF2B5EF4-FFF2-40B4-BE49-F238E27FC236}">
                <a16:creationId xmlns:a16="http://schemas.microsoft.com/office/drawing/2014/main" id="{E446FC27-9BE7-4043-B720-7B323E84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8968656"/>
            <a:ext cx="3454967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7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47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AI 기여: crate-v2, stone-v2, jelly-bumper-v1 생성·후처리 지원.</a:t>
            </a:r>
          </a:p>
        </p:txBody>
      </p:sp>
      <p:sp>
        <p:nvSpPr>
          <p:cNvPr id="41" name="page-10-text-026-00">
            <a:extLst xmlns:a="http://schemas.openxmlformats.org/drawingml/2006/main">
              <a:ext uri="{FF2B5EF4-FFF2-40B4-BE49-F238E27FC236}">
                <a16:creationId xmlns:a16="http://schemas.microsoft.com/office/drawing/2014/main" id="{10E0EFA2-2053-41F7-9820-C1BE7F58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9241473"/>
            <a:ext cx="3270220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1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검증: 권리대장, SHA-256, Release AssetManifest 계약.</a:t>
            </a:r>
          </a:p>
        </p:txBody>
      </p:sp>
      <p:sp>
        <p:nvSpPr>
          <p:cNvPr id="42" name="page-10-text-027-00">
            <a:extLst xmlns:a="http://schemas.openxmlformats.org/drawingml/2006/main">
              <a:ext uri="{FF2B5EF4-FFF2-40B4-BE49-F238E27FC236}">
                <a16:creationId xmlns:a16="http://schemas.microsoft.com/office/drawing/2014/main" id="{FE781BD3-08A8-45A3-AFE1-E1A27EBF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9514289"/>
            <a:ext cx="3461763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한계: 기술 교차검토는 법무 최종 승인을 대체하지 않는다.</a:t>
            </a:r>
          </a:p>
        </p:txBody>
      </p:sp>
      <p:sp>
        <p:nvSpPr>
          <p:cNvPr id="43" name="page-10-text-028-00">
            <a:extLst xmlns:a="http://schemas.openxmlformats.org/drawingml/2006/main">
              <a:ext uri="{FF2B5EF4-FFF2-40B4-BE49-F238E27FC236}">
                <a16:creationId xmlns:a16="http://schemas.microsoft.com/office/drawing/2014/main" id="{1D274228-AF9B-48B3-B5A0-417B50A5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718" y="10018730"/>
            <a:ext cx="192927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8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48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Final Report · Page 10</a:t>
            </a:r>
          </a:p>
        </p:txBody>
      </p:sp>
    </p:spTree>
    <p:extLst>
      <p:ext uri="{BB962C8B-B14F-4D97-AF65-F5344CB8AC3E}">
        <p14:creationId xmlns:p14="http://schemas.microsoft.com/office/powerpoint/2010/main" val="11588300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61c618cb841c2"/>
          <a:srcRect xmlns:a="http://schemas.openxmlformats.org/drawingml/2006/main" l="14648" t="0" r="146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lide-11-background">
            <a:extLst xmlns:a="http://schemas.openxmlformats.org/drawingml/2006/main">
              <a:ext uri="{FF2B5EF4-FFF2-40B4-BE49-F238E27FC236}">
                <a16:creationId xmlns:a16="http://schemas.microsoft.com/office/drawing/2014/main" id="{F01D60C8-86F9-405B-BC0A-3D490BA9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1-rect-000">
            <a:extLst xmlns:a="http://schemas.openxmlformats.org/drawingml/2006/main">
              <a:ext uri="{FF2B5EF4-FFF2-40B4-BE49-F238E27FC236}">
                <a16:creationId xmlns:a16="http://schemas.microsoft.com/office/drawing/2014/main" id="{6B3D5FCE-CDFF-44D6-AC2E-D35EB673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4265124"/>
            <a:ext cx="1049778" cy="326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-rect-001">
            <a:extLst xmlns:a="http://schemas.openxmlformats.org/drawingml/2006/main">
              <a:ext uri="{FF2B5EF4-FFF2-40B4-BE49-F238E27FC236}">
                <a16:creationId xmlns:a16="http://schemas.microsoft.com/office/drawing/2014/main" id="{A24A7101-C7E6-49D2-9E56-4C24758A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143" y="4265124"/>
            <a:ext cx="2100174" cy="326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11-rect-002">
            <a:extLst xmlns:a="http://schemas.openxmlformats.org/drawingml/2006/main">
              <a:ext uri="{FF2B5EF4-FFF2-40B4-BE49-F238E27FC236}">
                <a16:creationId xmlns:a16="http://schemas.microsoft.com/office/drawing/2014/main" id="{8AEB965A-FBB0-4ACA-91EA-F4F67DA3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935" y="4265124"/>
            <a:ext cx="2631551" cy="326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11-rect-003">
            <a:extLst xmlns:a="http://schemas.openxmlformats.org/drawingml/2006/main">
              <a:ext uri="{FF2B5EF4-FFF2-40B4-BE49-F238E27FC236}">
                <a16:creationId xmlns:a16="http://schemas.microsoft.com/office/drawing/2014/main" id="{E8953B14-73D1-44BB-BD21-34A9BE80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4265124"/>
            <a:ext cx="1049778" cy="326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-11-rect-004">
            <a:extLst xmlns:a="http://schemas.openxmlformats.org/drawingml/2006/main">
              <a:ext uri="{FF2B5EF4-FFF2-40B4-BE49-F238E27FC236}">
                <a16:creationId xmlns:a16="http://schemas.microsoft.com/office/drawing/2014/main" id="{901C09B8-C55B-48A2-A211-9C223E4A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143" y="4265124"/>
            <a:ext cx="2100174" cy="326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-11-rect-005">
            <a:extLst xmlns:a="http://schemas.openxmlformats.org/drawingml/2006/main">
              <a:ext uri="{FF2B5EF4-FFF2-40B4-BE49-F238E27FC236}">
                <a16:creationId xmlns:a16="http://schemas.microsoft.com/office/drawing/2014/main" id="{4EEFD617-742C-430A-8186-B3E7D7D6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935" y="4265124"/>
            <a:ext cx="2631551" cy="326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-11-line-000">
            <a:extLst xmlns:a="http://schemas.openxmlformats.org/drawingml/2006/main">
              <a:ext uri="{FF2B5EF4-FFF2-40B4-BE49-F238E27FC236}">
                <a16:creationId xmlns:a16="http://schemas.microsoft.com/office/drawing/2014/main" id="{5484324F-C0E0-4D33-9C4C-B058DE41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58" y="4268501"/>
            <a:ext cx="578953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0" name="page-11-line-001">
            <a:extLst xmlns:a="http://schemas.openxmlformats.org/drawingml/2006/main">
              <a:ext uri="{FF2B5EF4-FFF2-40B4-BE49-F238E27FC236}">
                <a16:creationId xmlns:a16="http://schemas.microsoft.com/office/drawing/2014/main" id="{223787C1-C646-4EEE-A97E-80B8B1CF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4595340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1" name="page-11-line-002">
            <a:extLst xmlns:a="http://schemas.openxmlformats.org/drawingml/2006/main">
              <a:ext uri="{FF2B5EF4-FFF2-40B4-BE49-F238E27FC236}">
                <a16:creationId xmlns:a16="http://schemas.microsoft.com/office/drawing/2014/main" id="{34D0A055-19C2-4550-A108-E7EDD4B5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5219307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2" name="page-11-line-003">
            <a:extLst xmlns:a="http://schemas.openxmlformats.org/drawingml/2006/main">
              <a:ext uri="{FF2B5EF4-FFF2-40B4-BE49-F238E27FC236}">
                <a16:creationId xmlns:a16="http://schemas.microsoft.com/office/drawing/2014/main" id="{27615C0F-F35C-4CF9-92C6-7E1E1B39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5585314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3" name="page-11-line-004">
            <a:extLst xmlns:a="http://schemas.openxmlformats.org/drawingml/2006/main">
              <a:ext uri="{FF2B5EF4-FFF2-40B4-BE49-F238E27FC236}">
                <a16:creationId xmlns:a16="http://schemas.microsoft.com/office/drawing/2014/main" id="{21ED5899-7DA4-4352-93CC-14B0F7EA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5949970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4" name="page-11-line-005">
            <a:extLst xmlns:a="http://schemas.openxmlformats.org/drawingml/2006/main">
              <a:ext uri="{FF2B5EF4-FFF2-40B4-BE49-F238E27FC236}">
                <a16:creationId xmlns:a16="http://schemas.microsoft.com/office/drawing/2014/main" id="{65ADECDB-6943-4375-BE86-44D9705C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6315976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5" name="page-11-line-006">
            <a:extLst xmlns:a="http://schemas.openxmlformats.org/drawingml/2006/main">
              <a:ext uri="{FF2B5EF4-FFF2-40B4-BE49-F238E27FC236}">
                <a16:creationId xmlns:a16="http://schemas.microsoft.com/office/drawing/2014/main" id="{0EFA1DCD-7EFD-403F-AFFC-3F375958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6939943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6" name="page-11-line-007">
            <a:extLst xmlns:a="http://schemas.openxmlformats.org/drawingml/2006/main">
              <a:ext uri="{FF2B5EF4-FFF2-40B4-BE49-F238E27FC236}">
                <a16:creationId xmlns:a16="http://schemas.microsoft.com/office/drawing/2014/main" id="{E6DFE680-1382-4ED2-A25C-ED8A2F36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7305950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7" name="page-11-line-008">
            <a:extLst xmlns:a="http://schemas.openxmlformats.org/drawingml/2006/main">
              <a:ext uri="{FF2B5EF4-FFF2-40B4-BE49-F238E27FC236}">
                <a16:creationId xmlns:a16="http://schemas.microsoft.com/office/drawing/2014/main" id="{56EA3E7D-FF76-442E-897B-20A80472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58" y="7670606"/>
            <a:ext cx="578953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8" name="page-11-line-009">
            <a:extLst xmlns:a="http://schemas.openxmlformats.org/drawingml/2006/main">
              <a:ext uri="{FF2B5EF4-FFF2-40B4-BE49-F238E27FC236}">
                <a16:creationId xmlns:a16="http://schemas.microsoft.com/office/drawing/2014/main" id="{627157CC-F9D3-437F-AB45-5BCF141E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4265124"/>
            <a:ext cx="9525" cy="34088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9" name="page-11-line-010">
            <a:extLst xmlns:a="http://schemas.openxmlformats.org/drawingml/2006/main">
              <a:ext uri="{FF2B5EF4-FFF2-40B4-BE49-F238E27FC236}">
                <a16:creationId xmlns:a16="http://schemas.microsoft.com/office/drawing/2014/main" id="{B79C37C1-F2D1-41FB-B0E2-3F978E0F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143" y="4271877"/>
            <a:ext cx="9525" cy="33953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0" name="page-11-line-011">
            <a:extLst xmlns:a="http://schemas.openxmlformats.org/drawingml/2006/main">
              <a:ext uri="{FF2B5EF4-FFF2-40B4-BE49-F238E27FC236}">
                <a16:creationId xmlns:a16="http://schemas.microsoft.com/office/drawing/2014/main" id="{5DB26BA8-62E1-4BEB-BAA1-F1391DA4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935" y="4271877"/>
            <a:ext cx="9525" cy="33953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1" name="page-11-line-012">
            <a:extLst xmlns:a="http://schemas.openxmlformats.org/drawingml/2006/main">
              <a:ext uri="{FF2B5EF4-FFF2-40B4-BE49-F238E27FC236}">
                <a16:creationId xmlns:a16="http://schemas.microsoft.com/office/drawing/2014/main" id="{D9A28423-5304-4B76-86C9-E706EF94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103" y="4265124"/>
            <a:ext cx="9525" cy="34088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2" name="page-11-text-000-00">
            <a:extLst xmlns:a="http://schemas.openxmlformats.org/drawingml/2006/main">
              <a:ext uri="{FF2B5EF4-FFF2-40B4-BE49-F238E27FC236}">
                <a16:creationId xmlns:a16="http://schemas.microsoft.com/office/drawing/2014/main" id="{0189632F-CF10-4E2C-BA24-FD6F92B6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96" y="497671"/>
            <a:ext cx="1456558" cy="178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Final Report</a:t>
            </a:r>
          </a:p>
        </p:txBody>
      </p:sp>
      <p:sp>
        <p:nvSpPr>
          <p:cNvPr id="23" name="page-11-text-001-00">
            <a:extLst xmlns:a="http://schemas.openxmlformats.org/drawingml/2006/main">
              <a:ext uri="{FF2B5EF4-FFF2-40B4-BE49-F238E27FC236}">
                <a16:creationId xmlns:a16="http://schemas.microsoft.com/office/drawing/2014/main" id="{FBF5077B-E927-47B8-94EB-73A8D9D5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1005812"/>
            <a:ext cx="1547695" cy="23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8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78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4.3 하네스 운영 흐름</a:t>
            </a:r>
          </a:p>
        </p:txBody>
      </p:sp>
      <p:sp>
        <p:nvSpPr>
          <p:cNvPr id="24" name="page-11-text-002-00">
            <a:extLst xmlns:a="http://schemas.openxmlformats.org/drawingml/2006/main">
              <a:ext uri="{FF2B5EF4-FFF2-40B4-BE49-F238E27FC236}">
                <a16:creationId xmlns:a16="http://schemas.microsoft.com/office/drawing/2014/main" id="{D807B98E-C3E5-4798-8A9C-2DA30E30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1433783"/>
            <a:ext cx="3024304" cy="214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3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3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1. 요구사항과 불변 조건을 harness_docs에 기록한다.</a:t>
            </a:r>
          </a:p>
        </p:txBody>
      </p:sp>
      <p:sp>
        <p:nvSpPr>
          <p:cNvPr id="25" name="page-11-text-003-00">
            <a:extLst xmlns:a="http://schemas.openxmlformats.org/drawingml/2006/main">
              <a:ext uri="{FF2B5EF4-FFF2-40B4-BE49-F238E27FC236}">
                <a16:creationId xmlns:a16="http://schemas.microsoft.com/office/drawing/2014/main" id="{4A2DF26F-CBE8-4F50-800D-C4C8FE44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1760623"/>
            <a:ext cx="2717218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5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2. 관련 코드·테스트·과거 증거를 함께 읽는다.</a:t>
            </a:r>
          </a:p>
        </p:txBody>
      </p:sp>
      <p:sp>
        <p:nvSpPr>
          <p:cNvPr id="26" name="page-11-text-004-00">
            <a:extLst xmlns:a="http://schemas.openxmlformats.org/drawingml/2006/main">
              <a:ext uri="{FF2B5EF4-FFF2-40B4-BE49-F238E27FC236}">
                <a16:creationId xmlns:a16="http://schemas.microsoft.com/office/drawing/2014/main" id="{0DCF77B6-C588-4532-9F02-63122C32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2087463"/>
            <a:ext cx="3355488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3. 작은 작업 단위로 구현하고 영향권 테스트를 실행한다.</a:t>
            </a:r>
          </a:p>
        </p:txBody>
      </p:sp>
      <p:sp>
        <p:nvSpPr>
          <p:cNvPr id="27" name="page-11-text-005-00">
            <a:extLst xmlns:a="http://schemas.openxmlformats.org/drawingml/2006/main">
              <a:ext uri="{FF2B5EF4-FFF2-40B4-BE49-F238E27FC236}">
                <a16:creationId xmlns:a16="http://schemas.microsoft.com/office/drawing/2014/main" id="{F909CCB6-B61D-4897-B018-BC4C424A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2414303"/>
            <a:ext cx="301132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5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4. 전체 회귀·정적 분석·빌드·시각 증거를 갱신한다.</a:t>
            </a:r>
          </a:p>
        </p:txBody>
      </p:sp>
      <p:sp>
        <p:nvSpPr>
          <p:cNvPr id="28" name="page-11-text-006-00">
            <a:extLst xmlns:a="http://schemas.openxmlformats.org/drawingml/2006/main">
              <a:ext uri="{FF2B5EF4-FFF2-40B4-BE49-F238E27FC236}">
                <a16:creationId xmlns:a16="http://schemas.microsoft.com/office/drawing/2014/main" id="{6748AAF5-8108-4A89-99CF-7C5CF223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2741142"/>
            <a:ext cx="339317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5. 미검증 항목을 통과로 바꾸지 않고 다음 반복에 남긴다.</a:t>
            </a:r>
          </a:p>
        </p:txBody>
      </p:sp>
      <p:sp>
        <p:nvSpPr>
          <p:cNvPr id="29" name="page-11-text-007-00">
            <a:extLst xmlns:a="http://schemas.openxmlformats.org/drawingml/2006/main">
              <a:ext uri="{FF2B5EF4-FFF2-40B4-BE49-F238E27FC236}">
                <a16:creationId xmlns:a16="http://schemas.microsoft.com/office/drawing/2014/main" id="{7BF6C439-39FB-4A3A-88EA-00D9E9C6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3273675"/>
            <a:ext cx="2186076" cy="273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2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5. 검증 결과와 증거 강도</a:t>
            </a:r>
          </a:p>
        </p:txBody>
      </p:sp>
      <p:sp>
        <p:nvSpPr>
          <p:cNvPr id="30" name="page-11-text-008-00">
            <a:extLst xmlns:a="http://schemas.openxmlformats.org/drawingml/2006/main">
              <a:ext uri="{FF2B5EF4-FFF2-40B4-BE49-F238E27FC236}">
                <a16:creationId xmlns:a16="http://schemas.microsoft.com/office/drawing/2014/main" id="{E56ECAF9-5735-4125-B433-2A99A93E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3862959"/>
            <a:ext cx="1547695" cy="23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8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78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5.1 최신 자동 게이트</a:t>
            </a:r>
          </a:p>
        </p:txBody>
      </p:sp>
      <p:sp>
        <p:nvSpPr>
          <p:cNvPr id="31" name="page-11-text-009-00">
            <a:extLst xmlns:a="http://schemas.openxmlformats.org/drawingml/2006/main">
              <a:ext uri="{FF2B5EF4-FFF2-40B4-BE49-F238E27FC236}">
                <a16:creationId xmlns:a16="http://schemas.microsoft.com/office/drawing/2014/main" id="{D1644A5B-7070-4A08-BCC9-DE23E0B0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4347965"/>
            <a:ext cx="49708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9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69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게이트</a:t>
            </a:r>
          </a:p>
        </p:txBody>
      </p:sp>
      <p:sp>
        <p:nvSpPr>
          <p:cNvPr id="32" name="page-11-text-009-01">
            <a:extLst xmlns:a="http://schemas.openxmlformats.org/drawingml/2006/main">
              <a:ext uri="{FF2B5EF4-FFF2-40B4-BE49-F238E27FC236}">
                <a16:creationId xmlns:a16="http://schemas.microsoft.com/office/drawing/2014/main" id="{09BFC291-2960-4FAC-BF2E-7A5EEDC1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4347965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결과</a:t>
            </a:r>
          </a:p>
        </p:txBody>
      </p:sp>
      <p:sp>
        <p:nvSpPr>
          <p:cNvPr id="33" name="page-11-text-009-02">
            <a:extLst xmlns:a="http://schemas.openxmlformats.org/drawingml/2006/main">
              <a:ext uri="{FF2B5EF4-FFF2-40B4-BE49-F238E27FC236}">
                <a16:creationId xmlns:a16="http://schemas.microsoft.com/office/drawing/2014/main" id="{536ED267-2314-42F5-B38F-735F54E8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4347965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근거</a:t>
            </a:r>
          </a:p>
        </p:txBody>
      </p:sp>
      <p:sp>
        <p:nvSpPr>
          <p:cNvPr id="34" name="page-11-text-010-00">
            <a:extLst xmlns:a="http://schemas.openxmlformats.org/drawingml/2006/main">
              <a:ext uri="{FF2B5EF4-FFF2-40B4-BE49-F238E27FC236}">
                <a16:creationId xmlns:a16="http://schemas.microsoft.com/office/drawing/2014/main" id="{45FEBBF5-F9BA-48A6-B721-70139D45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4677871"/>
            <a:ext cx="1015465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Flutter 전체 회</a:t>
            </a:r>
          </a:p>
        </p:txBody>
      </p:sp>
      <p:sp>
        <p:nvSpPr>
          <p:cNvPr id="35" name="page-11-text-010-01">
            <a:extLst xmlns:a="http://schemas.openxmlformats.org/drawingml/2006/main">
              <a:ext uri="{FF2B5EF4-FFF2-40B4-BE49-F238E27FC236}">
                <a16:creationId xmlns:a16="http://schemas.microsoft.com/office/drawing/2014/main" id="{821EA73D-17C6-49F6-B4C2-5EE2ADA0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4677871"/>
            <a:ext cx="259878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1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561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flutter test --concurrency=1, 2026-08-</a:t>
            </a:r>
          </a:p>
        </p:txBody>
      </p:sp>
      <p:sp>
        <p:nvSpPr>
          <p:cNvPr id="36" name="page-11-text-011-00">
            <a:extLst xmlns:a="http://schemas.openxmlformats.org/drawingml/2006/main">
              <a:ext uri="{FF2B5EF4-FFF2-40B4-BE49-F238E27FC236}">
                <a16:creationId xmlns:a16="http://schemas.microsoft.com/office/drawing/2014/main" id="{80B001AC-739D-4D29-8F42-F1316365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4807526"/>
            <a:ext cx="1236568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901개 통과, 실패 0</a:t>
            </a:r>
          </a:p>
        </p:txBody>
      </p:sp>
      <p:sp>
        <p:nvSpPr>
          <p:cNvPr id="37" name="page-11-text-012-00">
            <a:extLst xmlns:a="http://schemas.openxmlformats.org/drawingml/2006/main">
              <a:ext uri="{FF2B5EF4-FFF2-40B4-BE49-F238E27FC236}">
                <a16:creationId xmlns:a16="http://schemas.microsoft.com/office/drawing/2014/main" id="{21F8442E-F245-4642-A8BE-C43BDCEC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4937182"/>
            <a:ext cx="242078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9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89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귀</a:t>
            </a:r>
          </a:p>
        </p:txBody>
      </p:sp>
      <p:sp>
        <p:nvSpPr>
          <p:cNvPr id="38" name="page-11-text-012-01">
            <a:extLst xmlns:a="http://schemas.openxmlformats.org/drawingml/2006/main">
              <a:ext uri="{FF2B5EF4-FFF2-40B4-BE49-F238E27FC236}">
                <a16:creationId xmlns:a16="http://schemas.microsoft.com/office/drawing/2014/main" id="{6D2CC788-9E26-4F4B-96A8-6AEC6500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4937182"/>
            <a:ext cx="183963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5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09 11:48~11:52 KST 재확인</a:t>
            </a:r>
          </a:p>
        </p:txBody>
      </p:sp>
      <p:sp>
        <p:nvSpPr>
          <p:cNvPr id="39" name="page-11-text-013-00">
            <a:extLst xmlns:a="http://schemas.openxmlformats.org/drawingml/2006/main">
              <a:ext uri="{FF2B5EF4-FFF2-40B4-BE49-F238E27FC236}">
                <a16:creationId xmlns:a16="http://schemas.microsoft.com/office/drawing/2014/main" id="{B1366996-CF0C-46E2-8388-11429C1B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5302513"/>
            <a:ext cx="66306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정적 분석</a:t>
            </a:r>
          </a:p>
        </p:txBody>
      </p:sp>
      <p:sp>
        <p:nvSpPr>
          <p:cNvPr id="40" name="page-11-text-013-01">
            <a:extLst xmlns:a="http://schemas.openxmlformats.org/drawingml/2006/main">
              <a:ext uri="{FF2B5EF4-FFF2-40B4-BE49-F238E27FC236}">
                <a16:creationId xmlns:a16="http://schemas.microsoft.com/office/drawing/2014/main" id="{1B3235F8-E199-4B41-B2BB-205C762B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5302513"/>
            <a:ext cx="49016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6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이슈 0</a:t>
            </a:r>
          </a:p>
        </p:txBody>
      </p:sp>
      <p:sp>
        <p:nvSpPr>
          <p:cNvPr id="41" name="page-11-text-013-02">
            <a:extLst xmlns:a="http://schemas.openxmlformats.org/drawingml/2006/main">
              <a:ext uri="{FF2B5EF4-FFF2-40B4-BE49-F238E27FC236}">
                <a16:creationId xmlns:a16="http://schemas.microsoft.com/office/drawing/2014/main" id="{E578BEA7-FB39-403B-A835-57AA36C7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5302513"/>
            <a:ext cx="100387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7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557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flutter analyze</a:t>
            </a:r>
          </a:p>
        </p:txBody>
      </p:sp>
      <p:sp>
        <p:nvSpPr>
          <p:cNvPr id="42" name="page-11-text-014-00">
            <a:extLst xmlns:a="http://schemas.openxmlformats.org/drawingml/2006/main">
              <a:ext uri="{FF2B5EF4-FFF2-40B4-BE49-F238E27FC236}">
                <a16:creationId xmlns:a16="http://schemas.microsoft.com/office/drawing/2014/main" id="{EE2AB77E-B0F5-4DE4-8D2C-7D88CE35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5667844"/>
            <a:ext cx="66306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생산 패턴</a:t>
            </a:r>
          </a:p>
        </p:txBody>
      </p:sp>
      <p:sp>
        <p:nvSpPr>
          <p:cNvPr id="43" name="page-11-text-014-01">
            <a:extLst xmlns:a="http://schemas.openxmlformats.org/drawingml/2006/main">
              <a:ext uri="{FF2B5EF4-FFF2-40B4-BE49-F238E27FC236}">
                <a16:creationId xmlns:a16="http://schemas.microsoft.com/office/drawing/2014/main" id="{B832849D-648A-456D-86BD-B2CC6AEB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5667844"/>
            <a:ext cx="69964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40개 통과</a:t>
            </a:r>
          </a:p>
        </p:txBody>
      </p:sp>
      <p:sp>
        <p:nvSpPr>
          <p:cNvPr id="44" name="page-11-text-014-02">
            <a:extLst xmlns:a="http://schemas.openxmlformats.org/drawingml/2006/main">
              <a:ext uri="{FF2B5EF4-FFF2-40B4-BE49-F238E27FC236}">
                <a16:creationId xmlns:a16="http://schemas.microsoft.com/office/drawing/2014/main" id="{B51AA434-1B10-4F1F-9591-C8719B76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5667844"/>
            <a:ext cx="174862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생성 카탈로그·런타임 probe</a:t>
            </a:r>
          </a:p>
        </p:txBody>
      </p:sp>
      <p:sp>
        <p:nvSpPr>
          <p:cNvPr id="45" name="page-11-text-015-00">
            <a:extLst xmlns:a="http://schemas.openxmlformats.org/drawingml/2006/main">
              <a:ext uri="{FF2B5EF4-FFF2-40B4-BE49-F238E27FC236}">
                <a16:creationId xmlns:a16="http://schemas.microsoft.com/office/drawing/2014/main" id="{FB5FB643-34A7-4C28-ADE2-95FD1865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6033176"/>
            <a:ext cx="141908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Web Release 통과</a:t>
            </a:r>
          </a:p>
        </p:txBody>
      </p:sp>
      <p:sp>
        <p:nvSpPr>
          <p:cNvPr id="46" name="page-11-text-015-01">
            <a:extLst xmlns:a="http://schemas.openxmlformats.org/drawingml/2006/main">
              <a:ext uri="{FF2B5EF4-FFF2-40B4-BE49-F238E27FC236}">
                <a16:creationId xmlns:a16="http://schemas.microsoft.com/office/drawing/2014/main" id="{C3706327-C64A-4CA6-B95D-5F14DF7B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6033176"/>
            <a:ext cx="1568876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1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Release·Wasm 사전검사</a:t>
            </a:r>
          </a:p>
        </p:txBody>
      </p:sp>
      <p:sp>
        <p:nvSpPr>
          <p:cNvPr id="47" name="page-11-text-016-00">
            <a:extLst xmlns:a="http://schemas.openxmlformats.org/drawingml/2006/main">
              <a:ext uri="{FF2B5EF4-FFF2-40B4-BE49-F238E27FC236}">
                <a16:creationId xmlns:a16="http://schemas.microsoft.com/office/drawing/2014/main" id="{4D2FF7AE-6EC9-4882-B218-7B83A5C2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6398507"/>
            <a:ext cx="2597176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6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main/30d018a, 공 개 URL· 저 장 소</a:t>
            </a:r>
          </a:p>
        </p:txBody>
      </p:sp>
      <p:sp>
        <p:nvSpPr>
          <p:cNvPr id="48" name="page-11-text-017-00">
            <a:extLst xmlns:a="http://schemas.openxmlformats.org/drawingml/2006/main">
              <a:ext uri="{FF2B5EF4-FFF2-40B4-BE49-F238E27FC236}">
                <a16:creationId xmlns:a16="http://schemas.microsoft.com/office/drawing/2014/main" id="{AD54750D-9619-45E4-B27F-3658B0D2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6528162"/>
            <a:ext cx="141908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8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GitHub Pages 성공</a:t>
            </a:r>
          </a:p>
        </p:txBody>
      </p:sp>
      <p:sp>
        <p:nvSpPr>
          <p:cNvPr id="49" name="page-11-text-018-00">
            <a:extLst xmlns:a="http://schemas.openxmlformats.org/drawingml/2006/main">
              <a:ext uri="{FF2B5EF4-FFF2-40B4-BE49-F238E27FC236}">
                <a16:creationId xmlns:a16="http://schemas.microsoft.com/office/drawing/2014/main" id="{88F20258-030A-4BD9-93D5-93E93B47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6657818"/>
            <a:ext cx="194219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·Actions run HTTP 200 재확인</a:t>
            </a:r>
          </a:p>
        </p:txBody>
      </p:sp>
      <p:sp>
        <p:nvSpPr>
          <p:cNvPr id="50" name="page-11-text-019-00">
            <a:extLst xmlns:a="http://schemas.openxmlformats.org/drawingml/2006/main">
              <a:ext uri="{FF2B5EF4-FFF2-40B4-BE49-F238E27FC236}">
                <a16:creationId xmlns:a16="http://schemas.microsoft.com/office/drawing/2014/main" id="{BD77C034-8771-4926-A3CA-9E31BD59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7023149"/>
            <a:ext cx="66347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자산 번들</a:t>
            </a:r>
          </a:p>
        </p:txBody>
      </p:sp>
      <p:sp>
        <p:nvSpPr>
          <p:cNvPr id="51" name="page-11-text-019-01">
            <a:extLst xmlns:a="http://schemas.openxmlformats.org/drawingml/2006/main">
              <a:ext uri="{FF2B5EF4-FFF2-40B4-BE49-F238E27FC236}">
                <a16:creationId xmlns:a16="http://schemas.microsoft.com/office/drawing/2014/main" id="{20A8760F-614F-48D9-AB3E-53C53170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7023149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통과</a:t>
            </a:r>
          </a:p>
        </p:txBody>
      </p:sp>
      <p:sp>
        <p:nvSpPr>
          <p:cNvPr id="52" name="page-11-text-019-02">
            <a:extLst xmlns:a="http://schemas.openxmlformats.org/drawingml/2006/main">
              <a:ext uri="{FF2B5EF4-FFF2-40B4-BE49-F238E27FC236}">
                <a16:creationId xmlns:a16="http://schemas.microsoft.com/office/drawing/2014/main" id="{16D9A231-8BAA-49C4-B603-71FAF255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7023149"/>
            <a:ext cx="2011068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실제 AssetManifest와 해시 계약</a:t>
            </a:r>
          </a:p>
        </p:txBody>
      </p:sp>
      <p:sp>
        <p:nvSpPr>
          <p:cNvPr id="53" name="page-11-text-020-00">
            <a:extLst xmlns:a="http://schemas.openxmlformats.org/drawingml/2006/main">
              <a:ext uri="{FF2B5EF4-FFF2-40B4-BE49-F238E27FC236}">
                <a16:creationId xmlns:a16="http://schemas.microsoft.com/office/drawing/2014/main" id="{C39BD020-408F-4C31-9953-121E4BE8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7388480"/>
            <a:ext cx="57647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8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718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Golden</a:t>
            </a:r>
          </a:p>
        </p:txBody>
      </p:sp>
      <p:sp>
        <p:nvSpPr>
          <p:cNvPr id="54" name="page-11-text-020-01">
            <a:extLst xmlns:a="http://schemas.openxmlformats.org/drawingml/2006/main">
              <a:ext uri="{FF2B5EF4-FFF2-40B4-BE49-F238E27FC236}">
                <a16:creationId xmlns:a16="http://schemas.microsoft.com/office/drawing/2014/main" id="{95AF9B9E-4386-4D79-8E22-50904B2F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7388480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통과</a:t>
            </a:r>
          </a:p>
        </p:txBody>
      </p:sp>
      <p:sp>
        <p:nvSpPr>
          <p:cNvPr id="55" name="page-11-text-020-02">
            <a:extLst xmlns:a="http://schemas.openxmlformats.org/drawingml/2006/main">
              <a:ext uri="{FF2B5EF4-FFF2-40B4-BE49-F238E27FC236}">
                <a16:creationId xmlns:a16="http://schemas.microsoft.com/office/drawing/2014/main" id="{5CC7B36B-83A8-42DF-AF47-4690AA89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7388480"/>
            <a:ext cx="255501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5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작은 화면·태블릿·큰 글자·저모션·최종 흐름</a:t>
            </a:r>
          </a:p>
        </p:txBody>
      </p:sp>
      <p:sp>
        <p:nvSpPr>
          <p:cNvPr id="56" name="page-11-text-021-00">
            <a:extLst xmlns:a="http://schemas.openxmlformats.org/drawingml/2006/main">
              <a:ext uri="{FF2B5EF4-FFF2-40B4-BE49-F238E27FC236}">
                <a16:creationId xmlns:a16="http://schemas.microsoft.com/office/drawing/2014/main" id="{D960D808-0288-489E-8F13-512E946A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7869448"/>
            <a:ext cx="1050166" cy="23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8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5.2 성능 증거</a:t>
            </a:r>
          </a:p>
        </p:txBody>
      </p:sp>
      <p:sp>
        <p:nvSpPr>
          <p:cNvPr id="57" name="page-11-text-022-00">
            <a:extLst xmlns:a="http://schemas.openxmlformats.org/drawingml/2006/main">
              <a:ext uri="{FF2B5EF4-FFF2-40B4-BE49-F238E27FC236}">
                <a16:creationId xmlns:a16="http://schemas.microsoft.com/office/drawing/2014/main" id="{D13F7B02-B441-4C16-A59A-9396F984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8297419"/>
            <a:ext cx="3931352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390×844·768×1024 독립 브라우저 컨텍스트에서 3회 반복했다.</a:t>
            </a:r>
          </a:p>
        </p:txBody>
      </p:sp>
      <p:sp>
        <p:nvSpPr>
          <p:cNvPr id="58" name="page-11-text-023-00">
            <a:extLst xmlns:a="http://schemas.openxmlformats.org/drawingml/2006/main">
              <a:ext uri="{FF2B5EF4-FFF2-40B4-BE49-F238E27FC236}">
                <a16:creationId xmlns:a16="http://schemas.microsoft.com/office/drawing/2014/main" id="{E9B7163C-31CA-4023-BC4A-FF859540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8570236"/>
            <a:ext cx="4322470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5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발사 입력 전 충전 0.65초와 발사 뒤 2.5초를 같은 측정 구간에 포함했다.</a:t>
            </a:r>
          </a:p>
        </p:txBody>
      </p:sp>
      <p:sp>
        <p:nvSpPr>
          <p:cNvPr id="59" name="page-11-text-024-00">
            <a:extLst xmlns:a="http://schemas.openxmlformats.org/drawingml/2006/main">
              <a:ext uri="{FF2B5EF4-FFF2-40B4-BE49-F238E27FC236}">
                <a16:creationId xmlns:a16="http://schemas.microsoft.com/office/drawing/2014/main" id="{E6A97A7D-7C48-46A5-8DA1-70CAE6A6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8843052"/>
            <a:ext cx="3584721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rAF p90은 18.1ms·17.9ms, p99는 18.6ms·18.5ms였다.</a:t>
            </a:r>
          </a:p>
        </p:txBody>
      </p:sp>
      <p:sp>
        <p:nvSpPr>
          <p:cNvPr id="60" name="page-11-text-025-00">
            <a:extLst xmlns:a="http://schemas.openxmlformats.org/drawingml/2006/main">
              <a:ext uri="{FF2B5EF4-FFF2-40B4-BE49-F238E27FC236}">
                <a16:creationId xmlns:a16="http://schemas.microsoft.com/office/drawing/2014/main" id="{128AC079-9C4D-4C17-B671-D729B9CA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9115869"/>
            <a:ext cx="4711116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발사 구간 누락 프레임, 50ms 초과 프레임, Long Task, 콘솔 오류는 0건이었다.</a:t>
            </a:r>
          </a:p>
        </p:txBody>
      </p:sp>
      <p:sp>
        <p:nvSpPr>
          <p:cNvPr id="61" name="page-11-text-026-00">
            <a:extLst xmlns:a="http://schemas.openxmlformats.org/drawingml/2006/main">
              <a:ext uri="{FF2B5EF4-FFF2-40B4-BE49-F238E27FC236}">
                <a16:creationId xmlns:a16="http://schemas.microsoft.com/office/drawing/2014/main" id="{CC4E22AA-19AB-48DD-8C25-E613F283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718" y="10018730"/>
            <a:ext cx="192927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8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48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Final Report · Page 11</a:t>
            </a:r>
          </a:p>
        </p:txBody>
      </p:sp>
    </p:spTree>
    <p:extLst>
      <p:ext uri="{BB962C8B-B14F-4D97-AF65-F5344CB8AC3E}">
        <p14:creationId xmlns:p14="http://schemas.microsoft.com/office/powerpoint/2010/main" val="9140033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e9a41053b413a"/>
          <a:srcRect xmlns:a="http://schemas.openxmlformats.org/drawingml/2006/main" l="14648" t="0" r="146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lide-12-background">
            <a:extLst xmlns:a="http://schemas.openxmlformats.org/drawingml/2006/main">
              <a:ext uri="{FF2B5EF4-FFF2-40B4-BE49-F238E27FC236}">
                <a16:creationId xmlns:a16="http://schemas.microsoft.com/office/drawing/2014/main" id="{AF071780-A73F-4072-A64C-6CCAD4A3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2-rect-000">
            <a:extLst xmlns:a="http://schemas.openxmlformats.org/drawingml/2006/main">
              <a:ext uri="{FF2B5EF4-FFF2-40B4-BE49-F238E27FC236}">
                <a16:creationId xmlns:a16="http://schemas.microsoft.com/office/drawing/2014/main" id="{FBB5D160-2028-475D-B74B-5EFA4FE2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2470207"/>
            <a:ext cx="1049778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2-rect-001">
            <a:extLst xmlns:a="http://schemas.openxmlformats.org/drawingml/2006/main">
              <a:ext uri="{FF2B5EF4-FFF2-40B4-BE49-F238E27FC236}">
                <a16:creationId xmlns:a16="http://schemas.microsoft.com/office/drawing/2014/main" id="{31C8D680-E8AC-4529-A420-DD4F058A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143" y="2470207"/>
            <a:ext cx="2100174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12-rect-002">
            <a:extLst xmlns:a="http://schemas.openxmlformats.org/drawingml/2006/main">
              <a:ext uri="{FF2B5EF4-FFF2-40B4-BE49-F238E27FC236}">
                <a16:creationId xmlns:a16="http://schemas.microsoft.com/office/drawing/2014/main" id="{305518F7-E9E0-4928-8595-52BD3BA4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935" y="2470207"/>
            <a:ext cx="2631551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12-rect-003">
            <a:extLst xmlns:a="http://schemas.openxmlformats.org/drawingml/2006/main">
              <a:ext uri="{FF2B5EF4-FFF2-40B4-BE49-F238E27FC236}">
                <a16:creationId xmlns:a16="http://schemas.microsoft.com/office/drawing/2014/main" id="{BC968BDF-136C-4D56-9A84-5B7C2EF0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2470207"/>
            <a:ext cx="1049778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-12-rect-004">
            <a:extLst xmlns:a="http://schemas.openxmlformats.org/drawingml/2006/main">
              <a:ext uri="{FF2B5EF4-FFF2-40B4-BE49-F238E27FC236}">
                <a16:creationId xmlns:a16="http://schemas.microsoft.com/office/drawing/2014/main" id="{9451F736-CAEA-44D5-BA9C-64E7B54C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143" y="2470207"/>
            <a:ext cx="2100174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-12-rect-005">
            <a:extLst xmlns:a="http://schemas.openxmlformats.org/drawingml/2006/main">
              <a:ext uri="{FF2B5EF4-FFF2-40B4-BE49-F238E27FC236}">
                <a16:creationId xmlns:a16="http://schemas.microsoft.com/office/drawing/2014/main" id="{112F8124-40E8-47FA-A678-3DEFFB5A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935" y="2470207"/>
            <a:ext cx="2631551" cy="324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-12-line-000">
            <a:extLst xmlns:a="http://schemas.openxmlformats.org/drawingml/2006/main">
              <a:ext uri="{FF2B5EF4-FFF2-40B4-BE49-F238E27FC236}">
                <a16:creationId xmlns:a16="http://schemas.microsoft.com/office/drawing/2014/main" id="{6CAA549D-ABC4-4318-91CC-6C0AABB3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58" y="2473583"/>
            <a:ext cx="578953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0" name="page-12-line-001">
            <a:extLst xmlns:a="http://schemas.openxmlformats.org/drawingml/2006/main">
              <a:ext uri="{FF2B5EF4-FFF2-40B4-BE49-F238E27FC236}">
                <a16:creationId xmlns:a16="http://schemas.microsoft.com/office/drawing/2014/main" id="{76FCF65C-AB9D-4D5B-B435-A7B56586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2799072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1" name="page-12-line-002">
            <a:extLst xmlns:a="http://schemas.openxmlformats.org/drawingml/2006/main">
              <a:ext uri="{FF2B5EF4-FFF2-40B4-BE49-F238E27FC236}">
                <a16:creationId xmlns:a16="http://schemas.microsoft.com/office/drawing/2014/main" id="{15DF76DB-B27E-4CC4-A688-7460BC14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3165079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2" name="page-12-line-003">
            <a:extLst xmlns:a="http://schemas.openxmlformats.org/drawingml/2006/main">
              <a:ext uri="{FF2B5EF4-FFF2-40B4-BE49-F238E27FC236}">
                <a16:creationId xmlns:a16="http://schemas.microsoft.com/office/drawing/2014/main" id="{B9E9A32E-CD32-479C-AA46-A5D7722F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3789046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3" name="page-12-line-004">
            <a:extLst xmlns:a="http://schemas.openxmlformats.org/drawingml/2006/main">
              <a:ext uri="{FF2B5EF4-FFF2-40B4-BE49-F238E27FC236}">
                <a16:creationId xmlns:a16="http://schemas.microsoft.com/office/drawing/2014/main" id="{7359399F-9577-4DD3-9943-9BF9A4AD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4673674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4" name="page-12-line-005">
            <a:extLst xmlns:a="http://schemas.openxmlformats.org/drawingml/2006/main">
              <a:ext uri="{FF2B5EF4-FFF2-40B4-BE49-F238E27FC236}">
                <a16:creationId xmlns:a16="http://schemas.microsoft.com/office/drawing/2014/main" id="{F8A4E28C-FF9D-4E5A-A71C-8AC22EF8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5297641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5" name="page-12-line-006">
            <a:extLst xmlns:a="http://schemas.openxmlformats.org/drawingml/2006/main">
              <a:ext uri="{FF2B5EF4-FFF2-40B4-BE49-F238E27FC236}">
                <a16:creationId xmlns:a16="http://schemas.microsoft.com/office/drawing/2014/main" id="{B2521298-F818-4A59-8E71-655B78A1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5663647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6" name="page-12-line-007">
            <a:extLst xmlns:a="http://schemas.openxmlformats.org/drawingml/2006/main">
              <a:ext uri="{FF2B5EF4-FFF2-40B4-BE49-F238E27FC236}">
                <a16:creationId xmlns:a16="http://schemas.microsoft.com/office/drawing/2014/main" id="{A7CCEB1D-1945-4290-8080-126FFFF7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58" y="6287614"/>
            <a:ext cx="578953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7" name="page-12-line-008">
            <a:extLst xmlns:a="http://schemas.openxmlformats.org/drawingml/2006/main">
              <a:ext uri="{FF2B5EF4-FFF2-40B4-BE49-F238E27FC236}">
                <a16:creationId xmlns:a16="http://schemas.microsoft.com/office/drawing/2014/main" id="{46AF70C5-E415-4423-AD47-8EA93D64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2470207"/>
            <a:ext cx="9525" cy="38207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8" name="page-12-line-009">
            <a:extLst xmlns:a="http://schemas.openxmlformats.org/drawingml/2006/main">
              <a:ext uri="{FF2B5EF4-FFF2-40B4-BE49-F238E27FC236}">
                <a16:creationId xmlns:a16="http://schemas.microsoft.com/office/drawing/2014/main" id="{0F1D8EAF-8D7A-4168-826C-850A8B12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143" y="2476959"/>
            <a:ext cx="9525" cy="38072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9" name="page-12-line-010">
            <a:extLst xmlns:a="http://schemas.openxmlformats.org/drawingml/2006/main">
              <a:ext uri="{FF2B5EF4-FFF2-40B4-BE49-F238E27FC236}">
                <a16:creationId xmlns:a16="http://schemas.microsoft.com/office/drawing/2014/main" id="{884AEC72-259B-44C9-8EE8-DB4858A0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935" y="2476959"/>
            <a:ext cx="9525" cy="38072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0" name="page-12-line-011">
            <a:extLst xmlns:a="http://schemas.openxmlformats.org/drawingml/2006/main">
              <a:ext uri="{FF2B5EF4-FFF2-40B4-BE49-F238E27FC236}">
                <a16:creationId xmlns:a16="http://schemas.microsoft.com/office/drawing/2014/main" id="{0BC7221D-554A-4867-A202-26AD3F54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103" y="2470207"/>
            <a:ext cx="9525" cy="38207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21" name="page-12-text-000-00">
            <a:extLst xmlns:a="http://schemas.openxmlformats.org/drawingml/2006/main">
              <a:ext uri="{FF2B5EF4-FFF2-40B4-BE49-F238E27FC236}">
                <a16:creationId xmlns:a16="http://schemas.microsoft.com/office/drawing/2014/main" id="{BFF53064-9D82-435C-B541-FB049101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96" y="497671"/>
            <a:ext cx="1456558" cy="178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Final Report</a:t>
            </a:r>
          </a:p>
        </p:txBody>
      </p:sp>
      <p:sp>
        <p:nvSpPr>
          <p:cNvPr id="22" name="page-12-text-001-00">
            <a:extLst xmlns:a="http://schemas.openxmlformats.org/drawingml/2006/main">
              <a:ext uri="{FF2B5EF4-FFF2-40B4-BE49-F238E27FC236}">
                <a16:creationId xmlns:a16="http://schemas.microsoft.com/office/drawing/2014/main" id="{7C82EEB7-728D-466E-BECB-8CA990C4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998222"/>
            <a:ext cx="5726997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5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이 값은 브라우저 표시 스케줄러 간격이며 Flutter build/raster 실행 시간이나 실제 모바일 성능이</a:t>
            </a:r>
          </a:p>
        </p:txBody>
      </p:sp>
      <p:sp>
        <p:nvSpPr>
          <p:cNvPr id="23" name="page-12-text-002-00">
            <a:extLst xmlns:a="http://schemas.openxmlformats.org/drawingml/2006/main">
              <a:ext uri="{FF2B5EF4-FFF2-40B4-BE49-F238E27FC236}">
                <a16:creationId xmlns:a16="http://schemas.microsoft.com/office/drawing/2014/main" id="{2826CD00-6341-41A1-BC94-08234B77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113" y="1271039"/>
            <a:ext cx="53857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아니다.</a:t>
            </a:r>
          </a:p>
        </p:txBody>
      </p:sp>
      <p:sp>
        <p:nvSpPr>
          <p:cNvPr id="24" name="page-12-text-003-00">
            <a:extLst xmlns:a="http://schemas.openxmlformats.org/drawingml/2006/main">
              <a:ext uri="{FF2B5EF4-FFF2-40B4-BE49-F238E27FC236}">
                <a16:creationId xmlns:a16="http://schemas.microsoft.com/office/drawing/2014/main" id="{FD499B4F-8A4B-4EC3-9A8E-2E4C0C1A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1596839"/>
            <a:ext cx="5162169" cy="206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엄격 p90 목표 16.7ms는 넘었으므로 Web 성능 게이트를 완전 통과로 표시하지 않는다.</a:t>
            </a:r>
          </a:p>
        </p:txBody>
      </p:sp>
      <p:sp>
        <p:nvSpPr>
          <p:cNvPr id="25" name="page-12-text-004-00">
            <a:extLst xmlns:a="http://schemas.openxmlformats.org/drawingml/2006/main">
              <a:ext uri="{FF2B5EF4-FFF2-40B4-BE49-F238E27FC236}">
                <a16:creationId xmlns:a16="http://schemas.microsoft.com/office/drawing/2014/main" id="{27AF98FB-27C5-4328-85FB-798FB3E4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2067366"/>
            <a:ext cx="1050166" cy="23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8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5.3 증거 수준</a:t>
            </a:r>
          </a:p>
        </p:txBody>
      </p:sp>
      <p:sp>
        <p:nvSpPr>
          <p:cNvPr id="26" name="page-12-text-005-00">
            <a:extLst xmlns:a="http://schemas.openxmlformats.org/drawingml/2006/main">
              <a:ext uri="{FF2B5EF4-FFF2-40B4-BE49-F238E27FC236}">
                <a16:creationId xmlns:a16="http://schemas.microsoft.com/office/drawing/2014/main" id="{80B8BB7A-DA31-4690-BB2F-87821D0E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2552372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수준</a:t>
            </a:r>
          </a:p>
        </p:txBody>
      </p:sp>
      <p:sp>
        <p:nvSpPr>
          <p:cNvPr id="27" name="page-12-text-005-01">
            <a:extLst xmlns:a="http://schemas.openxmlformats.org/drawingml/2006/main">
              <a:ext uri="{FF2B5EF4-FFF2-40B4-BE49-F238E27FC236}">
                <a16:creationId xmlns:a16="http://schemas.microsoft.com/office/drawing/2014/main" id="{15EC3AA9-469E-43B7-9610-F5F91406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2552372"/>
            <a:ext cx="66306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확보 여부</a:t>
            </a:r>
          </a:p>
        </p:txBody>
      </p:sp>
      <p:sp>
        <p:nvSpPr>
          <p:cNvPr id="28" name="page-12-text-005-02">
            <a:extLst xmlns:a="http://schemas.openxmlformats.org/drawingml/2006/main">
              <a:ext uri="{FF2B5EF4-FFF2-40B4-BE49-F238E27FC236}">
                <a16:creationId xmlns:a16="http://schemas.microsoft.com/office/drawing/2014/main" id="{2CEA6281-7B9C-4837-AAFF-3E6D7B3E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2552372"/>
            <a:ext cx="112170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0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말할 수 있는 범위</a:t>
            </a:r>
          </a:p>
        </p:txBody>
      </p:sp>
      <p:sp>
        <p:nvSpPr>
          <p:cNvPr id="29" name="page-12-text-006-00">
            <a:extLst xmlns:a="http://schemas.openxmlformats.org/drawingml/2006/main">
              <a:ext uri="{FF2B5EF4-FFF2-40B4-BE49-F238E27FC236}">
                <a16:creationId xmlns:a16="http://schemas.microsoft.com/office/drawing/2014/main" id="{5F8C0C1F-E011-4869-8C28-D515D0B2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2882278"/>
            <a:ext cx="141908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6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코드·자동 회귀 확보</a:t>
            </a:r>
          </a:p>
        </p:txBody>
      </p:sp>
      <p:sp>
        <p:nvSpPr>
          <p:cNvPr id="30" name="page-12-text-006-01">
            <a:extLst xmlns:a="http://schemas.openxmlformats.org/drawingml/2006/main">
              <a:ext uri="{FF2B5EF4-FFF2-40B4-BE49-F238E27FC236}">
                <a16:creationId xmlns:a16="http://schemas.microsoft.com/office/drawing/2014/main" id="{9C804DCD-5915-48D1-B0EA-CF2BC590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2882278"/>
            <a:ext cx="209448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규칙·저장·화면 계약의 재현 가능성</a:t>
            </a:r>
          </a:p>
        </p:txBody>
      </p:sp>
      <p:sp>
        <p:nvSpPr>
          <p:cNvPr id="31" name="page-12-text-007-00">
            <a:extLst xmlns:a="http://schemas.openxmlformats.org/drawingml/2006/main">
              <a:ext uri="{FF2B5EF4-FFF2-40B4-BE49-F238E27FC236}">
                <a16:creationId xmlns:a16="http://schemas.microsoft.com/office/drawing/2014/main" id="{AA0CE8F7-0DBC-4E60-A8CA-28FFCA90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3247609"/>
            <a:ext cx="101689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5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Web 공개본·브</a:t>
            </a:r>
          </a:p>
        </p:txBody>
      </p:sp>
      <p:sp>
        <p:nvSpPr>
          <p:cNvPr id="32" name="page-12-text-008-00">
            <a:extLst xmlns:a="http://schemas.openxmlformats.org/drawingml/2006/main">
              <a:ext uri="{FF2B5EF4-FFF2-40B4-BE49-F238E27FC236}">
                <a16:creationId xmlns:a16="http://schemas.microsoft.com/office/drawing/2014/main" id="{0CE99FED-6A8A-43E0-9AE7-9F222302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3377265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확보</a:t>
            </a:r>
          </a:p>
        </p:txBody>
      </p:sp>
      <p:sp>
        <p:nvSpPr>
          <p:cNvPr id="33" name="page-12-text-008-01">
            <a:extLst xmlns:a="http://schemas.openxmlformats.org/drawingml/2006/main">
              <a:ext uri="{FF2B5EF4-FFF2-40B4-BE49-F238E27FC236}">
                <a16:creationId xmlns:a16="http://schemas.microsoft.com/office/drawing/2014/main" id="{79EFB4EA-E00C-4A6C-AFB7-41645C31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3377265"/>
            <a:ext cx="2054937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배포 접근성과 대상 뷰포트의 동작</a:t>
            </a:r>
          </a:p>
        </p:txBody>
      </p:sp>
      <p:sp>
        <p:nvSpPr>
          <p:cNvPr id="34" name="page-12-text-009-00">
            <a:extLst xmlns:a="http://schemas.openxmlformats.org/drawingml/2006/main">
              <a:ext uri="{FF2B5EF4-FFF2-40B4-BE49-F238E27FC236}">
                <a16:creationId xmlns:a16="http://schemas.microsoft.com/office/drawing/2014/main" id="{06D4941E-3D7A-42BF-8672-7C7AEAD1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3506920"/>
            <a:ext cx="49726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7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라우저</a:t>
            </a:r>
          </a:p>
        </p:txBody>
      </p:sp>
      <p:sp>
        <p:nvSpPr>
          <p:cNvPr id="35" name="page-12-text-010-00">
            <a:extLst xmlns:a="http://schemas.openxmlformats.org/drawingml/2006/main">
              <a:ext uri="{FF2B5EF4-FFF2-40B4-BE49-F238E27FC236}">
                <a16:creationId xmlns:a16="http://schemas.microsoft.com/office/drawing/2014/main" id="{FB840472-3D3E-4722-AE7D-33D099CF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3872251"/>
            <a:ext cx="624595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Android</a:t>
            </a:r>
          </a:p>
        </p:txBody>
      </p:sp>
      <p:sp>
        <p:nvSpPr>
          <p:cNvPr id="36" name="page-12-text-011-00">
            <a:extLst xmlns:a="http://schemas.openxmlformats.org/drawingml/2006/main">
              <a:ext uri="{FF2B5EF4-FFF2-40B4-BE49-F238E27FC236}">
                <a16:creationId xmlns:a16="http://schemas.microsoft.com/office/drawing/2014/main" id="{F8DDBF45-71AF-460E-8B60-524E09A1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4001907"/>
            <a:ext cx="2591838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0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실제 입력 흐름과 메모리 고수위 재사용의</a:t>
            </a:r>
          </a:p>
        </p:txBody>
      </p:sp>
      <p:sp>
        <p:nvSpPr>
          <p:cNvPr id="37" name="page-12-text-012-00">
            <a:extLst xmlns:a="http://schemas.openxmlformats.org/drawingml/2006/main">
              <a:ext uri="{FF2B5EF4-FFF2-40B4-BE49-F238E27FC236}">
                <a16:creationId xmlns:a16="http://schemas.microsoft.com/office/drawing/2014/main" id="{1BA31EA0-55B5-49BF-893D-E1F8180A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4131562"/>
            <a:ext cx="171284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Release 에뮬레 부분 확보</a:t>
            </a:r>
          </a:p>
        </p:txBody>
      </p:sp>
      <p:sp>
        <p:nvSpPr>
          <p:cNvPr id="38" name="page-12-text-013-00">
            <a:extLst xmlns:a="http://schemas.openxmlformats.org/drawingml/2006/main">
              <a:ext uri="{FF2B5EF4-FFF2-40B4-BE49-F238E27FC236}">
                <a16:creationId xmlns:a16="http://schemas.microsoft.com/office/drawing/2014/main" id="{67929794-557F-43F6-AE9D-5DFA70D6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4261218"/>
            <a:ext cx="66306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대리 증거</a:t>
            </a:r>
          </a:p>
        </p:txBody>
      </p:sp>
      <p:sp>
        <p:nvSpPr>
          <p:cNvPr id="39" name="page-12-text-014-00">
            <a:extLst xmlns:a="http://schemas.openxmlformats.org/drawingml/2006/main">
              <a:ext uri="{FF2B5EF4-FFF2-40B4-BE49-F238E27FC236}">
                <a16:creationId xmlns:a16="http://schemas.microsoft.com/office/drawing/2014/main" id="{02B6869A-894F-47F9-A6C9-1E4D1A15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4390873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이터</a:t>
            </a:r>
          </a:p>
        </p:txBody>
      </p:sp>
      <p:sp>
        <p:nvSpPr>
          <p:cNvPr id="40" name="page-12-text-015-00">
            <a:extLst xmlns:a="http://schemas.openxmlformats.org/drawingml/2006/main">
              <a:ext uri="{FF2B5EF4-FFF2-40B4-BE49-F238E27FC236}">
                <a16:creationId xmlns:a16="http://schemas.microsoft.com/office/drawing/2014/main" id="{090366D2-8D09-4F37-8BE0-7AF4D2D0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4775788"/>
            <a:ext cx="1013735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6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606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iPhone·Androi</a:t>
            </a:r>
          </a:p>
        </p:txBody>
      </p:sp>
      <p:sp>
        <p:nvSpPr>
          <p:cNvPr id="41" name="page-12-text-015-01">
            <a:extLst xmlns:a="http://schemas.openxmlformats.org/drawingml/2006/main">
              <a:ext uri="{FF2B5EF4-FFF2-40B4-BE49-F238E27FC236}">
                <a16:creationId xmlns:a16="http://schemas.microsoft.com/office/drawing/2014/main" id="{6A4E7279-7B59-476A-A397-883377C8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4756204"/>
            <a:ext cx="259338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FPS·GPU·열·햅틱·오디오·Safe Area 판단</a:t>
            </a:r>
          </a:p>
        </p:txBody>
      </p:sp>
      <p:sp>
        <p:nvSpPr>
          <p:cNvPr id="42" name="page-12-text-016-00">
            <a:extLst xmlns:a="http://schemas.openxmlformats.org/drawingml/2006/main">
              <a:ext uri="{FF2B5EF4-FFF2-40B4-BE49-F238E27FC236}">
                <a16:creationId xmlns:a16="http://schemas.microsoft.com/office/drawing/2014/main" id="{A4F5ABB7-DAB9-47B4-ACDC-EE413617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4885860"/>
            <a:ext cx="49708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6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미확보</a:t>
            </a:r>
          </a:p>
        </p:txBody>
      </p:sp>
      <p:sp>
        <p:nvSpPr>
          <p:cNvPr id="43" name="page-12-text-017-00">
            <a:extLst xmlns:a="http://schemas.openxmlformats.org/drawingml/2006/main">
              <a:ext uri="{FF2B5EF4-FFF2-40B4-BE49-F238E27FC236}">
                <a16:creationId xmlns:a16="http://schemas.microsoft.com/office/drawing/2014/main" id="{F5E0C925-DEE2-48FB-9302-95DCC1AA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4995257"/>
            <a:ext cx="92455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d·iPad 실기기</a:t>
            </a:r>
          </a:p>
        </p:txBody>
      </p:sp>
      <p:sp>
        <p:nvSpPr>
          <p:cNvPr id="44" name="page-12-text-017-01">
            <a:extLst xmlns:a="http://schemas.openxmlformats.org/drawingml/2006/main">
              <a:ext uri="{FF2B5EF4-FFF2-40B4-BE49-F238E27FC236}">
                <a16:creationId xmlns:a16="http://schemas.microsoft.com/office/drawing/2014/main" id="{80CAC814-D5A4-4373-A087-42AB3906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5015515"/>
            <a:ext cx="36936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2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불가</a:t>
            </a:r>
          </a:p>
        </p:txBody>
      </p:sp>
      <p:sp>
        <p:nvSpPr>
          <p:cNvPr id="45" name="page-12-text-018-00">
            <a:extLst xmlns:a="http://schemas.openxmlformats.org/drawingml/2006/main">
              <a:ext uri="{FF2B5EF4-FFF2-40B4-BE49-F238E27FC236}">
                <a16:creationId xmlns:a16="http://schemas.microsoft.com/office/drawing/2014/main" id="{314A1D69-3277-4D5D-AEE4-8F1DABDC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5380846"/>
            <a:ext cx="1546867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외부 사용자 미확보</a:t>
            </a:r>
          </a:p>
        </p:txBody>
      </p:sp>
      <p:sp>
        <p:nvSpPr>
          <p:cNvPr id="46" name="page-12-text-018-01">
            <a:extLst xmlns:a="http://schemas.openxmlformats.org/drawingml/2006/main">
              <a:ext uri="{FF2B5EF4-FFF2-40B4-BE49-F238E27FC236}">
                <a16:creationId xmlns:a16="http://schemas.microsoft.com/office/drawing/2014/main" id="{14EB6541-6B48-4184-AF0C-BAEB008C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5380846"/>
            <a:ext cx="2462738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30초 내 조작·기믹 이해·만족도 판단 불가</a:t>
            </a:r>
          </a:p>
        </p:txBody>
      </p:sp>
      <p:sp>
        <p:nvSpPr>
          <p:cNvPr id="47" name="page-12-text-019-00">
            <a:extLst xmlns:a="http://schemas.openxmlformats.org/drawingml/2006/main">
              <a:ext uri="{FF2B5EF4-FFF2-40B4-BE49-F238E27FC236}">
                <a16:creationId xmlns:a16="http://schemas.microsoft.com/office/drawing/2014/main" id="{B982BE49-10A4-48A3-9952-8C6488C4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5746178"/>
            <a:ext cx="1012475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4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법무 최종 권리</a:t>
            </a:r>
          </a:p>
        </p:txBody>
      </p:sp>
      <p:sp>
        <p:nvSpPr>
          <p:cNvPr id="48" name="page-12-text-020-00">
            <a:extLst xmlns:a="http://schemas.openxmlformats.org/drawingml/2006/main">
              <a:ext uri="{FF2B5EF4-FFF2-40B4-BE49-F238E27FC236}">
                <a16:creationId xmlns:a16="http://schemas.microsoft.com/office/drawing/2014/main" id="{C567548D-5C37-4A6F-B887-5D2684FA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81" y="5875833"/>
            <a:ext cx="49708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6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미확보</a:t>
            </a:r>
          </a:p>
        </p:txBody>
      </p:sp>
      <p:sp>
        <p:nvSpPr>
          <p:cNvPr id="49" name="page-12-text-020-01">
            <a:extLst xmlns:a="http://schemas.openxmlformats.org/drawingml/2006/main">
              <a:ext uri="{FF2B5EF4-FFF2-40B4-BE49-F238E27FC236}">
                <a16:creationId xmlns:a16="http://schemas.microsoft.com/office/drawing/2014/main" id="{00FE54AC-810D-4DAB-81F1-CD040406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91" y="5875833"/>
            <a:ext cx="1965345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공개 배포의 최종 권리 보증 불가</a:t>
            </a:r>
          </a:p>
        </p:txBody>
      </p:sp>
      <p:sp>
        <p:nvSpPr>
          <p:cNvPr id="50" name="page-12-text-021-00">
            <a:extLst xmlns:a="http://schemas.openxmlformats.org/drawingml/2006/main">
              <a:ext uri="{FF2B5EF4-FFF2-40B4-BE49-F238E27FC236}">
                <a16:creationId xmlns:a16="http://schemas.microsoft.com/office/drawing/2014/main" id="{FFF7AEAF-A965-4222-853E-6AA3E9EB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6005489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승인</a:t>
            </a:r>
          </a:p>
        </p:txBody>
      </p:sp>
      <p:sp>
        <p:nvSpPr>
          <p:cNvPr id="51" name="page-12-text-022-00">
            <a:extLst xmlns:a="http://schemas.openxmlformats.org/drawingml/2006/main">
              <a:ext uri="{FF2B5EF4-FFF2-40B4-BE49-F238E27FC236}">
                <a16:creationId xmlns:a16="http://schemas.microsoft.com/office/drawing/2014/main" id="{8B5E5BEF-ABA0-498F-9C61-506DEFDF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6576513"/>
            <a:ext cx="1759393" cy="273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31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31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6. 한계와 다음 검증</a:t>
            </a:r>
          </a:p>
        </p:txBody>
      </p:sp>
      <p:sp>
        <p:nvSpPr>
          <p:cNvPr id="52" name="page-12-text-023-00">
            <a:extLst xmlns:a="http://schemas.openxmlformats.org/drawingml/2006/main">
              <a:ext uri="{FF2B5EF4-FFF2-40B4-BE49-F238E27FC236}">
                <a16:creationId xmlns:a16="http://schemas.microsoft.com/office/drawing/2014/main" id="{04481B80-6292-4C7C-B956-1E8F9F34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7131195"/>
            <a:ext cx="5890649" cy="214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현재 공개 데모는 플레이·자동 회귀·Web 배포 기준으로 재현 가능하지만 상용 품질 최종 Go는 아니다.</a:t>
            </a:r>
          </a:p>
        </p:txBody>
      </p:sp>
      <p:sp>
        <p:nvSpPr>
          <p:cNvPr id="53" name="page-12-text-024-00">
            <a:extLst xmlns:a="http://schemas.openxmlformats.org/drawingml/2006/main">
              <a:ext uri="{FF2B5EF4-FFF2-40B4-BE49-F238E27FC236}">
                <a16:creationId xmlns:a16="http://schemas.microsoft.com/office/drawing/2014/main" id="{1002D550-3B99-4FCA-8DC1-5027FBA9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7600683"/>
            <a:ext cx="1541232" cy="23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6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726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우선순위 1 — 실기기</a:t>
            </a:r>
          </a:p>
        </p:txBody>
      </p:sp>
      <p:sp>
        <p:nvSpPr>
          <p:cNvPr id="54" name="page-12-text-025-00">
            <a:extLst xmlns:a="http://schemas.openxmlformats.org/drawingml/2006/main">
              <a:ext uri="{FF2B5EF4-FFF2-40B4-BE49-F238E27FC236}">
                <a16:creationId xmlns:a16="http://schemas.microsoft.com/office/drawing/2014/main" id="{EAD05BF1-68C2-4BB5-A0A4-23CD21AF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8028654"/>
            <a:ext cx="5091113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4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iPhone·중급 Android·iPad에서 profile FPS, GPU, 메모리, 열, 터치 지연을 측정한다.</a:t>
            </a:r>
          </a:p>
        </p:txBody>
      </p:sp>
      <p:sp>
        <p:nvSpPr>
          <p:cNvPr id="55" name="page-12-text-026-00">
            <a:extLst xmlns:a="http://schemas.openxmlformats.org/drawingml/2006/main">
              <a:ext uri="{FF2B5EF4-FFF2-40B4-BE49-F238E27FC236}">
                <a16:creationId xmlns:a16="http://schemas.microsoft.com/office/drawing/2014/main" id="{3ADEFD43-5342-4182-8CDA-718E3071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8301471"/>
            <a:ext cx="3747842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5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앱 중단·복귀 때 배경음악, 효과음, 햅틱, 저장 복구를 확인한다.</a:t>
            </a:r>
          </a:p>
        </p:txBody>
      </p:sp>
      <p:sp>
        <p:nvSpPr>
          <p:cNvPr id="56" name="page-12-text-027-00">
            <a:extLst xmlns:a="http://schemas.openxmlformats.org/drawingml/2006/main">
              <a:ext uri="{FF2B5EF4-FFF2-40B4-BE49-F238E27FC236}">
                <a16:creationId xmlns:a16="http://schemas.microsoft.com/office/drawing/2014/main" id="{FC55E15D-9441-4918-A9A6-6AA1891D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8574287"/>
            <a:ext cx="3957921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4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Safe Area, 글꼴 rasterizer, 색, 터치 영역을 실화면에서 점검한다.</a:t>
            </a:r>
          </a:p>
        </p:txBody>
      </p:sp>
      <p:sp>
        <p:nvSpPr>
          <p:cNvPr id="57" name="page-12-text-028-00">
            <a:extLst xmlns:a="http://schemas.openxmlformats.org/drawingml/2006/main">
              <a:ext uri="{FF2B5EF4-FFF2-40B4-BE49-F238E27FC236}">
                <a16:creationId xmlns:a16="http://schemas.microsoft.com/office/drawing/2014/main" id="{238821AC-F25C-4083-B65E-494E63DA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9016764"/>
            <a:ext cx="2340138" cy="23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1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701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우선순위 2 — 외부 플레이테스트</a:t>
            </a:r>
          </a:p>
        </p:txBody>
      </p:sp>
      <p:sp>
        <p:nvSpPr>
          <p:cNvPr id="58" name="page-12-text-029-00">
            <a:extLst xmlns:a="http://schemas.openxmlformats.org/drawingml/2006/main">
              <a:ext uri="{FF2B5EF4-FFF2-40B4-BE49-F238E27FC236}">
                <a16:creationId xmlns:a16="http://schemas.microsoft.com/office/drawing/2014/main" id="{C91A105E-E28F-48B0-938E-37CBCDB6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9444735"/>
            <a:ext cx="1679723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30초 내 첫 조작 시작 여부</a:t>
            </a:r>
          </a:p>
        </p:txBody>
      </p:sp>
      <p:sp>
        <p:nvSpPr>
          <p:cNvPr id="59" name="page-12-text-030-00">
            <a:extLst xmlns:a="http://schemas.openxmlformats.org/drawingml/2006/main">
              <a:ext uri="{FF2B5EF4-FFF2-40B4-BE49-F238E27FC236}">
                <a16:creationId xmlns:a16="http://schemas.microsoft.com/office/drawing/2014/main" id="{FECE25F7-168B-4D32-8917-1208F34F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718" y="10018730"/>
            <a:ext cx="192927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8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48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Final Report · Page 12</a:t>
            </a:r>
          </a:p>
        </p:txBody>
      </p:sp>
    </p:spTree>
    <p:extLst>
      <p:ext uri="{BB962C8B-B14F-4D97-AF65-F5344CB8AC3E}">
        <p14:creationId xmlns:p14="http://schemas.microsoft.com/office/powerpoint/2010/main" val="18959377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ca7190807478a"/>
          <a:srcRect xmlns:a="http://schemas.openxmlformats.org/drawingml/2006/main" l="14648" t="0" r="146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lide-13-background">
            <a:extLst xmlns:a="http://schemas.openxmlformats.org/drawingml/2006/main">
              <a:ext uri="{FF2B5EF4-FFF2-40B4-BE49-F238E27FC236}">
                <a16:creationId xmlns:a16="http://schemas.microsoft.com/office/drawing/2014/main" id="{E124737C-5467-4088-8E6C-4BCAA4FB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3-rect-000">
            <a:extLst xmlns:a="http://schemas.openxmlformats.org/drawingml/2006/main">
              <a:ext uri="{FF2B5EF4-FFF2-40B4-BE49-F238E27FC236}">
                <a16:creationId xmlns:a16="http://schemas.microsoft.com/office/drawing/2014/main" id="{103B34A7-1DA4-4368-9235-BB19F2BC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7332286"/>
            <a:ext cx="1667658" cy="326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3-rect-001">
            <a:extLst xmlns:a="http://schemas.openxmlformats.org/drawingml/2006/main">
              <a:ext uri="{FF2B5EF4-FFF2-40B4-BE49-F238E27FC236}">
                <a16:creationId xmlns:a16="http://schemas.microsoft.com/office/drawing/2014/main" id="{057F5059-5702-45F8-8458-079B2EBA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023" y="7332286"/>
            <a:ext cx="4114462" cy="326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13-rect-002">
            <a:extLst xmlns:a="http://schemas.openxmlformats.org/drawingml/2006/main">
              <a:ext uri="{FF2B5EF4-FFF2-40B4-BE49-F238E27FC236}">
                <a16:creationId xmlns:a16="http://schemas.microsoft.com/office/drawing/2014/main" id="{9C5FB4E1-5BAB-4008-9734-0BFE548E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7332286"/>
            <a:ext cx="1667658" cy="326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13-rect-003">
            <a:extLst xmlns:a="http://schemas.openxmlformats.org/drawingml/2006/main">
              <a:ext uri="{FF2B5EF4-FFF2-40B4-BE49-F238E27FC236}">
                <a16:creationId xmlns:a16="http://schemas.microsoft.com/office/drawing/2014/main" id="{C3CEC10D-A801-4EF6-96B1-1BBA2A86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023" y="7332286"/>
            <a:ext cx="4114462" cy="326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-13-line-000">
            <a:extLst xmlns:a="http://schemas.openxmlformats.org/drawingml/2006/main">
              <a:ext uri="{FF2B5EF4-FFF2-40B4-BE49-F238E27FC236}">
                <a16:creationId xmlns:a16="http://schemas.microsoft.com/office/drawing/2014/main" id="{7BB1EF0D-D723-48A7-8F5D-9E69AE0C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58" y="7335663"/>
            <a:ext cx="578953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8" name="page-13-line-001">
            <a:extLst xmlns:a="http://schemas.openxmlformats.org/drawingml/2006/main">
              <a:ext uri="{FF2B5EF4-FFF2-40B4-BE49-F238E27FC236}">
                <a16:creationId xmlns:a16="http://schemas.microsoft.com/office/drawing/2014/main" id="{99754ED0-1115-4FF3-B573-962C3242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7662502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9" name="page-13-line-002">
            <a:extLst xmlns:a="http://schemas.openxmlformats.org/drawingml/2006/main">
              <a:ext uri="{FF2B5EF4-FFF2-40B4-BE49-F238E27FC236}">
                <a16:creationId xmlns:a16="http://schemas.microsoft.com/office/drawing/2014/main" id="{1FCDC5FB-6530-4B87-9C02-9653289D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8027158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0" name="page-13-line-003">
            <a:extLst xmlns:a="http://schemas.openxmlformats.org/drawingml/2006/main">
              <a:ext uri="{FF2B5EF4-FFF2-40B4-BE49-F238E27FC236}">
                <a16:creationId xmlns:a16="http://schemas.microsoft.com/office/drawing/2014/main" id="{F888A2E2-CFC3-4151-A47B-06C363C3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8393165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1" name="page-13-line-004">
            <a:extLst xmlns:a="http://schemas.openxmlformats.org/drawingml/2006/main">
              <a:ext uri="{FF2B5EF4-FFF2-40B4-BE49-F238E27FC236}">
                <a16:creationId xmlns:a16="http://schemas.microsoft.com/office/drawing/2014/main" id="{34A05E4C-305D-4B0F-ADE0-86A65126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8757821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2" name="page-13-line-005">
            <a:extLst xmlns:a="http://schemas.openxmlformats.org/drawingml/2006/main">
              <a:ext uri="{FF2B5EF4-FFF2-40B4-BE49-F238E27FC236}">
                <a16:creationId xmlns:a16="http://schemas.microsoft.com/office/drawing/2014/main" id="{B9D9E406-C67A-4216-9EE8-CD4ED656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58" y="9123827"/>
            <a:ext cx="578953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3" name="page-13-line-006">
            <a:extLst xmlns:a="http://schemas.openxmlformats.org/drawingml/2006/main">
              <a:ext uri="{FF2B5EF4-FFF2-40B4-BE49-F238E27FC236}">
                <a16:creationId xmlns:a16="http://schemas.microsoft.com/office/drawing/2014/main" id="{67E34BE2-7F31-4AA7-ADDB-41164055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7332286"/>
            <a:ext cx="9525" cy="17949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4" name="page-13-line-007">
            <a:extLst xmlns:a="http://schemas.openxmlformats.org/drawingml/2006/main">
              <a:ext uri="{FF2B5EF4-FFF2-40B4-BE49-F238E27FC236}">
                <a16:creationId xmlns:a16="http://schemas.microsoft.com/office/drawing/2014/main" id="{3F2EC7AA-A4C4-4272-98BD-C333F8F3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023" y="7339039"/>
            <a:ext cx="9525" cy="17814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5" name="page-13-line-008">
            <a:extLst xmlns:a="http://schemas.openxmlformats.org/drawingml/2006/main">
              <a:ext uri="{FF2B5EF4-FFF2-40B4-BE49-F238E27FC236}">
                <a16:creationId xmlns:a16="http://schemas.microsoft.com/office/drawing/2014/main" id="{366E0DE7-3B2A-456F-9950-F80956BE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103" y="7332286"/>
            <a:ext cx="9525" cy="17949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6" name="page-13-text-000-00">
            <a:extLst xmlns:a="http://schemas.openxmlformats.org/drawingml/2006/main">
              <a:ext uri="{FF2B5EF4-FFF2-40B4-BE49-F238E27FC236}">
                <a16:creationId xmlns:a16="http://schemas.microsoft.com/office/drawing/2014/main" id="{AFFED757-6289-42B1-8571-C5B6B78F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96" y="497671"/>
            <a:ext cx="1456558" cy="178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Final Report</a:t>
            </a:r>
          </a:p>
        </p:txBody>
      </p:sp>
      <p:sp>
        <p:nvSpPr>
          <p:cNvPr id="17" name="page-13-text-001-00">
            <a:extLst xmlns:a="http://schemas.openxmlformats.org/drawingml/2006/main">
              <a:ext uri="{FF2B5EF4-FFF2-40B4-BE49-F238E27FC236}">
                <a16:creationId xmlns:a16="http://schemas.microsoft.com/office/drawing/2014/main" id="{77AE99FF-64AE-4626-903D-9422A4C7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998222"/>
            <a:ext cx="2732776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5분 내 속성 이전과 잔류 공의 인과 설명 여부</a:t>
            </a:r>
          </a:p>
        </p:txBody>
      </p:sp>
      <p:sp>
        <p:nvSpPr>
          <p:cNvPr id="18" name="page-13-text-002-00">
            <a:extLst xmlns:a="http://schemas.openxmlformats.org/drawingml/2006/main">
              <a:ext uri="{FF2B5EF4-FFF2-40B4-BE49-F238E27FC236}">
                <a16:creationId xmlns:a16="http://schemas.microsoft.com/office/drawing/2014/main" id="{51B392A7-4006-40D1-81F2-BAF9FBB5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1271039"/>
            <a:ext cx="1860799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추천 경로와 우회 경로 발견률</a:t>
            </a:r>
          </a:p>
        </p:txBody>
      </p:sp>
      <p:sp>
        <p:nvSpPr>
          <p:cNvPr id="19" name="page-13-text-003-00">
            <a:extLst xmlns:a="http://schemas.openxmlformats.org/drawingml/2006/main">
              <a:ext uri="{FF2B5EF4-FFF2-40B4-BE49-F238E27FC236}">
                <a16:creationId xmlns:a16="http://schemas.microsoft.com/office/drawing/2014/main" id="{839EDDD1-64C2-4880-B48F-5A71598E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1543855"/>
            <a:ext cx="1567591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재미·만족도·재도전 의향</a:t>
            </a:r>
          </a:p>
        </p:txBody>
      </p:sp>
      <p:sp>
        <p:nvSpPr>
          <p:cNvPr id="20" name="page-13-text-004-00">
            <a:extLst xmlns:a="http://schemas.openxmlformats.org/drawingml/2006/main">
              <a:ext uri="{FF2B5EF4-FFF2-40B4-BE49-F238E27FC236}">
                <a16:creationId xmlns:a16="http://schemas.microsoft.com/office/drawing/2014/main" id="{AC910261-9E15-4A3B-84C5-1E258C3F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1986332"/>
            <a:ext cx="1736902" cy="23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71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우선순위 3 — 출시 권리</a:t>
            </a:r>
          </a:p>
        </p:txBody>
      </p:sp>
      <p:sp>
        <p:nvSpPr>
          <p:cNvPr id="21" name="page-13-text-005-00">
            <a:extLst xmlns:a="http://schemas.openxmlformats.org/drawingml/2006/main">
              <a:ext uri="{FF2B5EF4-FFF2-40B4-BE49-F238E27FC236}">
                <a16:creationId xmlns:a16="http://schemas.microsoft.com/office/drawing/2014/main" id="{353DFD66-2B68-4841-BD22-7B41034E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2414303"/>
            <a:ext cx="2617826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AI 생성 자산과 외부 자산의 최종 권리 검토</a:t>
            </a:r>
          </a:p>
        </p:txBody>
      </p:sp>
      <p:sp>
        <p:nvSpPr>
          <p:cNvPr id="22" name="page-13-text-006-00">
            <a:extLst xmlns:a="http://schemas.openxmlformats.org/drawingml/2006/main">
              <a:ext uri="{FF2B5EF4-FFF2-40B4-BE49-F238E27FC236}">
                <a16:creationId xmlns:a16="http://schemas.microsoft.com/office/drawing/2014/main" id="{CDAC993A-6AF7-4874-8D63-8F47698D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2687119"/>
            <a:ext cx="3210138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개인정보처리방침·지원 URL·연령 등급의 운영값 확정</a:t>
            </a:r>
          </a:p>
        </p:txBody>
      </p:sp>
      <p:sp>
        <p:nvSpPr>
          <p:cNvPr id="23" name="page-13-text-007-00">
            <a:extLst xmlns:a="http://schemas.openxmlformats.org/drawingml/2006/main">
              <a:ext uri="{FF2B5EF4-FFF2-40B4-BE49-F238E27FC236}">
                <a16:creationId xmlns:a16="http://schemas.microsoft.com/office/drawing/2014/main" id="{487263D3-604C-460A-8966-3030F1E9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2959936"/>
            <a:ext cx="2793798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스토어용 실기기 캡처와 서명·프로비저닝 완료</a:t>
            </a:r>
          </a:p>
        </p:txBody>
      </p:sp>
      <p:sp>
        <p:nvSpPr>
          <p:cNvPr id="24" name="page-13-text-008-00">
            <a:extLst xmlns:a="http://schemas.openxmlformats.org/drawingml/2006/main">
              <a:ext uri="{FF2B5EF4-FFF2-40B4-BE49-F238E27FC236}">
                <a16:creationId xmlns:a16="http://schemas.microsoft.com/office/drawing/2014/main" id="{5E4FF66B-8110-4A13-8F4E-9CF32CB3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3492469"/>
            <a:ext cx="1146851" cy="273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2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42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7. 재현 방법</a:t>
            </a:r>
          </a:p>
        </p:txBody>
      </p:sp>
      <p:sp>
        <p:nvSpPr>
          <p:cNvPr id="25" name="page-13-text-009-00">
            <a:extLst xmlns:a="http://schemas.openxmlformats.org/drawingml/2006/main">
              <a:ext uri="{FF2B5EF4-FFF2-40B4-BE49-F238E27FC236}">
                <a16:creationId xmlns:a16="http://schemas.microsoft.com/office/drawing/2014/main" id="{D2EC4DA5-BE3A-4AB6-B1FC-362E049B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4081753"/>
            <a:ext cx="415998" cy="23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2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실행</a:t>
            </a:r>
          </a:p>
        </p:txBody>
      </p:sp>
      <p:sp>
        <p:nvSpPr>
          <p:cNvPr id="26" name="page-13-text-010-00">
            <a:extLst xmlns:a="http://schemas.openxmlformats.org/drawingml/2006/main">
              <a:ext uri="{FF2B5EF4-FFF2-40B4-BE49-F238E27FC236}">
                <a16:creationId xmlns:a16="http://schemas.microsoft.com/office/drawing/2014/main" id="{5E034FB4-11F3-4A1E-9463-F3C4F515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4491464"/>
            <a:ext cx="2658791" cy="178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3" b="0" i="0">
                <a:solidFill>
                  <a:srgbClr val="282D34"/>
                </a:solidFill>
                <a:latin typeface="Aptos"/>
                <a:ea typeface="Aptos"/>
                <a:cs typeface="Aptos"/>
              </a:defRPr>
            </a:pPr>
            <a:r>
              <a:rPr sz="413" b="0" i="0">
                <a:solidFill>
                  <a:srgbClr val="282D34"/>
                </a:solidFill>
                <a:latin typeface="Aptos"/>
                <a:ea typeface="Aptos"/>
                <a:cs typeface="Aptos"/>
              </a:rPr>
              <a:t>git clone httettetteps://github.com/good5229/Property_shot.git</a:t>
            </a:r>
          </a:p>
        </p:txBody>
      </p:sp>
      <p:sp>
        <p:nvSpPr>
          <p:cNvPr id="27" name="page-13-text-011-00">
            <a:extLst xmlns:a="http://schemas.openxmlformats.org/drawingml/2006/main">
              <a:ext uri="{FF2B5EF4-FFF2-40B4-BE49-F238E27FC236}">
                <a16:creationId xmlns:a16="http://schemas.microsoft.com/office/drawing/2014/main" id="{0A78F01A-0419-4D86-9DDE-277862A7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4675143"/>
            <a:ext cx="890864" cy="178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4" b="0" i="0">
                <a:solidFill>
                  <a:srgbClr val="282D34"/>
                </a:solidFill>
                <a:latin typeface="Aptos"/>
                <a:ea typeface="Aptos"/>
                <a:cs typeface="Aptos"/>
              </a:defRPr>
            </a:pPr>
            <a:r>
              <a:rPr sz="454" b="0" i="0">
                <a:solidFill>
                  <a:srgbClr val="282D34"/>
                </a:solidFill>
                <a:latin typeface="Aptos"/>
                <a:ea typeface="Aptos"/>
                <a:cs typeface="Aptos"/>
              </a:rPr>
              <a:t>cd Property_shot</a:t>
            </a:r>
          </a:p>
        </p:txBody>
      </p:sp>
      <p:sp>
        <p:nvSpPr>
          <p:cNvPr id="28" name="page-13-text-012-00">
            <a:extLst xmlns:a="http://schemas.openxmlformats.org/drawingml/2006/main">
              <a:ext uri="{FF2B5EF4-FFF2-40B4-BE49-F238E27FC236}">
                <a16:creationId xmlns:a16="http://schemas.microsoft.com/office/drawing/2014/main" id="{9A4C9F64-4B03-4CC7-B599-3A7A456E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4858821"/>
            <a:ext cx="817608" cy="178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3" b="0" i="0">
                <a:solidFill>
                  <a:srgbClr val="282D34"/>
                </a:solidFill>
                <a:latin typeface="Aptos"/>
                <a:ea typeface="Aptos"/>
                <a:cs typeface="Aptos"/>
              </a:defRPr>
            </a:pPr>
            <a:r>
              <a:rPr sz="463" b="0" i="0">
                <a:solidFill>
                  <a:srgbClr val="282D34"/>
                </a:solidFill>
                <a:latin typeface="Aptos"/>
                <a:ea typeface="Aptos"/>
                <a:cs typeface="Aptos"/>
              </a:rPr>
              <a:t>git switch main</a:t>
            </a:r>
          </a:p>
        </p:txBody>
      </p:sp>
      <p:sp>
        <p:nvSpPr>
          <p:cNvPr id="29" name="page-13-text-013-00">
            <a:extLst xmlns:a="http://schemas.openxmlformats.org/drawingml/2006/main">
              <a:ext uri="{FF2B5EF4-FFF2-40B4-BE49-F238E27FC236}">
                <a16:creationId xmlns:a16="http://schemas.microsoft.com/office/drawing/2014/main" id="{65D8D85C-FF8A-4132-84A6-D4F4DDD9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5042500"/>
            <a:ext cx="757241" cy="178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3" b="0" i="0">
                <a:solidFill>
                  <a:srgbClr val="282D34"/>
                </a:solidFill>
                <a:latin typeface="Aptos"/>
                <a:ea typeface="Aptos"/>
                <a:cs typeface="Aptos"/>
              </a:defRPr>
            </a:pPr>
            <a:r>
              <a:rPr sz="413" b="0" i="0">
                <a:solidFill>
                  <a:srgbClr val="282D34"/>
                </a:solidFill>
                <a:latin typeface="Aptos"/>
                <a:ea typeface="Aptos"/>
                <a:cs typeface="Aptos"/>
              </a:rPr>
              <a:t>fluflufluuttettetteer pub get</a:t>
            </a:r>
          </a:p>
        </p:txBody>
      </p:sp>
      <p:sp>
        <p:nvSpPr>
          <p:cNvPr id="30" name="page-13-text-014-00">
            <a:extLst xmlns:a="http://schemas.openxmlformats.org/drawingml/2006/main">
              <a:ext uri="{FF2B5EF4-FFF2-40B4-BE49-F238E27FC236}">
                <a16:creationId xmlns:a16="http://schemas.microsoft.com/office/drawing/2014/main" id="{9D4F3B98-1666-45A5-A5E6-1C84E5E6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5226178"/>
            <a:ext cx="1070704" cy="178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3" b="0" i="0">
                <a:solidFill>
                  <a:srgbClr val="282D34"/>
                </a:solidFill>
                <a:latin typeface="Aptos"/>
                <a:ea typeface="Aptos"/>
                <a:cs typeface="Aptos"/>
              </a:defRPr>
            </a:pPr>
            <a:r>
              <a:rPr sz="413" b="0" i="0">
                <a:solidFill>
                  <a:srgbClr val="282D34"/>
                </a:solidFill>
                <a:latin typeface="Aptos"/>
                <a:ea typeface="Aptos"/>
                <a:cs typeface="Aptos"/>
              </a:rPr>
              <a:t>fluflufluuttettetteer run -d chrome</a:t>
            </a:r>
          </a:p>
        </p:txBody>
      </p:sp>
      <p:sp>
        <p:nvSpPr>
          <p:cNvPr id="31" name="page-13-text-015-00">
            <a:extLst xmlns:a="http://schemas.openxmlformats.org/drawingml/2006/main">
              <a:ext uri="{FF2B5EF4-FFF2-40B4-BE49-F238E27FC236}">
                <a16:creationId xmlns:a16="http://schemas.microsoft.com/office/drawing/2014/main" id="{79D754FF-BAD3-42C6-981B-0B80E3D0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5597776"/>
            <a:ext cx="415998" cy="23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2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검증</a:t>
            </a:r>
          </a:p>
        </p:txBody>
      </p:sp>
      <p:sp>
        <p:nvSpPr>
          <p:cNvPr id="32" name="page-13-text-016-00">
            <a:extLst xmlns:a="http://schemas.openxmlformats.org/drawingml/2006/main">
              <a:ext uri="{FF2B5EF4-FFF2-40B4-BE49-F238E27FC236}">
                <a16:creationId xmlns:a16="http://schemas.microsoft.com/office/drawing/2014/main" id="{78EBA0E7-1852-4332-9669-FC7D69CA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6007488"/>
            <a:ext cx="765039" cy="178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3" b="0" i="0">
                <a:solidFill>
                  <a:srgbClr val="282D34"/>
                </a:solidFill>
                <a:latin typeface="Aptos"/>
                <a:ea typeface="Aptos"/>
                <a:cs typeface="Aptos"/>
              </a:defRPr>
            </a:pPr>
            <a:r>
              <a:rPr sz="413" b="0" i="0">
                <a:solidFill>
                  <a:srgbClr val="282D34"/>
                </a:solidFill>
                <a:latin typeface="Aptos"/>
                <a:ea typeface="Aptos"/>
                <a:cs typeface="Aptos"/>
              </a:rPr>
              <a:t>fluflufluuttettetteer analyze</a:t>
            </a:r>
          </a:p>
        </p:txBody>
      </p:sp>
      <p:sp>
        <p:nvSpPr>
          <p:cNvPr id="33" name="page-13-text-017-00">
            <a:extLst xmlns:a="http://schemas.openxmlformats.org/drawingml/2006/main">
              <a:ext uri="{FF2B5EF4-FFF2-40B4-BE49-F238E27FC236}">
                <a16:creationId xmlns:a16="http://schemas.microsoft.com/office/drawing/2014/main" id="{9DC91F6E-E49E-44E1-A602-17D40F1A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6191166"/>
            <a:ext cx="1364802" cy="178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3" b="0" i="0">
                <a:solidFill>
                  <a:srgbClr val="282D34"/>
                </a:solidFill>
                <a:latin typeface="Aptos"/>
                <a:ea typeface="Aptos"/>
                <a:cs typeface="Aptos"/>
              </a:defRPr>
            </a:pPr>
            <a:r>
              <a:rPr sz="413" b="0" i="0">
                <a:solidFill>
                  <a:srgbClr val="282D34"/>
                </a:solidFill>
                <a:latin typeface="Aptos"/>
                <a:ea typeface="Aptos"/>
                <a:cs typeface="Aptos"/>
              </a:rPr>
              <a:t>fluflufluuttettetteer test --concurrency=1</a:t>
            </a:r>
          </a:p>
        </p:txBody>
      </p:sp>
      <p:sp>
        <p:nvSpPr>
          <p:cNvPr id="34" name="page-13-text-018-00">
            <a:extLst xmlns:a="http://schemas.openxmlformats.org/drawingml/2006/main">
              <a:ext uri="{FF2B5EF4-FFF2-40B4-BE49-F238E27FC236}">
                <a16:creationId xmlns:a16="http://schemas.microsoft.com/office/drawing/2014/main" id="{89507704-C9E6-477D-A790-729CDD49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6374845"/>
            <a:ext cx="2622040" cy="178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3" b="0" i="0">
                <a:solidFill>
                  <a:srgbClr val="282D34"/>
                </a:solidFill>
                <a:latin typeface="Aptos"/>
                <a:ea typeface="Aptos"/>
                <a:cs typeface="Aptos"/>
              </a:defRPr>
            </a:pPr>
            <a:r>
              <a:rPr sz="413" b="0" i="0">
                <a:solidFill>
                  <a:srgbClr val="282D34"/>
                </a:solidFill>
                <a:latin typeface="Aptos"/>
                <a:ea typeface="Aptos"/>
                <a:cs typeface="Aptos"/>
              </a:rPr>
              <a:t>fluflufluuttettetteer build web --release --base-href "/Property_shot/"</a:t>
            </a:r>
          </a:p>
        </p:txBody>
      </p:sp>
      <p:sp>
        <p:nvSpPr>
          <p:cNvPr id="35" name="page-13-text-019-00">
            <a:extLst xmlns:a="http://schemas.openxmlformats.org/drawingml/2006/main">
              <a:ext uri="{FF2B5EF4-FFF2-40B4-BE49-F238E27FC236}">
                <a16:creationId xmlns:a16="http://schemas.microsoft.com/office/drawing/2014/main" id="{6AC438EF-6620-420F-9FC2-294FF50B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6558523"/>
            <a:ext cx="2355486" cy="178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3" b="0" i="0">
                <a:solidFill>
                  <a:srgbClr val="282D34"/>
                </a:solidFill>
                <a:latin typeface="Aptos"/>
                <a:ea typeface="Aptos"/>
                <a:cs typeface="Aptos"/>
              </a:defRPr>
            </a:pPr>
            <a:r>
              <a:rPr sz="413" b="0" i="0">
                <a:solidFill>
                  <a:srgbClr val="282D34"/>
                </a:solidFill>
                <a:latin typeface="Aptos"/>
                <a:ea typeface="Aptos"/>
                <a:cs typeface="Aptos"/>
              </a:rPr>
              <a:t>dart run tool/generate_stage_catalog.dart --check</a:t>
            </a:r>
          </a:p>
        </p:txBody>
      </p:sp>
      <p:sp>
        <p:nvSpPr>
          <p:cNvPr id="36" name="page-13-text-020-00">
            <a:extLst xmlns:a="http://schemas.openxmlformats.org/drawingml/2006/main">
              <a:ext uri="{FF2B5EF4-FFF2-40B4-BE49-F238E27FC236}">
                <a16:creationId xmlns:a16="http://schemas.microsoft.com/office/drawing/2014/main" id="{E8B745D0-6F7A-4555-9ABE-2D676418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6930121"/>
            <a:ext cx="762839" cy="23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73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증거 지도</a:t>
            </a:r>
          </a:p>
        </p:txBody>
      </p:sp>
      <p:sp>
        <p:nvSpPr>
          <p:cNvPr id="37" name="page-13-text-021-00">
            <a:extLst xmlns:a="http://schemas.openxmlformats.org/drawingml/2006/main">
              <a:ext uri="{FF2B5EF4-FFF2-40B4-BE49-F238E27FC236}">
                <a16:creationId xmlns:a16="http://schemas.microsoft.com/office/drawing/2014/main" id="{51D56143-29B7-4A28-8118-38CDB991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7415127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질문</a:t>
            </a:r>
          </a:p>
        </p:txBody>
      </p:sp>
      <p:sp>
        <p:nvSpPr>
          <p:cNvPr id="38" name="page-13-text-021-01">
            <a:extLst xmlns:a="http://schemas.openxmlformats.org/drawingml/2006/main">
              <a:ext uri="{FF2B5EF4-FFF2-40B4-BE49-F238E27FC236}">
                <a16:creationId xmlns:a16="http://schemas.microsoft.com/office/drawing/2014/main" id="{19D7E53E-0453-4B88-A841-5A614989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79" y="7415127"/>
            <a:ext cx="66306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대표 근거</a:t>
            </a:r>
          </a:p>
        </p:txBody>
      </p:sp>
      <p:sp>
        <p:nvSpPr>
          <p:cNvPr id="39" name="page-13-text-022-00">
            <a:extLst xmlns:a="http://schemas.openxmlformats.org/drawingml/2006/main">
              <a:ext uri="{FF2B5EF4-FFF2-40B4-BE49-F238E27FC236}">
                <a16:creationId xmlns:a16="http://schemas.microsoft.com/office/drawing/2014/main" id="{241366C3-6B20-430A-87EC-5B21327A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7745033"/>
            <a:ext cx="1158455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0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최신 전체 검증은?</a:t>
            </a:r>
          </a:p>
        </p:txBody>
      </p:sp>
      <p:sp>
        <p:nvSpPr>
          <p:cNvPr id="40" name="page-13-text-022-01">
            <a:extLst xmlns:a="http://schemas.openxmlformats.org/drawingml/2006/main">
              <a:ext uri="{FF2B5EF4-FFF2-40B4-BE49-F238E27FC236}">
                <a16:creationId xmlns:a16="http://schemas.microsoft.com/office/drawing/2014/main" id="{F764511B-D3FE-4C84-9882-0FE85C89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79" y="7745033"/>
            <a:ext cx="2545410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6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576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harness_docs/qa/validation_results.md</a:t>
            </a:r>
          </a:p>
        </p:txBody>
      </p:sp>
      <p:sp>
        <p:nvSpPr>
          <p:cNvPr id="41" name="page-13-text-023-00">
            <a:extLst xmlns:a="http://schemas.openxmlformats.org/drawingml/2006/main">
              <a:ext uri="{FF2B5EF4-FFF2-40B4-BE49-F238E27FC236}">
                <a16:creationId xmlns:a16="http://schemas.microsoft.com/office/drawing/2014/main" id="{C3E64B9A-23CF-4809-8AFC-3A52E8D6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8110364"/>
            <a:ext cx="486053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최종 판정과 잔여 위험은? harness_docs/qa/release_candidate_checklist.md</a:t>
            </a:r>
          </a:p>
        </p:txBody>
      </p:sp>
      <p:sp>
        <p:nvSpPr>
          <p:cNvPr id="42" name="page-13-text-024-00">
            <a:extLst xmlns:a="http://schemas.openxmlformats.org/drawingml/2006/main">
              <a:ext uri="{FF2B5EF4-FFF2-40B4-BE49-F238E27FC236}">
                <a16:creationId xmlns:a16="http://schemas.microsoft.com/office/drawing/2014/main" id="{B438582B-F1E4-47D7-8E55-19207351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8475695"/>
            <a:ext cx="99286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1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물리 결정론은?</a:t>
            </a:r>
          </a:p>
        </p:txBody>
      </p:sp>
      <p:sp>
        <p:nvSpPr>
          <p:cNvPr id="43" name="page-13-text-024-01">
            <a:extLst xmlns:a="http://schemas.openxmlformats.org/drawingml/2006/main">
              <a:ext uri="{FF2B5EF4-FFF2-40B4-BE49-F238E27FC236}">
                <a16:creationId xmlns:a16="http://schemas.microsoft.com/office/drawing/2014/main" id="{39592026-2C7B-4CE4-B719-D7DE972C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79" y="8475695"/>
            <a:ext cx="321755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1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601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harness_docs/qa/physics_determinism_report.md</a:t>
            </a:r>
          </a:p>
        </p:txBody>
      </p:sp>
      <p:sp>
        <p:nvSpPr>
          <p:cNvPr id="44" name="page-13-text-025-00">
            <a:extLst xmlns:a="http://schemas.openxmlformats.org/drawingml/2006/main">
              <a:ext uri="{FF2B5EF4-FFF2-40B4-BE49-F238E27FC236}">
                <a16:creationId xmlns:a16="http://schemas.microsoft.com/office/drawing/2014/main" id="{D8513600-EA6E-42B1-BB8E-BE9FC391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8841026"/>
            <a:ext cx="115907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기기·성능 범위는?</a:t>
            </a:r>
          </a:p>
        </p:txBody>
      </p:sp>
      <p:sp>
        <p:nvSpPr>
          <p:cNvPr id="45" name="page-13-text-025-01">
            <a:extLst xmlns:a="http://schemas.openxmlformats.org/drawingml/2006/main">
              <a:ext uri="{FF2B5EF4-FFF2-40B4-BE49-F238E27FC236}">
                <a16:creationId xmlns:a16="http://schemas.microsoft.com/office/drawing/2014/main" id="{D58EC718-5A1E-4ECD-BB86-11DFA1CA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79" y="8841026"/>
            <a:ext cx="319530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0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61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harness_docs/qa/device_performance_report.md</a:t>
            </a:r>
          </a:p>
        </p:txBody>
      </p:sp>
      <p:sp>
        <p:nvSpPr>
          <p:cNvPr id="46" name="page-13-text-026-00">
            <a:extLst xmlns:a="http://schemas.openxmlformats.org/drawingml/2006/main">
              <a:ext uri="{FF2B5EF4-FFF2-40B4-BE49-F238E27FC236}">
                <a16:creationId xmlns:a16="http://schemas.microsoft.com/office/drawing/2014/main" id="{8B003160-88ED-4D7A-A46D-D009F10C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718" y="10018730"/>
            <a:ext cx="192927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8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48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Final Report · Page 13</a:t>
            </a:r>
          </a:p>
        </p:txBody>
      </p:sp>
    </p:spTree>
    <p:extLst>
      <p:ext uri="{BB962C8B-B14F-4D97-AF65-F5344CB8AC3E}">
        <p14:creationId xmlns:p14="http://schemas.microsoft.com/office/powerpoint/2010/main" val="14572792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502da8e5e432b"/>
          <a:srcRect xmlns:a="http://schemas.openxmlformats.org/drawingml/2006/main" l="14648" t="0" r="146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lide-14-background">
            <a:extLst xmlns:a="http://schemas.openxmlformats.org/drawingml/2006/main">
              <a:ext uri="{FF2B5EF4-FFF2-40B4-BE49-F238E27FC236}">
                <a16:creationId xmlns:a16="http://schemas.microsoft.com/office/drawing/2014/main" id="{15F42AA2-8923-4C3A-AFCE-D8025F82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4-rect-000">
            <a:extLst xmlns:a="http://schemas.openxmlformats.org/drawingml/2006/main">
              <a:ext uri="{FF2B5EF4-FFF2-40B4-BE49-F238E27FC236}">
                <a16:creationId xmlns:a16="http://schemas.microsoft.com/office/drawing/2014/main" id="{BF86C8B7-DF18-480A-852E-ADED47FF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972416"/>
            <a:ext cx="1667658" cy="326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4-rect-001">
            <a:extLst xmlns:a="http://schemas.openxmlformats.org/drawingml/2006/main">
              <a:ext uri="{FF2B5EF4-FFF2-40B4-BE49-F238E27FC236}">
                <a16:creationId xmlns:a16="http://schemas.microsoft.com/office/drawing/2014/main" id="{8E067EB0-EA65-4619-B377-B940FF07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023" y="972416"/>
            <a:ext cx="4114462" cy="326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14-rect-002">
            <a:extLst xmlns:a="http://schemas.openxmlformats.org/drawingml/2006/main">
              <a:ext uri="{FF2B5EF4-FFF2-40B4-BE49-F238E27FC236}">
                <a16:creationId xmlns:a16="http://schemas.microsoft.com/office/drawing/2014/main" id="{631E9649-753C-4E0E-B9A5-C10933E3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972416"/>
            <a:ext cx="1667658" cy="326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14-rect-003">
            <a:extLst xmlns:a="http://schemas.openxmlformats.org/drawingml/2006/main">
              <a:ext uri="{FF2B5EF4-FFF2-40B4-BE49-F238E27FC236}">
                <a16:creationId xmlns:a16="http://schemas.microsoft.com/office/drawing/2014/main" id="{9038A9C1-AA7A-43F3-8BCA-6658CD75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023" y="972416"/>
            <a:ext cx="4114462" cy="326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-14-line-000">
            <a:extLst xmlns:a="http://schemas.openxmlformats.org/drawingml/2006/main">
              <a:ext uri="{FF2B5EF4-FFF2-40B4-BE49-F238E27FC236}">
                <a16:creationId xmlns:a16="http://schemas.microsoft.com/office/drawing/2014/main" id="{21CB207D-D9BA-4AAD-9C83-0BAC3D53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58" y="975792"/>
            <a:ext cx="578953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8" name="page-14-line-001">
            <a:extLst xmlns:a="http://schemas.openxmlformats.org/drawingml/2006/main">
              <a:ext uri="{FF2B5EF4-FFF2-40B4-BE49-F238E27FC236}">
                <a16:creationId xmlns:a16="http://schemas.microsoft.com/office/drawing/2014/main" id="{3EF4DA83-4AF0-4763-8FE2-42F32747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1302632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9" name="page-14-line-002">
            <a:extLst xmlns:a="http://schemas.openxmlformats.org/drawingml/2006/main">
              <a:ext uri="{FF2B5EF4-FFF2-40B4-BE49-F238E27FC236}">
                <a16:creationId xmlns:a16="http://schemas.microsoft.com/office/drawing/2014/main" id="{6FBAB91C-B541-4D78-9145-3089B2E8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1926599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0" name="page-14-line-003">
            <a:extLst xmlns:a="http://schemas.openxmlformats.org/drawingml/2006/main">
              <a:ext uri="{FF2B5EF4-FFF2-40B4-BE49-F238E27FC236}">
                <a16:creationId xmlns:a16="http://schemas.microsoft.com/office/drawing/2014/main" id="{658E7C40-C44F-4E12-BAE8-E2E54249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58" y="2551916"/>
            <a:ext cx="578953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1" name="page-14-line-004">
            <a:extLst xmlns:a="http://schemas.openxmlformats.org/drawingml/2006/main">
              <a:ext uri="{FF2B5EF4-FFF2-40B4-BE49-F238E27FC236}">
                <a16:creationId xmlns:a16="http://schemas.microsoft.com/office/drawing/2014/main" id="{1434702D-B0E3-4609-977F-2272B7E2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972416"/>
            <a:ext cx="9525" cy="15828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2" name="page-14-line-005">
            <a:extLst xmlns:a="http://schemas.openxmlformats.org/drawingml/2006/main">
              <a:ext uri="{FF2B5EF4-FFF2-40B4-BE49-F238E27FC236}">
                <a16:creationId xmlns:a16="http://schemas.microsoft.com/office/drawing/2014/main" id="{D4A52161-4572-4822-9605-CEF0EA66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023" y="979169"/>
            <a:ext cx="9525" cy="15693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3" name="page-14-line-006">
            <a:extLst xmlns:a="http://schemas.openxmlformats.org/drawingml/2006/main">
              <a:ext uri="{FF2B5EF4-FFF2-40B4-BE49-F238E27FC236}">
                <a16:creationId xmlns:a16="http://schemas.microsoft.com/office/drawing/2014/main" id="{3C1372C5-1645-403E-B613-D9B3644F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103" y="972416"/>
            <a:ext cx="9525" cy="15828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14" name="page-14-text-000-00">
            <a:extLst xmlns:a="http://schemas.openxmlformats.org/drawingml/2006/main">
              <a:ext uri="{FF2B5EF4-FFF2-40B4-BE49-F238E27FC236}">
                <a16:creationId xmlns:a16="http://schemas.microsoft.com/office/drawing/2014/main" id="{335E0E9A-0381-480D-B661-17CBA1ED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96" y="497671"/>
            <a:ext cx="1456558" cy="178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Final Report</a:t>
            </a:r>
          </a:p>
        </p:txBody>
      </p:sp>
      <p:sp>
        <p:nvSpPr>
          <p:cNvPr id="15" name="page-14-text-001-00">
            <a:extLst xmlns:a="http://schemas.openxmlformats.org/drawingml/2006/main">
              <a:ext uri="{FF2B5EF4-FFF2-40B4-BE49-F238E27FC236}">
                <a16:creationId xmlns:a16="http://schemas.microsoft.com/office/drawing/2014/main" id="{1FC8A17F-DB5D-4DA8-8E9F-BF30DEFD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1055257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질문</a:t>
            </a:r>
          </a:p>
        </p:txBody>
      </p:sp>
      <p:sp>
        <p:nvSpPr>
          <p:cNvPr id="16" name="page-14-text-001-01">
            <a:extLst xmlns:a="http://schemas.openxmlformats.org/drawingml/2006/main">
              <a:ext uri="{FF2B5EF4-FFF2-40B4-BE49-F238E27FC236}">
                <a16:creationId xmlns:a16="http://schemas.microsoft.com/office/drawing/2014/main" id="{8406A48C-D2C4-440C-88B8-4BEE7DAD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79" y="1055257"/>
            <a:ext cx="66306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대표 근거</a:t>
            </a:r>
          </a:p>
        </p:txBody>
      </p:sp>
      <p:sp>
        <p:nvSpPr>
          <p:cNvPr id="17" name="page-14-text-002-00">
            <a:extLst xmlns:a="http://schemas.openxmlformats.org/drawingml/2006/main">
              <a:ext uri="{FF2B5EF4-FFF2-40B4-BE49-F238E27FC236}">
                <a16:creationId xmlns:a16="http://schemas.microsoft.com/office/drawing/2014/main" id="{2A23FF77-2661-420A-8097-709C27AA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1385163"/>
            <a:ext cx="162783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0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AI 역할과 초기 생성 기록</a:t>
            </a:r>
          </a:p>
        </p:txBody>
      </p:sp>
      <p:sp>
        <p:nvSpPr>
          <p:cNvPr id="18" name="page-14-text-003-00">
            <a:extLst xmlns:a="http://schemas.openxmlformats.org/drawingml/2006/main">
              <a:ext uri="{FF2B5EF4-FFF2-40B4-BE49-F238E27FC236}">
                <a16:creationId xmlns:a16="http://schemas.microsoft.com/office/drawing/2014/main" id="{7D1C6A05-A42A-4840-ADF8-CE9C8B22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79" y="1514818"/>
            <a:ext cx="2919067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8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608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README.md, harness_docs/dev-wiki/log.md</a:t>
            </a:r>
          </a:p>
        </p:txBody>
      </p:sp>
      <p:sp>
        <p:nvSpPr>
          <p:cNvPr id="19" name="page-14-text-004-00">
            <a:extLst xmlns:a="http://schemas.openxmlformats.org/drawingml/2006/main">
              <a:ext uri="{FF2B5EF4-FFF2-40B4-BE49-F238E27FC236}">
                <a16:creationId xmlns:a16="http://schemas.microsoft.com/office/drawing/2014/main" id="{49652F0F-15E6-414F-962C-D1B9DDCC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1644473"/>
            <a:ext cx="315667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82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은?</a:t>
            </a:r>
          </a:p>
        </p:txBody>
      </p:sp>
      <p:sp>
        <p:nvSpPr>
          <p:cNvPr id="20" name="page-14-text-005-00">
            <a:extLst xmlns:a="http://schemas.openxmlformats.org/drawingml/2006/main">
              <a:ext uri="{FF2B5EF4-FFF2-40B4-BE49-F238E27FC236}">
                <a16:creationId xmlns:a16="http://schemas.microsoft.com/office/drawing/2014/main" id="{2848FC66-EBA2-499F-BDDD-E53CBB81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79" y="2009805"/>
            <a:ext cx="2990086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1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571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harness_docs/release/asset_rights_ledger.md,</a:t>
            </a:r>
          </a:p>
        </p:txBody>
      </p:sp>
      <p:sp>
        <p:nvSpPr>
          <p:cNvPr id="21" name="page-14-text-006-00">
            <a:extLst xmlns:a="http://schemas.openxmlformats.org/drawingml/2006/main">
              <a:ext uri="{FF2B5EF4-FFF2-40B4-BE49-F238E27FC236}">
                <a16:creationId xmlns:a16="http://schemas.microsoft.com/office/drawing/2014/main" id="{3737E6AB-A9AB-4251-BD22-25566AD8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2139460"/>
            <a:ext cx="1452566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에셋 권리·번들 경계는?</a:t>
            </a:r>
          </a:p>
        </p:txBody>
      </p:sp>
      <p:sp>
        <p:nvSpPr>
          <p:cNvPr id="22" name="page-14-text-007-00">
            <a:extLst xmlns:a="http://schemas.openxmlformats.org/drawingml/2006/main">
              <a:ext uri="{FF2B5EF4-FFF2-40B4-BE49-F238E27FC236}">
                <a16:creationId xmlns:a16="http://schemas.microsoft.com/office/drawing/2014/main" id="{69BC0A5F-7389-4C35-BEDD-4ACAFDB8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79" y="2269116"/>
            <a:ext cx="180096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4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624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bundle_asset_manifest.md</a:t>
            </a:r>
          </a:p>
        </p:txBody>
      </p:sp>
      <p:sp>
        <p:nvSpPr>
          <p:cNvPr id="23" name="page-14-text-008-00">
            <a:extLst xmlns:a="http://schemas.openxmlformats.org/drawingml/2006/main">
              <a:ext uri="{FF2B5EF4-FFF2-40B4-BE49-F238E27FC236}">
                <a16:creationId xmlns:a16="http://schemas.microsoft.com/office/drawing/2014/main" id="{44D7325F-3B52-4072-9CEC-FF2A8781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2840140"/>
            <a:ext cx="720168" cy="273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2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62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8. 결론</a:t>
            </a:r>
          </a:p>
        </p:txBody>
      </p:sp>
      <p:sp>
        <p:nvSpPr>
          <p:cNvPr id="24" name="page-14-text-009-00">
            <a:extLst xmlns:a="http://schemas.openxmlformats.org/drawingml/2006/main">
              <a:ext uri="{FF2B5EF4-FFF2-40B4-BE49-F238E27FC236}">
                <a16:creationId xmlns:a16="http://schemas.microsoft.com/office/drawing/2014/main" id="{26DEBDD6-D124-43C8-AF2D-8A080361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3393782"/>
            <a:ext cx="5890946" cy="206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속성 한방은 속성을 가진 공만 조작하는 게임이 아니라, 속성을 잃은 원본과 실패 뒤 남은 공까지 다음</a:t>
            </a:r>
          </a:p>
        </p:txBody>
      </p:sp>
      <p:sp>
        <p:nvSpPr>
          <p:cNvPr id="25" name="page-14-text-010-00">
            <a:extLst xmlns:a="http://schemas.openxmlformats.org/drawingml/2006/main">
              <a:ext uri="{FF2B5EF4-FFF2-40B4-BE49-F238E27FC236}">
                <a16:creationId xmlns:a16="http://schemas.microsoft.com/office/drawing/2014/main" id="{A86911BE-A9D4-4A24-BB08-8C6F2659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3693610"/>
            <a:ext cx="5891230" cy="206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1" b="1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1" b="1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해법으로 바꾸는 퍼즐이다. 10단계·40패턴, 결정론적 물리, 런 보상, 오늘의 도전, 리플레이, 한글 모</a:t>
            </a:r>
          </a:p>
        </p:txBody>
      </p:sp>
      <p:sp>
        <p:nvSpPr>
          <p:cNvPr id="26" name="page-14-text-011-00">
            <a:extLst xmlns:a="http://schemas.openxmlformats.org/drawingml/2006/main">
              <a:ext uri="{FF2B5EF4-FFF2-40B4-BE49-F238E27FC236}">
                <a16:creationId xmlns:a16="http://schemas.microsoft.com/office/drawing/2014/main" id="{BA02D550-D0BB-4816-81F2-64E5A83E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3994479"/>
            <a:ext cx="517576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바일 UX를 하나의 공개 Web 데모로 연결했고 901개 자동 회귀로 핵심 계약을 고정했다.</a:t>
            </a:r>
          </a:p>
        </p:txBody>
      </p:sp>
      <p:sp>
        <p:nvSpPr>
          <p:cNvPr id="27" name="page-14-text-012-00">
            <a:extLst xmlns:a="http://schemas.openxmlformats.org/drawingml/2006/main">
              <a:ext uri="{FF2B5EF4-FFF2-40B4-BE49-F238E27FC236}">
                <a16:creationId xmlns:a16="http://schemas.microsoft.com/office/drawing/2014/main" id="{F87D9DF1-C5C4-49D0-ADFC-F25C7B27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4402353"/>
            <a:ext cx="589177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AI는 초기 구조 생성부터 반복 구현·검증·문서 정합을 돕는 실행 파트너로 사용했으며, 제품 판단과 최</a:t>
            </a:r>
          </a:p>
        </p:txBody>
      </p:sp>
      <p:sp>
        <p:nvSpPr>
          <p:cNvPr id="28" name="page-14-text-013-00">
            <a:extLst xmlns:a="http://schemas.openxmlformats.org/drawingml/2006/main">
              <a:ext uri="{FF2B5EF4-FFF2-40B4-BE49-F238E27FC236}">
                <a16:creationId xmlns:a16="http://schemas.microsoft.com/office/drawing/2014/main" id="{4EDF50B4-DF44-40FB-9042-77278455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4702181"/>
            <a:ext cx="589087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종 승인은 인간의 책임으로 남겼다. 현재 결과는 심사와 데모에 사용할 수 있지만, 실기기와 외부 사용</a:t>
            </a:r>
          </a:p>
        </p:txBody>
      </p:sp>
      <p:sp>
        <p:nvSpPr>
          <p:cNvPr id="29" name="page-14-text-014-00">
            <a:extLst xmlns:a="http://schemas.openxmlformats.org/drawingml/2006/main">
              <a:ext uri="{FF2B5EF4-FFF2-40B4-BE49-F238E27FC236}">
                <a16:creationId xmlns:a16="http://schemas.microsoft.com/office/drawing/2014/main" id="{61BF62A3-45FE-4A73-8A76-30A4A708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5002009"/>
            <a:ext cx="255595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자 증거 없이 상용 품질을 주장하지 않는다.</a:t>
            </a:r>
          </a:p>
        </p:txBody>
      </p:sp>
      <p:sp>
        <p:nvSpPr>
          <p:cNvPr id="30" name="page-14-text-015-00">
            <a:extLst xmlns:a="http://schemas.openxmlformats.org/drawingml/2006/main">
              <a:ext uri="{FF2B5EF4-FFF2-40B4-BE49-F238E27FC236}">
                <a16:creationId xmlns:a16="http://schemas.microsoft.com/office/drawing/2014/main" id="{5CAA1F46-3B1F-495F-8A95-BBBAA7CA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5561554"/>
            <a:ext cx="2024389" cy="273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39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39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부록 A. 외부 참고 기준</a:t>
            </a:r>
          </a:p>
        </p:txBody>
      </p:sp>
      <p:sp>
        <p:nvSpPr>
          <p:cNvPr id="31" name="page-14-text-016-00">
            <a:extLst xmlns:a="http://schemas.openxmlformats.org/drawingml/2006/main">
              <a:ext uri="{FF2B5EF4-FFF2-40B4-BE49-F238E27FC236}">
                <a16:creationId xmlns:a16="http://schemas.microsoft.com/office/drawing/2014/main" id="{FEFC80E0-A43E-4CC0-8F7D-B2782FAC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6116236"/>
            <a:ext cx="2977345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최종 문서 구조와 검증 표기는 다음 원칙을 따른다.</a:t>
            </a:r>
          </a:p>
        </p:txBody>
      </p:sp>
      <p:sp>
        <p:nvSpPr>
          <p:cNvPr id="32" name="page-14-text-017-00">
            <a:extLst xmlns:a="http://schemas.openxmlformats.org/drawingml/2006/main">
              <a:ext uri="{FF2B5EF4-FFF2-40B4-BE49-F238E27FC236}">
                <a16:creationId xmlns:a16="http://schemas.microsoft.com/office/drawing/2014/main" id="{F5F9C2BD-A2D0-4EC6-8AD8-D4A3659E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6524110"/>
            <a:ext cx="5120771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프로젝트 심사자가 짧은 시간에 문제→차별점→데모→결과→한계를 읽을 수 있게 한다.</a:t>
            </a:r>
          </a:p>
        </p:txBody>
      </p:sp>
      <p:sp>
        <p:nvSpPr>
          <p:cNvPr id="33" name="page-14-text-018-00">
            <a:extLst xmlns:a="http://schemas.openxmlformats.org/drawingml/2006/main">
              <a:ext uri="{FF2B5EF4-FFF2-40B4-BE49-F238E27FC236}">
                <a16:creationId xmlns:a16="http://schemas.microsoft.com/office/drawing/2014/main" id="{21939B96-56CA-4234-8A53-24DE0ABE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6796927"/>
            <a:ext cx="3587193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핵심 주장은 실행 가능한 링크 또는 저장소 증거로 연결한다.</a:t>
            </a:r>
          </a:p>
        </p:txBody>
      </p:sp>
      <p:sp>
        <p:nvSpPr>
          <p:cNvPr id="34" name="page-14-text-019-00">
            <a:extLst xmlns:a="http://schemas.openxmlformats.org/drawingml/2006/main">
              <a:ext uri="{FF2B5EF4-FFF2-40B4-BE49-F238E27FC236}">
                <a16:creationId xmlns:a16="http://schemas.microsoft.com/office/drawing/2014/main" id="{00699529-0AF3-4086-AC4B-E2C09ACD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7069744"/>
            <a:ext cx="3333244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성능 수치는 측정 환경·표본·지표 정의와 함께 기록한다.</a:t>
            </a:r>
          </a:p>
        </p:txBody>
      </p:sp>
      <p:sp>
        <p:nvSpPr>
          <p:cNvPr id="35" name="page-14-text-020-00">
            <a:extLst xmlns:a="http://schemas.openxmlformats.org/drawingml/2006/main">
              <a:ext uri="{FF2B5EF4-FFF2-40B4-BE49-F238E27FC236}">
                <a16:creationId xmlns:a16="http://schemas.microsoft.com/office/drawing/2014/main" id="{78D526FE-18A1-41D8-8FE2-9A8773C1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7342561"/>
            <a:ext cx="3256627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접근성·사용성은 자동 검증과 사용자 검증을 구분한다.</a:t>
            </a:r>
          </a:p>
        </p:txBody>
      </p:sp>
      <p:sp>
        <p:nvSpPr>
          <p:cNvPr id="36" name="page-14-text-021-00">
            <a:extLst xmlns:a="http://schemas.openxmlformats.org/drawingml/2006/main">
              <a:ext uri="{FF2B5EF4-FFF2-40B4-BE49-F238E27FC236}">
                <a16:creationId xmlns:a16="http://schemas.microsoft.com/office/drawing/2014/main" id="{ADCB76F2-BCB3-4432-8327-52CD6F1C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4" y="7615377"/>
            <a:ext cx="4047513" cy="21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생성 자산은 출처·변환·번들 사용과 최종 권리 검토 상태를 분리한다.</a:t>
            </a:r>
          </a:p>
        </p:txBody>
      </p:sp>
      <p:sp>
        <p:nvSpPr>
          <p:cNvPr id="37" name="page-14-text-022-00">
            <a:extLst xmlns:a="http://schemas.openxmlformats.org/drawingml/2006/main">
              <a:ext uri="{FF2B5EF4-FFF2-40B4-BE49-F238E27FC236}">
                <a16:creationId xmlns:a16="http://schemas.microsoft.com/office/drawing/2014/main" id="{AF86ABB3-6F99-40E6-9C2D-BE8D0537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8147910"/>
            <a:ext cx="2186348" cy="273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2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부록 B. 참고한 외부 기준</a:t>
            </a:r>
          </a:p>
        </p:txBody>
      </p:sp>
      <p:sp>
        <p:nvSpPr>
          <p:cNvPr id="38" name="page-14-text-023-00">
            <a:extLst xmlns:a="http://schemas.openxmlformats.org/drawingml/2006/main">
              <a:ext uri="{FF2B5EF4-FFF2-40B4-BE49-F238E27FC236}">
                <a16:creationId xmlns:a16="http://schemas.microsoft.com/office/drawing/2014/main" id="{C756D9CC-226C-4382-92A4-DF796DC6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58" y="8702592"/>
            <a:ext cx="1605825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4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확인일: 2026-08-09 KST</a:t>
            </a:r>
          </a:p>
        </p:txBody>
      </p:sp>
      <p:sp>
        <p:nvSpPr>
          <p:cNvPr id="39" name="page-14-text-024-00">
            <a:extLst xmlns:a="http://schemas.openxmlformats.org/drawingml/2006/main">
              <a:ext uri="{FF2B5EF4-FFF2-40B4-BE49-F238E27FC236}">
                <a16:creationId xmlns:a16="http://schemas.microsoft.com/office/drawing/2014/main" id="{FBA7FEA7-7F75-4F7D-B941-8D71CE78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718" y="10018730"/>
            <a:ext cx="192927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8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48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Final Report · Page 14</a:t>
            </a:r>
          </a:p>
        </p:txBody>
      </p:sp>
    </p:spTree>
    <p:extLst>
      <p:ext uri="{BB962C8B-B14F-4D97-AF65-F5344CB8AC3E}">
        <p14:creationId xmlns:p14="http://schemas.microsoft.com/office/powerpoint/2010/main" val="16049018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2d8b01acb40bd"/>
          <a:srcRect xmlns:a="http://schemas.openxmlformats.org/drawingml/2006/main" l="14648" t="0" r="146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lide-15-background">
            <a:extLst xmlns:a="http://schemas.openxmlformats.org/drawingml/2006/main">
              <a:ext uri="{FF2B5EF4-FFF2-40B4-BE49-F238E27FC236}">
                <a16:creationId xmlns:a16="http://schemas.microsoft.com/office/drawing/2014/main" id="{D09D76E6-912A-4C76-95D1-EB13533C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5-rect-000">
            <a:extLst xmlns:a="http://schemas.openxmlformats.org/drawingml/2006/main">
              <a:ext uri="{FF2B5EF4-FFF2-40B4-BE49-F238E27FC236}">
                <a16:creationId xmlns:a16="http://schemas.microsoft.com/office/drawing/2014/main" id="{92AEF9D5-1348-4CF6-8E77-29CCB01B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972416"/>
            <a:ext cx="1667658" cy="326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-rect-001">
            <a:extLst xmlns:a="http://schemas.openxmlformats.org/drawingml/2006/main">
              <a:ext uri="{FF2B5EF4-FFF2-40B4-BE49-F238E27FC236}">
                <a16:creationId xmlns:a16="http://schemas.microsoft.com/office/drawing/2014/main" id="{50C6E3D2-170A-473D-A5C2-18518AAF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023" y="972416"/>
            <a:ext cx="4114462" cy="326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15-rect-002">
            <a:extLst xmlns:a="http://schemas.openxmlformats.org/drawingml/2006/main">
              <a:ext uri="{FF2B5EF4-FFF2-40B4-BE49-F238E27FC236}">
                <a16:creationId xmlns:a16="http://schemas.microsoft.com/office/drawing/2014/main" id="{E5596C0E-47BE-4586-B26A-58C28151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972416"/>
            <a:ext cx="1667658" cy="326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15-rect-003">
            <a:extLst xmlns:a="http://schemas.openxmlformats.org/drawingml/2006/main">
              <a:ext uri="{FF2B5EF4-FFF2-40B4-BE49-F238E27FC236}">
                <a16:creationId xmlns:a16="http://schemas.microsoft.com/office/drawing/2014/main" id="{96542767-71D7-496D-B901-F45E12BF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023" y="972416"/>
            <a:ext cx="4114462" cy="326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-15-line-000">
            <a:extLst xmlns:a="http://schemas.openxmlformats.org/drawingml/2006/main">
              <a:ext uri="{FF2B5EF4-FFF2-40B4-BE49-F238E27FC236}">
                <a16:creationId xmlns:a16="http://schemas.microsoft.com/office/drawing/2014/main" id="{EA896468-7DEF-469F-89A2-BEF3C2BA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893" y="1563294"/>
            <a:ext cx="543734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8" name="page-15-line-001">
            <a:extLst xmlns:a="http://schemas.openxmlformats.org/drawingml/2006/main">
              <a:ext uri="{FF2B5EF4-FFF2-40B4-BE49-F238E27FC236}">
                <a16:creationId xmlns:a16="http://schemas.microsoft.com/office/drawing/2014/main" id="{E5198595-F758-4D42-A9CC-B58E32B2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261" y="1563294"/>
            <a:ext cx="7043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9" name="page-15-line-002">
            <a:extLst xmlns:a="http://schemas.openxmlformats.org/drawingml/2006/main">
              <a:ext uri="{FF2B5EF4-FFF2-40B4-BE49-F238E27FC236}">
                <a16:creationId xmlns:a16="http://schemas.microsoft.com/office/drawing/2014/main" id="{69640A12-92F9-46D5-ABF8-15C8B3B0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318" y="1563294"/>
            <a:ext cx="42015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10" name="page-15-line-003">
            <a:extLst xmlns:a="http://schemas.openxmlformats.org/drawingml/2006/main">
              <a:ext uri="{FF2B5EF4-FFF2-40B4-BE49-F238E27FC236}">
                <a16:creationId xmlns:a16="http://schemas.microsoft.com/office/drawing/2014/main" id="{1962ECBA-6AE5-4B6D-A0B4-FFA8AF0A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110" y="1563294"/>
            <a:ext cx="7043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11" name="page-15-line-004">
            <a:extLst xmlns:a="http://schemas.openxmlformats.org/drawingml/2006/main">
              <a:ext uri="{FF2B5EF4-FFF2-40B4-BE49-F238E27FC236}">
                <a16:creationId xmlns:a16="http://schemas.microsoft.com/office/drawing/2014/main" id="{87A4D6E9-CED8-4C52-82C9-EFC7B3BA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167" y="1563294"/>
            <a:ext cx="51407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12" name="page-15-line-005">
            <a:extLst xmlns:a="http://schemas.openxmlformats.org/drawingml/2006/main">
              <a:ext uri="{FF2B5EF4-FFF2-40B4-BE49-F238E27FC236}">
                <a16:creationId xmlns:a16="http://schemas.microsoft.com/office/drawing/2014/main" id="{E8A2DC20-A974-4891-9090-820D719C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128" y="1822605"/>
            <a:ext cx="575864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13" name="page-15-line-006">
            <a:extLst xmlns:a="http://schemas.openxmlformats.org/drawingml/2006/main">
              <a:ext uri="{FF2B5EF4-FFF2-40B4-BE49-F238E27FC236}">
                <a16:creationId xmlns:a16="http://schemas.microsoft.com/office/drawing/2014/main" id="{97C63594-3BBA-478D-9DD8-947DA542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893" y="2187936"/>
            <a:ext cx="79088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14" name="page-15-line-007">
            <a:extLst xmlns:a="http://schemas.openxmlformats.org/drawingml/2006/main">
              <a:ext uri="{FF2B5EF4-FFF2-40B4-BE49-F238E27FC236}">
                <a16:creationId xmlns:a16="http://schemas.microsoft.com/office/drawing/2014/main" id="{4E4F18A4-08FC-4D1F-903A-A11F242E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261" y="2187936"/>
            <a:ext cx="31882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15" name="page-15-line-008">
            <a:extLst xmlns:a="http://schemas.openxmlformats.org/drawingml/2006/main">
              <a:ext uri="{FF2B5EF4-FFF2-40B4-BE49-F238E27FC236}">
                <a16:creationId xmlns:a16="http://schemas.microsoft.com/office/drawing/2014/main" id="{18DD3BD2-1B25-453D-8E41-BE95DA89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087" y="2187936"/>
            <a:ext cx="97254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16" name="page-15-line-009">
            <a:extLst xmlns:a="http://schemas.openxmlformats.org/drawingml/2006/main">
              <a:ext uri="{FF2B5EF4-FFF2-40B4-BE49-F238E27FC236}">
                <a16:creationId xmlns:a16="http://schemas.microsoft.com/office/drawing/2014/main" id="{69ADD2D3-D50D-474F-B843-5E3AAAC3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128" y="2447247"/>
            <a:ext cx="3200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17" name="page-15-line-010">
            <a:extLst xmlns:a="http://schemas.openxmlformats.org/drawingml/2006/main">
              <a:ext uri="{FF2B5EF4-FFF2-40B4-BE49-F238E27FC236}">
                <a16:creationId xmlns:a16="http://schemas.microsoft.com/office/drawing/2014/main" id="{4E98CE6C-6DC9-4DF1-A912-4EAC260E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893" y="2812578"/>
            <a:ext cx="488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18" name="page-15-line-011">
            <a:extLst xmlns:a="http://schemas.openxmlformats.org/drawingml/2006/main">
              <a:ext uri="{FF2B5EF4-FFF2-40B4-BE49-F238E27FC236}">
                <a16:creationId xmlns:a16="http://schemas.microsoft.com/office/drawing/2014/main" id="{01865FF1-0CAC-453A-89F1-5AB2BB04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034" y="2812578"/>
            <a:ext cx="71674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19" name="page-15-line-012">
            <a:extLst xmlns:a="http://schemas.openxmlformats.org/drawingml/2006/main">
              <a:ext uri="{FF2B5EF4-FFF2-40B4-BE49-F238E27FC236}">
                <a16:creationId xmlns:a16="http://schemas.microsoft.com/office/drawing/2014/main" id="{51D669EA-39F6-4B44-B2F3-E2F443F9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08" y="2812578"/>
            <a:ext cx="33859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20" name="page-15-line-013">
            <a:extLst xmlns:a="http://schemas.openxmlformats.org/drawingml/2006/main">
              <a:ext uri="{FF2B5EF4-FFF2-40B4-BE49-F238E27FC236}">
                <a16:creationId xmlns:a16="http://schemas.microsoft.com/office/drawing/2014/main" id="{7A283B91-9E5A-4C8A-8B8F-68B2A7A9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4323" y="2812578"/>
            <a:ext cx="29534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21" name="page-15-line-014">
            <a:extLst xmlns:a="http://schemas.openxmlformats.org/drawingml/2006/main">
              <a:ext uri="{FF2B5EF4-FFF2-40B4-BE49-F238E27FC236}">
                <a16:creationId xmlns:a16="http://schemas.microsoft.com/office/drawing/2014/main" id="{DF8FCF76-FAB4-4A73-80B1-EA5AFF00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670" y="2812578"/>
            <a:ext cx="42880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22" name="page-15-line-015">
            <a:extLst xmlns:a="http://schemas.openxmlformats.org/drawingml/2006/main">
              <a:ext uri="{FF2B5EF4-FFF2-40B4-BE49-F238E27FC236}">
                <a16:creationId xmlns:a16="http://schemas.microsoft.com/office/drawing/2014/main" id="{105467C4-C305-4024-9048-4A6750B5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128" y="3071889"/>
            <a:ext cx="62776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23" name="page-15-line-016">
            <a:extLst xmlns:a="http://schemas.openxmlformats.org/drawingml/2006/main">
              <a:ext uri="{FF2B5EF4-FFF2-40B4-BE49-F238E27FC236}">
                <a16:creationId xmlns:a16="http://schemas.microsoft.com/office/drawing/2014/main" id="{7DF35B2B-2259-4A9D-83AD-75130732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893" y="3566876"/>
            <a:ext cx="31264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24" name="page-15-line-017">
            <a:extLst xmlns:a="http://schemas.openxmlformats.org/drawingml/2006/main">
              <a:ext uri="{FF2B5EF4-FFF2-40B4-BE49-F238E27FC236}">
                <a16:creationId xmlns:a16="http://schemas.microsoft.com/office/drawing/2014/main" id="{D8DA98EE-DB65-4DB4-B83E-A5B553E1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158" y="3566876"/>
            <a:ext cx="3707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25" name="page-15-line-018">
            <a:extLst xmlns:a="http://schemas.openxmlformats.org/drawingml/2006/main">
              <a:ext uri="{FF2B5EF4-FFF2-40B4-BE49-F238E27FC236}">
                <a16:creationId xmlns:a16="http://schemas.microsoft.com/office/drawing/2014/main" id="{C1101036-D26C-4522-A7E8-7D1D0979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848" y="3566876"/>
            <a:ext cx="43745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26" name="page-15-line-019">
            <a:extLst xmlns:a="http://schemas.openxmlformats.org/drawingml/2006/main">
              <a:ext uri="{FF2B5EF4-FFF2-40B4-BE49-F238E27FC236}">
                <a16:creationId xmlns:a16="http://schemas.microsoft.com/office/drawing/2014/main" id="{FDB8CE86-449A-49D6-AD1C-AC9362B8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925" y="3566876"/>
            <a:ext cx="3707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27" name="page-15-line-020">
            <a:extLst xmlns:a="http://schemas.openxmlformats.org/drawingml/2006/main">
              <a:ext uri="{FF2B5EF4-FFF2-40B4-BE49-F238E27FC236}">
                <a16:creationId xmlns:a16="http://schemas.microsoft.com/office/drawing/2014/main" id="{FE544FB6-D486-4616-B321-F9E282DC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616" y="3566876"/>
            <a:ext cx="20513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28" name="page-15-line-021">
            <a:extLst xmlns:a="http://schemas.openxmlformats.org/drawingml/2006/main">
              <a:ext uri="{FF2B5EF4-FFF2-40B4-BE49-F238E27FC236}">
                <a16:creationId xmlns:a16="http://schemas.microsoft.com/office/drawing/2014/main" id="{B75BF68A-9D5A-4743-89D2-66F626E3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893" y="4061862"/>
            <a:ext cx="76122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29" name="page-15-line-022">
            <a:extLst xmlns:a="http://schemas.openxmlformats.org/drawingml/2006/main">
              <a:ext uri="{FF2B5EF4-FFF2-40B4-BE49-F238E27FC236}">
                <a16:creationId xmlns:a16="http://schemas.microsoft.com/office/drawing/2014/main" id="{B28D9124-5DDB-4616-9F13-6F6A1154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22" y="4061862"/>
            <a:ext cx="39420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30" name="page-15-line-023">
            <a:extLst xmlns:a="http://schemas.openxmlformats.org/drawingml/2006/main">
              <a:ext uri="{FF2B5EF4-FFF2-40B4-BE49-F238E27FC236}">
                <a16:creationId xmlns:a16="http://schemas.microsoft.com/office/drawing/2014/main" id="{078BA5D7-E7FA-490C-8254-58C6FD16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429" y="4061862"/>
            <a:ext cx="107758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31" name="page-15-line-024">
            <a:extLst xmlns:a="http://schemas.openxmlformats.org/drawingml/2006/main">
              <a:ext uri="{FF2B5EF4-FFF2-40B4-BE49-F238E27FC236}">
                <a16:creationId xmlns:a16="http://schemas.microsoft.com/office/drawing/2014/main" id="{B525BB25-0971-485A-BC48-ADAA147F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128" y="4321173"/>
            <a:ext cx="42757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32" name="page-15-line-025">
            <a:extLst xmlns:a="http://schemas.openxmlformats.org/drawingml/2006/main">
              <a:ext uri="{FF2B5EF4-FFF2-40B4-BE49-F238E27FC236}">
                <a16:creationId xmlns:a16="http://schemas.microsoft.com/office/drawing/2014/main" id="{CB7C6321-23F2-4283-8CA2-D6F14138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893" y="4686504"/>
            <a:ext cx="57462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33" name="page-15-line-026">
            <a:extLst xmlns:a="http://schemas.openxmlformats.org/drawingml/2006/main">
              <a:ext uri="{FF2B5EF4-FFF2-40B4-BE49-F238E27FC236}">
                <a16:creationId xmlns:a16="http://schemas.microsoft.com/office/drawing/2014/main" id="{32B1FC1D-ACFE-4847-9FF0-9E4C8C17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977" y="4686504"/>
            <a:ext cx="31388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34" name="page-15-line-027">
            <a:extLst xmlns:a="http://schemas.openxmlformats.org/drawingml/2006/main">
              <a:ext uri="{FF2B5EF4-FFF2-40B4-BE49-F238E27FC236}">
                <a16:creationId xmlns:a16="http://schemas.microsoft.com/office/drawing/2014/main" id="{5F722112-F1F2-4C88-B4CF-9028416D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478" y="4686504"/>
            <a:ext cx="33612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35" name="page-15-line-028">
            <a:extLst xmlns:a="http://schemas.openxmlformats.org/drawingml/2006/main">
              <a:ext uri="{FF2B5EF4-FFF2-40B4-BE49-F238E27FC236}">
                <a16:creationId xmlns:a16="http://schemas.microsoft.com/office/drawing/2014/main" id="{BDEF8906-5BD4-42D2-A833-4BE0AF5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060" y="4686504"/>
            <a:ext cx="7785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36" name="page-15-line-029">
            <a:extLst xmlns:a="http://schemas.openxmlformats.org/drawingml/2006/main">
              <a:ext uri="{FF2B5EF4-FFF2-40B4-BE49-F238E27FC236}">
                <a16:creationId xmlns:a16="http://schemas.microsoft.com/office/drawing/2014/main" id="{0727DEE5-8219-47DD-81B6-AAA53B0D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913" y="4686504"/>
            <a:ext cx="33612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37" name="page-15-line-030">
            <a:extLst xmlns:a="http://schemas.openxmlformats.org/drawingml/2006/main">
              <a:ext uri="{FF2B5EF4-FFF2-40B4-BE49-F238E27FC236}">
                <a16:creationId xmlns:a16="http://schemas.microsoft.com/office/drawing/2014/main" id="{C35DCAE3-E0EE-4BB2-BFE1-650510DF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128" y="4945815"/>
            <a:ext cx="3373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38" name="page-15-line-031">
            <a:extLst xmlns:a="http://schemas.openxmlformats.org/drawingml/2006/main">
              <a:ext uri="{FF2B5EF4-FFF2-40B4-BE49-F238E27FC236}">
                <a16:creationId xmlns:a16="http://schemas.microsoft.com/office/drawing/2014/main" id="{48DBD938-C84D-4356-A05B-45909D57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893" y="5311147"/>
            <a:ext cx="5239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39" name="page-15-line-032">
            <a:extLst xmlns:a="http://schemas.openxmlformats.org/drawingml/2006/main">
              <a:ext uri="{FF2B5EF4-FFF2-40B4-BE49-F238E27FC236}">
                <a16:creationId xmlns:a16="http://schemas.microsoft.com/office/drawing/2014/main" id="{60250BC2-A34A-460A-9D06-A7BCF77F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261" y="5311147"/>
            <a:ext cx="5066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40" name="page-15-line-033">
            <a:extLst xmlns:a="http://schemas.openxmlformats.org/drawingml/2006/main">
              <a:ext uri="{FF2B5EF4-FFF2-40B4-BE49-F238E27FC236}">
                <a16:creationId xmlns:a16="http://schemas.microsoft.com/office/drawing/2014/main" id="{3016CEDA-3022-4D1C-9949-11D0F388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545" y="5311147"/>
            <a:ext cx="65618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41" name="page-15-line-034">
            <a:extLst xmlns:a="http://schemas.openxmlformats.org/drawingml/2006/main">
              <a:ext uri="{FF2B5EF4-FFF2-40B4-BE49-F238E27FC236}">
                <a16:creationId xmlns:a16="http://schemas.microsoft.com/office/drawing/2014/main" id="{6F138B97-5074-4C84-8C71-1E0126AA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41" y="5311147"/>
            <a:ext cx="5066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42" name="page-15-line-035">
            <a:extLst xmlns:a="http://schemas.openxmlformats.org/drawingml/2006/main">
              <a:ext uri="{FF2B5EF4-FFF2-40B4-BE49-F238E27FC236}">
                <a16:creationId xmlns:a16="http://schemas.microsoft.com/office/drawing/2014/main" id="{CE4F38AA-9441-4E17-9D41-FE5A05F1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425" y="5311147"/>
            <a:ext cx="27804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43" name="page-15-line-036">
            <a:extLst xmlns:a="http://schemas.openxmlformats.org/drawingml/2006/main">
              <a:ext uri="{FF2B5EF4-FFF2-40B4-BE49-F238E27FC236}">
                <a16:creationId xmlns:a16="http://schemas.microsoft.com/office/drawing/2014/main" id="{61C43E04-FDF2-4945-AD1A-FA50FEBF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893" y="5570458"/>
            <a:ext cx="20513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44" name="page-15-line-037">
            <a:extLst xmlns:a="http://schemas.openxmlformats.org/drawingml/2006/main">
              <a:ext uri="{FF2B5EF4-FFF2-40B4-BE49-F238E27FC236}">
                <a16:creationId xmlns:a16="http://schemas.microsoft.com/office/drawing/2014/main" id="{85676E0E-FE1E-4247-B946-FFDE93E6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47" y="5570458"/>
            <a:ext cx="3707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45" name="page-15-line-038">
            <a:extLst xmlns:a="http://schemas.openxmlformats.org/drawingml/2006/main">
              <a:ext uri="{FF2B5EF4-FFF2-40B4-BE49-F238E27FC236}">
                <a16:creationId xmlns:a16="http://schemas.microsoft.com/office/drawing/2014/main" id="{1CC2352F-5BC2-48D1-8811-85B0BA3A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337" y="5570458"/>
            <a:ext cx="567214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650">
            <a:solidFill>
              <a:srgbClr val="2E74B5"/>
            </a:solidFill>
            <a:prstDash val="solid"/>
          </a:ln>
        </p:spPr>
      </p:sp>
      <p:sp>
        <p:nvSpPr>
          <p:cNvPr id="46" name="page-15-line-039">
            <a:extLst xmlns:a="http://schemas.openxmlformats.org/drawingml/2006/main">
              <a:ext uri="{FF2B5EF4-FFF2-40B4-BE49-F238E27FC236}">
                <a16:creationId xmlns:a16="http://schemas.microsoft.com/office/drawing/2014/main" id="{94ADB9C9-328F-4E99-B307-9BA4FC35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58" y="975792"/>
            <a:ext cx="578953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47" name="page-15-line-040">
            <a:extLst xmlns:a="http://schemas.openxmlformats.org/drawingml/2006/main">
              <a:ext uri="{FF2B5EF4-FFF2-40B4-BE49-F238E27FC236}">
                <a16:creationId xmlns:a16="http://schemas.microsoft.com/office/drawing/2014/main" id="{0D5B9E11-9DFA-478D-9487-5A972AD9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1302632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48" name="page-15-line-041">
            <a:extLst xmlns:a="http://schemas.openxmlformats.org/drawingml/2006/main">
              <a:ext uri="{FF2B5EF4-FFF2-40B4-BE49-F238E27FC236}">
                <a16:creationId xmlns:a16="http://schemas.microsoft.com/office/drawing/2014/main" id="{2A79F573-E76A-4BE8-B300-088346C4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1926599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49" name="page-15-line-042">
            <a:extLst xmlns:a="http://schemas.openxmlformats.org/drawingml/2006/main">
              <a:ext uri="{FF2B5EF4-FFF2-40B4-BE49-F238E27FC236}">
                <a16:creationId xmlns:a16="http://schemas.microsoft.com/office/drawing/2014/main" id="{7AC9043A-598A-457F-943C-DAA0C45C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2551916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50" name="page-15-line-043">
            <a:extLst xmlns:a="http://schemas.openxmlformats.org/drawingml/2006/main">
              <a:ext uri="{FF2B5EF4-FFF2-40B4-BE49-F238E27FC236}">
                <a16:creationId xmlns:a16="http://schemas.microsoft.com/office/drawing/2014/main" id="{9F1015F6-982F-4E97-86B8-AC2805BD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3175883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51" name="page-15-line-044">
            <a:extLst xmlns:a="http://schemas.openxmlformats.org/drawingml/2006/main">
              <a:ext uri="{FF2B5EF4-FFF2-40B4-BE49-F238E27FC236}">
                <a16:creationId xmlns:a16="http://schemas.microsoft.com/office/drawing/2014/main" id="{0565FE0B-C07A-4821-804F-7CB31555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3801201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52" name="page-15-line-045">
            <a:extLst xmlns:a="http://schemas.openxmlformats.org/drawingml/2006/main">
              <a:ext uri="{FF2B5EF4-FFF2-40B4-BE49-F238E27FC236}">
                <a16:creationId xmlns:a16="http://schemas.microsoft.com/office/drawing/2014/main" id="{4AA0E933-9288-40A0-947F-3DC01C4C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4425168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53" name="page-15-line-046">
            <a:extLst xmlns:a="http://schemas.openxmlformats.org/drawingml/2006/main">
              <a:ext uri="{FF2B5EF4-FFF2-40B4-BE49-F238E27FC236}">
                <a16:creationId xmlns:a16="http://schemas.microsoft.com/office/drawing/2014/main" id="{82A6BB9B-3C9E-448F-B3BF-0EA95B1C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6" y="5050485"/>
            <a:ext cx="577717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54" name="page-15-line-047">
            <a:extLst xmlns:a="http://schemas.openxmlformats.org/drawingml/2006/main">
              <a:ext uri="{FF2B5EF4-FFF2-40B4-BE49-F238E27FC236}">
                <a16:creationId xmlns:a16="http://schemas.microsoft.com/office/drawing/2014/main" id="{F6467059-35EB-4353-BCD6-BB72EB6B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58" y="5674452"/>
            <a:ext cx="578953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55" name="page-15-line-048">
            <a:extLst xmlns:a="http://schemas.openxmlformats.org/drawingml/2006/main">
              <a:ext uri="{FF2B5EF4-FFF2-40B4-BE49-F238E27FC236}">
                <a16:creationId xmlns:a16="http://schemas.microsoft.com/office/drawing/2014/main" id="{2E82C944-4827-4FA4-84C8-A4D006F4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47" y="972416"/>
            <a:ext cx="9525" cy="47054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56" name="page-15-line-049">
            <a:extLst xmlns:a="http://schemas.openxmlformats.org/drawingml/2006/main">
              <a:ext uri="{FF2B5EF4-FFF2-40B4-BE49-F238E27FC236}">
                <a16:creationId xmlns:a16="http://schemas.microsoft.com/office/drawing/2014/main" id="{790C8373-8BE2-4BB7-8012-D71B8FDF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023" y="979169"/>
            <a:ext cx="9525" cy="46919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57" name="page-15-line-050">
            <a:extLst xmlns:a="http://schemas.openxmlformats.org/drawingml/2006/main">
              <a:ext uri="{FF2B5EF4-FFF2-40B4-BE49-F238E27FC236}">
                <a16:creationId xmlns:a16="http://schemas.microsoft.com/office/drawing/2014/main" id="{8DAE52B3-574A-497C-9FD8-9A529E4B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103" y="972416"/>
            <a:ext cx="9525" cy="47054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9">
            <a:solidFill>
              <a:srgbClr val="000000"/>
            </a:solidFill>
            <a:prstDash val="solid"/>
          </a:ln>
        </p:spPr>
      </p:sp>
      <p:sp>
        <p:nvSpPr>
          <p:cNvPr id="58" name="page-15-text-000-00">
            <a:extLst xmlns:a="http://schemas.openxmlformats.org/drawingml/2006/main">
              <a:ext uri="{FF2B5EF4-FFF2-40B4-BE49-F238E27FC236}">
                <a16:creationId xmlns:a16="http://schemas.microsoft.com/office/drawing/2014/main" id="{8E170215-84D3-4E87-9556-E33EF2BA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96" y="497671"/>
            <a:ext cx="1456558" cy="178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Final Report</a:t>
            </a:r>
          </a:p>
        </p:txBody>
      </p:sp>
      <p:sp>
        <p:nvSpPr>
          <p:cNvPr id="59" name="page-15-text-001-00">
            <a:extLst xmlns:a="http://schemas.openxmlformats.org/drawingml/2006/main">
              <a:ext uri="{FF2B5EF4-FFF2-40B4-BE49-F238E27FC236}">
                <a16:creationId xmlns:a16="http://schemas.microsoft.com/office/drawing/2014/main" id="{F7E0654B-C090-4BED-8F4A-0A96E03A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1055257"/>
            <a:ext cx="369311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24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기준</a:t>
            </a:r>
          </a:p>
        </p:txBody>
      </p:sp>
      <p:sp>
        <p:nvSpPr>
          <p:cNvPr id="60" name="page-15-text-001-01">
            <a:extLst xmlns:a="http://schemas.openxmlformats.org/drawingml/2006/main">
              <a:ext uri="{FF2B5EF4-FFF2-40B4-BE49-F238E27FC236}">
                <a16:creationId xmlns:a16="http://schemas.microsoft.com/office/drawing/2014/main" id="{FCC80B23-99C0-4A3F-A49F-9196797B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79" y="1055257"/>
            <a:ext cx="133906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593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보고서에 반영한 원칙</a:t>
            </a:r>
          </a:p>
        </p:txBody>
      </p:sp>
      <p:sp>
        <p:nvSpPr>
          <p:cNvPr id="61" name="page-15-text-002-00">
            <a:extLst xmlns:a="http://schemas.openxmlformats.org/drawingml/2006/main">
              <a:ext uri="{FF2B5EF4-FFF2-40B4-BE49-F238E27FC236}">
                <a16:creationId xmlns:a16="http://schemas.microsoft.com/office/drawing/2014/main" id="{771E29FA-9F2F-4BD7-82FE-B70790AB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1385163"/>
            <a:ext cx="574306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8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588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Devpost online judging 심사자가 짧은 시간에 데모, 설명, 증거를 확인할 수 있도록 링크와 핵</a:t>
            </a:r>
          </a:p>
        </p:txBody>
      </p:sp>
      <p:sp>
        <p:nvSpPr>
          <p:cNvPr id="62" name="page-15-text-003-00">
            <a:extLst xmlns:a="http://schemas.openxmlformats.org/drawingml/2006/main">
              <a:ext uri="{FF2B5EF4-FFF2-40B4-BE49-F238E27FC236}">
                <a16:creationId xmlns:a16="http://schemas.microsoft.com/office/drawing/2014/main" id="{9119A16A-9FF3-43A7-BF8E-B1B0C4B7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1644473"/>
            <a:ext cx="690115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6" b="0" i="0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686" b="0" i="0">
                <a:solidFill>
                  <a:srgbClr val="2E74B5"/>
                </a:solidFill>
                <a:latin typeface="Aptos"/>
                <a:ea typeface="Aptos"/>
                <a:cs typeface="Aptos"/>
              </a:rPr>
              <a:t>guidance</a:t>
            </a:r>
          </a:p>
        </p:txBody>
      </p:sp>
      <p:sp>
        <p:nvSpPr>
          <p:cNvPr id="63" name="page-15-text-003-01">
            <a:extLst xmlns:a="http://schemas.openxmlformats.org/drawingml/2006/main">
              <a:ext uri="{FF2B5EF4-FFF2-40B4-BE49-F238E27FC236}">
                <a16:creationId xmlns:a16="http://schemas.microsoft.com/office/drawing/2014/main" id="{72B17CAA-6EBD-4940-8AAD-3257BA33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79" y="1644473"/>
            <a:ext cx="1419670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심 판단을 앞쪽에 둔다.</a:t>
            </a:r>
          </a:p>
        </p:txBody>
      </p:sp>
      <p:sp>
        <p:nvSpPr>
          <p:cNvPr id="64" name="page-15-text-004-00">
            <a:extLst xmlns:a="http://schemas.openxmlformats.org/drawingml/2006/main">
              <a:ext uri="{FF2B5EF4-FFF2-40B4-BE49-F238E27FC236}">
                <a16:creationId xmlns:a16="http://schemas.microsoft.com/office/drawing/2014/main" id="{3986CDD7-04E0-46F3-A9D4-66F0B08B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2009805"/>
            <a:ext cx="5740480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5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05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Devpost submission 프로젝트 설명, 실행 링크, 이미지·영상, 저장소를 제출 전에 함께 확인</a:t>
            </a:r>
          </a:p>
        </p:txBody>
      </p:sp>
      <p:sp>
        <p:nvSpPr>
          <p:cNvPr id="65" name="page-15-text-005-00">
            <a:extLst xmlns:a="http://schemas.openxmlformats.org/drawingml/2006/main">
              <a:ext uri="{FF2B5EF4-FFF2-40B4-BE49-F238E27FC236}">
                <a16:creationId xmlns:a16="http://schemas.microsoft.com/office/drawing/2014/main" id="{F8D90C42-CCAC-4B3C-991B-1440B5CC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2269116"/>
            <a:ext cx="43510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8" b="0" i="0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668" b="0" i="0">
                <a:solidFill>
                  <a:srgbClr val="2E74B5"/>
                </a:solidFill>
                <a:latin typeface="Aptos"/>
                <a:ea typeface="Aptos"/>
                <a:cs typeface="Aptos"/>
              </a:rPr>
              <a:t>steps</a:t>
            </a:r>
          </a:p>
        </p:txBody>
      </p:sp>
      <p:sp>
        <p:nvSpPr>
          <p:cNvPr id="66" name="page-15-text-005-01">
            <a:extLst xmlns:a="http://schemas.openxmlformats.org/drawingml/2006/main">
              <a:ext uri="{FF2B5EF4-FFF2-40B4-BE49-F238E27FC236}">
                <a16:creationId xmlns:a16="http://schemas.microsoft.com/office/drawing/2014/main" id="{6CB9590A-4DD8-41F8-AEC7-3BBF7AD9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79" y="2269116"/>
            <a:ext cx="238974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하고 실제 시도 가능한 경로를 제공한다.</a:t>
            </a:r>
          </a:p>
        </p:txBody>
      </p:sp>
      <p:sp>
        <p:nvSpPr>
          <p:cNvPr id="67" name="page-15-text-006-00">
            <a:extLst xmlns:a="http://schemas.openxmlformats.org/drawingml/2006/main">
              <a:ext uri="{FF2B5EF4-FFF2-40B4-BE49-F238E27FC236}">
                <a16:creationId xmlns:a16="http://schemas.microsoft.com/office/drawing/2014/main" id="{99A24D58-15E4-4C52-B215-29466524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2634447"/>
            <a:ext cx="574791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00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GitHub Docs — About 프로젝트가 무엇을 하는지, 왜 유용한지, 어떻게 실행·검증하는지와 도</a:t>
            </a:r>
          </a:p>
        </p:txBody>
      </p:sp>
      <p:sp>
        <p:nvSpPr>
          <p:cNvPr id="68" name="page-15-text-007-00">
            <a:extLst xmlns:a="http://schemas.openxmlformats.org/drawingml/2006/main">
              <a:ext uri="{FF2B5EF4-FFF2-40B4-BE49-F238E27FC236}">
                <a16:creationId xmlns:a16="http://schemas.microsoft.com/office/drawing/2014/main" id="{38113355-105B-40C2-B711-D0365DDF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2893758"/>
            <a:ext cx="74223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0" b="0" i="0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670" b="0" i="0">
                <a:solidFill>
                  <a:srgbClr val="2E74B5"/>
                </a:solidFill>
                <a:latin typeface="Aptos"/>
                <a:ea typeface="Aptos"/>
                <a:cs typeface="Aptos"/>
              </a:rPr>
              <a:t>READMEs</a:t>
            </a:r>
          </a:p>
        </p:txBody>
      </p:sp>
      <p:sp>
        <p:nvSpPr>
          <p:cNvPr id="69" name="page-15-text-007-01">
            <a:extLst xmlns:a="http://schemas.openxmlformats.org/drawingml/2006/main">
              <a:ext uri="{FF2B5EF4-FFF2-40B4-BE49-F238E27FC236}">
                <a16:creationId xmlns:a16="http://schemas.microsoft.com/office/drawing/2014/main" id="{2E01AE3C-08B2-41DA-BB1A-DB4B272A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79" y="2893758"/>
            <a:ext cx="1840446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움 받을 위치를 명확히 적는다.</a:t>
            </a:r>
          </a:p>
        </p:txBody>
      </p:sp>
      <p:sp>
        <p:nvSpPr>
          <p:cNvPr id="70" name="page-15-text-008-00">
            <a:extLst xmlns:a="http://schemas.openxmlformats.org/drawingml/2006/main">
              <a:ext uri="{FF2B5EF4-FFF2-40B4-BE49-F238E27FC236}">
                <a16:creationId xmlns:a16="http://schemas.microsoft.com/office/drawing/2014/main" id="{6A33D70D-8D57-49EB-BDA6-5D6E8608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79" y="3259089"/>
            <a:ext cx="407838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접근성 주장은 지각 가능성, 운용 가능성, 이해 가능성, 견고성의 기준</a:t>
            </a:r>
          </a:p>
        </p:txBody>
      </p:sp>
      <p:sp>
        <p:nvSpPr>
          <p:cNvPr id="71" name="page-15-text-009-00">
            <a:extLst xmlns:a="http://schemas.openxmlformats.org/drawingml/2006/main">
              <a:ext uri="{FF2B5EF4-FFF2-40B4-BE49-F238E27FC236}">
                <a16:creationId xmlns:a16="http://schemas.microsoft.com/office/drawing/2014/main" id="{AFA2E05A-F8DE-4F69-9607-8A068DA1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3388744"/>
            <a:ext cx="114641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3" b="0" i="0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673" b="0" i="0">
                <a:solidFill>
                  <a:srgbClr val="2E74B5"/>
                </a:solidFill>
                <a:latin typeface="Aptos"/>
                <a:ea typeface="Aptos"/>
                <a:cs typeface="Aptos"/>
              </a:rPr>
              <a:t>W3C WCAG 2.2</a:t>
            </a:r>
          </a:p>
        </p:txBody>
      </p:sp>
      <p:sp>
        <p:nvSpPr>
          <p:cNvPr id="72" name="page-15-text-010-00">
            <a:extLst xmlns:a="http://schemas.openxmlformats.org/drawingml/2006/main">
              <a:ext uri="{FF2B5EF4-FFF2-40B4-BE49-F238E27FC236}">
                <a16:creationId xmlns:a16="http://schemas.microsoft.com/office/drawing/2014/main" id="{D7A9D9E2-F082-423D-8126-A13A5DA6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79" y="3518400"/>
            <a:ext cx="348833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으로 나누고 자동 검증과 실기기 보조기술 검증을 구분한다.</a:t>
            </a:r>
          </a:p>
        </p:txBody>
      </p:sp>
      <p:sp>
        <p:nvSpPr>
          <p:cNvPr id="73" name="page-15-text-011-00">
            <a:extLst xmlns:a="http://schemas.openxmlformats.org/drawingml/2006/main">
              <a:ext uri="{FF2B5EF4-FFF2-40B4-BE49-F238E27FC236}">
                <a16:creationId xmlns:a16="http://schemas.microsoft.com/office/drawing/2014/main" id="{8E9FE02C-1AFC-488D-8BEF-818EAD21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3883731"/>
            <a:ext cx="574157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8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588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Flutter accessibility Flutter 접근성은 Semantics, 터치 대상, 화면 판독기 흐름을 별도 검</a:t>
            </a:r>
          </a:p>
        </p:txBody>
      </p:sp>
      <p:sp>
        <p:nvSpPr>
          <p:cNvPr id="74" name="page-15-text-012-00">
            <a:extLst xmlns:a="http://schemas.openxmlformats.org/drawingml/2006/main">
              <a:ext uri="{FF2B5EF4-FFF2-40B4-BE49-F238E27FC236}">
                <a16:creationId xmlns:a16="http://schemas.microsoft.com/office/drawing/2014/main" id="{A3D56EBD-D1C7-4000-830C-47900223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4143042"/>
            <a:ext cx="541675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5" b="0" i="0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605" b="0" i="0">
                <a:solidFill>
                  <a:srgbClr val="2E74B5"/>
                </a:solidFill>
                <a:latin typeface="Aptos"/>
                <a:ea typeface="Aptos"/>
                <a:cs typeface="Aptos"/>
              </a:rPr>
              <a:t>testing</a:t>
            </a:r>
          </a:p>
        </p:txBody>
      </p:sp>
      <p:sp>
        <p:nvSpPr>
          <p:cNvPr id="75" name="page-15-text-012-01">
            <a:extLst xmlns:a="http://schemas.openxmlformats.org/drawingml/2006/main">
              <a:ext uri="{FF2B5EF4-FFF2-40B4-BE49-F238E27FC236}">
                <a16:creationId xmlns:a16="http://schemas.microsoft.com/office/drawing/2014/main" id="{A0878664-417D-4C08-AF24-00FA8B5D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79" y="4143042"/>
            <a:ext cx="1381362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증 대상으로 기록한다.</a:t>
            </a:r>
          </a:p>
        </p:txBody>
      </p:sp>
      <p:sp>
        <p:nvSpPr>
          <p:cNvPr id="76" name="page-15-text-013-00">
            <a:extLst xmlns:a="http://schemas.openxmlformats.org/drawingml/2006/main">
              <a:ext uri="{FF2B5EF4-FFF2-40B4-BE49-F238E27FC236}">
                <a16:creationId xmlns:a16="http://schemas.microsoft.com/office/drawing/2014/main" id="{A1757E7F-2B42-4C2F-9B45-8670B1D2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4508373"/>
            <a:ext cx="5748846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23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web.dev — Core Web 성능 수치는 지표 정의, 측정 환경, 통과·미통과를 함께 제시하고 Web</a:t>
            </a:r>
          </a:p>
        </p:txBody>
      </p:sp>
      <p:sp>
        <p:nvSpPr>
          <p:cNvPr id="77" name="page-15-text-014-00">
            <a:extLst xmlns:a="http://schemas.openxmlformats.org/drawingml/2006/main">
              <a:ext uri="{FF2B5EF4-FFF2-40B4-BE49-F238E27FC236}">
                <a16:creationId xmlns:a16="http://schemas.microsoft.com/office/drawing/2014/main" id="{B73F2742-A474-47C7-91D2-8BF91119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4767684"/>
            <a:ext cx="451094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1" b="0" i="0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551" b="0" i="0">
                <a:solidFill>
                  <a:srgbClr val="2E74B5"/>
                </a:solidFill>
                <a:latin typeface="Aptos"/>
                <a:ea typeface="Aptos"/>
                <a:cs typeface="Aptos"/>
              </a:rPr>
              <a:t>Vitals</a:t>
            </a:r>
          </a:p>
        </p:txBody>
      </p:sp>
      <p:sp>
        <p:nvSpPr>
          <p:cNvPr id="78" name="page-15-text-014-01">
            <a:extLst xmlns:a="http://schemas.openxmlformats.org/drawingml/2006/main">
              <a:ext uri="{FF2B5EF4-FFF2-40B4-BE49-F238E27FC236}">
                <a16:creationId xmlns:a16="http://schemas.microsoft.com/office/drawing/2014/main" id="{B0285E30-4397-4BEF-81CB-C0136739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79" y="4767684"/>
            <a:ext cx="2773445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대리 측정을 실기기 성능으로 과장하지 않는다.</a:t>
            </a:r>
          </a:p>
        </p:txBody>
      </p:sp>
      <p:sp>
        <p:nvSpPr>
          <p:cNvPr id="79" name="page-15-text-015-00">
            <a:extLst xmlns:a="http://schemas.openxmlformats.org/drawingml/2006/main">
              <a:ext uri="{FF2B5EF4-FFF2-40B4-BE49-F238E27FC236}">
                <a16:creationId xmlns:a16="http://schemas.microsoft.com/office/drawing/2014/main" id="{B52367BE-5D18-44C0-87AB-EA09D7D5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5133016"/>
            <a:ext cx="5742309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3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03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Creative Commons CC0 레거시 외부 자산의 권리 근거와 생성 자산의 별도 최종 권리 검토 상</a:t>
            </a:r>
          </a:p>
        </p:txBody>
      </p:sp>
      <p:sp>
        <p:nvSpPr>
          <p:cNvPr id="80" name="page-15-text-016-00">
            <a:extLst xmlns:a="http://schemas.openxmlformats.org/drawingml/2006/main">
              <a:ext uri="{FF2B5EF4-FFF2-40B4-BE49-F238E27FC236}">
                <a16:creationId xmlns:a16="http://schemas.microsoft.com/office/drawing/2014/main" id="{234A2E8D-CD96-4E01-9218-B4845481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03" y="5392326"/>
            <a:ext cx="924798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6" b="0" i="0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556" b="0" i="0">
                <a:solidFill>
                  <a:srgbClr val="2E74B5"/>
                </a:solidFill>
                <a:latin typeface="Aptos"/>
                <a:ea typeface="Aptos"/>
                <a:cs typeface="Aptos"/>
              </a:rPr>
              <a:t>1.0 Universal</a:t>
            </a:r>
          </a:p>
        </p:txBody>
      </p:sp>
      <p:sp>
        <p:nvSpPr>
          <p:cNvPr id="81" name="page-15-text-016-01">
            <a:extLst xmlns:a="http://schemas.openxmlformats.org/drawingml/2006/main">
              <a:ext uri="{FF2B5EF4-FFF2-40B4-BE49-F238E27FC236}">
                <a16:creationId xmlns:a16="http://schemas.microsoft.com/office/drawing/2014/main" id="{5F3C7DAA-44B8-4546-BB1C-CBF9D6B2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79" y="5392326"/>
            <a:ext cx="959968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태를 분리한다.</a:t>
            </a:r>
          </a:p>
        </p:txBody>
      </p:sp>
      <p:sp>
        <p:nvSpPr>
          <p:cNvPr id="82" name="page-15-text-017-00">
            <a:extLst xmlns:a="http://schemas.openxmlformats.org/drawingml/2006/main">
              <a:ext uri="{FF2B5EF4-FFF2-40B4-BE49-F238E27FC236}">
                <a16:creationId xmlns:a16="http://schemas.microsoft.com/office/drawing/2014/main" id="{35A197E1-4485-4211-86E8-67D0BD7F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718" y="10018730"/>
            <a:ext cx="1929273" cy="2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8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48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Final Report · Page 15</a:t>
            </a:r>
          </a:p>
        </p:txBody>
      </p:sp>
    </p:spTree>
    <p:extLst>
      <p:ext uri="{BB962C8B-B14F-4D97-AF65-F5344CB8AC3E}">
        <p14:creationId xmlns:p14="http://schemas.microsoft.com/office/powerpoint/2010/main" val="616535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2026-08-17T06:42:16.4680000Z</dcterms:created>
  <dcterms:modified xsi:type="dcterms:W3CDTF">2026-08-17T06:42:16.4680000Z</dcterms:modified>
</coreProperties>
</file>