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d9146dc01a409c" /><Relationship Type="http://schemas.openxmlformats.org/officeDocument/2006/relationships/extended-properties" Target="/docProps/app.xml" Id="Ra33c026623434f2c" /><Relationship Type="http://schemas.openxmlformats.org/officeDocument/2006/relationships/officeDocument" Target="/ppt/presentation.xml" Id="Rede5e5bdffda44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de6f35ac004ca4"/>
  </p:sldMasterIdLst>
  <p:notesMasterIdLst>
    <p:notesMasterId xmlns:r="http://schemas.openxmlformats.org/officeDocument/2006/relationships" r:id="Rebf03b4d8bd74de9"/>
  </p:notesMasterIdLst>
  <p:sldIdLst>
    <p:sldId xmlns:r="http://schemas.openxmlformats.org/officeDocument/2006/relationships" id="256" r:id="Rf7566303a2e84cd1"/>
    <p:sldId xmlns:r="http://schemas.openxmlformats.org/officeDocument/2006/relationships" id="257" r:id="Rcad0ddde71d04b81"/>
    <p:sldId xmlns:r="http://schemas.openxmlformats.org/officeDocument/2006/relationships" id="258" r:id="Rdc56f490a3e54464"/>
    <p:sldId xmlns:r="http://schemas.openxmlformats.org/officeDocument/2006/relationships" id="259" r:id="R631f82baf6834125"/>
    <p:sldId xmlns:r="http://schemas.openxmlformats.org/officeDocument/2006/relationships" id="260" r:id="R14ca6c5be58f45c2"/>
    <p:sldId xmlns:r="http://schemas.openxmlformats.org/officeDocument/2006/relationships" id="261" r:id="Rc8bd972b61914dcd"/>
    <p:sldId xmlns:r="http://schemas.openxmlformats.org/officeDocument/2006/relationships" id="262" r:id="R64adf4b346124a6e"/>
    <p:sldId xmlns:r="http://schemas.openxmlformats.org/officeDocument/2006/relationships" id="263" r:id="R5428aa7be4e54d32"/>
    <p:sldId xmlns:r="http://schemas.openxmlformats.org/officeDocument/2006/relationships" id="264" r:id="R2b3312d5f1804999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f5bc5cf4cd41b3" /><Relationship Type="http://schemas.openxmlformats.org/officeDocument/2006/relationships/slideMaster" Target="/ppt/slideMasters/slideMaster1.xml" Id="Re1de6f35ac004ca4" /><Relationship Type="http://schemas.openxmlformats.org/officeDocument/2006/relationships/notesMaster" Target="/ppt/notesMasters/notesMaster1.xml" Id="Rebf03b4d8bd74de9" /><Relationship Type="http://schemas.openxmlformats.org/officeDocument/2006/relationships/presProps" Target="/ppt/presProps.xml" Id="R37565d0e29ed4e5f" /><Relationship Type="http://schemas.openxmlformats.org/officeDocument/2006/relationships/tableStyles" Target="/ppt/tableStyles.xml" Id="R80dc32e600bb484e" /><Relationship Type="http://schemas.openxmlformats.org/officeDocument/2006/relationships/slide" Target="/ppt/slides/slide1.xml" Id="Rf7566303a2e84cd1" /><Relationship Type="http://schemas.openxmlformats.org/officeDocument/2006/relationships/slide" Target="/ppt/slides/slide2.xml" Id="Rcad0ddde71d04b81" /><Relationship Type="http://schemas.openxmlformats.org/officeDocument/2006/relationships/slide" Target="/ppt/slides/slide3.xml" Id="Rdc56f490a3e54464" /><Relationship Type="http://schemas.openxmlformats.org/officeDocument/2006/relationships/slide" Target="/ppt/slides/slide4.xml" Id="R631f82baf6834125" /><Relationship Type="http://schemas.openxmlformats.org/officeDocument/2006/relationships/slide" Target="/ppt/slides/slide5.xml" Id="R14ca6c5be58f45c2" /><Relationship Type="http://schemas.openxmlformats.org/officeDocument/2006/relationships/slide" Target="/ppt/slides/slide6.xml" Id="Rc8bd972b61914dcd" /><Relationship Type="http://schemas.openxmlformats.org/officeDocument/2006/relationships/slide" Target="/ppt/slides/slide7.xml" Id="R64adf4b346124a6e" /><Relationship Type="http://schemas.openxmlformats.org/officeDocument/2006/relationships/slide" Target="/ppt/slides/slide8.xml" Id="R5428aa7be4e54d32" /><Relationship Type="http://schemas.openxmlformats.org/officeDocument/2006/relationships/slide" Target="/ppt/slides/slide9.xml" Id="R2b3312d5f18049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ed7aea40e84f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1b1f4599f54dbb" /><Relationship Type="http://schemas.openxmlformats.org/officeDocument/2006/relationships/notesMaster" Target="/ppt/notesMasters/notesMaster1.xml" Id="R28a6b49aa70d42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c2447ed52f4bd1" /><Relationship Type="http://schemas.openxmlformats.org/officeDocument/2006/relationships/notesMaster" Target="/ppt/notesMasters/notesMaster1.xml" Id="R37583955fef84f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8f925bffd9419f" /><Relationship Type="http://schemas.openxmlformats.org/officeDocument/2006/relationships/notesMaster" Target="/ppt/notesMasters/notesMaster1.xml" Id="Rd7d16006ef7f49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696c0f25a243a9" /><Relationship Type="http://schemas.openxmlformats.org/officeDocument/2006/relationships/notesMaster" Target="/ppt/notesMasters/notesMaster1.xml" Id="Re6756b44f3904c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a35f3514824743" /><Relationship Type="http://schemas.openxmlformats.org/officeDocument/2006/relationships/notesMaster" Target="/ppt/notesMasters/notesMaster1.xml" Id="R93bc7fff509b42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cc4429e474424c" /><Relationship Type="http://schemas.openxmlformats.org/officeDocument/2006/relationships/notesMaster" Target="/ppt/notesMasters/notesMaster1.xml" Id="Rda86a115b6b347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6a9e4654e54a86" /><Relationship Type="http://schemas.openxmlformats.org/officeDocument/2006/relationships/notesMaster" Target="/ppt/notesMasters/notesMaster1.xml" Id="Re38450f1b6bf4f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84cb5124ac4b20" /><Relationship Type="http://schemas.openxmlformats.org/officeDocument/2006/relationships/notesMaster" Target="/ppt/notesMasters/notesMaster1.xml" Id="R368d0e77403a413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47148f67474e65" /><Relationship Type="http://schemas.openxmlformats.org/officeDocument/2006/relationships/notesMaster" Target="/ppt/notesMasters/notesMaster1.xml" Id="R08fd5fceef7f41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/Users/bellhundred/git-repo/nhn_hackerton/report/dist/property_shot_ai_technical_report.pdf (page 1)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/Users/bellhundred/git-repo/nhn_hackerton/report/dist/property_shot_ai_technical_report.pdf (page 2)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/Users/bellhundred/git-repo/nhn_hackerton/report/dist/property_shot_ai_technical_report.pdf (page 3)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/Users/bellhundred/git-repo/nhn_hackerton/report/dist/property_shot_ai_technical_report.pdf (page 4)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/Users/bellhundred/git-repo/nhn_hackerton/report/dist/property_shot_ai_technical_report.pdf (page 5)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/Users/bellhundred/git-repo/nhn_hackerton/report/dist/property_shot_ai_technical_report.pdf (page 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/Users/bellhundred/git-repo/nhn_hackerton/report/dist/property_shot_ai_technical_report.pdf (page 7)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/Users/bellhundred/git-repo/nhn_hackerton/report/dist/property_shot_ai_technical_report.pdf (page 8)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/Users/bellhundred/git-repo/nhn_hackerton/report/dist/property_shot_ai_technical_report.pdf (page 9)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15e88f140d47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5adb236e0e4fa0" /><Relationship Type="http://schemas.openxmlformats.org/officeDocument/2006/relationships/slideLayout" Target="/ppt/slideLayouts/slideLayout1.xml" Id="Ref2b7237c84d4a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2b7237c84d4a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428ec231174dcf" /><Relationship Type="http://schemas.openxmlformats.org/officeDocument/2006/relationships/image" Target="/ppt/media/image.png" Id="R986a7e49895e4d8f" /><Relationship Type="http://schemas.openxmlformats.org/officeDocument/2006/relationships/notesSlide" Target="/ppt/notesSlides/notesSlide1.xml" Id="R5ba41aa90c4548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e4d7bc4764cad" /><Relationship Type="http://schemas.openxmlformats.org/officeDocument/2006/relationships/notesSlide" Target="/ppt/notesSlides/notesSlide2.xml" Id="R555fe3a2bdb74d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7c78db568a476d" /><Relationship Type="http://schemas.openxmlformats.org/officeDocument/2006/relationships/notesSlide" Target="/ppt/notesSlides/notesSlide3.xml" Id="R8c26c77f2d6d4d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28fc0147084b99" /><Relationship Type="http://schemas.openxmlformats.org/officeDocument/2006/relationships/notesSlide" Target="/ppt/notesSlides/notesSlide4.xml" Id="R67d0a35e4f914e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cb0e6cec324ce6" /><Relationship Type="http://schemas.openxmlformats.org/officeDocument/2006/relationships/image" Target="/ppt/media/image2.png" Id="R564c31ffa1ce4d44" /><Relationship Type="http://schemas.openxmlformats.org/officeDocument/2006/relationships/notesSlide" Target="/ppt/notesSlides/notesSlide5.xml" Id="Rf774dd155c634b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8e5681940d4bfa" /><Relationship Type="http://schemas.openxmlformats.org/officeDocument/2006/relationships/image" Target="/ppt/media/image3.png" Id="Ra23a17ea413d4b17" /><Relationship Type="http://schemas.openxmlformats.org/officeDocument/2006/relationships/notesSlide" Target="/ppt/notesSlides/notesSlide6.xml" Id="R4a68732b6c1b40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71b74158b844f8" /><Relationship Type="http://schemas.openxmlformats.org/officeDocument/2006/relationships/notesSlide" Target="/ppt/notesSlides/notesSlide7.xml" Id="R718d17b6583a49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e0bd09891a48b8" /><Relationship Type="http://schemas.openxmlformats.org/officeDocument/2006/relationships/notesSlide" Target="/ppt/notesSlides/notesSlide8.xml" Id="R0f7bb54d34c14c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fdd491be374bc4" /><Relationship Type="http://schemas.openxmlformats.org/officeDocument/2006/relationships/image" Target="/ppt/media/image4.png" Id="R50270b92eaab4d46" /><Relationship Type="http://schemas.openxmlformats.org/officeDocument/2006/relationships/notesSlide" Target="/ppt/notesSlides/notesSlide9.xml" Id="Rf494c1817cbd464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6a7e49895e4d8f"/>
          <a:srcRect xmlns:a="http://schemas.openxmlformats.org/drawingml/2006/main" l="22" t="0" r="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03904" y="3510692"/>
            <a:ext cx="1554992" cy="3365338"/>
          </a:xfrm>
          <a:prstGeom xmlns:a="http://schemas.openxmlformats.org/drawingml/2006/main" prst="rect">
            <a:avLst/>
          </a:prstGeom>
        </p:spPr>
      </p:pic>
      <p:sp>
        <p:nvSpPr>
          <p:cNvPr id="2" name="page-01-text-000-00">
            <a:extLst xmlns:a="http://schemas.openxmlformats.org/drawingml/2006/main">
              <a:ext uri="{FF2B5EF4-FFF2-40B4-BE49-F238E27FC236}">
                <a16:creationId xmlns:a16="http://schemas.microsoft.com/office/drawing/2014/main" id="{75DCE666-8B8E-4E9F-8274-CF0B1F76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0005" y="2482162"/>
            <a:ext cx="1360860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4" b="1" i="0">
                <a:solidFill>
                  <a:srgbClr val="7A5A00"/>
                </a:solidFill>
                <a:latin typeface="Aptos"/>
                <a:ea typeface="Aptos"/>
                <a:cs typeface="Aptos"/>
              </a:defRPr>
            </a:pPr>
            <a:r>
              <a:rPr sz="574" b="1" i="0">
                <a:solidFill>
                  <a:srgbClr val="7A5A00"/>
                </a:solidFill>
                <a:latin typeface="Aptos"/>
                <a:ea typeface="Aptos"/>
                <a:cs typeface="Aptos"/>
              </a:rPr>
              <a:t>AI Technical Report</a:t>
            </a:r>
          </a:p>
        </p:txBody>
      </p:sp>
      <p:sp>
        <p:nvSpPr>
          <p:cNvPr id="3" name="page-01-text-001-00">
            <a:extLst xmlns:a="http://schemas.openxmlformats.org/drawingml/2006/main">
              <a:ext uri="{FF2B5EF4-FFF2-40B4-BE49-F238E27FC236}">
                <a16:creationId xmlns:a16="http://schemas.microsoft.com/office/drawing/2014/main" id="{AF6A9143-B057-427A-9160-3CB44574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427" y="2956422"/>
            <a:ext cx="4325864" cy="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48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1548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속성 한방(Property Shot)</a:t>
            </a:r>
          </a:p>
        </p:txBody>
      </p:sp>
      <p:sp>
        <p:nvSpPr>
          <p:cNvPr id="4" name="page-01-text-002-00">
            <a:extLst xmlns:a="http://schemas.openxmlformats.org/drawingml/2006/main">
              <a:ext uri="{FF2B5EF4-FFF2-40B4-BE49-F238E27FC236}">
                <a16:creationId xmlns:a16="http://schemas.microsoft.com/office/drawing/2014/main" id="{FFBC3376-C3F2-4F7D-856E-6217C3AC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016" y="7146503"/>
            <a:ext cx="1173156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8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568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2026-08-10 KST</a:t>
            </a:r>
          </a:p>
        </p:txBody>
      </p:sp>
      <p:sp>
        <p:nvSpPr>
          <p:cNvPr id="5" name="page-01-text-003-00">
            <a:extLst xmlns:a="http://schemas.openxmlformats.org/drawingml/2006/main">
              <a:ext uri="{FF2B5EF4-FFF2-40B4-BE49-F238E27FC236}">
                <a16:creationId xmlns:a16="http://schemas.microsoft.com/office/drawing/2014/main" id="{828BD265-9555-4473-9090-D3BB599A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165" y="7416098"/>
            <a:ext cx="2336262" cy="184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0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defRPr>
            </a:pPr>
            <a:r>
              <a:rPr sz="560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rPr>
              <a:t>NAN 2026 Game × AI 해커톤 사전 과제</a:t>
            </a:r>
          </a:p>
        </p:txBody>
      </p:sp>
    </p:spTree>
    <p:extLst>
      <p:ext uri="{BB962C8B-B14F-4D97-AF65-F5344CB8AC3E}">
        <p14:creationId xmlns:p14="http://schemas.microsoft.com/office/powerpoint/2010/main" val="729538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page-02-rect-000">
            <a:extLst xmlns:a="http://schemas.openxmlformats.org/drawingml/2006/main">
              <a:ext uri="{FF2B5EF4-FFF2-40B4-BE49-F238E27FC236}">
                <a16:creationId xmlns:a16="http://schemas.microsoft.com/office/drawing/2014/main" id="{1BCC602D-EF07-4FB3-BE81-2B785219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31" y="3475130"/>
            <a:ext cx="1911344" cy="3525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ge-02-rect-001">
            <a:extLst xmlns:a="http://schemas.openxmlformats.org/drawingml/2006/main">
              <a:ext uri="{FF2B5EF4-FFF2-40B4-BE49-F238E27FC236}">
                <a16:creationId xmlns:a16="http://schemas.microsoft.com/office/drawing/2014/main" id="{476E7BAC-48E9-411B-8916-142C148F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5410" y="3475130"/>
            <a:ext cx="1911344" cy="3525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02-rect-002">
            <a:extLst xmlns:a="http://schemas.openxmlformats.org/drawingml/2006/main">
              <a:ext uri="{FF2B5EF4-FFF2-40B4-BE49-F238E27FC236}">
                <a16:creationId xmlns:a16="http://schemas.microsoft.com/office/drawing/2014/main" id="{06666CE4-9C53-4B80-8F5F-C166B61F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7390" y="3475130"/>
            <a:ext cx="1911344" cy="3525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2-rect-003">
            <a:extLst xmlns:a="http://schemas.openxmlformats.org/drawingml/2006/main">
              <a:ext uri="{FF2B5EF4-FFF2-40B4-BE49-F238E27FC236}">
                <a16:creationId xmlns:a16="http://schemas.microsoft.com/office/drawing/2014/main" id="{DC007781-E0EC-40D1-B9DB-AD2A4D9B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31" y="3828307"/>
            <a:ext cx="1911344" cy="5367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02-rect-004">
            <a:extLst xmlns:a="http://schemas.openxmlformats.org/drawingml/2006/main">
              <a:ext uri="{FF2B5EF4-FFF2-40B4-BE49-F238E27FC236}">
                <a16:creationId xmlns:a16="http://schemas.microsoft.com/office/drawing/2014/main" id="{321B893F-3CA1-4257-8ABA-C69FD037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5410" y="3828307"/>
            <a:ext cx="1911344" cy="5367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02-rect-005">
            <a:extLst xmlns:a="http://schemas.openxmlformats.org/drawingml/2006/main">
              <a:ext uri="{FF2B5EF4-FFF2-40B4-BE49-F238E27FC236}">
                <a16:creationId xmlns:a16="http://schemas.microsoft.com/office/drawing/2014/main" id="{21084A61-F30D-4BF3-B8DF-44FFBB25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7390" y="3828307"/>
            <a:ext cx="1911344" cy="5367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ge-02-rect-006">
            <a:extLst xmlns:a="http://schemas.openxmlformats.org/drawingml/2006/main">
              <a:ext uri="{FF2B5EF4-FFF2-40B4-BE49-F238E27FC236}">
                <a16:creationId xmlns:a16="http://schemas.microsoft.com/office/drawing/2014/main" id="{2C3FF966-881C-4F61-95E8-F80D2FEF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5511611"/>
            <a:ext cx="761616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ge-02-rect-007">
            <a:extLst xmlns:a="http://schemas.openxmlformats.org/drawingml/2006/main">
              <a:ext uri="{FF2B5EF4-FFF2-40B4-BE49-F238E27FC236}">
                <a16:creationId xmlns:a16="http://schemas.microsoft.com/office/drawing/2014/main" id="{090A35A9-799C-4B83-89A1-F82F82BE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952" y="5511611"/>
            <a:ext cx="1561979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ge-02-rect-008">
            <a:extLst xmlns:a="http://schemas.openxmlformats.org/drawingml/2006/main">
              <a:ext uri="{FF2B5EF4-FFF2-40B4-BE49-F238E27FC236}">
                <a16:creationId xmlns:a16="http://schemas.microsoft.com/office/drawing/2014/main" id="{D8F1A7DC-6C16-4E6E-B7E5-A3443F1C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9567" y="5511611"/>
            <a:ext cx="1816063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ge-02-rect-009">
            <a:extLst xmlns:a="http://schemas.openxmlformats.org/drawingml/2006/main">
              <a:ext uri="{FF2B5EF4-FFF2-40B4-BE49-F238E27FC236}">
                <a16:creationId xmlns:a16="http://schemas.microsoft.com/office/drawing/2014/main" id="{5012D7A0-BFC1-4C49-83FE-DE4D00FC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265" y="5511611"/>
            <a:ext cx="1803359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ge-02-rect-010">
            <a:extLst xmlns:a="http://schemas.openxmlformats.org/drawingml/2006/main">
              <a:ext uri="{FF2B5EF4-FFF2-40B4-BE49-F238E27FC236}">
                <a16:creationId xmlns:a16="http://schemas.microsoft.com/office/drawing/2014/main" id="{072E8C15-3594-4715-8D82-6B6F43C0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31" y="3475130"/>
            <a:ext cx="1911344" cy="3525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ge-02-rect-011">
            <a:extLst xmlns:a="http://schemas.openxmlformats.org/drawingml/2006/main">
              <a:ext uri="{FF2B5EF4-FFF2-40B4-BE49-F238E27FC236}">
                <a16:creationId xmlns:a16="http://schemas.microsoft.com/office/drawing/2014/main" id="{D74B559D-F4E1-4755-949E-BEAC65F0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5410" y="3475130"/>
            <a:ext cx="1911344" cy="3525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ge-02-rect-012">
            <a:extLst xmlns:a="http://schemas.openxmlformats.org/drawingml/2006/main">
              <a:ext uri="{FF2B5EF4-FFF2-40B4-BE49-F238E27FC236}">
                <a16:creationId xmlns:a16="http://schemas.microsoft.com/office/drawing/2014/main" id="{46F97DE7-D279-4C7B-8CF0-197E6668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7390" y="3475130"/>
            <a:ext cx="1911344" cy="3525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ge-02-rect-013">
            <a:extLst xmlns:a="http://schemas.openxmlformats.org/drawingml/2006/main">
              <a:ext uri="{FF2B5EF4-FFF2-40B4-BE49-F238E27FC236}">
                <a16:creationId xmlns:a16="http://schemas.microsoft.com/office/drawing/2014/main" id="{B3EE1F22-88E0-4680-A538-776A929D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31" y="3828307"/>
            <a:ext cx="1911344" cy="5367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ge-02-rect-014">
            <a:extLst xmlns:a="http://schemas.openxmlformats.org/drawingml/2006/main">
              <a:ext uri="{FF2B5EF4-FFF2-40B4-BE49-F238E27FC236}">
                <a16:creationId xmlns:a16="http://schemas.microsoft.com/office/drawing/2014/main" id="{11F3FC91-7A5A-4B2D-8792-AFF7A719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5410" y="3828307"/>
            <a:ext cx="1911344" cy="5367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ge-02-rect-015">
            <a:extLst xmlns:a="http://schemas.openxmlformats.org/drawingml/2006/main">
              <a:ext uri="{FF2B5EF4-FFF2-40B4-BE49-F238E27FC236}">
                <a16:creationId xmlns:a16="http://schemas.microsoft.com/office/drawing/2014/main" id="{C0DCAE59-9700-4C80-ADA6-5D392C30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7390" y="3828307"/>
            <a:ext cx="1911344" cy="5367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ge-02-rect-016">
            <a:extLst xmlns:a="http://schemas.openxmlformats.org/drawingml/2006/main">
              <a:ext uri="{FF2B5EF4-FFF2-40B4-BE49-F238E27FC236}">
                <a16:creationId xmlns:a16="http://schemas.microsoft.com/office/drawing/2014/main" id="{CA2D3DD5-4A91-4158-B775-666D5CB4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5511611"/>
            <a:ext cx="761616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age-02-rect-017">
            <a:extLst xmlns:a="http://schemas.openxmlformats.org/drawingml/2006/main">
              <a:ext uri="{FF2B5EF4-FFF2-40B4-BE49-F238E27FC236}">
                <a16:creationId xmlns:a16="http://schemas.microsoft.com/office/drawing/2014/main" id="{60435642-2641-40BE-A760-8FF2FB39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952" y="5511611"/>
            <a:ext cx="1561979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ge-02-rect-018">
            <a:extLst xmlns:a="http://schemas.openxmlformats.org/drawingml/2006/main">
              <a:ext uri="{FF2B5EF4-FFF2-40B4-BE49-F238E27FC236}">
                <a16:creationId xmlns:a16="http://schemas.microsoft.com/office/drawing/2014/main" id="{343CE29D-091A-491D-BC6C-EA53D495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9567" y="5511611"/>
            <a:ext cx="1816063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02-rect-019">
            <a:extLst xmlns:a="http://schemas.openxmlformats.org/drawingml/2006/main">
              <a:ext uri="{FF2B5EF4-FFF2-40B4-BE49-F238E27FC236}">
                <a16:creationId xmlns:a16="http://schemas.microsoft.com/office/drawing/2014/main" id="{6BC6B64C-AF96-45C7-96D5-DB5CB7DF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265" y="5511611"/>
            <a:ext cx="1803359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ge-02-line-000">
            <a:extLst xmlns:a="http://schemas.openxmlformats.org/drawingml/2006/main">
              <a:ext uri="{FF2B5EF4-FFF2-40B4-BE49-F238E27FC236}">
                <a16:creationId xmlns:a16="http://schemas.microsoft.com/office/drawing/2014/main" id="{7624575F-F0EA-4951-91B7-EB4C8A83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5" y="5514787"/>
            <a:ext cx="595191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2" name="page-02-line-001">
            <a:extLst xmlns:a="http://schemas.openxmlformats.org/drawingml/2006/main">
              <a:ext uri="{FF2B5EF4-FFF2-40B4-BE49-F238E27FC236}">
                <a16:creationId xmlns:a16="http://schemas.microsoft.com/office/drawing/2014/main" id="{79F97789-DAFB-478E-95F7-11550935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5822228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3" name="page-02-line-002">
            <a:extLst xmlns:a="http://schemas.openxmlformats.org/drawingml/2006/main">
              <a:ext uri="{FF2B5EF4-FFF2-40B4-BE49-F238E27FC236}">
                <a16:creationId xmlns:a16="http://schemas.microsoft.com/office/drawing/2014/main" id="{72EDAAD1-3ACB-4F2A-B084-DC99F4DD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6409161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4" name="page-02-line-003">
            <a:extLst xmlns:a="http://schemas.openxmlformats.org/drawingml/2006/main">
              <a:ext uri="{FF2B5EF4-FFF2-40B4-BE49-F238E27FC236}">
                <a16:creationId xmlns:a16="http://schemas.microsoft.com/office/drawing/2014/main" id="{77BA2F63-085C-4428-8D7C-D88D2FF1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6997365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5" name="page-02-line-004">
            <a:extLst xmlns:a="http://schemas.openxmlformats.org/drawingml/2006/main">
              <a:ext uri="{FF2B5EF4-FFF2-40B4-BE49-F238E27FC236}">
                <a16:creationId xmlns:a16="http://schemas.microsoft.com/office/drawing/2014/main" id="{08622085-7CC6-4B53-8258-35B52402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7584298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6" name="page-02-line-005">
            <a:extLst xmlns:a="http://schemas.openxmlformats.org/drawingml/2006/main">
              <a:ext uri="{FF2B5EF4-FFF2-40B4-BE49-F238E27FC236}">
                <a16:creationId xmlns:a16="http://schemas.microsoft.com/office/drawing/2014/main" id="{44490FBB-FC63-4E38-8095-4FF2C8CF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8172502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7" name="page-02-line-006">
            <a:extLst xmlns:a="http://schemas.openxmlformats.org/drawingml/2006/main">
              <a:ext uri="{FF2B5EF4-FFF2-40B4-BE49-F238E27FC236}">
                <a16:creationId xmlns:a16="http://schemas.microsoft.com/office/drawing/2014/main" id="{C913D89C-4132-4A16-B095-E7F66F5B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8759435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8" name="page-02-line-007">
            <a:extLst xmlns:a="http://schemas.openxmlformats.org/drawingml/2006/main">
              <a:ext uri="{FF2B5EF4-FFF2-40B4-BE49-F238E27FC236}">
                <a16:creationId xmlns:a16="http://schemas.microsoft.com/office/drawing/2014/main" id="{AF04E676-28AA-4E83-B362-72084F7C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5" y="9347639"/>
            <a:ext cx="595191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9" name="page-02-line-008">
            <a:extLst xmlns:a="http://schemas.openxmlformats.org/drawingml/2006/main">
              <a:ext uri="{FF2B5EF4-FFF2-40B4-BE49-F238E27FC236}">
                <a16:creationId xmlns:a16="http://schemas.microsoft.com/office/drawing/2014/main" id="{5B32D4C7-34B8-4049-AA2F-17ACBFB6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5511611"/>
            <a:ext cx="9525" cy="38392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30" name="page-02-line-009">
            <a:extLst xmlns:a="http://schemas.openxmlformats.org/drawingml/2006/main">
              <a:ext uri="{FF2B5EF4-FFF2-40B4-BE49-F238E27FC236}">
                <a16:creationId xmlns:a16="http://schemas.microsoft.com/office/drawing/2014/main" id="{9CC7A0CB-2257-4A88-A665-22A2B3CE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952" y="5517963"/>
            <a:ext cx="9525" cy="382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31" name="page-02-line-010">
            <a:extLst xmlns:a="http://schemas.openxmlformats.org/drawingml/2006/main">
              <a:ext uri="{FF2B5EF4-FFF2-40B4-BE49-F238E27FC236}">
                <a16:creationId xmlns:a16="http://schemas.microsoft.com/office/drawing/2014/main" id="{CB8C4A2B-5AE7-413B-8663-FBC89241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9567" y="5517963"/>
            <a:ext cx="9525" cy="382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32" name="page-02-line-011">
            <a:extLst xmlns:a="http://schemas.openxmlformats.org/drawingml/2006/main">
              <a:ext uri="{FF2B5EF4-FFF2-40B4-BE49-F238E27FC236}">
                <a16:creationId xmlns:a16="http://schemas.microsoft.com/office/drawing/2014/main" id="{B3E5655D-7B39-41F1-BBC9-CB283E7E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265" y="5517963"/>
            <a:ext cx="9525" cy="382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33" name="page-02-line-012">
            <a:extLst xmlns:a="http://schemas.openxmlformats.org/drawingml/2006/main">
              <a:ext uri="{FF2B5EF4-FFF2-40B4-BE49-F238E27FC236}">
                <a16:creationId xmlns:a16="http://schemas.microsoft.com/office/drawing/2014/main" id="{8F941F36-9867-4CE6-9B27-104A0F7C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0259" y="5511611"/>
            <a:ext cx="9525" cy="38392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34" name="page-02-line-013">
            <a:extLst xmlns:a="http://schemas.openxmlformats.org/drawingml/2006/main">
              <a:ext uri="{FF2B5EF4-FFF2-40B4-BE49-F238E27FC236}">
                <a16:creationId xmlns:a16="http://schemas.microsoft.com/office/drawing/2014/main" id="{973D5F47-3FB6-4840-814C-4CD68AA8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78940"/>
            <a:ext cx="573276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8">
            <a:solidFill>
              <a:srgbClr val="D7DBE2"/>
            </a:solidFill>
            <a:prstDash val="solid"/>
          </a:ln>
        </p:spPr>
      </p:sp>
      <p:sp>
        <p:nvSpPr>
          <p:cNvPr id="35" name="page-02-line-014">
            <a:extLst xmlns:a="http://schemas.openxmlformats.org/drawingml/2006/main">
              <a:ext uri="{FF2B5EF4-FFF2-40B4-BE49-F238E27FC236}">
                <a16:creationId xmlns:a16="http://schemas.microsoft.com/office/drawing/2014/main" id="{59952D0A-9231-4B4E-9181-03661E34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78940"/>
            <a:ext cx="573276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8">
            <a:solidFill>
              <a:srgbClr val="D7DBE2"/>
            </a:solidFill>
            <a:prstDash val="solid"/>
          </a:ln>
        </p:spPr>
      </p:sp>
      <p:sp>
        <p:nvSpPr>
          <p:cNvPr id="36" name="page-02-text-000-00">
            <a:extLst xmlns:a="http://schemas.openxmlformats.org/drawingml/2006/main">
              <a:ext uri="{FF2B5EF4-FFF2-40B4-BE49-F238E27FC236}">
                <a16:creationId xmlns:a16="http://schemas.microsoft.com/office/drawing/2014/main" id="{A8ED093D-016A-4882-8F1C-B92B14C8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6631" y="468104"/>
            <a:ext cx="1948377" cy="171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4" b="0" i="0">
                <a:solidFill>
                  <a:srgbClr val="586270"/>
                </a:solidFill>
                <a:latin typeface="Aptos"/>
                <a:ea typeface="Aptos"/>
                <a:cs typeface="Aptos"/>
              </a:defRPr>
            </a:pPr>
            <a:r>
              <a:rPr sz="464" b="0" i="0">
                <a:solidFill>
                  <a:srgbClr val="586270"/>
                </a:solidFill>
                <a:latin typeface="Aptos"/>
                <a:ea typeface="Aptos"/>
                <a:cs typeface="Aptos"/>
              </a:rPr>
              <a:t>Property Shot · AI Technical Report</a:t>
            </a:r>
          </a:p>
        </p:txBody>
      </p:sp>
      <p:sp>
        <p:nvSpPr>
          <p:cNvPr id="37" name="page-02-text-001-00">
            <a:extLst xmlns:a="http://schemas.openxmlformats.org/drawingml/2006/main">
              <a:ext uri="{FF2B5EF4-FFF2-40B4-BE49-F238E27FC236}">
                <a16:creationId xmlns:a16="http://schemas.microsoft.com/office/drawing/2014/main" id="{CE882FA1-4DD2-4B95-B0D6-0EBFBB1A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954573"/>
            <a:ext cx="5490939" cy="260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9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799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1. AI를 ‘작업자’가 아니라 ‘검증 가능한 제작 조직’으로 사용했다</a:t>
            </a:r>
          </a:p>
        </p:txBody>
      </p:sp>
      <p:sp>
        <p:nvSpPr>
          <p:cNvPr id="38" name="page-02-text-002-00">
            <a:extLst xmlns:a="http://schemas.openxmlformats.org/drawingml/2006/main">
              <a:ext uri="{FF2B5EF4-FFF2-40B4-BE49-F238E27FC236}">
                <a16:creationId xmlns:a16="http://schemas.microsoft.com/office/drawing/2014/main" id="{08CDDAF4-6997-49DB-A05F-C6322B6C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1379782"/>
            <a:ext cx="549176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처음부터 AI에게 게임 전체를 맡기지는 않았다. 재미의 방향과 난이도 정책은 사람이 정하고,</a:t>
            </a:r>
          </a:p>
        </p:txBody>
      </p:sp>
      <p:sp>
        <p:nvSpPr>
          <p:cNvPr id="39" name="page-02-text-003-00">
            <a:extLst xmlns:a="http://schemas.openxmlformats.org/drawingml/2006/main">
              <a:ext uri="{FF2B5EF4-FFF2-40B4-BE49-F238E27FC236}">
                <a16:creationId xmlns:a16="http://schemas.microsoft.com/office/drawing/2014/main" id="{FFC70102-D31D-4E07-92F8-B3B2028B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1612904"/>
            <a:ext cx="5392951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저장소 조사·구현·테스트·감사는 서로 다른 역할로 나눴다. 한 에이전트가 만든 결과를 다른</a:t>
            </a:r>
          </a:p>
        </p:txBody>
      </p:sp>
      <p:sp>
        <p:nvSpPr>
          <p:cNvPr id="40" name="page-02-text-004-00">
            <a:extLst xmlns:a="http://schemas.openxmlformats.org/drawingml/2006/main">
              <a:ext uri="{FF2B5EF4-FFF2-40B4-BE49-F238E27FC236}">
                <a16:creationId xmlns:a16="http://schemas.microsoft.com/office/drawing/2014/main" id="{6D82F855-B637-47FE-BD96-3C14BAB9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1846025"/>
            <a:ext cx="5575168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에이전트가 다시 확인하게 한 이유는 단순했다. 물리 퍼즐에서는 작은 수치 하나가 리플레이와</a:t>
            </a:r>
          </a:p>
        </p:txBody>
      </p:sp>
      <p:sp>
        <p:nvSpPr>
          <p:cNvPr id="41" name="page-02-text-005-00">
            <a:extLst xmlns:a="http://schemas.openxmlformats.org/drawingml/2006/main">
              <a:ext uri="{FF2B5EF4-FFF2-40B4-BE49-F238E27FC236}">
                <a16:creationId xmlns:a16="http://schemas.microsoft.com/office/drawing/2014/main" id="{0AFEFFAA-C6BB-4E82-BD91-A0C4A2F6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2079147"/>
            <a:ext cx="2020347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9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기록까지 흔들 수 있기 때문이다.</a:t>
            </a:r>
          </a:p>
        </p:txBody>
      </p:sp>
      <p:sp>
        <p:nvSpPr>
          <p:cNvPr id="42" name="page-02-text-006-00">
            <a:extLst xmlns:a="http://schemas.openxmlformats.org/drawingml/2006/main">
              <a:ext uri="{FF2B5EF4-FFF2-40B4-BE49-F238E27FC236}">
                <a16:creationId xmlns:a16="http://schemas.microsoft.com/office/drawing/2014/main" id="{081B0EFB-3977-4947-AA1B-A19617CA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2388494"/>
            <a:ext cx="573836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프롬프트에는 원하는 결과만 쓰지 않았다. 바꾸지 말아야 할 규칙, 확인해야 할 화면, 통과해야 할</a:t>
            </a:r>
          </a:p>
        </p:txBody>
      </p:sp>
      <p:sp>
        <p:nvSpPr>
          <p:cNvPr id="43" name="page-02-text-007-00">
            <a:extLst xmlns:a="http://schemas.openxmlformats.org/drawingml/2006/main">
              <a:ext uri="{FF2B5EF4-FFF2-40B4-BE49-F238E27FC236}">
                <a16:creationId xmlns:a16="http://schemas.microsoft.com/office/drawing/2014/main" id="{C97B920C-6410-4CAD-9596-CEDA039B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2621616"/>
            <a:ext cx="5268806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테스트를 함께 적었다. 덕분에 AI가 낸 제안을 그대로 받기보다 비교하고 고칠 수 있었다.</a:t>
            </a:r>
          </a:p>
        </p:txBody>
      </p:sp>
      <p:sp>
        <p:nvSpPr>
          <p:cNvPr id="44" name="page-02-text-008-00">
            <a:extLst xmlns:a="http://schemas.openxmlformats.org/drawingml/2006/main">
              <a:ext uri="{FF2B5EF4-FFF2-40B4-BE49-F238E27FC236}">
                <a16:creationId xmlns:a16="http://schemas.microsoft.com/office/drawing/2014/main" id="{7CC916ED-1A75-4AE5-9032-F59BF044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3073631"/>
            <a:ext cx="3312934" cy="260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9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799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2. 사람의 결정, AI 실행, 독립 AI 감사</a:t>
            </a:r>
          </a:p>
        </p:txBody>
      </p:sp>
      <p:sp>
        <p:nvSpPr>
          <p:cNvPr id="45" name="page-02-text-009-00">
            <a:extLst xmlns:a="http://schemas.openxmlformats.org/drawingml/2006/main">
              <a:ext uri="{FF2B5EF4-FFF2-40B4-BE49-F238E27FC236}">
                <a16:creationId xmlns:a16="http://schemas.microsoft.com/office/drawing/2014/main" id="{1ABBFF99-D1C1-43BA-B8FD-28CE419C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747" y="3581722"/>
            <a:ext cx="353139" cy="184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89" b="1" i="0">
                <a:solidFill>
                  <a:srgbClr val="7A5A00"/>
                </a:solidFill>
                <a:latin typeface="Nanum Gothic"/>
                <a:ea typeface="Nanum Gothic"/>
                <a:cs typeface="Nanum Gothic"/>
              </a:defRPr>
            </a:pPr>
            <a:r>
              <a:rPr sz="689" b="1" i="0">
                <a:solidFill>
                  <a:srgbClr val="7A5A00"/>
                </a:solidFill>
                <a:latin typeface="Nanum Gothic"/>
                <a:ea typeface="Nanum Gothic"/>
                <a:cs typeface="Nanum Gothic"/>
              </a:rPr>
              <a:t>사람</a:t>
            </a:r>
          </a:p>
        </p:txBody>
      </p:sp>
      <p:sp>
        <p:nvSpPr>
          <p:cNvPr id="46" name="page-02-text-009-01">
            <a:extLst xmlns:a="http://schemas.openxmlformats.org/drawingml/2006/main">
              <a:ext uri="{FF2B5EF4-FFF2-40B4-BE49-F238E27FC236}">
                <a16:creationId xmlns:a16="http://schemas.microsoft.com/office/drawing/2014/main" id="{5A0794CD-1773-4212-B198-B63D4727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4960" y="3581722"/>
            <a:ext cx="511306" cy="184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6" b="1" i="0">
                <a:solidFill>
                  <a:srgbClr val="237C67"/>
                </a:solidFill>
                <a:latin typeface="Nanum Gothic"/>
                <a:ea typeface="Nanum Gothic"/>
                <a:cs typeface="Nanum Gothic"/>
              </a:defRPr>
            </a:pPr>
            <a:r>
              <a:rPr sz="566" b="1" i="0">
                <a:solidFill>
                  <a:srgbClr val="237C67"/>
                </a:solidFill>
                <a:latin typeface="Nanum Gothic"/>
                <a:ea typeface="Nanum Gothic"/>
                <a:cs typeface="Nanum Gothic"/>
              </a:rPr>
              <a:t>AI 실행</a:t>
            </a:r>
          </a:p>
        </p:txBody>
      </p:sp>
      <p:sp>
        <p:nvSpPr>
          <p:cNvPr id="47" name="page-02-text-009-02">
            <a:extLst xmlns:a="http://schemas.openxmlformats.org/drawingml/2006/main">
              <a:ext uri="{FF2B5EF4-FFF2-40B4-BE49-F238E27FC236}">
                <a16:creationId xmlns:a16="http://schemas.microsoft.com/office/drawing/2014/main" id="{6144B78D-9C88-471B-9B1F-CBB82A9D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734" y="3581722"/>
            <a:ext cx="785716" cy="184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9" b="1" i="0">
                <a:solidFill>
                  <a:srgbClr val="C65240"/>
                </a:solidFill>
                <a:latin typeface="Nanum Gothic"/>
                <a:ea typeface="Nanum Gothic"/>
                <a:cs typeface="Nanum Gothic"/>
              </a:defRPr>
            </a:pPr>
            <a:r>
              <a:rPr sz="549" b="1" i="0">
                <a:solidFill>
                  <a:srgbClr val="C65240"/>
                </a:solidFill>
                <a:latin typeface="Nanum Gothic"/>
                <a:ea typeface="Nanum Gothic"/>
                <a:cs typeface="Nanum Gothic"/>
              </a:rPr>
              <a:t>독립 AI 감사</a:t>
            </a:r>
          </a:p>
        </p:txBody>
      </p:sp>
      <p:sp>
        <p:nvSpPr>
          <p:cNvPr id="48" name="page-02-text-010-00">
            <a:extLst xmlns:a="http://schemas.openxmlformats.org/drawingml/2006/main">
              <a:ext uri="{FF2B5EF4-FFF2-40B4-BE49-F238E27FC236}">
                <a16:creationId xmlns:a16="http://schemas.microsoft.com/office/drawing/2014/main" id="{CB67F5EE-D26C-4040-B33C-99EDFAB1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351" y="3934085"/>
            <a:ext cx="1118210" cy="165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9" b="0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469" b="0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재미·난이도 기준 결정</a:t>
            </a:r>
          </a:p>
        </p:txBody>
      </p:sp>
      <p:sp>
        <p:nvSpPr>
          <p:cNvPr id="49" name="page-02-text-010-01">
            <a:extLst xmlns:a="http://schemas.openxmlformats.org/drawingml/2006/main">
              <a:ext uri="{FF2B5EF4-FFF2-40B4-BE49-F238E27FC236}">
                <a16:creationId xmlns:a16="http://schemas.microsoft.com/office/drawing/2014/main" id="{0F3EA175-526D-40A4-9966-C2EB7C75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0695" y="3934085"/>
            <a:ext cx="1119277" cy="165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1" b="0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461" b="0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코드·데이터·문서 구현</a:t>
            </a:r>
          </a:p>
        </p:txBody>
      </p:sp>
      <p:sp>
        <p:nvSpPr>
          <p:cNvPr id="50" name="page-02-text-010-02">
            <a:extLst xmlns:a="http://schemas.openxmlformats.org/drawingml/2006/main">
              <a:ext uri="{FF2B5EF4-FFF2-40B4-BE49-F238E27FC236}">
                <a16:creationId xmlns:a16="http://schemas.microsoft.com/office/drawing/2014/main" id="{71EA71FD-F072-4E5E-8FCA-4F702082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1858" y="3934085"/>
            <a:ext cx="1220117" cy="165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9" b="0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459" b="0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수치·복구·접근성 재검증</a:t>
            </a:r>
          </a:p>
        </p:txBody>
      </p:sp>
      <p:sp>
        <p:nvSpPr>
          <p:cNvPr id="51" name="page-02-text-011-00">
            <a:extLst xmlns:a="http://schemas.openxmlformats.org/drawingml/2006/main">
              <a:ext uri="{FF2B5EF4-FFF2-40B4-BE49-F238E27FC236}">
                <a16:creationId xmlns:a16="http://schemas.microsoft.com/office/drawing/2014/main" id="{A73EF74E-8D29-432C-92B4-DBBD9AC5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351" y="4113849"/>
            <a:ext cx="1117270" cy="165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77" b="0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477" b="0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최종 화면과 결과 승인</a:t>
            </a:r>
          </a:p>
        </p:txBody>
      </p:sp>
      <p:sp>
        <p:nvSpPr>
          <p:cNvPr id="52" name="page-02-text-011-01">
            <a:extLst xmlns:a="http://schemas.openxmlformats.org/drawingml/2006/main">
              <a:ext uri="{FF2B5EF4-FFF2-40B4-BE49-F238E27FC236}">
                <a16:creationId xmlns:a16="http://schemas.microsoft.com/office/drawing/2014/main" id="{2C17B53E-7950-428F-BB8F-33020686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513" y="4113849"/>
            <a:ext cx="1218776" cy="165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74" b="0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474" b="0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표적 테스트와 대안 제시</a:t>
            </a:r>
          </a:p>
        </p:txBody>
      </p:sp>
      <p:sp>
        <p:nvSpPr>
          <p:cNvPr id="53" name="page-02-text-011-02">
            <a:extLst xmlns:a="http://schemas.openxmlformats.org/drawingml/2006/main">
              <a:ext uri="{FF2B5EF4-FFF2-40B4-BE49-F238E27FC236}">
                <a16:creationId xmlns:a16="http://schemas.microsoft.com/office/drawing/2014/main" id="{F3E376B1-83B8-42D0-A74F-009D7C7A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0152" y="4113849"/>
            <a:ext cx="1043636" cy="165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6" b="0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456" b="0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P0/P1/P2 근거 보고</a:t>
            </a:r>
          </a:p>
        </p:txBody>
      </p:sp>
      <p:sp>
        <p:nvSpPr>
          <p:cNvPr id="54" name="page-02-text-012-00">
            <a:extLst xmlns:a="http://schemas.openxmlformats.org/drawingml/2006/main">
              <a:ext uri="{FF2B5EF4-FFF2-40B4-BE49-F238E27FC236}">
                <a16:creationId xmlns:a16="http://schemas.microsoft.com/office/drawing/2014/main" id="{B5F54F4C-6E8B-4212-9E56-BE88CCB3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424" y="4446063"/>
            <a:ext cx="3222067" cy="165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6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defRPr>
            </a:pPr>
            <a:r>
              <a:rPr sz="466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rPr>
              <a:t>판단 → 실행 → 검증을 분리하고, 채택 여부는 사람이 다시 결정한다.</a:t>
            </a:r>
          </a:p>
        </p:txBody>
      </p:sp>
      <p:sp>
        <p:nvSpPr>
          <p:cNvPr id="55" name="page-02-text-013-00">
            <a:extLst xmlns:a="http://schemas.openxmlformats.org/drawingml/2006/main">
              <a:ext uri="{FF2B5EF4-FFF2-40B4-BE49-F238E27FC236}">
                <a16:creationId xmlns:a16="http://schemas.microsoft.com/office/drawing/2014/main" id="{C6753798-E55C-48F1-ABA4-3BDEEF9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4759730"/>
            <a:ext cx="5490583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사람은 무엇이 재미있는지와 어떤 결과를 받아들일지를 결정했다. 실행 AI는 그 판단을 코드·</a:t>
            </a:r>
          </a:p>
        </p:txBody>
      </p:sp>
      <p:sp>
        <p:nvSpPr>
          <p:cNvPr id="56" name="page-02-text-014-00">
            <a:extLst xmlns:a="http://schemas.openxmlformats.org/drawingml/2006/main">
              <a:ext uri="{FF2B5EF4-FFF2-40B4-BE49-F238E27FC236}">
                <a16:creationId xmlns:a16="http://schemas.microsoft.com/office/drawing/2014/main" id="{0CB2F569-0CAE-42F9-AB97-553F69FE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4992852"/>
            <a:ext cx="5693050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데이터·문서로 옮겼다. 독립 감사 AI는 구현자의 설명을 믿지 않고 테스트, 렌더, 저장 복구, 수치</a:t>
            </a:r>
          </a:p>
        </p:txBody>
      </p:sp>
      <p:sp>
        <p:nvSpPr>
          <p:cNvPr id="57" name="page-02-text-015-00">
            <a:extLst xmlns:a="http://schemas.openxmlformats.org/drawingml/2006/main">
              <a:ext uri="{FF2B5EF4-FFF2-40B4-BE49-F238E27FC236}">
                <a16:creationId xmlns:a16="http://schemas.microsoft.com/office/drawing/2014/main" id="{BEAF05D3-229E-4D96-A700-6A33F358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5225973"/>
            <a:ext cx="3795121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산식을 다시 확인했다. 최종 채택 여부는 다시 사람이 판단했다.</a:t>
            </a:r>
          </a:p>
        </p:txBody>
      </p:sp>
      <p:sp>
        <p:nvSpPr>
          <p:cNvPr id="58" name="page-02-text-016-00">
            <a:extLst xmlns:a="http://schemas.openxmlformats.org/drawingml/2006/main">
              <a:ext uri="{FF2B5EF4-FFF2-40B4-BE49-F238E27FC236}">
                <a16:creationId xmlns:a16="http://schemas.microsoft.com/office/drawing/2014/main" id="{C8B86BA3-7BC7-481C-B866-F9F9AC42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5588970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영역</a:t>
            </a:r>
          </a:p>
        </p:txBody>
      </p:sp>
      <p:sp>
        <p:nvSpPr>
          <p:cNvPr id="59" name="page-02-text-016-01">
            <a:extLst xmlns:a="http://schemas.openxmlformats.org/drawingml/2006/main">
              <a:ext uri="{FF2B5EF4-FFF2-40B4-BE49-F238E27FC236}">
                <a16:creationId xmlns:a16="http://schemas.microsoft.com/office/drawing/2014/main" id="{0D624FE7-0D68-4C5F-9513-34B9803B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287" y="5588970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사람</a:t>
            </a:r>
          </a:p>
        </p:txBody>
      </p:sp>
      <p:sp>
        <p:nvSpPr>
          <p:cNvPr id="60" name="page-02-text-016-02">
            <a:extLst xmlns:a="http://schemas.openxmlformats.org/drawingml/2006/main">
              <a:ext uri="{FF2B5EF4-FFF2-40B4-BE49-F238E27FC236}">
                <a16:creationId xmlns:a16="http://schemas.microsoft.com/office/drawing/2014/main" id="{D6CCC2AD-DF60-4E4B-89F1-F9544350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6902" y="5588970"/>
            <a:ext cx="551032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3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613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AI 실행</a:t>
            </a:r>
          </a:p>
        </p:txBody>
      </p:sp>
      <p:sp>
        <p:nvSpPr>
          <p:cNvPr id="61" name="page-02-text-016-03">
            <a:extLst xmlns:a="http://schemas.openxmlformats.org/drawingml/2006/main">
              <a:ext uri="{FF2B5EF4-FFF2-40B4-BE49-F238E27FC236}">
                <a16:creationId xmlns:a16="http://schemas.microsoft.com/office/drawing/2014/main" id="{ADA9923D-2B67-4F9F-9AA7-280ED451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235" y="5588970"/>
            <a:ext cx="852756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8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598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독립 AI 감사</a:t>
            </a:r>
          </a:p>
        </p:txBody>
      </p:sp>
      <p:sp>
        <p:nvSpPr>
          <p:cNvPr id="62" name="page-02-text-017-00">
            <a:extLst xmlns:a="http://schemas.openxmlformats.org/drawingml/2006/main">
              <a:ext uri="{FF2B5EF4-FFF2-40B4-BE49-F238E27FC236}">
                <a16:creationId xmlns:a16="http://schemas.microsoft.com/office/drawing/2014/main" id="{E93E95D7-214A-45FA-A2BF-4B729B85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5899295"/>
            <a:ext cx="18728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5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핵심 게임 속성 이전과 장면</a:t>
            </a:r>
          </a:p>
        </p:txBody>
      </p:sp>
      <p:sp>
        <p:nvSpPr>
          <p:cNvPr id="63" name="page-02-text-018-00">
            <a:extLst xmlns:a="http://schemas.openxmlformats.org/drawingml/2006/main">
              <a:ext uri="{FF2B5EF4-FFF2-40B4-BE49-F238E27FC236}">
                <a16:creationId xmlns:a16="http://schemas.microsoft.com/office/drawing/2014/main" id="{E2995209-88A4-480A-95CB-1AC0BD40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6902" y="6021255"/>
            <a:ext cx="2797220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4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규칙 대안과 구현안을 제시 별도 감사 없음</a:t>
            </a:r>
          </a:p>
        </p:txBody>
      </p:sp>
      <p:sp>
        <p:nvSpPr>
          <p:cNvPr id="64" name="page-02-text-019-00">
            <a:extLst xmlns:a="http://schemas.openxmlformats.org/drawingml/2006/main">
              <a:ext uri="{FF2B5EF4-FFF2-40B4-BE49-F238E27FC236}">
                <a16:creationId xmlns:a16="http://schemas.microsoft.com/office/drawing/2014/main" id="{EA2794EF-A6E0-4C9A-B76E-60107DAD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6143215"/>
            <a:ext cx="2003666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6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아이디어 변화의 재미를 결정</a:t>
            </a:r>
          </a:p>
        </p:txBody>
      </p:sp>
      <p:sp>
        <p:nvSpPr>
          <p:cNvPr id="65" name="page-02-text-020-00">
            <a:extLst xmlns:a="http://schemas.openxmlformats.org/drawingml/2006/main">
              <a:ext uri="{FF2B5EF4-FFF2-40B4-BE49-F238E27FC236}">
                <a16:creationId xmlns:a16="http://schemas.microsoft.com/office/drawing/2014/main" id="{FA27DE03-5D35-4540-AC2B-A51D8141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6486863"/>
            <a:ext cx="2003666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6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스테이지 학습 순서와 난이도</a:t>
            </a:r>
          </a:p>
        </p:txBody>
      </p:sp>
      <p:sp>
        <p:nvSpPr>
          <p:cNvPr id="66" name="page-02-text-020-01">
            <a:extLst xmlns:a="http://schemas.openxmlformats.org/drawingml/2006/main">
              <a:ext uri="{FF2B5EF4-FFF2-40B4-BE49-F238E27FC236}">
                <a16:creationId xmlns:a16="http://schemas.microsoft.com/office/drawing/2014/main" id="{4885FA2D-3A60-42E3-91C0-422C31AF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6902" y="6486863"/>
            <a:ext cx="3421923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10단계·40패턴과 대표 해법 Validator·회귀·기믹 우위</a:t>
            </a:r>
          </a:p>
        </p:txBody>
      </p:sp>
      <p:sp>
        <p:nvSpPr>
          <p:cNvPr id="67" name="page-02-text-021-00">
            <a:extLst xmlns:a="http://schemas.openxmlformats.org/drawingml/2006/main">
              <a:ext uri="{FF2B5EF4-FFF2-40B4-BE49-F238E27FC236}">
                <a16:creationId xmlns:a16="http://schemas.microsoft.com/office/drawing/2014/main" id="{59801830-BCED-4B83-840D-70F64110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6730784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설계</a:t>
            </a:r>
          </a:p>
        </p:txBody>
      </p:sp>
      <p:sp>
        <p:nvSpPr>
          <p:cNvPr id="68" name="page-02-text-021-01">
            <a:extLst xmlns:a="http://schemas.openxmlformats.org/drawingml/2006/main">
              <a:ext uri="{FF2B5EF4-FFF2-40B4-BE49-F238E27FC236}">
                <a16:creationId xmlns:a16="http://schemas.microsoft.com/office/drawing/2014/main" id="{A6C87B6F-7024-4E52-8EC8-1CF7590B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287" y="6730784"/>
            <a:ext cx="809257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3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기준을 승인</a:t>
            </a:r>
          </a:p>
        </p:txBody>
      </p:sp>
      <p:sp>
        <p:nvSpPr>
          <p:cNvPr id="69" name="page-02-text-021-02">
            <a:extLst xmlns:a="http://schemas.openxmlformats.org/drawingml/2006/main">
              <a:ext uri="{FF2B5EF4-FFF2-40B4-BE49-F238E27FC236}">
                <a16:creationId xmlns:a16="http://schemas.microsoft.com/office/drawing/2014/main" id="{7F22AE66-1D8D-4602-9CFA-40AC04ED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6902" y="6730784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구현</a:t>
            </a:r>
          </a:p>
        </p:txBody>
      </p:sp>
      <p:sp>
        <p:nvSpPr>
          <p:cNvPr id="70" name="page-02-text-021-03">
            <a:extLst xmlns:a="http://schemas.openxmlformats.org/drawingml/2006/main">
              <a:ext uri="{FF2B5EF4-FFF2-40B4-BE49-F238E27FC236}">
                <a16:creationId xmlns:a16="http://schemas.microsoft.com/office/drawing/2014/main" id="{0437D04D-4A7B-425E-B801-69B5B827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235" y="6730784"/>
            <a:ext cx="50782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8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8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재검증</a:t>
            </a:r>
          </a:p>
        </p:txBody>
      </p:sp>
      <p:sp>
        <p:nvSpPr>
          <p:cNvPr id="71" name="page-02-text-022-00">
            <a:extLst xmlns:a="http://schemas.openxmlformats.org/drawingml/2006/main">
              <a:ext uri="{FF2B5EF4-FFF2-40B4-BE49-F238E27FC236}">
                <a16:creationId xmlns:a16="http://schemas.microsoft.com/office/drawing/2014/main" id="{4E5D5741-1AB6-4237-AA25-D6BBAB20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7074432"/>
            <a:ext cx="2003666" cy="2153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4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ShotReso 물리 규칙과 허용할</a:t>
            </a:r>
          </a:p>
        </p:txBody>
      </p:sp>
      <p:sp>
        <p:nvSpPr>
          <p:cNvPr id="72" name="page-02-text-022-01">
            <a:extLst xmlns:a="http://schemas.openxmlformats.org/drawingml/2006/main">
              <a:ext uri="{FF2B5EF4-FFF2-40B4-BE49-F238E27FC236}">
                <a16:creationId xmlns:a16="http://schemas.microsoft.com/office/drawing/2014/main" id="{E08DBB3A-3A38-45DB-B2B4-6E0FCFBF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235" y="7074432"/>
            <a:ext cx="1544702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9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반복 결과·리플레이 지문</a:t>
            </a:r>
          </a:p>
        </p:txBody>
      </p:sp>
      <p:sp>
        <p:nvSpPr>
          <p:cNvPr id="73" name="page-02-text-023-00">
            <a:extLst xmlns:a="http://schemas.openxmlformats.org/drawingml/2006/main">
              <a:ext uri="{FF2B5EF4-FFF2-40B4-BE49-F238E27FC236}">
                <a16:creationId xmlns:a16="http://schemas.microsoft.com/office/drawing/2014/main" id="{D31E4F52-686A-44B0-842B-1A3D5F9C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6902" y="7196392"/>
            <a:ext cx="1676737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9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결정론적 판정기 구현·수정</a:t>
            </a:r>
          </a:p>
        </p:txBody>
      </p:sp>
      <p:sp>
        <p:nvSpPr>
          <p:cNvPr id="74" name="page-02-text-024-00">
            <a:extLst xmlns:a="http://schemas.openxmlformats.org/drawingml/2006/main">
              <a:ext uri="{FF2B5EF4-FFF2-40B4-BE49-F238E27FC236}">
                <a16:creationId xmlns:a16="http://schemas.microsoft.com/office/drawing/2014/main" id="{4921E2C0-B062-4219-85D1-6399C26A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7299296"/>
            <a:ext cx="342226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0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64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lver</a:t>
            </a:r>
          </a:p>
        </p:txBody>
      </p:sp>
      <p:sp>
        <p:nvSpPr>
          <p:cNvPr id="75" name="page-02-text-024-01">
            <a:extLst xmlns:a="http://schemas.openxmlformats.org/drawingml/2006/main">
              <a:ext uri="{FF2B5EF4-FFF2-40B4-BE49-F238E27FC236}">
                <a16:creationId xmlns:a16="http://schemas.microsoft.com/office/drawing/2014/main" id="{32FE1F10-0BEA-499E-80DD-89B81D9D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287" y="7318352"/>
            <a:ext cx="809257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3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풀이를 승인</a:t>
            </a:r>
          </a:p>
        </p:txBody>
      </p:sp>
      <p:sp>
        <p:nvSpPr>
          <p:cNvPr id="76" name="page-02-text-024-02">
            <a:extLst xmlns:a="http://schemas.openxmlformats.org/drawingml/2006/main">
              <a:ext uri="{FF2B5EF4-FFF2-40B4-BE49-F238E27FC236}">
                <a16:creationId xmlns:a16="http://schemas.microsoft.com/office/drawing/2014/main" id="{0FBEAE27-B223-4D5F-A83A-E9CD5909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235" y="7318352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감사</a:t>
            </a:r>
          </a:p>
        </p:txBody>
      </p:sp>
      <p:sp>
        <p:nvSpPr>
          <p:cNvPr id="77" name="page-02-text-025-00">
            <a:extLst xmlns:a="http://schemas.openxmlformats.org/drawingml/2006/main">
              <a:ext uri="{FF2B5EF4-FFF2-40B4-BE49-F238E27FC236}">
                <a16:creationId xmlns:a16="http://schemas.microsoft.com/office/drawing/2014/main" id="{AC3F4381-D18C-4D64-9F61-2F97F57E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287" y="7662000"/>
            <a:ext cx="1496858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구체성, 공개 단계, 정답</a:t>
            </a:r>
          </a:p>
        </p:txBody>
      </p:sp>
      <p:sp>
        <p:nvSpPr>
          <p:cNvPr id="78" name="page-02-text-025-01">
            <a:extLst xmlns:a="http://schemas.openxmlformats.org/drawingml/2006/main">
              <a:ext uri="{FF2B5EF4-FFF2-40B4-BE49-F238E27FC236}">
                <a16:creationId xmlns:a16="http://schemas.microsoft.com/office/drawing/2014/main" id="{E436F620-46A5-498C-BF0C-CF2A87E0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235" y="7662000"/>
            <a:ext cx="1715040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9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패턴·기물 참조와 저장 복구</a:t>
            </a:r>
          </a:p>
        </p:txBody>
      </p:sp>
      <p:sp>
        <p:nvSpPr>
          <p:cNvPr id="79" name="page-02-text-026-00">
            <a:extLst xmlns:a="http://schemas.openxmlformats.org/drawingml/2006/main">
              <a:ext uri="{FF2B5EF4-FFF2-40B4-BE49-F238E27FC236}">
                <a16:creationId xmlns:a16="http://schemas.microsoft.com/office/drawing/2014/main" id="{C5AB8B9E-4A11-4E9D-A357-9C5CC812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7783960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힌트</a:t>
            </a:r>
          </a:p>
        </p:txBody>
      </p:sp>
      <p:sp>
        <p:nvSpPr>
          <p:cNvPr id="80" name="page-02-text-026-01">
            <a:extLst xmlns:a="http://schemas.openxmlformats.org/drawingml/2006/main">
              <a:ext uri="{FF2B5EF4-FFF2-40B4-BE49-F238E27FC236}">
                <a16:creationId xmlns:a16="http://schemas.microsoft.com/office/drawing/2014/main" id="{C1F2932E-1847-450E-ACF2-0DABCD20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6902" y="7783960"/>
            <a:ext cx="154588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40패턴 L1/L2 작성·연결</a:t>
            </a:r>
          </a:p>
        </p:txBody>
      </p:sp>
      <p:sp>
        <p:nvSpPr>
          <p:cNvPr id="81" name="page-02-text-027-00">
            <a:extLst xmlns:a="http://schemas.openxmlformats.org/drawingml/2006/main">
              <a:ext uri="{FF2B5EF4-FFF2-40B4-BE49-F238E27FC236}">
                <a16:creationId xmlns:a16="http://schemas.microsoft.com/office/drawing/2014/main" id="{35A9CD7E-E9DE-4D2A-B9E5-A7A9DC46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287" y="7905921"/>
            <a:ext cx="1281319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1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노출 금지 기준 결정</a:t>
            </a:r>
          </a:p>
        </p:txBody>
      </p:sp>
      <p:sp>
        <p:nvSpPr>
          <p:cNvPr id="82" name="page-02-text-027-01">
            <a:extLst xmlns:a="http://schemas.openxmlformats.org/drawingml/2006/main">
              <a:ext uri="{FF2B5EF4-FFF2-40B4-BE49-F238E27FC236}">
                <a16:creationId xmlns:a16="http://schemas.microsoft.com/office/drawing/2014/main" id="{B3D030DA-C88E-45F4-BC9F-09F102B2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235" y="7905921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검사</a:t>
            </a:r>
          </a:p>
        </p:txBody>
      </p:sp>
      <p:sp>
        <p:nvSpPr>
          <p:cNvPr id="83" name="page-02-text-028-00">
            <a:extLst xmlns:a="http://schemas.openxmlformats.org/drawingml/2006/main">
              <a:ext uri="{FF2B5EF4-FFF2-40B4-BE49-F238E27FC236}">
                <a16:creationId xmlns:a16="http://schemas.microsoft.com/office/drawing/2014/main" id="{28604CCB-13EE-455A-86CF-55684ADC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287" y="8249569"/>
            <a:ext cx="5027693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5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사용성 피드백과 최종 게이지·난이도·보상·열쇠 Golden·접근성·SafeArea</a:t>
            </a:r>
          </a:p>
        </p:txBody>
      </p:sp>
      <p:sp>
        <p:nvSpPr>
          <p:cNvPr id="84" name="page-02-text-029-00">
            <a:extLst xmlns:a="http://schemas.openxmlformats.org/drawingml/2006/main">
              <a:ext uri="{FF2B5EF4-FFF2-40B4-BE49-F238E27FC236}">
                <a16:creationId xmlns:a16="http://schemas.microsoft.com/office/drawing/2014/main" id="{3B8AADA3-354E-462B-A6B2-DF54D731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8371529"/>
            <a:ext cx="24915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9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679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UI</a:t>
            </a:r>
          </a:p>
        </p:txBody>
      </p:sp>
      <p:sp>
        <p:nvSpPr>
          <p:cNvPr id="85" name="page-02-text-030-00">
            <a:extLst xmlns:a="http://schemas.openxmlformats.org/drawingml/2006/main">
              <a:ext uri="{FF2B5EF4-FFF2-40B4-BE49-F238E27FC236}">
                <a16:creationId xmlns:a16="http://schemas.microsoft.com/office/drawing/2014/main" id="{657AA439-0219-418E-B85A-1BFF50B3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287" y="8493489"/>
            <a:ext cx="67845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5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화면 승인</a:t>
            </a:r>
          </a:p>
        </p:txBody>
      </p:sp>
      <p:sp>
        <p:nvSpPr>
          <p:cNvPr id="86" name="page-02-text-030-01">
            <a:extLst xmlns:a="http://schemas.openxmlformats.org/drawingml/2006/main">
              <a:ext uri="{FF2B5EF4-FFF2-40B4-BE49-F238E27FC236}">
                <a16:creationId xmlns:a16="http://schemas.microsoft.com/office/drawing/2014/main" id="{481E7EA2-9063-47C7-8F09-ADE10B19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6902" y="8493489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구현</a:t>
            </a:r>
          </a:p>
        </p:txBody>
      </p:sp>
      <p:sp>
        <p:nvSpPr>
          <p:cNvPr id="87" name="page-02-text-030-02">
            <a:extLst xmlns:a="http://schemas.openxmlformats.org/drawingml/2006/main">
              <a:ext uri="{FF2B5EF4-FFF2-40B4-BE49-F238E27FC236}">
                <a16:creationId xmlns:a16="http://schemas.microsoft.com/office/drawing/2014/main" id="{2CD7FD75-565B-4498-B32B-2E5A8B2F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235" y="8493489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감사</a:t>
            </a:r>
          </a:p>
        </p:txBody>
      </p:sp>
      <p:sp>
        <p:nvSpPr>
          <p:cNvPr id="88" name="page-02-text-031-00">
            <a:extLst xmlns:a="http://schemas.openxmlformats.org/drawingml/2006/main">
              <a:ext uri="{FF2B5EF4-FFF2-40B4-BE49-F238E27FC236}">
                <a16:creationId xmlns:a16="http://schemas.microsoft.com/office/drawing/2014/main" id="{F46C97B0-98B8-4B97-8A15-79332CCF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287" y="8837137"/>
            <a:ext cx="1071979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2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전달할 메시지와</a:t>
            </a:r>
          </a:p>
        </p:txBody>
      </p:sp>
      <p:sp>
        <p:nvSpPr>
          <p:cNvPr id="89" name="page-02-text-032-00">
            <a:extLst xmlns:a="http://schemas.openxmlformats.org/drawingml/2006/main">
              <a:ext uri="{FF2B5EF4-FFF2-40B4-BE49-F238E27FC236}">
                <a16:creationId xmlns:a16="http://schemas.microsoft.com/office/drawing/2014/main" id="{6BA9386F-4112-4E2F-B6A4-E8EA3C66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8959097"/>
            <a:ext cx="50782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8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8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보고서</a:t>
            </a:r>
          </a:p>
        </p:txBody>
      </p:sp>
      <p:sp>
        <p:nvSpPr>
          <p:cNvPr id="90" name="page-02-text-032-01">
            <a:extLst xmlns:a="http://schemas.openxmlformats.org/drawingml/2006/main">
              <a:ext uri="{FF2B5EF4-FFF2-40B4-BE49-F238E27FC236}">
                <a16:creationId xmlns:a16="http://schemas.microsoft.com/office/drawing/2014/main" id="{F391B80C-8CEB-44EA-A607-C9A0FC60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6902" y="8959097"/>
            <a:ext cx="1248491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원고·PDF·PPT 생성</a:t>
            </a:r>
          </a:p>
        </p:txBody>
      </p:sp>
      <p:sp>
        <p:nvSpPr>
          <p:cNvPr id="91" name="page-02-text-032-02">
            <a:extLst xmlns:a="http://schemas.openxmlformats.org/drawingml/2006/main">
              <a:ext uri="{FF2B5EF4-FFF2-40B4-BE49-F238E27FC236}">
                <a16:creationId xmlns:a16="http://schemas.microsoft.com/office/drawing/2014/main" id="{156BF599-7DD8-470D-A0B3-9FC56791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235" y="8959097"/>
            <a:ext cx="1584606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수치·출처·렌더 결과 대조</a:t>
            </a:r>
          </a:p>
        </p:txBody>
      </p:sp>
      <p:sp>
        <p:nvSpPr>
          <p:cNvPr id="92" name="page-02-text-033-00">
            <a:extLst xmlns:a="http://schemas.openxmlformats.org/drawingml/2006/main">
              <a:ext uri="{FF2B5EF4-FFF2-40B4-BE49-F238E27FC236}">
                <a16:creationId xmlns:a16="http://schemas.microsoft.com/office/drawing/2014/main" id="{E149D1DF-8CAC-44EF-A74F-732E8F71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287" y="9081058"/>
            <a:ext cx="940618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2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우선순위 결정</a:t>
            </a:r>
          </a:p>
        </p:txBody>
      </p:sp>
      <p:sp>
        <p:nvSpPr>
          <p:cNvPr id="93" name="page-02-text-034-00">
            <a:extLst xmlns:a="http://schemas.openxmlformats.org/drawingml/2006/main">
              <a:ext uri="{FF2B5EF4-FFF2-40B4-BE49-F238E27FC236}">
                <a16:creationId xmlns:a16="http://schemas.microsoft.com/office/drawing/2014/main" id="{239159C8-642A-4057-9001-1B291474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8228" y="10099425"/>
            <a:ext cx="2276565" cy="165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9" b="0" i="0">
                <a:solidFill>
                  <a:srgbClr val="586270"/>
                </a:solidFill>
                <a:latin typeface="Aptos"/>
                <a:ea typeface="Aptos"/>
                <a:cs typeface="Aptos"/>
              </a:defRPr>
            </a:pPr>
            <a:r>
              <a:rPr sz="439" b="0" i="0">
                <a:solidFill>
                  <a:srgbClr val="586270"/>
                </a:solidFill>
                <a:latin typeface="Aptos"/>
                <a:ea typeface="Aptos"/>
                <a:cs typeface="Aptos"/>
              </a:rPr>
              <a:t>Property Shot · AI Technical Report · Page 2</a:t>
            </a:r>
          </a:p>
        </p:txBody>
      </p:sp>
    </p:spTree>
    <p:extLst>
      <p:ext uri="{BB962C8B-B14F-4D97-AF65-F5344CB8AC3E}">
        <p14:creationId xmlns:p14="http://schemas.microsoft.com/office/powerpoint/2010/main" val="17271994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page-03-rect-000">
            <a:extLst xmlns:a="http://schemas.openxmlformats.org/drawingml/2006/main">
              <a:ext uri="{FF2B5EF4-FFF2-40B4-BE49-F238E27FC236}">
                <a16:creationId xmlns:a16="http://schemas.microsoft.com/office/drawing/2014/main" id="{45C982E8-73C3-4515-8651-DCDA9D8D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7677674"/>
            <a:ext cx="635844" cy="5354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ge-03-rect-001">
            <a:extLst xmlns:a="http://schemas.openxmlformats.org/drawingml/2006/main">
              <a:ext uri="{FF2B5EF4-FFF2-40B4-BE49-F238E27FC236}">
                <a16:creationId xmlns:a16="http://schemas.microsoft.com/office/drawing/2014/main" id="{6DF1198B-FB47-46BB-87C8-DBB7836F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7660" y="7677674"/>
            <a:ext cx="637115" cy="5354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03-rect-002">
            <a:extLst xmlns:a="http://schemas.openxmlformats.org/drawingml/2006/main">
              <a:ext uri="{FF2B5EF4-FFF2-40B4-BE49-F238E27FC236}">
                <a16:creationId xmlns:a16="http://schemas.microsoft.com/office/drawing/2014/main" id="{B721BF01-FE6D-4EC5-8E4C-BBD641BD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1890" y="7677674"/>
            <a:ext cx="637115" cy="5354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3-rect-003">
            <a:extLst xmlns:a="http://schemas.openxmlformats.org/drawingml/2006/main">
              <a:ext uri="{FF2B5EF4-FFF2-40B4-BE49-F238E27FC236}">
                <a16:creationId xmlns:a16="http://schemas.microsoft.com/office/drawing/2014/main" id="{1A4D2EE0-B78B-48BB-845E-5F4192D0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7390" y="7677674"/>
            <a:ext cx="635844" cy="5354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03-rect-004">
            <a:extLst xmlns:a="http://schemas.openxmlformats.org/drawingml/2006/main">
              <a:ext uri="{FF2B5EF4-FFF2-40B4-BE49-F238E27FC236}">
                <a16:creationId xmlns:a16="http://schemas.microsoft.com/office/drawing/2014/main" id="{4C9175B1-8190-45AA-8273-9EFE3B7B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1619" y="7677674"/>
            <a:ext cx="635844" cy="5354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03-rect-005">
            <a:extLst xmlns:a="http://schemas.openxmlformats.org/drawingml/2006/main">
              <a:ext uri="{FF2B5EF4-FFF2-40B4-BE49-F238E27FC236}">
                <a16:creationId xmlns:a16="http://schemas.microsoft.com/office/drawing/2014/main" id="{21EA1684-C219-4D3F-9167-20B2816B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7677674"/>
            <a:ext cx="635844" cy="5354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ge-03-rect-006">
            <a:extLst xmlns:a="http://schemas.openxmlformats.org/drawingml/2006/main">
              <a:ext uri="{FF2B5EF4-FFF2-40B4-BE49-F238E27FC236}">
                <a16:creationId xmlns:a16="http://schemas.microsoft.com/office/drawing/2014/main" id="{ECF8100C-62C5-4987-8112-DFEA4AFA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7660" y="7677674"/>
            <a:ext cx="637115" cy="5354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ge-03-rect-007">
            <a:extLst xmlns:a="http://schemas.openxmlformats.org/drawingml/2006/main">
              <a:ext uri="{FF2B5EF4-FFF2-40B4-BE49-F238E27FC236}">
                <a16:creationId xmlns:a16="http://schemas.microsoft.com/office/drawing/2014/main" id="{64709A1E-7711-4C2E-9990-7F2B2894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1890" y="7677674"/>
            <a:ext cx="637115" cy="5354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ge-03-rect-008">
            <a:extLst xmlns:a="http://schemas.openxmlformats.org/drawingml/2006/main">
              <a:ext uri="{FF2B5EF4-FFF2-40B4-BE49-F238E27FC236}">
                <a16:creationId xmlns:a16="http://schemas.microsoft.com/office/drawing/2014/main" id="{FC6A86E5-E3FF-4DE4-AAF8-C22102F5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7390" y="7677674"/>
            <a:ext cx="635844" cy="5354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ge-03-rect-009">
            <a:extLst xmlns:a="http://schemas.openxmlformats.org/drawingml/2006/main">
              <a:ext uri="{FF2B5EF4-FFF2-40B4-BE49-F238E27FC236}">
                <a16:creationId xmlns:a16="http://schemas.microsoft.com/office/drawing/2014/main" id="{215AFBFC-402A-440A-AD33-5C9E1E80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1619" y="7677674"/>
            <a:ext cx="635844" cy="5354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ge-03-line-000">
            <a:extLst xmlns:a="http://schemas.openxmlformats.org/drawingml/2006/main">
              <a:ext uri="{FF2B5EF4-FFF2-40B4-BE49-F238E27FC236}">
                <a16:creationId xmlns:a16="http://schemas.microsoft.com/office/drawing/2014/main" id="{6AB41D4F-DC7E-4AFC-9096-75AB0C9D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78940"/>
            <a:ext cx="573276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8">
            <a:solidFill>
              <a:srgbClr val="D7DBE2"/>
            </a:solidFill>
            <a:prstDash val="solid"/>
          </a:ln>
        </p:spPr>
      </p:sp>
      <p:sp>
        <p:nvSpPr>
          <p:cNvPr id="12" name="page-03-line-001">
            <a:extLst xmlns:a="http://schemas.openxmlformats.org/drawingml/2006/main">
              <a:ext uri="{FF2B5EF4-FFF2-40B4-BE49-F238E27FC236}">
                <a16:creationId xmlns:a16="http://schemas.microsoft.com/office/drawing/2014/main" id="{90703993-77A8-4EE7-A09B-D5291E3D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78940"/>
            <a:ext cx="573276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8">
            <a:solidFill>
              <a:srgbClr val="D7DBE2"/>
            </a:solidFill>
            <a:prstDash val="solid"/>
          </a:ln>
        </p:spPr>
      </p:sp>
      <p:sp>
        <p:nvSpPr>
          <p:cNvPr id="13" name="page-03-text-000-00">
            <a:extLst xmlns:a="http://schemas.openxmlformats.org/drawingml/2006/main">
              <a:ext uri="{FF2B5EF4-FFF2-40B4-BE49-F238E27FC236}">
                <a16:creationId xmlns:a16="http://schemas.microsoft.com/office/drawing/2014/main" id="{1F24BDF6-1BE8-4900-959C-AB9F8E5B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6631" y="468104"/>
            <a:ext cx="1948377" cy="171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4" b="0" i="0">
                <a:solidFill>
                  <a:srgbClr val="586270"/>
                </a:solidFill>
                <a:latin typeface="Aptos"/>
                <a:ea typeface="Aptos"/>
                <a:cs typeface="Aptos"/>
              </a:defRPr>
            </a:pPr>
            <a:r>
              <a:rPr sz="464" b="0" i="0">
                <a:solidFill>
                  <a:srgbClr val="586270"/>
                </a:solidFill>
                <a:latin typeface="Aptos"/>
                <a:ea typeface="Aptos"/>
                <a:cs typeface="Aptos"/>
              </a:rPr>
              <a:t>Property Shot · AI Technical Report</a:t>
            </a:r>
          </a:p>
        </p:txBody>
      </p:sp>
      <p:sp>
        <p:nvSpPr>
          <p:cNvPr id="14" name="page-03-text-001-00">
            <a:extLst xmlns:a="http://schemas.openxmlformats.org/drawingml/2006/main">
              <a:ext uri="{FF2B5EF4-FFF2-40B4-BE49-F238E27FC236}">
                <a16:creationId xmlns:a16="http://schemas.microsoft.com/office/drawing/2014/main" id="{499684DF-1FD8-4B7E-AB30-A41CA0E5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954573"/>
            <a:ext cx="3817950" cy="260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3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823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3. AI가 틀렸고, 검증 과정이 잡아낸 세 사례</a:t>
            </a:r>
          </a:p>
        </p:txBody>
      </p:sp>
      <p:sp>
        <p:nvSpPr>
          <p:cNvPr id="15" name="page-03-text-002-00">
            <a:extLst xmlns:a="http://schemas.openxmlformats.org/drawingml/2006/main">
              <a:ext uri="{FF2B5EF4-FFF2-40B4-BE49-F238E27FC236}">
                <a16:creationId xmlns:a16="http://schemas.microsoft.com/office/drawing/2014/main" id="{FDC927E6-C04A-4FD8-AE26-6BEC4CBE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1379782"/>
            <a:ext cx="5453957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성공 사례만 나열하면 AI를 어떻게 통제했는지 알기 어렵다. 이 프로젝트에서는 AI의 제안과</a:t>
            </a:r>
          </a:p>
        </p:txBody>
      </p:sp>
      <p:sp>
        <p:nvSpPr>
          <p:cNvPr id="16" name="page-03-text-003-00">
            <a:extLst xmlns:a="http://schemas.openxmlformats.org/drawingml/2006/main">
              <a:ext uri="{FF2B5EF4-FFF2-40B4-BE49-F238E27FC236}">
                <a16:creationId xmlns:a16="http://schemas.microsoft.com/office/drawing/2014/main" id="{ABEDC256-70F5-4734-9889-16E0D46D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1612904"/>
            <a:ext cx="5783300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구현도 테스트 대상이었다. 아래 세 사례는 독립 감사에서 반려된 뒤 계약과 회귀 테스트까지 고친</a:t>
            </a:r>
          </a:p>
        </p:txBody>
      </p:sp>
      <p:sp>
        <p:nvSpPr>
          <p:cNvPr id="17" name="page-03-text-004-00">
            <a:extLst xmlns:a="http://schemas.openxmlformats.org/drawingml/2006/main">
              <a:ext uri="{FF2B5EF4-FFF2-40B4-BE49-F238E27FC236}">
                <a16:creationId xmlns:a16="http://schemas.microsoft.com/office/drawing/2014/main" id="{73403548-67AB-46F8-816D-C321AC1C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1846025"/>
            <a:ext cx="852197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1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대표 사례다.</a:t>
            </a:r>
          </a:p>
        </p:txBody>
      </p:sp>
      <p:sp>
        <p:nvSpPr>
          <p:cNvPr id="18" name="page-03-text-005-00">
            <a:extLst xmlns:a="http://schemas.openxmlformats.org/drawingml/2006/main">
              <a:ext uri="{FF2B5EF4-FFF2-40B4-BE49-F238E27FC236}">
                <a16:creationId xmlns:a16="http://schemas.microsoft.com/office/drawing/2014/main" id="{BF125F3A-6A70-4C73-8CEB-F7514BB0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2238737"/>
            <a:ext cx="3168589" cy="222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87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687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3.1 서로 다른 표본을 비교한 기믹 우위 지표</a:t>
            </a:r>
          </a:p>
        </p:txBody>
      </p:sp>
      <p:sp>
        <p:nvSpPr>
          <p:cNvPr id="19" name="page-03-text-006-00">
            <a:extLst xmlns:a="http://schemas.openxmlformats.org/drawingml/2006/main">
              <a:ext uri="{FF2B5EF4-FFF2-40B4-BE49-F238E27FC236}">
                <a16:creationId xmlns:a16="http://schemas.microsoft.com/office/drawing/2014/main" id="{69864B3D-CFAB-4817-9528-884AA341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2582525"/>
            <a:ext cx="5259634" cy="197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첫 자동 검증은 크기가 다른 입력 표본의 성공 개수를 그대로 나눴다. 숫자는 커 보였지만</a:t>
            </a:r>
          </a:p>
        </p:txBody>
      </p:sp>
      <p:sp>
        <p:nvSpPr>
          <p:cNvPr id="20" name="page-03-text-007-00">
            <a:extLst xmlns:a="http://schemas.openxmlformats.org/drawingml/2006/main">
              <a:ext uri="{FF2B5EF4-FFF2-40B4-BE49-F238E27FC236}">
                <a16:creationId xmlns:a16="http://schemas.microsoft.com/office/drawing/2014/main" id="{7CB1C3E7-2E4E-435D-B0F4-6FC58094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2816625"/>
            <a:ext cx="5738810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통계적으로 비교할 수 없는 값이었다. 감사 AI가 계산 방식을 반려했고, 준비 전과 준비 후를 같은</a:t>
            </a:r>
          </a:p>
        </p:txBody>
      </p:sp>
      <p:sp>
        <p:nvSpPr>
          <p:cNvPr id="21" name="page-03-text-008-00">
            <a:extLst xmlns:a="http://schemas.openxmlformats.org/drawingml/2006/main">
              <a:ext uri="{FF2B5EF4-FFF2-40B4-BE49-F238E27FC236}">
                <a16:creationId xmlns:a16="http://schemas.microsoft.com/office/drawing/2014/main" id="{6BFA904C-108F-4C54-AF99-A88BF0CB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3049747"/>
            <a:ext cx="556632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900개 입력 격자에서 비교하도록 다시 설계했다. 같은 마지막 샷이 준비 전에는 실패하는지와</a:t>
            </a:r>
          </a:p>
        </p:txBody>
      </p:sp>
      <p:sp>
        <p:nvSpPr>
          <p:cNvPr id="22" name="page-03-text-009-00">
            <a:extLst xmlns:a="http://schemas.openxmlformats.org/drawingml/2006/main">
              <a:ext uri="{FF2B5EF4-FFF2-40B4-BE49-F238E27FC236}">
                <a16:creationId xmlns:a16="http://schemas.microsoft.com/office/drawing/2014/main" id="{B7BCD895-CF74-4989-B2BD-48C2ED04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3282869"/>
            <a:ext cx="284802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실제 기믹 사건이 발생했는지도 함께 검사했다.</a:t>
            </a:r>
          </a:p>
        </p:txBody>
      </p:sp>
      <p:sp>
        <p:nvSpPr>
          <p:cNvPr id="23" name="page-03-text-010-00">
            <a:extLst xmlns:a="http://schemas.openxmlformats.org/drawingml/2006/main">
              <a:ext uri="{FF2B5EF4-FFF2-40B4-BE49-F238E27FC236}">
                <a16:creationId xmlns:a16="http://schemas.microsoft.com/office/drawing/2014/main" id="{DF598637-E05A-4C9B-A8E9-6B46CAF0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3675580"/>
            <a:ext cx="2518744" cy="222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3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703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3.2 80ms마다 말하던 파워 게이지</a:t>
            </a:r>
          </a:p>
        </p:txBody>
      </p:sp>
      <p:sp>
        <p:nvSpPr>
          <p:cNvPr id="24" name="page-03-text-011-00">
            <a:extLst xmlns:a="http://schemas.openxmlformats.org/drawingml/2006/main">
              <a:ext uri="{FF2B5EF4-FFF2-40B4-BE49-F238E27FC236}">
                <a16:creationId xmlns:a16="http://schemas.microsoft.com/office/drawing/2014/main" id="{EEA1DC51-82A6-48B7-95AD-DC822716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4020346"/>
            <a:ext cx="5712271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게이지를 화면 중앙 쪽으로 옮긴 첫 구현은 퍼센트 변화를 live semantics로 내보냈다. 화면 읽기</a:t>
            </a:r>
          </a:p>
        </p:txBody>
      </p:sp>
      <p:sp>
        <p:nvSpPr>
          <p:cNvPr id="25" name="page-03-text-012-00">
            <a:extLst xmlns:a="http://schemas.openxmlformats.org/drawingml/2006/main">
              <a:ext uri="{FF2B5EF4-FFF2-40B4-BE49-F238E27FC236}">
                <a16:creationId xmlns:a16="http://schemas.microsoft.com/office/drawing/2014/main" id="{B8B9D708-1BB4-4595-A735-7DFA0007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4253468"/>
            <a:ext cx="5511659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도구가 약 80ms마다 힘 수치를 읽을 수 있어 오히려 사용성을 해쳤다. 감사 뒤 색 단계만 live</a:t>
            </a:r>
          </a:p>
        </p:txBody>
      </p:sp>
      <p:sp>
        <p:nvSpPr>
          <p:cNvPr id="26" name="page-03-text-013-00">
            <a:extLst xmlns:a="http://schemas.openxmlformats.org/drawingml/2006/main">
              <a:ext uri="{FF2B5EF4-FFF2-40B4-BE49-F238E27FC236}">
                <a16:creationId xmlns:a16="http://schemas.microsoft.com/office/drawing/2014/main" id="{2283D238-8BAE-4EC6-83E6-2EC36F08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4486590"/>
            <a:ext cx="4651383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알림으로 남기고, 퍼센트는 필요할 때 읽을 수 있는 non-live 정보로 분리했다.</a:t>
            </a:r>
          </a:p>
        </p:txBody>
      </p:sp>
      <p:sp>
        <p:nvSpPr>
          <p:cNvPr id="27" name="page-03-text-014-00">
            <a:extLst xmlns:a="http://schemas.openxmlformats.org/drawingml/2006/main">
              <a:ext uri="{FF2B5EF4-FFF2-40B4-BE49-F238E27FC236}">
                <a16:creationId xmlns:a16="http://schemas.microsoft.com/office/drawing/2014/main" id="{8429A673-5788-42C9-9192-7CE0C423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4879302"/>
            <a:ext cx="3571400" cy="222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86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686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3.3 재개 시 완료 난이도가 바뀔 수 있던 저장 구조</a:t>
            </a:r>
          </a:p>
        </p:txBody>
      </p:sp>
      <p:sp>
        <p:nvSpPr>
          <p:cNvPr id="28" name="page-03-text-015-00">
            <a:extLst xmlns:a="http://schemas.openxmlformats.org/drawingml/2006/main">
              <a:ext uri="{FF2B5EF4-FFF2-40B4-BE49-F238E27FC236}">
                <a16:creationId xmlns:a16="http://schemas.microsoft.com/office/drawing/2014/main" id="{3E6FFB13-AFF2-40F2-940B-9B192076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5223089"/>
            <a:ext cx="5825262" cy="197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쉬움 모드의 기록을 보통 기록과 분리했지만, 앱을 재개할 때 현재 설정이 과거 완료 건의 난이도를</a:t>
            </a:r>
          </a:p>
        </p:txBody>
      </p:sp>
      <p:sp>
        <p:nvSpPr>
          <p:cNvPr id="29" name="page-03-text-016-00">
            <a:extLst xmlns:a="http://schemas.openxmlformats.org/drawingml/2006/main">
              <a:ext uri="{FF2B5EF4-FFF2-40B4-BE49-F238E27FC236}">
                <a16:creationId xmlns:a16="http://schemas.microsoft.com/office/drawing/2014/main" id="{5CB4B841-8349-4908-863B-E4A45631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5457189"/>
            <a:ext cx="5834701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덮을 가능성이 발견됐다. 완료 건의 run·stage·pattern·seed에 난이도를 한 번만 귀속하는 first-w</a:t>
            </a:r>
          </a:p>
        </p:txBody>
      </p:sp>
      <p:sp>
        <p:nvSpPr>
          <p:cNvPr id="30" name="page-03-text-017-00">
            <a:extLst xmlns:a="http://schemas.openxmlformats.org/drawingml/2006/main">
              <a:ext uri="{FF2B5EF4-FFF2-40B4-BE49-F238E27FC236}">
                <a16:creationId xmlns:a16="http://schemas.microsoft.com/office/drawing/2014/main" id="{8FBB3E23-A925-40E5-A54C-1B3CDCB9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5690311"/>
            <a:ext cx="5717886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5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rite-wins 저장을 추가했다. 정상 완료, 완료 상태 복구, 성공 직후 크래시 복구를 보통 / 쉬움 / 귀속</a:t>
            </a:r>
          </a:p>
        </p:txBody>
      </p:sp>
      <p:sp>
        <p:nvSpPr>
          <p:cNvPr id="31" name="page-03-text-018-00">
            <a:extLst xmlns:a="http://schemas.openxmlformats.org/drawingml/2006/main">
              <a:ext uri="{FF2B5EF4-FFF2-40B4-BE49-F238E27FC236}">
                <a16:creationId xmlns:a16="http://schemas.microsoft.com/office/drawing/2014/main" id="{EEBDB1DE-5E16-41A6-B082-6DACCD57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5923433"/>
            <a:ext cx="1641127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정보 없음 행렬로 검증했다.</a:t>
            </a:r>
          </a:p>
        </p:txBody>
      </p:sp>
      <p:sp>
        <p:nvSpPr>
          <p:cNvPr id="32" name="page-03-text-019-00">
            <a:extLst xmlns:a="http://schemas.openxmlformats.org/drawingml/2006/main">
              <a:ext uri="{FF2B5EF4-FFF2-40B4-BE49-F238E27FC236}">
                <a16:creationId xmlns:a16="http://schemas.microsoft.com/office/drawing/2014/main" id="{7BF45AD6-078A-46AE-AEED-25741F2E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6231802"/>
            <a:ext cx="5693558" cy="197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이 세 사례는 AI를 많이 썼다는 사실보다 더 중요한 결론을 남겼다. AI가 만든 코드, 지표, 문장도</a:t>
            </a:r>
          </a:p>
        </p:txBody>
      </p:sp>
      <p:sp>
        <p:nvSpPr>
          <p:cNvPr id="33" name="page-03-text-020-00">
            <a:extLst xmlns:a="http://schemas.openxmlformats.org/drawingml/2006/main">
              <a:ext uri="{FF2B5EF4-FFF2-40B4-BE49-F238E27FC236}">
                <a16:creationId xmlns:a16="http://schemas.microsoft.com/office/drawing/2014/main" id="{C3D043F9-8CBF-41EF-8D38-3A417B5A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6458571"/>
            <a:ext cx="2628242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7" b="1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7" b="1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다른 AI와 실행 증거로 다시 확인해야 한다.</a:t>
            </a:r>
          </a:p>
        </p:txBody>
      </p:sp>
      <p:sp>
        <p:nvSpPr>
          <p:cNvPr id="34" name="page-03-text-021-00">
            <a:extLst xmlns:a="http://schemas.openxmlformats.org/drawingml/2006/main">
              <a:ext uri="{FF2B5EF4-FFF2-40B4-BE49-F238E27FC236}">
                <a16:creationId xmlns:a16="http://schemas.microsoft.com/office/drawing/2014/main" id="{295C34BD-77E7-42CE-8FFC-43D0AE79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6873452"/>
            <a:ext cx="3636967" cy="260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4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844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4. 프롬프트가 실제 작업으로 바뀌는 흐름</a:t>
            </a:r>
          </a:p>
        </p:txBody>
      </p:sp>
      <p:sp>
        <p:nvSpPr>
          <p:cNvPr id="35" name="page-03-text-022-00">
            <a:extLst xmlns:a="http://schemas.openxmlformats.org/drawingml/2006/main">
              <a:ext uri="{FF2B5EF4-FFF2-40B4-BE49-F238E27FC236}">
                <a16:creationId xmlns:a16="http://schemas.microsoft.com/office/drawing/2014/main" id="{19298ACE-1D8A-4A61-BC66-5EDD9EE7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7356617"/>
            <a:ext cx="1432981" cy="222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8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698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4.1 공통 제작 루프</a:t>
            </a:r>
          </a:p>
        </p:txBody>
      </p:sp>
      <p:sp>
        <p:nvSpPr>
          <p:cNvPr id="36" name="page-03-text-023-00">
            <a:extLst xmlns:a="http://schemas.openxmlformats.org/drawingml/2006/main">
              <a:ext uri="{FF2B5EF4-FFF2-40B4-BE49-F238E27FC236}">
                <a16:creationId xmlns:a16="http://schemas.microsoft.com/office/drawing/2014/main" id="{A02B3F73-FA6B-4F72-BB86-A4280797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50" y="7796023"/>
            <a:ext cx="454404" cy="177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607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사용자</a:t>
            </a:r>
          </a:p>
        </p:txBody>
      </p:sp>
      <p:sp>
        <p:nvSpPr>
          <p:cNvPr id="37" name="page-03-text-024-00">
            <a:extLst xmlns:a="http://schemas.openxmlformats.org/drawingml/2006/main">
              <a:ext uri="{FF2B5EF4-FFF2-40B4-BE49-F238E27FC236}">
                <a16:creationId xmlns:a16="http://schemas.microsoft.com/office/drawing/2014/main" id="{CF669541-992A-40B2-8F58-2DA7F1E2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01" y="7849628"/>
            <a:ext cx="4907988" cy="247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5" b="1" i="0">
                <a:solidFill>
                  <a:srgbClr val="7A5A00"/>
                </a:solidFill>
                <a:latin typeface="Nanum Gothic"/>
                <a:ea typeface="Nanum Gothic"/>
                <a:cs typeface="Nanum Gothic"/>
              </a:defRPr>
            </a:pPr>
            <a:r>
              <a:rPr sz="995" b="1" i="0">
                <a:solidFill>
                  <a:srgbClr val="7A5A00"/>
                </a:solidFill>
                <a:latin typeface="Nanum Gothic"/>
                <a:ea typeface="Nanum Gothic"/>
                <a:cs typeface="Nanum Gothic"/>
              </a:rPr>
              <a:t>→ 기능 계약 → 전문 실행 → 독립 감사 → 증거·통합</a:t>
            </a:r>
          </a:p>
        </p:txBody>
      </p:sp>
      <p:sp>
        <p:nvSpPr>
          <p:cNvPr id="38" name="page-03-text-025-00">
            <a:extLst xmlns:a="http://schemas.openxmlformats.org/drawingml/2006/main">
              <a:ext uri="{FF2B5EF4-FFF2-40B4-BE49-F238E27FC236}">
                <a16:creationId xmlns:a16="http://schemas.microsoft.com/office/drawing/2014/main" id="{AC866399-AE98-4D2E-96C4-B994769A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50" y="7961813"/>
            <a:ext cx="454404" cy="177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607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피드백</a:t>
            </a:r>
          </a:p>
        </p:txBody>
      </p:sp>
      <p:sp>
        <p:nvSpPr>
          <p:cNvPr id="39" name="page-03-text-026-00">
            <a:extLst xmlns:a="http://schemas.openxmlformats.org/drawingml/2006/main">
              <a:ext uri="{FF2B5EF4-FFF2-40B4-BE49-F238E27FC236}">
                <a16:creationId xmlns:a16="http://schemas.microsoft.com/office/drawing/2014/main" id="{35BF8CE7-528A-43E1-AAF7-5D3215E2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9733" y="8281456"/>
            <a:ext cx="2561450" cy="165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5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defRPr>
            </a:pPr>
            <a:r>
              <a:rPr sz="455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rPr>
              <a:t>감사에서 문제가 발견되면 기능 계약 단계로 돌아간다.</a:t>
            </a:r>
          </a:p>
        </p:txBody>
      </p:sp>
      <p:sp>
        <p:nvSpPr>
          <p:cNvPr id="40" name="page-03-text-027-00">
            <a:extLst xmlns:a="http://schemas.openxmlformats.org/drawingml/2006/main">
              <a:ext uri="{FF2B5EF4-FFF2-40B4-BE49-F238E27FC236}">
                <a16:creationId xmlns:a16="http://schemas.microsoft.com/office/drawing/2014/main" id="{6437F08C-75E0-4F50-9B35-5587744E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8595123"/>
            <a:ext cx="578717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사용자 피드백을 기능 계약으로 바꾸고, 담당 에이전트가 구현한 뒤 독립 감사와 실행 증거를 거쳐</a:t>
            </a:r>
          </a:p>
        </p:txBody>
      </p:sp>
      <p:sp>
        <p:nvSpPr>
          <p:cNvPr id="41" name="page-03-text-028-00">
            <a:extLst xmlns:a="http://schemas.openxmlformats.org/drawingml/2006/main">
              <a:ext uri="{FF2B5EF4-FFF2-40B4-BE49-F238E27FC236}">
                <a16:creationId xmlns:a16="http://schemas.microsoft.com/office/drawing/2014/main" id="{F1883EF1-1CCF-45EC-BB91-56F2D4CA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8828244"/>
            <a:ext cx="4753652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통합했다. 감사에서 문제가 나오면 완료로 처리하지 않고 계약 단계로 되돌렸다.</a:t>
            </a:r>
          </a:p>
        </p:txBody>
      </p:sp>
      <p:sp>
        <p:nvSpPr>
          <p:cNvPr id="42" name="page-03-text-029-00">
            <a:extLst xmlns:a="http://schemas.openxmlformats.org/drawingml/2006/main">
              <a:ext uri="{FF2B5EF4-FFF2-40B4-BE49-F238E27FC236}">
                <a16:creationId xmlns:a16="http://schemas.microsoft.com/office/drawing/2014/main" id="{7AC1AD2A-5E66-435A-8217-75CEE866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8228" y="10099425"/>
            <a:ext cx="2276565" cy="165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9" b="0" i="0">
                <a:solidFill>
                  <a:srgbClr val="586270"/>
                </a:solidFill>
                <a:latin typeface="Aptos"/>
                <a:ea typeface="Aptos"/>
                <a:cs typeface="Aptos"/>
              </a:defRPr>
            </a:pPr>
            <a:r>
              <a:rPr sz="439" b="0" i="0">
                <a:solidFill>
                  <a:srgbClr val="586270"/>
                </a:solidFill>
                <a:latin typeface="Aptos"/>
                <a:ea typeface="Aptos"/>
                <a:cs typeface="Aptos"/>
              </a:rPr>
              <a:t>Property Shot · AI Technical Report · Page 3</a:t>
            </a:r>
          </a:p>
        </p:txBody>
      </p:sp>
    </p:spTree>
    <p:extLst>
      <p:ext uri="{BB962C8B-B14F-4D97-AF65-F5344CB8AC3E}">
        <p14:creationId xmlns:p14="http://schemas.microsoft.com/office/powerpoint/2010/main" val="9832908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page-04-rect-000">
            <a:extLst xmlns:a="http://schemas.openxmlformats.org/drawingml/2006/main">
              <a:ext uri="{FF2B5EF4-FFF2-40B4-BE49-F238E27FC236}">
                <a16:creationId xmlns:a16="http://schemas.microsoft.com/office/drawing/2014/main" id="{A432B2EF-E799-4925-9CF0-534B75D0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1267144"/>
            <a:ext cx="1079220" cy="5075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ge-04-rect-001">
            <a:extLst xmlns:a="http://schemas.openxmlformats.org/drawingml/2006/main">
              <a:ext uri="{FF2B5EF4-FFF2-40B4-BE49-F238E27FC236}">
                <a16:creationId xmlns:a16="http://schemas.microsoft.com/office/drawing/2014/main" id="{4E092255-4B67-42EE-AF5B-41FC5BAE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557" y="1267144"/>
            <a:ext cx="2159076" cy="5075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04-rect-002">
            <a:extLst xmlns:a="http://schemas.openxmlformats.org/drawingml/2006/main">
              <a:ext uri="{FF2B5EF4-FFF2-40B4-BE49-F238E27FC236}">
                <a16:creationId xmlns:a16="http://schemas.microsoft.com/office/drawing/2014/main" id="{27B609C4-85EF-43B4-8B67-1AD3EB50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268" y="1267144"/>
            <a:ext cx="2705356" cy="5075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4-rect-003">
            <a:extLst xmlns:a="http://schemas.openxmlformats.org/drawingml/2006/main">
              <a:ext uri="{FF2B5EF4-FFF2-40B4-BE49-F238E27FC236}">
                <a16:creationId xmlns:a16="http://schemas.microsoft.com/office/drawing/2014/main" id="{6727B34E-2EE8-4177-891B-268186BE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1267144"/>
            <a:ext cx="1079220" cy="5075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04-rect-004">
            <a:extLst xmlns:a="http://schemas.openxmlformats.org/drawingml/2006/main">
              <a:ext uri="{FF2B5EF4-FFF2-40B4-BE49-F238E27FC236}">
                <a16:creationId xmlns:a16="http://schemas.microsoft.com/office/drawing/2014/main" id="{6FEFD2F5-FBA7-46AA-B99E-FDB2848C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557" y="1267144"/>
            <a:ext cx="2159076" cy="5075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04-rect-005">
            <a:extLst xmlns:a="http://schemas.openxmlformats.org/drawingml/2006/main">
              <a:ext uri="{FF2B5EF4-FFF2-40B4-BE49-F238E27FC236}">
                <a16:creationId xmlns:a16="http://schemas.microsoft.com/office/drawing/2014/main" id="{0B01D7A0-1250-41C3-BCBE-8E01E7A9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268" y="1267144"/>
            <a:ext cx="2705356" cy="5075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ge-04-line-000">
            <a:extLst xmlns:a="http://schemas.openxmlformats.org/drawingml/2006/main">
              <a:ext uri="{FF2B5EF4-FFF2-40B4-BE49-F238E27FC236}">
                <a16:creationId xmlns:a16="http://schemas.microsoft.com/office/drawing/2014/main" id="{8C61027E-E99F-4EF9-B6B2-FAF9FAB7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5" y="1270320"/>
            <a:ext cx="595191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8" name="page-04-line-001">
            <a:extLst xmlns:a="http://schemas.openxmlformats.org/drawingml/2006/main">
              <a:ext uri="{FF2B5EF4-FFF2-40B4-BE49-F238E27FC236}">
                <a16:creationId xmlns:a16="http://schemas.microsoft.com/office/drawing/2014/main" id="{5B5958D9-F658-48B1-9D5B-DABA6738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1778487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9" name="page-04-line-002">
            <a:extLst xmlns:a="http://schemas.openxmlformats.org/drawingml/2006/main">
              <a:ext uri="{FF2B5EF4-FFF2-40B4-BE49-F238E27FC236}">
                <a16:creationId xmlns:a16="http://schemas.microsoft.com/office/drawing/2014/main" id="{4C06AE66-DB45-4857-BD72-99D235E8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2854531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0" name="page-04-line-003">
            <a:extLst xmlns:a="http://schemas.openxmlformats.org/drawingml/2006/main">
              <a:ext uri="{FF2B5EF4-FFF2-40B4-BE49-F238E27FC236}">
                <a16:creationId xmlns:a16="http://schemas.microsoft.com/office/drawing/2014/main" id="{8AA9D050-7984-4BFF-B817-2C6C820F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4173225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1" name="page-04-line-004">
            <a:extLst xmlns:a="http://schemas.openxmlformats.org/drawingml/2006/main">
              <a:ext uri="{FF2B5EF4-FFF2-40B4-BE49-F238E27FC236}">
                <a16:creationId xmlns:a16="http://schemas.microsoft.com/office/drawing/2014/main" id="{35479387-6DF1-4188-A54B-2FEDE1E8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5005349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2" name="page-04-line-005">
            <a:extLst xmlns:a="http://schemas.openxmlformats.org/drawingml/2006/main">
              <a:ext uri="{FF2B5EF4-FFF2-40B4-BE49-F238E27FC236}">
                <a16:creationId xmlns:a16="http://schemas.microsoft.com/office/drawing/2014/main" id="{9E2E5A10-A094-44FD-8987-72C28F05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5" y="6567964"/>
            <a:ext cx="595191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3" name="page-04-line-006">
            <a:extLst xmlns:a="http://schemas.openxmlformats.org/drawingml/2006/main">
              <a:ext uri="{FF2B5EF4-FFF2-40B4-BE49-F238E27FC236}">
                <a16:creationId xmlns:a16="http://schemas.microsoft.com/office/drawing/2014/main" id="{E8960DB6-0C82-4FEB-BEF0-3EE7EB62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1267144"/>
            <a:ext cx="9525" cy="53039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4" name="page-04-line-007">
            <a:extLst xmlns:a="http://schemas.openxmlformats.org/drawingml/2006/main">
              <a:ext uri="{FF2B5EF4-FFF2-40B4-BE49-F238E27FC236}">
                <a16:creationId xmlns:a16="http://schemas.microsoft.com/office/drawing/2014/main" id="{00A057BB-7BBB-4E14-8506-B8FEC6F8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557" y="1273496"/>
            <a:ext cx="9525" cy="52912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5" name="page-04-line-008">
            <a:extLst xmlns:a="http://schemas.openxmlformats.org/drawingml/2006/main">
              <a:ext uri="{FF2B5EF4-FFF2-40B4-BE49-F238E27FC236}">
                <a16:creationId xmlns:a16="http://schemas.microsoft.com/office/drawing/2014/main" id="{078FF3E9-959C-4006-AC09-A201D4AD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268" y="1273496"/>
            <a:ext cx="9525" cy="52912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6" name="page-04-line-009">
            <a:extLst xmlns:a="http://schemas.openxmlformats.org/drawingml/2006/main">
              <a:ext uri="{FF2B5EF4-FFF2-40B4-BE49-F238E27FC236}">
                <a16:creationId xmlns:a16="http://schemas.microsoft.com/office/drawing/2014/main" id="{F8CD6AE6-62EB-466A-8119-CD014149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0259" y="1267144"/>
            <a:ext cx="9525" cy="53039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7" name="page-04-line-010">
            <a:extLst xmlns:a="http://schemas.openxmlformats.org/drawingml/2006/main">
              <a:ext uri="{FF2B5EF4-FFF2-40B4-BE49-F238E27FC236}">
                <a16:creationId xmlns:a16="http://schemas.microsoft.com/office/drawing/2014/main" id="{8B871751-6F58-415D-8B51-C25E7710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78940"/>
            <a:ext cx="573276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8">
            <a:solidFill>
              <a:srgbClr val="D7DBE2"/>
            </a:solidFill>
            <a:prstDash val="solid"/>
          </a:ln>
        </p:spPr>
      </p:sp>
      <p:sp>
        <p:nvSpPr>
          <p:cNvPr id="18" name="page-04-line-011">
            <a:extLst xmlns:a="http://schemas.openxmlformats.org/drawingml/2006/main">
              <a:ext uri="{FF2B5EF4-FFF2-40B4-BE49-F238E27FC236}">
                <a16:creationId xmlns:a16="http://schemas.microsoft.com/office/drawing/2014/main" id="{842FDAF3-FBEA-4814-8428-D95E6943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78940"/>
            <a:ext cx="573276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8">
            <a:solidFill>
              <a:srgbClr val="D7DBE2"/>
            </a:solidFill>
            <a:prstDash val="solid"/>
          </a:ln>
        </p:spPr>
      </p:sp>
      <p:sp>
        <p:nvSpPr>
          <p:cNvPr id="19" name="page-04-text-000-00">
            <a:extLst xmlns:a="http://schemas.openxmlformats.org/drawingml/2006/main">
              <a:ext uri="{FF2B5EF4-FFF2-40B4-BE49-F238E27FC236}">
                <a16:creationId xmlns:a16="http://schemas.microsoft.com/office/drawing/2014/main" id="{B9581424-B798-40EC-B51D-88FEEFB0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6631" y="468104"/>
            <a:ext cx="1948377" cy="171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4" b="0" i="0">
                <a:solidFill>
                  <a:srgbClr val="586270"/>
                </a:solidFill>
                <a:latin typeface="Aptos"/>
                <a:ea typeface="Aptos"/>
                <a:cs typeface="Aptos"/>
              </a:defRPr>
            </a:pPr>
            <a:r>
              <a:rPr sz="464" b="0" i="0">
                <a:solidFill>
                  <a:srgbClr val="586270"/>
                </a:solidFill>
                <a:latin typeface="Aptos"/>
                <a:ea typeface="Aptos"/>
                <a:cs typeface="Aptos"/>
              </a:rPr>
              <a:t>Property Shot · AI Technical Report</a:t>
            </a:r>
          </a:p>
        </p:txBody>
      </p:sp>
      <p:sp>
        <p:nvSpPr>
          <p:cNvPr id="20" name="page-04-text-001-00">
            <a:extLst xmlns:a="http://schemas.openxmlformats.org/drawingml/2006/main">
              <a:ext uri="{FF2B5EF4-FFF2-40B4-BE49-F238E27FC236}">
                <a16:creationId xmlns:a16="http://schemas.microsoft.com/office/drawing/2014/main" id="{F87A8EE0-FA4F-4251-AEFB-CDB57F9B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946087"/>
            <a:ext cx="3122346" cy="222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87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687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4.2 실제 프롬프트를 작업 계약으로 바꾼 예</a:t>
            </a:r>
          </a:p>
        </p:txBody>
      </p:sp>
      <p:sp>
        <p:nvSpPr>
          <p:cNvPr id="21" name="page-04-text-002-00">
            <a:extLst xmlns:a="http://schemas.openxmlformats.org/drawingml/2006/main">
              <a:ext uri="{FF2B5EF4-FFF2-40B4-BE49-F238E27FC236}">
                <a16:creationId xmlns:a16="http://schemas.microsoft.com/office/drawing/2014/main" id="{DDBE52CA-FE57-449A-A79D-F1E277EE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1344502"/>
            <a:ext cx="940618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7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627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실제 프롬프트</a:t>
            </a:r>
          </a:p>
        </p:txBody>
      </p:sp>
      <p:sp>
        <p:nvSpPr>
          <p:cNvPr id="22" name="page-04-text-003-00">
            <a:extLst xmlns:a="http://schemas.openxmlformats.org/drawingml/2006/main">
              <a:ext uri="{FF2B5EF4-FFF2-40B4-BE49-F238E27FC236}">
                <a16:creationId xmlns:a16="http://schemas.microsoft.com/office/drawing/2014/main" id="{CF75E958-A2D3-42AB-9579-CF23EAFE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892" y="1444865"/>
            <a:ext cx="1373412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8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608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계약으로 변환한 제약</a:t>
            </a:r>
          </a:p>
        </p:txBody>
      </p:sp>
      <p:sp>
        <p:nvSpPr>
          <p:cNvPr id="23" name="page-04-text-003-01">
            <a:extLst xmlns:a="http://schemas.openxmlformats.org/drawingml/2006/main">
              <a:ext uri="{FF2B5EF4-FFF2-40B4-BE49-F238E27FC236}">
                <a16:creationId xmlns:a16="http://schemas.microsoft.com/office/drawing/2014/main" id="{447B0E8E-DF7F-444E-93F1-612053F1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238" y="1444865"/>
            <a:ext cx="98081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8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608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수행·검증 결과</a:t>
            </a:r>
          </a:p>
        </p:txBody>
      </p:sp>
      <p:sp>
        <p:nvSpPr>
          <p:cNvPr id="24" name="page-04-text-004-00">
            <a:extLst xmlns:a="http://schemas.openxmlformats.org/drawingml/2006/main">
              <a:ext uri="{FF2B5EF4-FFF2-40B4-BE49-F238E27FC236}">
                <a16:creationId xmlns:a16="http://schemas.microsoft.com/office/drawing/2014/main" id="{8CEB24A7-0D2B-47C9-B332-DDD4FE92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1545864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발췌</a:t>
            </a:r>
          </a:p>
        </p:txBody>
      </p:sp>
      <p:sp>
        <p:nvSpPr>
          <p:cNvPr id="25" name="page-04-text-005-00">
            <a:extLst xmlns:a="http://schemas.openxmlformats.org/drawingml/2006/main">
              <a:ext uri="{FF2B5EF4-FFF2-40B4-BE49-F238E27FC236}">
                <a16:creationId xmlns:a16="http://schemas.microsoft.com/office/drawing/2014/main" id="{30CB02ED-2C67-4938-8D7F-BD29D22D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1856189"/>
            <a:ext cx="950870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1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“모바일에서는</a:t>
            </a:r>
          </a:p>
        </p:txBody>
      </p:sp>
      <p:sp>
        <p:nvSpPr>
          <p:cNvPr id="26" name="page-04-text-006-00">
            <a:extLst xmlns:a="http://schemas.openxmlformats.org/drawingml/2006/main">
              <a:ext uri="{FF2B5EF4-FFF2-40B4-BE49-F238E27FC236}">
                <a16:creationId xmlns:a16="http://schemas.microsoft.com/office/drawing/2014/main" id="{8B57275D-D807-4AC8-A3B7-39B78873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2100109"/>
            <a:ext cx="5511253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1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손가락 때문에 입력 임계값과 물리는 유지, 기물· 부유 직선 게이지, 좌·우 선호, 접근성</a:t>
            </a:r>
          </a:p>
        </p:txBody>
      </p:sp>
      <p:sp>
        <p:nvSpPr>
          <p:cNvPr id="27" name="page-04-text-007-00">
            <a:extLst xmlns:a="http://schemas.openxmlformats.org/drawingml/2006/main">
              <a:ext uri="{FF2B5EF4-FFF2-40B4-BE49-F238E27FC236}">
                <a16:creationId xmlns:a16="http://schemas.microsoft.com/office/drawing/2014/main" id="{8802F213-682E-4C8A-A8FA-88195435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2344029"/>
            <a:ext cx="2644211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2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게이지가 잘 안 SafeArea·저모션을 보호</a:t>
            </a:r>
          </a:p>
        </p:txBody>
      </p:sp>
      <p:sp>
        <p:nvSpPr>
          <p:cNvPr id="28" name="page-04-text-007-01">
            <a:extLst xmlns:a="http://schemas.openxmlformats.org/drawingml/2006/main">
              <a:ext uri="{FF2B5EF4-FFF2-40B4-BE49-F238E27FC236}">
                <a16:creationId xmlns:a16="http://schemas.microsoft.com/office/drawing/2014/main" id="{035A9E55-1B00-4D35-87DB-FCE9976D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238" y="2344029"/>
            <a:ext cx="931522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4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·Golden 검사</a:t>
            </a:r>
          </a:p>
        </p:txBody>
      </p:sp>
      <p:sp>
        <p:nvSpPr>
          <p:cNvPr id="29" name="page-04-text-008-00">
            <a:extLst xmlns:a="http://schemas.openxmlformats.org/drawingml/2006/main">
              <a:ext uri="{FF2B5EF4-FFF2-40B4-BE49-F238E27FC236}">
                <a16:creationId xmlns:a16="http://schemas.microsoft.com/office/drawing/2014/main" id="{0EE65474-13B6-45FC-80E7-6337F9C7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2587950"/>
            <a:ext cx="59896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2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보인다.”</a:t>
            </a:r>
          </a:p>
        </p:txBody>
      </p:sp>
      <p:sp>
        <p:nvSpPr>
          <p:cNvPr id="30" name="page-04-text-009-00">
            <a:extLst xmlns:a="http://schemas.openxmlformats.org/drawingml/2006/main">
              <a:ext uri="{FF2B5EF4-FFF2-40B4-BE49-F238E27FC236}">
                <a16:creationId xmlns:a16="http://schemas.microsoft.com/office/drawing/2014/main" id="{102CC81A-5D59-4F12-9BC6-F66DD6AB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2931598"/>
            <a:ext cx="72778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3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“게임이 좀</a:t>
            </a:r>
          </a:p>
        </p:txBody>
      </p:sp>
      <p:sp>
        <p:nvSpPr>
          <p:cNvPr id="31" name="page-04-text-010-00">
            <a:extLst xmlns:a="http://schemas.openxmlformats.org/drawingml/2006/main">
              <a:ext uri="{FF2B5EF4-FFF2-40B4-BE49-F238E27FC236}">
                <a16:creationId xmlns:a16="http://schemas.microsoft.com/office/drawing/2014/main" id="{30556358-B986-40DB-941D-62FDD7E4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3175518"/>
            <a:ext cx="550473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4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어렵다.</a:t>
            </a:r>
          </a:p>
        </p:txBody>
      </p:sp>
      <p:sp>
        <p:nvSpPr>
          <p:cNvPr id="32" name="page-04-text-011-00">
            <a:extLst xmlns:a="http://schemas.openxmlformats.org/drawingml/2006/main">
              <a:ext uri="{FF2B5EF4-FFF2-40B4-BE49-F238E27FC236}">
                <a16:creationId xmlns:a16="http://schemas.microsoft.com/office/drawing/2014/main" id="{8AD6A717-A795-4F83-8B16-27DA5CE1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892" y="3297478"/>
            <a:ext cx="473341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2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캠페인 첫 학습만 완화, 오늘의 기준 패턴 우선, 인과 힌트, 쉬움 예상 도착</a:t>
            </a:r>
          </a:p>
        </p:txBody>
      </p:sp>
      <p:sp>
        <p:nvSpPr>
          <p:cNvPr id="33" name="page-04-text-012-00">
            <a:extLst xmlns:a="http://schemas.openxmlformats.org/drawingml/2006/main">
              <a:ext uri="{FF2B5EF4-FFF2-40B4-BE49-F238E27FC236}">
                <a16:creationId xmlns:a16="http://schemas.microsoft.com/office/drawing/2014/main" id="{06F79690-2F65-4FA9-904C-097DAA4A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3419438"/>
            <a:ext cx="770979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4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튜토리얼을</a:t>
            </a:r>
          </a:p>
        </p:txBody>
      </p:sp>
      <p:sp>
        <p:nvSpPr>
          <p:cNvPr id="34" name="page-04-text-013-00">
            <a:extLst xmlns:a="http://schemas.openxmlformats.org/drawingml/2006/main">
              <a:ext uri="{FF2B5EF4-FFF2-40B4-BE49-F238E27FC236}">
                <a16:creationId xmlns:a16="http://schemas.microsoft.com/office/drawing/2014/main" id="{133B9922-DED9-479C-960F-FD3596D7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892" y="3541399"/>
            <a:ext cx="2536810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1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도전·리플레이·기록 공정성은 불변 표시</a:t>
            </a:r>
          </a:p>
        </p:txBody>
      </p:sp>
      <p:sp>
        <p:nvSpPr>
          <p:cNvPr id="35" name="page-04-text-014-00">
            <a:extLst xmlns:a="http://schemas.openxmlformats.org/drawingml/2006/main">
              <a:ext uri="{FF2B5EF4-FFF2-40B4-BE49-F238E27FC236}">
                <a16:creationId xmlns:a16="http://schemas.microsoft.com/office/drawing/2014/main" id="{042032A4-D33E-4FC8-83CE-554EC509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3663359"/>
            <a:ext cx="677896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5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조금만 더</a:t>
            </a:r>
          </a:p>
        </p:txBody>
      </p:sp>
      <p:sp>
        <p:nvSpPr>
          <p:cNvPr id="36" name="page-04-text-015-00">
            <a:extLst xmlns:a="http://schemas.openxmlformats.org/drawingml/2006/main">
              <a:ext uri="{FF2B5EF4-FFF2-40B4-BE49-F238E27FC236}">
                <a16:creationId xmlns:a16="http://schemas.microsoft.com/office/drawing/2014/main" id="{29966553-46F4-456C-B464-EA9015DD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3907279"/>
            <a:ext cx="467476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3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쉽게.”</a:t>
            </a:r>
          </a:p>
        </p:txBody>
      </p:sp>
      <p:sp>
        <p:nvSpPr>
          <p:cNvPr id="37" name="page-04-text-016-00">
            <a:extLst xmlns:a="http://schemas.openxmlformats.org/drawingml/2006/main">
              <a:ext uri="{FF2B5EF4-FFF2-40B4-BE49-F238E27FC236}">
                <a16:creationId xmlns:a16="http://schemas.microsoft.com/office/drawing/2014/main" id="{05A8E92E-90D3-4D0B-926C-7BAC3ECF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4250927"/>
            <a:ext cx="72778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3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“팁은 너무</a:t>
            </a:r>
          </a:p>
        </p:txBody>
      </p:sp>
      <p:sp>
        <p:nvSpPr>
          <p:cNvPr id="38" name="page-04-text-017-00">
            <a:extLst xmlns:a="http://schemas.openxmlformats.org/drawingml/2006/main">
              <a:ext uri="{FF2B5EF4-FFF2-40B4-BE49-F238E27FC236}">
                <a16:creationId xmlns:a16="http://schemas.microsoft.com/office/drawing/2014/main" id="{52B72E61-6929-4959-89DE-668460C2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892" y="4372887"/>
            <a:ext cx="4614579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9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정답 숫자 직행 금지, 패턴·버전· 40패턴 L1/L2와 선택형 열쇠, 저장·복구</a:t>
            </a:r>
          </a:p>
        </p:txBody>
      </p:sp>
      <p:sp>
        <p:nvSpPr>
          <p:cNvPr id="39" name="page-04-text-018-00">
            <a:extLst xmlns:a="http://schemas.openxmlformats.org/drawingml/2006/main">
              <a:ext uri="{FF2B5EF4-FFF2-40B4-BE49-F238E27FC236}">
                <a16:creationId xmlns:a16="http://schemas.microsoft.com/office/drawing/2014/main" id="{CF9C34B5-DD97-46B6-B746-528FD396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4494848"/>
            <a:ext cx="940669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2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추상적이면 안</a:t>
            </a:r>
          </a:p>
        </p:txBody>
      </p:sp>
      <p:sp>
        <p:nvSpPr>
          <p:cNvPr id="40" name="page-04-text-019-00">
            <a:extLst xmlns:a="http://schemas.openxmlformats.org/drawingml/2006/main">
              <a:ext uri="{FF2B5EF4-FFF2-40B4-BE49-F238E27FC236}">
                <a16:creationId xmlns:a16="http://schemas.microsoft.com/office/drawing/2014/main" id="{CA5B9E4F-D69E-4736-B6F9-FBD5BA81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892" y="4616808"/>
            <a:ext cx="1111248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1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대상 기물에 결속</a:t>
            </a:r>
          </a:p>
        </p:txBody>
      </p:sp>
      <p:sp>
        <p:nvSpPr>
          <p:cNvPr id="41" name="page-04-text-019-01">
            <a:extLst xmlns:a="http://schemas.openxmlformats.org/drawingml/2006/main">
              <a:ext uri="{FF2B5EF4-FFF2-40B4-BE49-F238E27FC236}">
                <a16:creationId xmlns:a16="http://schemas.microsoft.com/office/drawing/2014/main" id="{C2BD7BB5-4F94-4841-97D2-E4E1DD56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238" y="4616808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검증</a:t>
            </a:r>
          </a:p>
        </p:txBody>
      </p:sp>
      <p:sp>
        <p:nvSpPr>
          <p:cNvPr id="42" name="page-04-text-020-00">
            <a:extLst xmlns:a="http://schemas.openxmlformats.org/drawingml/2006/main">
              <a:ext uri="{FF2B5EF4-FFF2-40B4-BE49-F238E27FC236}">
                <a16:creationId xmlns:a16="http://schemas.microsoft.com/office/drawing/2014/main" id="{E6FE900C-CCB3-48DB-9526-12913484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4738768"/>
            <a:ext cx="467476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3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된다.”</a:t>
            </a:r>
          </a:p>
        </p:txBody>
      </p:sp>
      <p:sp>
        <p:nvSpPr>
          <p:cNvPr id="43" name="page-04-text-021-00">
            <a:extLst xmlns:a="http://schemas.openxmlformats.org/drawingml/2006/main">
              <a:ext uri="{FF2B5EF4-FFF2-40B4-BE49-F238E27FC236}">
                <a16:creationId xmlns:a16="http://schemas.microsoft.com/office/drawing/2014/main" id="{106EB07F-3971-4872-90C0-66FFEB9B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5082416"/>
            <a:ext cx="42542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8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8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“모든</a:t>
            </a:r>
          </a:p>
        </p:txBody>
      </p:sp>
      <p:sp>
        <p:nvSpPr>
          <p:cNvPr id="44" name="page-04-text-022-00">
            <a:extLst xmlns:a="http://schemas.openxmlformats.org/drawingml/2006/main">
              <a:ext uri="{FF2B5EF4-FFF2-40B4-BE49-F238E27FC236}">
                <a16:creationId xmlns:a16="http://schemas.microsoft.com/office/drawing/2014/main" id="{0203727F-EADE-4B6A-986A-57983DD4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5326336"/>
            <a:ext cx="901909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3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스테이지에서</a:t>
            </a:r>
          </a:p>
        </p:txBody>
      </p:sp>
      <p:sp>
        <p:nvSpPr>
          <p:cNvPr id="45" name="page-04-text-023-00">
            <a:extLst xmlns:a="http://schemas.openxmlformats.org/drawingml/2006/main">
              <a:ext uri="{FF2B5EF4-FFF2-40B4-BE49-F238E27FC236}">
                <a16:creationId xmlns:a16="http://schemas.microsoft.com/office/drawing/2014/main" id="{46FA5994-08FF-4471-BABF-8D2D7B74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5570257"/>
            <a:ext cx="5905591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3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기믹 활용이 준비 전·후를 같은 입력 집합에서 잘못된 1차 지표를 반려하고 레벨·검증 계약</a:t>
            </a:r>
          </a:p>
        </p:txBody>
      </p:sp>
      <p:sp>
        <p:nvSpPr>
          <p:cNvPr id="46" name="page-04-text-024-00">
            <a:extLst xmlns:a="http://schemas.openxmlformats.org/drawingml/2006/main">
              <a:ext uri="{FF2B5EF4-FFF2-40B4-BE49-F238E27FC236}">
                <a16:creationId xmlns:a16="http://schemas.microsoft.com/office/drawing/2014/main" id="{B29C0EF1-0BE8-4757-9DA6-0356022F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5814177"/>
            <a:ext cx="37651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매우</a:t>
            </a:r>
          </a:p>
        </p:txBody>
      </p:sp>
      <p:sp>
        <p:nvSpPr>
          <p:cNvPr id="47" name="page-04-text-024-01">
            <a:extLst xmlns:a="http://schemas.openxmlformats.org/drawingml/2006/main">
              <a:ext uri="{FF2B5EF4-FFF2-40B4-BE49-F238E27FC236}">
                <a16:creationId xmlns:a16="http://schemas.microsoft.com/office/drawing/2014/main" id="{6F265F2F-F608-4E8E-829A-E396AC68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892" y="5814177"/>
            <a:ext cx="1625971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9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비교, 실제 기믹 사건 필수</a:t>
            </a:r>
          </a:p>
        </p:txBody>
      </p:sp>
      <p:sp>
        <p:nvSpPr>
          <p:cNvPr id="48" name="page-04-text-024-02">
            <a:extLst xmlns:a="http://schemas.openxmlformats.org/drawingml/2006/main">
              <a:ext uri="{FF2B5EF4-FFF2-40B4-BE49-F238E27FC236}">
                <a16:creationId xmlns:a16="http://schemas.microsoft.com/office/drawing/2014/main" id="{247FF148-BFB2-4114-AD02-FE97511E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238" y="5814177"/>
            <a:ext cx="50782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8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8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재설계</a:t>
            </a:r>
          </a:p>
        </p:txBody>
      </p:sp>
      <p:sp>
        <p:nvSpPr>
          <p:cNvPr id="49" name="page-04-text-025-00">
            <a:extLst xmlns:a="http://schemas.openxmlformats.org/drawingml/2006/main">
              <a:ext uri="{FF2B5EF4-FFF2-40B4-BE49-F238E27FC236}">
                <a16:creationId xmlns:a16="http://schemas.microsoft.com/office/drawing/2014/main" id="{1209C0ED-BB74-43A9-B95A-6FB87BBB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6058097"/>
            <a:ext cx="770547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4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유리하도록</a:t>
            </a:r>
          </a:p>
        </p:txBody>
      </p:sp>
      <p:sp>
        <p:nvSpPr>
          <p:cNvPr id="50" name="page-04-text-026-00">
            <a:extLst xmlns:a="http://schemas.openxmlformats.org/drawingml/2006/main">
              <a:ext uri="{FF2B5EF4-FFF2-40B4-BE49-F238E27FC236}">
                <a16:creationId xmlns:a16="http://schemas.microsoft.com/office/drawing/2014/main" id="{7F33ACEB-7678-4ECA-A8C1-DEC7BD90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6302018"/>
            <a:ext cx="467476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3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검증.”</a:t>
            </a:r>
          </a:p>
        </p:txBody>
      </p:sp>
      <p:sp>
        <p:nvSpPr>
          <p:cNvPr id="51" name="page-04-text-027-00">
            <a:extLst xmlns:a="http://schemas.openxmlformats.org/drawingml/2006/main">
              <a:ext uri="{FF2B5EF4-FFF2-40B4-BE49-F238E27FC236}">
                <a16:creationId xmlns:a16="http://schemas.microsoft.com/office/drawing/2014/main" id="{18B887EA-B87B-4B56-9424-88624B9F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6594849"/>
            <a:ext cx="5694320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프롬프트 전문과 결과 이력은 harness_docs/prompts/prompt_history.md에 요약되어 있으며, 원래</a:t>
            </a:r>
          </a:p>
        </p:txBody>
      </p:sp>
      <p:sp>
        <p:nvSpPr>
          <p:cNvPr id="52" name="page-04-text-028-00">
            <a:extLst xmlns:a="http://schemas.openxmlformats.org/drawingml/2006/main">
              <a:ext uri="{FF2B5EF4-FFF2-40B4-BE49-F238E27FC236}">
                <a16:creationId xmlns:a16="http://schemas.microsoft.com/office/drawing/2014/main" id="{31FBEA8A-2C58-4304-9269-861E5CBC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6827971"/>
            <a:ext cx="3189767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요구·역할별 지시·최종 변경 기록을 분리해 보존한다.</a:t>
            </a:r>
          </a:p>
        </p:txBody>
      </p:sp>
      <p:sp>
        <p:nvSpPr>
          <p:cNvPr id="53" name="page-04-text-029-00">
            <a:extLst xmlns:a="http://schemas.openxmlformats.org/drawingml/2006/main">
              <a:ext uri="{FF2B5EF4-FFF2-40B4-BE49-F238E27FC236}">
                <a16:creationId xmlns:a16="http://schemas.microsoft.com/office/drawing/2014/main" id="{050E0893-F071-495C-9A51-0112C31C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7279986"/>
            <a:ext cx="2625917" cy="260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7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847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5. 주요 프롬프트가 만든 기능</a:t>
            </a:r>
          </a:p>
        </p:txBody>
      </p:sp>
      <p:sp>
        <p:nvSpPr>
          <p:cNvPr id="54" name="page-04-text-030-00">
            <a:extLst xmlns:a="http://schemas.openxmlformats.org/drawingml/2006/main">
              <a:ext uri="{FF2B5EF4-FFF2-40B4-BE49-F238E27FC236}">
                <a16:creationId xmlns:a16="http://schemas.microsoft.com/office/drawing/2014/main" id="{1B9D4B14-823F-4415-ADE9-B42F8D75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7763151"/>
            <a:ext cx="2409704" cy="222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690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5.1 손가락에 가리는 파워 게이지</a:t>
            </a:r>
          </a:p>
        </p:txBody>
      </p:sp>
      <p:sp>
        <p:nvSpPr>
          <p:cNvPr id="55" name="page-04-text-031-00">
            <a:extLst xmlns:a="http://schemas.openxmlformats.org/drawingml/2006/main">
              <a:ext uri="{FF2B5EF4-FFF2-40B4-BE49-F238E27FC236}">
                <a16:creationId xmlns:a16="http://schemas.microsoft.com/office/drawing/2014/main" id="{629B8172-EFD8-42D1-8D43-09F26E2E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8107917"/>
            <a:ext cx="5840037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사용자는 모바일에서 공 주변 게이지가 손가락에 가린다고 설명했다. 발사 감각이 달라지지 않도록</a:t>
            </a:r>
          </a:p>
        </p:txBody>
      </p:sp>
      <p:sp>
        <p:nvSpPr>
          <p:cNvPr id="56" name="page-04-text-032-00">
            <a:extLst xmlns:a="http://schemas.openxmlformats.org/drawingml/2006/main">
              <a:ext uri="{FF2B5EF4-FFF2-40B4-BE49-F238E27FC236}">
                <a16:creationId xmlns:a16="http://schemas.microsoft.com/office/drawing/2014/main" id="{7CA8D3D8-176E-42B4-97C5-91056860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8341039"/>
            <a:ext cx="5475338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입력 임계값은 그대로 두고, 표시만 공 가까이의 직선형 게이지로 옮겼다. 화면 안의 홀·풍선·</a:t>
            </a:r>
          </a:p>
        </p:txBody>
      </p:sp>
      <p:sp>
        <p:nvSpPr>
          <p:cNvPr id="57" name="page-04-text-033-00">
            <a:extLst xmlns:a="http://schemas.openxmlformats.org/drawingml/2006/main">
              <a:ext uri="{FF2B5EF4-FFF2-40B4-BE49-F238E27FC236}">
                <a16:creationId xmlns:a16="http://schemas.microsoft.com/office/drawing/2014/main" id="{81D32B07-3505-4BD5-A388-B3C834C2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8574161"/>
            <a:ext cx="4228969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슬라이더·열쇠와 겹치지 않는 후보를 고르고, 좌우 손 선호도 반영했다.</a:t>
            </a:r>
          </a:p>
        </p:txBody>
      </p:sp>
      <p:sp>
        <p:nvSpPr>
          <p:cNvPr id="58" name="page-04-text-034-00">
            <a:extLst xmlns:a="http://schemas.openxmlformats.org/drawingml/2006/main">
              <a:ext uri="{FF2B5EF4-FFF2-40B4-BE49-F238E27FC236}">
                <a16:creationId xmlns:a16="http://schemas.microsoft.com/office/drawing/2014/main" id="{D0A54C91-804D-4B80-8C48-4495C8A3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8228" y="10099425"/>
            <a:ext cx="2276565" cy="165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9" b="0" i="0">
                <a:solidFill>
                  <a:srgbClr val="586270"/>
                </a:solidFill>
                <a:latin typeface="Aptos"/>
                <a:ea typeface="Aptos"/>
                <a:cs typeface="Aptos"/>
              </a:defRPr>
            </a:pPr>
            <a:r>
              <a:rPr sz="439" b="0" i="0">
                <a:solidFill>
                  <a:srgbClr val="586270"/>
                </a:solidFill>
                <a:latin typeface="Aptos"/>
                <a:ea typeface="Aptos"/>
                <a:cs typeface="Aptos"/>
              </a:rPr>
              <a:t>Property Shot · AI Technical Report · Page 4</a:t>
            </a:r>
          </a:p>
        </p:txBody>
      </p:sp>
    </p:spTree>
    <p:extLst>
      <p:ext uri="{BB962C8B-B14F-4D97-AF65-F5344CB8AC3E}">
        <p14:creationId xmlns:p14="http://schemas.microsoft.com/office/powerpoint/2010/main" val="19165329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age-05-line-000">
            <a:extLst xmlns:a="http://schemas.openxmlformats.org/drawingml/2006/main">
              <a:ext uri="{FF2B5EF4-FFF2-40B4-BE49-F238E27FC236}">
                <a16:creationId xmlns:a16="http://schemas.microsoft.com/office/drawing/2014/main" id="{A500A92E-571E-4F42-8BC6-3B3E5BA4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78940"/>
            <a:ext cx="573276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8">
            <a:solidFill>
              <a:srgbClr val="D7DBE2"/>
            </a:solidFill>
            <a:prstDash val="solid"/>
          </a:ln>
        </p:spPr>
      </p:sp>
      <p:sp>
        <p:nvSpPr>
          <p:cNvPr id="2" name="page-05-line-001">
            <a:extLst xmlns:a="http://schemas.openxmlformats.org/drawingml/2006/main">
              <a:ext uri="{FF2B5EF4-FFF2-40B4-BE49-F238E27FC236}">
                <a16:creationId xmlns:a16="http://schemas.microsoft.com/office/drawing/2014/main" id="{E932E6FA-A0C2-429E-91BA-3EE27083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78940"/>
            <a:ext cx="573276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8">
            <a:solidFill>
              <a:srgbClr val="D7DBE2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4c31ffa1ce4d44"/>
          <a:srcRect xmlns:a="http://schemas.openxmlformats.org/drawingml/2006/main" l="116" t="0" r="1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06626" y="914593"/>
            <a:ext cx="2149548" cy="4652272"/>
          </a:xfrm>
          <a:prstGeom xmlns:a="http://schemas.openxmlformats.org/drawingml/2006/main" prst="rect">
            <a:avLst/>
          </a:prstGeom>
        </p:spPr>
      </p:pic>
      <p:sp>
        <p:nvSpPr>
          <p:cNvPr id="4" name="page-05-text-000-00">
            <a:extLst xmlns:a="http://schemas.openxmlformats.org/drawingml/2006/main">
              <a:ext uri="{FF2B5EF4-FFF2-40B4-BE49-F238E27FC236}">
                <a16:creationId xmlns:a16="http://schemas.microsoft.com/office/drawing/2014/main" id="{B9F14F79-1F6D-4CDB-B41F-261E32D0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6631" y="468104"/>
            <a:ext cx="1948377" cy="171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4" b="0" i="0">
                <a:solidFill>
                  <a:srgbClr val="586270"/>
                </a:solidFill>
                <a:latin typeface="Aptos"/>
                <a:ea typeface="Aptos"/>
                <a:cs typeface="Aptos"/>
              </a:defRPr>
            </a:pPr>
            <a:r>
              <a:rPr sz="464" b="0" i="0">
                <a:solidFill>
                  <a:srgbClr val="586270"/>
                </a:solidFill>
                <a:latin typeface="Aptos"/>
                <a:ea typeface="Aptos"/>
                <a:cs typeface="Aptos"/>
              </a:rPr>
              <a:t>Property Shot · AI Technical Report</a:t>
            </a:r>
          </a:p>
        </p:txBody>
      </p:sp>
      <p:sp>
        <p:nvSpPr>
          <p:cNvPr id="5" name="page-05-text-001-00">
            <a:extLst xmlns:a="http://schemas.openxmlformats.org/drawingml/2006/main">
              <a:ext uri="{FF2B5EF4-FFF2-40B4-BE49-F238E27FC236}">
                <a16:creationId xmlns:a16="http://schemas.microsoft.com/office/drawing/2014/main" id="{BB5D26C9-4925-4245-B112-F9DDBC8C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2636" y="5630729"/>
            <a:ext cx="2353056" cy="165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8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defRPr>
            </a:pPr>
            <a:r>
              <a:rPr sz="458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rPr>
              <a:t>기믹을 피하며 경고 상태를 보여 주는 충전 게이지</a:t>
            </a:r>
          </a:p>
        </p:txBody>
      </p:sp>
      <p:sp>
        <p:nvSpPr>
          <p:cNvPr id="6" name="page-05-text-002-00">
            <a:extLst xmlns:a="http://schemas.openxmlformats.org/drawingml/2006/main">
              <a:ext uri="{FF2B5EF4-FFF2-40B4-BE49-F238E27FC236}">
                <a16:creationId xmlns:a16="http://schemas.microsoft.com/office/drawing/2014/main" id="{E921E742-D04E-4A2B-9214-75F36207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5976943"/>
            <a:ext cx="2053136" cy="222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2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692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5.2 게임이 어렵다는 피드백</a:t>
            </a:r>
          </a:p>
        </p:txBody>
      </p:sp>
      <p:sp>
        <p:nvSpPr>
          <p:cNvPr id="7" name="page-05-text-003-00">
            <a:extLst xmlns:a="http://schemas.openxmlformats.org/drawingml/2006/main">
              <a:ext uri="{FF2B5EF4-FFF2-40B4-BE49-F238E27FC236}">
                <a16:creationId xmlns:a16="http://schemas.microsoft.com/office/drawing/2014/main" id="{2015EB36-4259-4034-B7EA-1BB534B0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6321709"/>
            <a:ext cx="5579309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첫 플레이에서 복잡한 변형이 바로 나오는 문제부터 줄였다. 1–4단계의 첫 진입만 기준 패턴을</a:t>
            </a:r>
          </a:p>
        </p:txBody>
      </p:sp>
      <p:sp>
        <p:nvSpPr>
          <p:cNvPr id="8" name="page-05-text-004-00">
            <a:extLst xmlns:a="http://schemas.openxmlformats.org/drawingml/2006/main">
              <a:ext uri="{FF2B5EF4-FFF2-40B4-BE49-F238E27FC236}">
                <a16:creationId xmlns:a16="http://schemas.microsoft.com/office/drawing/2014/main" id="{87D37B00-9123-4614-B170-4F367E39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6554831"/>
            <a:ext cx="5565042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먼저 보여 주고, 이후 셔플과 리플레이 규칙은 건드리지 않았다. 쉬움 모드는 별도 근사 물리를</a:t>
            </a:r>
          </a:p>
        </p:txBody>
      </p:sp>
      <p:sp>
        <p:nvSpPr>
          <p:cNvPr id="9" name="page-05-text-005-00">
            <a:extLst xmlns:a="http://schemas.openxmlformats.org/drawingml/2006/main">
              <a:ext uri="{FF2B5EF4-FFF2-40B4-BE49-F238E27FC236}">
                <a16:creationId xmlns:a16="http://schemas.microsoft.com/office/drawing/2014/main" id="{2512C29A-D6EC-42A7-80B5-1EE4EEBC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6787953"/>
            <a:ext cx="3924068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만들지 않고 실제 판정기의 결과를 읽어 첫 도착 위치만 표시한다.</a:t>
            </a:r>
          </a:p>
        </p:txBody>
      </p:sp>
      <p:sp>
        <p:nvSpPr>
          <p:cNvPr id="10" name="page-05-text-006-00">
            <a:extLst xmlns:a="http://schemas.openxmlformats.org/drawingml/2006/main">
              <a:ext uri="{FF2B5EF4-FFF2-40B4-BE49-F238E27FC236}">
                <a16:creationId xmlns:a16="http://schemas.microsoft.com/office/drawing/2014/main" id="{3D58D50B-5D01-44E2-AC9C-215744C4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8228" y="10099425"/>
            <a:ext cx="2276565" cy="165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9" b="0" i="0">
                <a:solidFill>
                  <a:srgbClr val="586270"/>
                </a:solidFill>
                <a:latin typeface="Aptos"/>
                <a:ea typeface="Aptos"/>
                <a:cs typeface="Aptos"/>
              </a:defRPr>
            </a:pPr>
            <a:r>
              <a:rPr sz="439" b="0" i="0">
                <a:solidFill>
                  <a:srgbClr val="586270"/>
                </a:solidFill>
                <a:latin typeface="Aptos"/>
                <a:ea typeface="Aptos"/>
                <a:cs typeface="Aptos"/>
              </a:rPr>
              <a:t>Property Shot · AI Technical Report · Page 5</a:t>
            </a:r>
          </a:p>
        </p:txBody>
      </p:sp>
    </p:spTree>
    <p:extLst>
      <p:ext uri="{BB962C8B-B14F-4D97-AF65-F5344CB8AC3E}">
        <p14:creationId xmlns:p14="http://schemas.microsoft.com/office/powerpoint/2010/main" val="7536278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page-06-line-000">
            <a:extLst xmlns:a="http://schemas.openxmlformats.org/drawingml/2006/main">
              <a:ext uri="{FF2B5EF4-FFF2-40B4-BE49-F238E27FC236}">
                <a16:creationId xmlns:a16="http://schemas.microsoft.com/office/drawing/2014/main" id="{FF99F299-5C1B-4107-873C-F11147E7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78940"/>
            <a:ext cx="573276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8">
            <a:solidFill>
              <a:srgbClr val="D7DBE2"/>
            </a:solidFill>
            <a:prstDash val="solid"/>
          </a:ln>
        </p:spPr>
      </p:sp>
      <p:sp>
        <p:nvSpPr>
          <p:cNvPr id="2" name="page-06-line-001">
            <a:extLst xmlns:a="http://schemas.openxmlformats.org/drawingml/2006/main">
              <a:ext uri="{FF2B5EF4-FFF2-40B4-BE49-F238E27FC236}">
                <a16:creationId xmlns:a16="http://schemas.microsoft.com/office/drawing/2014/main" id="{E75A82E0-00E8-4469-ADC7-089E54C3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78940"/>
            <a:ext cx="573276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8">
            <a:solidFill>
              <a:srgbClr val="D7DBE2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3a17ea413d4b17"/>
          <a:srcRect xmlns:a="http://schemas.openxmlformats.org/drawingml/2006/main" l="116" t="0" r="1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06626" y="914593"/>
            <a:ext cx="2149548" cy="4652272"/>
          </a:xfrm>
          <a:prstGeom xmlns:a="http://schemas.openxmlformats.org/drawingml/2006/main" prst="rect">
            <a:avLst/>
          </a:prstGeom>
        </p:spPr>
      </p:pic>
      <p:sp>
        <p:nvSpPr>
          <p:cNvPr id="4" name="page-06-text-000-00">
            <a:extLst xmlns:a="http://schemas.openxmlformats.org/drawingml/2006/main">
              <a:ext uri="{FF2B5EF4-FFF2-40B4-BE49-F238E27FC236}">
                <a16:creationId xmlns:a16="http://schemas.microsoft.com/office/drawing/2014/main" id="{2A64CEAF-214E-4F54-A5ED-F9C850F0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6631" y="468104"/>
            <a:ext cx="1948377" cy="171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4" b="0" i="0">
                <a:solidFill>
                  <a:srgbClr val="586270"/>
                </a:solidFill>
                <a:latin typeface="Aptos"/>
                <a:ea typeface="Aptos"/>
                <a:cs typeface="Aptos"/>
              </a:defRPr>
            </a:pPr>
            <a:r>
              <a:rPr sz="464" b="0" i="0">
                <a:solidFill>
                  <a:srgbClr val="586270"/>
                </a:solidFill>
                <a:latin typeface="Aptos"/>
                <a:ea typeface="Aptos"/>
                <a:cs typeface="Aptos"/>
              </a:rPr>
              <a:t>Property Shot · AI Technical Report</a:t>
            </a:r>
          </a:p>
        </p:txBody>
      </p:sp>
      <p:sp>
        <p:nvSpPr>
          <p:cNvPr id="5" name="page-06-text-001-00">
            <a:extLst xmlns:a="http://schemas.openxmlformats.org/drawingml/2006/main">
              <a:ext uri="{FF2B5EF4-FFF2-40B4-BE49-F238E27FC236}">
                <a16:creationId xmlns:a16="http://schemas.microsoft.com/office/drawing/2014/main" id="{C0FC33BF-3E0D-4E99-BDAB-C1D22B45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270" y="5630729"/>
            <a:ext cx="2150044" cy="165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0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defRPr>
            </a:pPr>
            <a:r>
              <a:rPr sz="460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rPr>
              <a:t>실제 판정 결과를 이용한 쉬움 모드 예상 위치</a:t>
            </a:r>
          </a:p>
        </p:txBody>
      </p:sp>
      <p:sp>
        <p:nvSpPr>
          <p:cNvPr id="6" name="page-06-text-002-00">
            <a:extLst xmlns:a="http://schemas.openxmlformats.org/drawingml/2006/main">
              <a:ext uri="{FF2B5EF4-FFF2-40B4-BE49-F238E27FC236}">
                <a16:creationId xmlns:a16="http://schemas.microsoft.com/office/drawing/2014/main" id="{1B036D4D-D685-4846-B679-386C039D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5976943"/>
            <a:ext cx="3231513" cy="222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87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687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5.3 추상적인 팁을 구체적인 플레이 도움으로</a:t>
            </a:r>
          </a:p>
        </p:txBody>
      </p:sp>
      <p:sp>
        <p:nvSpPr>
          <p:cNvPr id="7" name="page-06-text-003-00">
            <a:extLst xmlns:a="http://schemas.openxmlformats.org/drawingml/2006/main">
              <a:ext uri="{FF2B5EF4-FFF2-40B4-BE49-F238E27FC236}">
                <a16:creationId xmlns:a16="http://schemas.microsoft.com/office/drawing/2014/main" id="{9242A8E9-0E5B-42F5-B337-7540C50E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6321709"/>
            <a:ext cx="5792663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“기믹을 활용하세요” 같은 문장은 실제 행동으로 이어지지 않았다. 그래서 40개 패턴마다 L1과 L2</a:t>
            </a:r>
          </a:p>
        </p:txBody>
      </p:sp>
      <p:sp>
        <p:nvSpPr>
          <p:cNvPr id="8" name="page-06-text-004-00">
            <a:extLst xmlns:a="http://schemas.openxmlformats.org/drawingml/2006/main">
              <a:ext uri="{FF2B5EF4-FFF2-40B4-BE49-F238E27FC236}">
                <a16:creationId xmlns:a16="http://schemas.microsoft.com/office/drawing/2014/main" id="{74FAD117-F687-4F77-A169-6C55B59A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6554831"/>
            <a:ext cx="5596752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를 따로 썼다. L1은 첫 행동을, L2는 조준 위치·세기·순서·예상 결과를 설명한다. 팁은 보상이나</a:t>
            </a:r>
          </a:p>
        </p:txBody>
      </p:sp>
      <p:sp>
        <p:nvSpPr>
          <p:cNvPr id="9" name="page-06-text-005-00">
            <a:extLst xmlns:a="http://schemas.openxmlformats.org/drawingml/2006/main">
              <a:ext uri="{FF2B5EF4-FFF2-40B4-BE49-F238E27FC236}">
                <a16:creationId xmlns:a16="http://schemas.microsoft.com/office/drawing/2014/main" id="{0ED92739-715A-4989-8A1F-E661FF26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6787953"/>
            <a:ext cx="2375429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열쇠를 선택한 플레이어에게만 열린다.</a:t>
            </a:r>
          </a:p>
        </p:txBody>
      </p:sp>
      <p:sp>
        <p:nvSpPr>
          <p:cNvPr id="10" name="page-06-text-006-00">
            <a:extLst xmlns:a="http://schemas.openxmlformats.org/drawingml/2006/main">
              <a:ext uri="{FF2B5EF4-FFF2-40B4-BE49-F238E27FC236}">
                <a16:creationId xmlns:a16="http://schemas.microsoft.com/office/drawing/2014/main" id="{24000414-4969-48F3-9710-2030BE45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7097299"/>
            <a:ext cx="5632070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4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힌트는 stageId + patternId + hintVersion에 결속되어 잘못된 패턴의 답을 보여 주지 않는다. 열쇠</a:t>
            </a:r>
          </a:p>
        </p:txBody>
      </p:sp>
      <p:sp>
        <p:nvSpPr>
          <p:cNvPr id="11" name="page-06-text-007-00">
            <a:extLst xmlns:a="http://schemas.openxmlformats.org/drawingml/2006/main">
              <a:ext uri="{FF2B5EF4-FFF2-40B4-BE49-F238E27FC236}">
                <a16:creationId xmlns:a16="http://schemas.microsoft.com/office/drawing/2014/main" id="{F0EB80D4-1D74-4E1E-93EE-104E5C8C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7330421"/>
            <a:ext cx="301889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수집과 힌트 열람은 재시작·복구 뒤에도 유지된다.</a:t>
            </a:r>
          </a:p>
        </p:txBody>
      </p:sp>
      <p:sp>
        <p:nvSpPr>
          <p:cNvPr id="12" name="page-06-text-008-00">
            <a:extLst xmlns:a="http://schemas.openxmlformats.org/drawingml/2006/main">
              <a:ext uri="{FF2B5EF4-FFF2-40B4-BE49-F238E27FC236}">
                <a16:creationId xmlns:a16="http://schemas.microsoft.com/office/drawing/2014/main" id="{B2174420-5632-421B-A72B-7F8E55D6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7782436"/>
            <a:ext cx="5818707" cy="260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5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815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6. StagePatternValidator는 AI가 만든 레벨을 등록 전에 걸러낸다</a:t>
            </a:r>
          </a:p>
        </p:txBody>
      </p:sp>
      <p:sp>
        <p:nvSpPr>
          <p:cNvPr id="13" name="page-06-text-009-00">
            <a:extLst xmlns:a="http://schemas.openxmlformats.org/drawingml/2006/main">
              <a:ext uri="{FF2B5EF4-FFF2-40B4-BE49-F238E27FC236}">
                <a16:creationId xmlns:a16="http://schemas.microsoft.com/office/drawing/2014/main" id="{C847DAA0-D93F-4DB2-87EA-98F779E9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8207645"/>
            <a:ext cx="5640963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레벨 데이터가 JSON 문법에 맞는지만 보는 도구가 아니다. 새 패턴이 들어오면 정적 구조, 실제</a:t>
            </a:r>
          </a:p>
        </p:txBody>
      </p:sp>
      <p:sp>
        <p:nvSpPr>
          <p:cNvPr id="14" name="page-06-text-010-00">
            <a:extLst xmlns:a="http://schemas.openxmlformats.org/drawingml/2006/main">
              <a:ext uri="{FF2B5EF4-FFF2-40B4-BE49-F238E27FC236}">
                <a16:creationId xmlns:a16="http://schemas.microsoft.com/office/drawing/2014/main" id="{492B6976-E30E-46EE-9177-F6F9B6BD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8440767"/>
            <a:ext cx="4269622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물리, 반복 결과를 차례로 검사하고, 실패 이유를 안정된 코드로 남긴다.</a:t>
            </a:r>
          </a:p>
        </p:txBody>
      </p:sp>
      <p:sp>
        <p:nvSpPr>
          <p:cNvPr id="15" name="page-06-text-011-00">
            <a:extLst xmlns:a="http://schemas.openxmlformats.org/drawingml/2006/main">
              <a:ext uri="{FF2B5EF4-FFF2-40B4-BE49-F238E27FC236}">
                <a16:creationId xmlns:a16="http://schemas.microsoft.com/office/drawing/2014/main" id="{869C34BA-F5C0-4356-8C83-E38E2F51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8228" y="10099425"/>
            <a:ext cx="2276565" cy="165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9" b="0" i="0">
                <a:solidFill>
                  <a:srgbClr val="586270"/>
                </a:solidFill>
                <a:latin typeface="Aptos"/>
                <a:ea typeface="Aptos"/>
                <a:cs typeface="Aptos"/>
              </a:defRPr>
            </a:pPr>
            <a:r>
              <a:rPr sz="439" b="0" i="0">
                <a:solidFill>
                  <a:srgbClr val="586270"/>
                </a:solidFill>
                <a:latin typeface="Aptos"/>
                <a:ea typeface="Aptos"/>
                <a:cs typeface="Aptos"/>
              </a:rPr>
              <a:t>Property Shot · AI Technical Report · Page 6</a:t>
            </a:r>
          </a:p>
        </p:txBody>
      </p:sp>
    </p:spTree>
    <p:extLst>
      <p:ext uri="{BB962C8B-B14F-4D97-AF65-F5344CB8AC3E}">
        <p14:creationId xmlns:p14="http://schemas.microsoft.com/office/powerpoint/2010/main" val="4239253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page-07-rect-000">
            <a:extLst xmlns:a="http://schemas.openxmlformats.org/drawingml/2006/main">
              <a:ext uri="{FF2B5EF4-FFF2-40B4-BE49-F238E27FC236}">
                <a16:creationId xmlns:a16="http://schemas.microsoft.com/office/drawing/2014/main" id="{E6193F0C-E195-4273-8EF1-2475744A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915238"/>
            <a:ext cx="5734033" cy="3995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ge-07-rect-001">
            <a:extLst xmlns:a="http://schemas.openxmlformats.org/drawingml/2006/main">
              <a:ext uri="{FF2B5EF4-FFF2-40B4-BE49-F238E27FC236}">
                <a16:creationId xmlns:a16="http://schemas.microsoft.com/office/drawing/2014/main" id="{D9A0C510-BD70-4C2D-ACF9-1CA8C163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1507253"/>
            <a:ext cx="5734033" cy="463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07-rect-002">
            <a:extLst xmlns:a="http://schemas.openxmlformats.org/drawingml/2006/main">
              <a:ext uri="{FF2B5EF4-FFF2-40B4-BE49-F238E27FC236}">
                <a16:creationId xmlns:a16="http://schemas.microsoft.com/office/drawing/2014/main" id="{DDF57A72-46D9-4199-B3CB-EFB043B1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2161518"/>
            <a:ext cx="5734033" cy="463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7-rect-003">
            <a:extLst xmlns:a="http://schemas.openxmlformats.org/drawingml/2006/main">
              <a:ext uri="{FF2B5EF4-FFF2-40B4-BE49-F238E27FC236}">
                <a16:creationId xmlns:a16="http://schemas.microsoft.com/office/drawing/2014/main" id="{45C5E0B9-7B17-4663-B715-47493C9E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2817054"/>
            <a:ext cx="5734033" cy="463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07-rect-004">
            <a:extLst xmlns:a="http://schemas.openxmlformats.org/drawingml/2006/main">
              <a:ext uri="{FF2B5EF4-FFF2-40B4-BE49-F238E27FC236}">
                <a16:creationId xmlns:a16="http://schemas.microsoft.com/office/drawing/2014/main" id="{E39DF061-8C7F-43F7-A1EF-62757D96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3471319"/>
            <a:ext cx="5734033" cy="463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07-rect-005">
            <a:extLst xmlns:a="http://schemas.openxmlformats.org/drawingml/2006/main">
              <a:ext uri="{FF2B5EF4-FFF2-40B4-BE49-F238E27FC236}">
                <a16:creationId xmlns:a16="http://schemas.microsoft.com/office/drawing/2014/main" id="{B69FD6B7-9EF3-41ED-8950-E0DD3DD5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4126855"/>
            <a:ext cx="5734033" cy="463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ge-07-rect-006">
            <a:extLst xmlns:a="http://schemas.openxmlformats.org/drawingml/2006/main">
              <a:ext uri="{FF2B5EF4-FFF2-40B4-BE49-F238E27FC236}">
                <a16:creationId xmlns:a16="http://schemas.microsoft.com/office/drawing/2014/main" id="{78CC34DA-3848-4571-933F-964C8961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713427"/>
            <a:ext cx="1714429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ge-07-rect-007">
            <a:extLst xmlns:a="http://schemas.openxmlformats.org/drawingml/2006/main">
              <a:ext uri="{FF2B5EF4-FFF2-40B4-BE49-F238E27FC236}">
                <a16:creationId xmlns:a16="http://schemas.microsoft.com/office/drawing/2014/main" id="{20B9CD14-9665-4D2B-A7A3-CB81A59C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766" y="6713427"/>
            <a:ext cx="4229858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ge-07-rect-008">
            <a:extLst xmlns:a="http://schemas.openxmlformats.org/drawingml/2006/main">
              <a:ext uri="{FF2B5EF4-FFF2-40B4-BE49-F238E27FC236}">
                <a16:creationId xmlns:a16="http://schemas.microsoft.com/office/drawing/2014/main" id="{1C22D32C-125A-411E-84E4-8B03F69B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915238"/>
            <a:ext cx="5734033" cy="3995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ge-07-rect-009">
            <a:extLst xmlns:a="http://schemas.openxmlformats.org/drawingml/2006/main">
              <a:ext uri="{FF2B5EF4-FFF2-40B4-BE49-F238E27FC236}">
                <a16:creationId xmlns:a16="http://schemas.microsoft.com/office/drawing/2014/main" id="{8B58EC89-54AF-4D9E-8F02-272151B2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1507253"/>
            <a:ext cx="5734033" cy="463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ge-07-rect-010">
            <a:extLst xmlns:a="http://schemas.openxmlformats.org/drawingml/2006/main">
              <a:ext uri="{FF2B5EF4-FFF2-40B4-BE49-F238E27FC236}">
                <a16:creationId xmlns:a16="http://schemas.microsoft.com/office/drawing/2014/main" id="{E2099145-C0AA-4388-A88F-19EFE4B3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2161518"/>
            <a:ext cx="5734033" cy="463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ge-07-rect-011">
            <a:extLst xmlns:a="http://schemas.openxmlformats.org/drawingml/2006/main">
              <a:ext uri="{FF2B5EF4-FFF2-40B4-BE49-F238E27FC236}">
                <a16:creationId xmlns:a16="http://schemas.microsoft.com/office/drawing/2014/main" id="{EE7D15BA-FD7C-481E-9B50-5DD2F3D4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2817054"/>
            <a:ext cx="5734033" cy="463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ge-07-rect-012">
            <a:extLst xmlns:a="http://schemas.openxmlformats.org/drawingml/2006/main">
              <a:ext uri="{FF2B5EF4-FFF2-40B4-BE49-F238E27FC236}">
                <a16:creationId xmlns:a16="http://schemas.microsoft.com/office/drawing/2014/main" id="{2A5A5B94-ABA0-4A12-BD2B-BA15B065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3471319"/>
            <a:ext cx="5734033" cy="463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ge-07-rect-013">
            <a:extLst xmlns:a="http://schemas.openxmlformats.org/drawingml/2006/main">
              <a:ext uri="{FF2B5EF4-FFF2-40B4-BE49-F238E27FC236}">
                <a16:creationId xmlns:a16="http://schemas.microsoft.com/office/drawing/2014/main" id="{C9EE0677-3555-42DF-BD74-1358728B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4126855"/>
            <a:ext cx="5734033" cy="463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ge-07-rect-014">
            <a:extLst xmlns:a="http://schemas.openxmlformats.org/drawingml/2006/main">
              <a:ext uri="{FF2B5EF4-FFF2-40B4-BE49-F238E27FC236}">
                <a16:creationId xmlns:a16="http://schemas.microsoft.com/office/drawing/2014/main" id="{AF472863-4161-4833-95A1-39F170F9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713427"/>
            <a:ext cx="1714429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ge-07-rect-015">
            <a:extLst xmlns:a="http://schemas.openxmlformats.org/drawingml/2006/main">
              <a:ext uri="{FF2B5EF4-FFF2-40B4-BE49-F238E27FC236}">
                <a16:creationId xmlns:a16="http://schemas.microsoft.com/office/drawing/2014/main" id="{5BF4A9F4-0693-459B-B7E8-F816E415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766" y="6713427"/>
            <a:ext cx="4229858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ge-07-line-000">
            <a:extLst xmlns:a="http://schemas.openxmlformats.org/drawingml/2006/main">
              <a:ext uri="{FF2B5EF4-FFF2-40B4-BE49-F238E27FC236}">
                <a16:creationId xmlns:a16="http://schemas.microsoft.com/office/drawing/2014/main" id="{B5CD1532-D09F-4D62-AEB6-5A6C3560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5" y="6716603"/>
            <a:ext cx="595191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8" name="page-07-line-001">
            <a:extLst xmlns:a="http://schemas.openxmlformats.org/drawingml/2006/main">
              <a:ext uri="{FF2B5EF4-FFF2-40B4-BE49-F238E27FC236}">
                <a16:creationId xmlns:a16="http://schemas.microsoft.com/office/drawing/2014/main" id="{6325A86E-6DF2-49DF-AC4E-00CC212C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7024044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9" name="page-07-line-002">
            <a:extLst xmlns:a="http://schemas.openxmlformats.org/drawingml/2006/main">
              <a:ext uri="{FF2B5EF4-FFF2-40B4-BE49-F238E27FC236}">
                <a16:creationId xmlns:a16="http://schemas.microsoft.com/office/drawing/2014/main" id="{3B1E702E-45F8-4326-8974-FFA600BE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7610977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0" name="page-07-line-003">
            <a:extLst xmlns:a="http://schemas.openxmlformats.org/drawingml/2006/main">
              <a:ext uri="{FF2B5EF4-FFF2-40B4-BE49-F238E27FC236}">
                <a16:creationId xmlns:a16="http://schemas.microsoft.com/office/drawing/2014/main" id="{71721D4F-A330-464F-8374-F7DC8516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7955261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1" name="page-07-line-004">
            <a:extLst xmlns:a="http://schemas.openxmlformats.org/drawingml/2006/main">
              <a:ext uri="{FF2B5EF4-FFF2-40B4-BE49-F238E27FC236}">
                <a16:creationId xmlns:a16="http://schemas.microsoft.com/office/drawing/2014/main" id="{3C698256-357A-453E-90DD-14B8C05F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8298273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2" name="page-07-line-005">
            <a:extLst xmlns:a="http://schemas.openxmlformats.org/drawingml/2006/main">
              <a:ext uri="{FF2B5EF4-FFF2-40B4-BE49-F238E27FC236}">
                <a16:creationId xmlns:a16="http://schemas.microsoft.com/office/drawing/2014/main" id="{3906B76E-2F1B-4832-93AD-A94A9A4E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5" y="8642557"/>
            <a:ext cx="595191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3" name="page-07-line-006">
            <a:extLst xmlns:a="http://schemas.openxmlformats.org/drawingml/2006/main">
              <a:ext uri="{FF2B5EF4-FFF2-40B4-BE49-F238E27FC236}">
                <a16:creationId xmlns:a16="http://schemas.microsoft.com/office/drawing/2014/main" id="{3032E412-C297-4B8F-8427-FE462FA7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713427"/>
            <a:ext cx="9525" cy="19323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4" name="page-07-line-007">
            <a:extLst xmlns:a="http://schemas.openxmlformats.org/drawingml/2006/main">
              <a:ext uri="{FF2B5EF4-FFF2-40B4-BE49-F238E27FC236}">
                <a16:creationId xmlns:a16="http://schemas.microsoft.com/office/drawing/2014/main" id="{F34ECC13-51E1-43BB-AE65-3B78FE1B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766" y="6719779"/>
            <a:ext cx="9525" cy="19196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5" name="page-07-line-008">
            <a:extLst xmlns:a="http://schemas.openxmlformats.org/drawingml/2006/main">
              <a:ext uri="{FF2B5EF4-FFF2-40B4-BE49-F238E27FC236}">
                <a16:creationId xmlns:a16="http://schemas.microsoft.com/office/drawing/2014/main" id="{CF673F4E-397A-45EB-91B9-7DB6F391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0259" y="6713427"/>
            <a:ext cx="9525" cy="19323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6" name="page-07-line-009">
            <a:extLst xmlns:a="http://schemas.openxmlformats.org/drawingml/2006/main">
              <a:ext uri="{FF2B5EF4-FFF2-40B4-BE49-F238E27FC236}">
                <a16:creationId xmlns:a16="http://schemas.microsoft.com/office/drawing/2014/main" id="{EC68469B-7268-43C2-BA2B-F2CA0BC9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78940"/>
            <a:ext cx="573276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8">
            <a:solidFill>
              <a:srgbClr val="D7DBE2"/>
            </a:solidFill>
            <a:prstDash val="solid"/>
          </a:ln>
        </p:spPr>
      </p:sp>
      <p:sp>
        <p:nvSpPr>
          <p:cNvPr id="27" name="page-07-line-010">
            <a:extLst xmlns:a="http://schemas.openxmlformats.org/drawingml/2006/main">
              <a:ext uri="{FF2B5EF4-FFF2-40B4-BE49-F238E27FC236}">
                <a16:creationId xmlns:a16="http://schemas.microsoft.com/office/drawing/2014/main" id="{FEC94056-12D5-4EA0-BBE8-FFC84D43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78940"/>
            <a:ext cx="573276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8">
            <a:solidFill>
              <a:srgbClr val="D7DBE2"/>
            </a:solidFill>
            <a:prstDash val="solid"/>
          </a:ln>
        </p:spPr>
      </p:sp>
      <p:sp>
        <p:nvSpPr>
          <p:cNvPr id="28" name="page-07-text-000-00">
            <a:extLst xmlns:a="http://schemas.openxmlformats.org/drawingml/2006/main">
              <a:ext uri="{FF2B5EF4-FFF2-40B4-BE49-F238E27FC236}">
                <a16:creationId xmlns:a16="http://schemas.microsoft.com/office/drawing/2014/main" id="{B6D9010B-B921-4D39-9887-9AA53D6B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6631" y="468104"/>
            <a:ext cx="1948377" cy="171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4" b="0" i="0">
                <a:solidFill>
                  <a:srgbClr val="586270"/>
                </a:solidFill>
                <a:latin typeface="Aptos"/>
                <a:ea typeface="Aptos"/>
                <a:cs typeface="Aptos"/>
              </a:defRPr>
            </a:pPr>
            <a:r>
              <a:rPr sz="464" b="0" i="0">
                <a:solidFill>
                  <a:srgbClr val="586270"/>
                </a:solidFill>
                <a:latin typeface="Aptos"/>
                <a:ea typeface="Aptos"/>
                <a:cs typeface="Aptos"/>
              </a:rPr>
              <a:t>Property Shot · AI Technical Report</a:t>
            </a:r>
          </a:p>
        </p:txBody>
      </p:sp>
      <p:sp>
        <p:nvSpPr>
          <p:cNvPr id="29" name="page-07-text-001-00">
            <a:extLst xmlns:a="http://schemas.openxmlformats.org/drawingml/2006/main">
              <a:ext uri="{FF2B5EF4-FFF2-40B4-BE49-F238E27FC236}">
                <a16:creationId xmlns:a16="http://schemas.microsoft.com/office/drawing/2014/main" id="{AC3E896C-DB38-4FB8-B5F0-40DED831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886" y="931953"/>
            <a:ext cx="628470" cy="177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3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603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1 새 패턴</a:t>
            </a:r>
          </a:p>
        </p:txBody>
      </p:sp>
      <p:sp>
        <p:nvSpPr>
          <p:cNvPr id="30" name="page-07-text-002-00">
            <a:extLst xmlns:a="http://schemas.openxmlformats.org/drawingml/2006/main">
              <a:ext uri="{FF2B5EF4-FFF2-40B4-BE49-F238E27FC236}">
                <a16:creationId xmlns:a16="http://schemas.microsoft.com/office/drawing/2014/main" id="{BDD8E364-1F93-462A-88BC-03EC0478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450" y="1096250"/>
            <a:ext cx="1149818" cy="158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2" b="0" i="0">
                <a:solidFill>
                  <a:srgbClr val="586270"/>
                </a:solidFill>
                <a:latin typeface="Aptos"/>
                <a:ea typeface="Aptos"/>
                <a:cs typeface="Aptos"/>
              </a:defRPr>
            </a:pPr>
            <a:r>
              <a:rPr sz="432" b="0" i="0">
                <a:solidFill>
                  <a:srgbClr val="586270"/>
                </a:solidFill>
                <a:latin typeface="Aptos"/>
                <a:ea typeface="Aptos"/>
                <a:cs typeface="Aptos"/>
              </a:rPr>
              <a:t>Stage data · Hint · Key</a:t>
            </a:r>
          </a:p>
        </p:txBody>
      </p:sp>
      <p:sp>
        <p:nvSpPr>
          <p:cNvPr id="31" name="page-07-text-003-00">
            <a:extLst xmlns:a="http://schemas.openxmlformats.org/drawingml/2006/main">
              <a:ext uri="{FF2B5EF4-FFF2-40B4-BE49-F238E27FC236}">
                <a16:creationId xmlns:a16="http://schemas.microsoft.com/office/drawing/2014/main" id="{D790E2D6-BF84-4544-86F5-EA37EC63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0750" y="1335609"/>
            <a:ext cx="228600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6" b="1" i="0">
                <a:solidFill>
                  <a:srgbClr val="7A5A00"/>
                </a:solidFill>
                <a:latin typeface="Aptos"/>
                <a:ea typeface="Aptos"/>
                <a:cs typeface="Aptos"/>
              </a:defRPr>
            </a:pPr>
            <a:r>
              <a:rPr sz="1056" b="1" i="0">
                <a:solidFill>
                  <a:srgbClr val="7A5A00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32" name="page-07-text-004-00">
            <a:extLst xmlns:a="http://schemas.openxmlformats.org/drawingml/2006/main">
              <a:ext uri="{FF2B5EF4-FFF2-40B4-BE49-F238E27FC236}">
                <a16:creationId xmlns:a16="http://schemas.microsoft.com/office/drawing/2014/main" id="{C92AFB72-FEF5-4FD4-BD30-CB59E1F6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352" y="1586854"/>
            <a:ext cx="742039" cy="177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3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583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2 정적 검사</a:t>
            </a:r>
          </a:p>
        </p:txBody>
      </p:sp>
      <p:sp>
        <p:nvSpPr>
          <p:cNvPr id="33" name="page-07-text-005-00">
            <a:extLst xmlns:a="http://schemas.openxmlformats.org/drawingml/2006/main">
              <a:ext uri="{FF2B5EF4-FFF2-40B4-BE49-F238E27FC236}">
                <a16:creationId xmlns:a16="http://schemas.microsoft.com/office/drawing/2014/main" id="{ABCC7410-3C5A-47AD-805F-23E87677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9243" y="1751151"/>
            <a:ext cx="1922283" cy="158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13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defRPr>
            </a:pPr>
            <a:r>
              <a:rPr sz="413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rPr>
              <a:t>겹침 · 필드 이탈 · ID/연결 · Hint/Key 참조</a:t>
            </a:r>
          </a:p>
        </p:txBody>
      </p:sp>
      <p:sp>
        <p:nvSpPr>
          <p:cNvPr id="34" name="page-07-text-006-00">
            <a:extLst xmlns:a="http://schemas.openxmlformats.org/drawingml/2006/main">
              <a:ext uri="{FF2B5EF4-FFF2-40B4-BE49-F238E27FC236}">
                <a16:creationId xmlns:a16="http://schemas.microsoft.com/office/drawing/2014/main" id="{0325FDF4-59AB-4435-A331-03F32F6E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0750" y="1990510"/>
            <a:ext cx="228600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6" b="1" i="0">
                <a:solidFill>
                  <a:srgbClr val="7A5A00"/>
                </a:solidFill>
                <a:latin typeface="Aptos"/>
                <a:ea typeface="Aptos"/>
                <a:cs typeface="Aptos"/>
              </a:defRPr>
            </a:pPr>
            <a:r>
              <a:rPr sz="1056" b="1" i="0">
                <a:solidFill>
                  <a:srgbClr val="7A5A00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35" name="page-07-text-007-00">
            <a:extLst xmlns:a="http://schemas.openxmlformats.org/drawingml/2006/main">
              <a:ext uri="{FF2B5EF4-FFF2-40B4-BE49-F238E27FC236}">
                <a16:creationId xmlns:a16="http://schemas.microsoft.com/office/drawing/2014/main" id="{C2A67834-C198-4F75-BE29-108B15E3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352" y="2241754"/>
            <a:ext cx="742039" cy="177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3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583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3 물리 탐색</a:t>
            </a:r>
          </a:p>
        </p:txBody>
      </p:sp>
      <p:sp>
        <p:nvSpPr>
          <p:cNvPr id="36" name="page-07-text-008-00">
            <a:extLst xmlns:a="http://schemas.openxmlformats.org/drawingml/2006/main">
              <a:ext uri="{FF2B5EF4-FFF2-40B4-BE49-F238E27FC236}">
                <a16:creationId xmlns:a16="http://schemas.microsoft.com/office/drawing/2014/main" id="{2923D4F4-8EE9-4646-9527-F990598B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6557" y="2406051"/>
            <a:ext cx="2567427" cy="158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19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defRPr>
            </a:pPr>
            <a:r>
              <a:rPr sz="419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rPr>
              <a:t>홀 접근 · 직선 클리어 · 기믹 경로 · 관통/터널링/무한 반사</a:t>
            </a:r>
          </a:p>
        </p:txBody>
      </p:sp>
      <p:sp>
        <p:nvSpPr>
          <p:cNvPr id="37" name="page-07-text-009-00">
            <a:extLst xmlns:a="http://schemas.openxmlformats.org/drawingml/2006/main">
              <a:ext uri="{FF2B5EF4-FFF2-40B4-BE49-F238E27FC236}">
                <a16:creationId xmlns:a16="http://schemas.microsoft.com/office/drawing/2014/main" id="{4D5CB724-4925-45B8-96D2-FC6BA2AD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0750" y="2645411"/>
            <a:ext cx="228600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6" b="1" i="0">
                <a:solidFill>
                  <a:srgbClr val="7A5A00"/>
                </a:solidFill>
                <a:latin typeface="Aptos"/>
                <a:ea typeface="Aptos"/>
                <a:cs typeface="Aptos"/>
              </a:defRPr>
            </a:pPr>
            <a:r>
              <a:rPr sz="1056" b="1" i="0">
                <a:solidFill>
                  <a:srgbClr val="7A5A00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38" name="page-07-text-010-00">
            <a:extLst xmlns:a="http://schemas.openxmlformats.org/drawingml/2006/main">
              <a:ext uri="{FF2B5EF4-FFF2-40B4-BE49-F238E27FC236}">
                <a16:creationId xmlns:a16="http://schemas.microsoft.com/office/drawing/2014/main" id="{D83FA193-65B6-4DD4-84CB-2995647B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818" y="2896655"/>
            <a:ext cx="855608" cy="177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9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569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4 결정론 반복</a:t>
            </a:r>
          </a:p>
        </p:txBody>
      </p:sp>
      <p:sp>
        <p:nvSpPr>
          <p:cNvPr id="39" name="page-07-text-011-00">
            <a:extLst xmlns:a="http://schemas.openxmlformats.org/drawingml/2006/main">
              <a:ext uri="{FF2B5EF4-FFF2-40B4-BE49-F238E27FC236}">
                <a16:creationId xmlns:a16="http://schemas.microsoft.com/office/drawing/2014/main" id="{C9F64B7A-7615-4848-B70E-E6E55C3F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782" y="3060952"/>
            <a:ext cx="2413147" cy="158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1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defRPr>
            </a:pPr>
            <a:r>
              <a:rPr sz="431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rPr>
              <a:t>같은 입력의 결과와 오류 코드가 반복 실행에서도 동일</a:t>
            </a:r>
          </a:p>
        </p:txBody>
      </p:sp>
      <p:sp>
        <p:nvSpPr>
          <p:cNvPr id="40" name="page-07-text-012-00">
            <a:extLst xmlns:a="http://schemas.openxmlformats.org/drawingml/2006/main">
              <a:ext uri="{FF2B5EF4-FFF2-40B4-BE49-F238E27FC236}">
                <a16:creationId xmlns:a16="http://schemas.microsoft.com/office/drawing/2014/main" id="{7C283737-2C3D-445C-A0D2-D58EA7EC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0750" y="3300311"/>
            <a:ext cx="228600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6" b="1" i="0">
                <a:solidFill>
                  <a:srgbClr val="7A5A00"/>
                </a:solidFill>
                <a:latin typeface="Aptos"/>
                <a:ea typeface="Aptos"/>
                <a:cs typeface="Aptos"/>
              </a:defRPr>
            </a:pPr>
            <a:r>
              <a:rPr sz="1056" b="1" i="0">
                <a:solidFill>
                  <a:srgbClr val="7A5A00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41" name="page-07-text-013-00">
            <a:extLst xmlns:a="http://schemas.openxmlformats.org/drawingml/2006/main">
              <a:ext uri="{FF2B5EF4-FFF2-40B4-BE49-F238E27FC236}">
                <a16:creationId xmlns:a16="http://schemas.microsoft.com/office/drawing/2014/main" id="{AA1C0FAF-424E-4857-8EDF-055ACB1E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0477" y="3551556"/>
            <a:ext cx="1380545" cy="177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9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489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5 Invalid fixture 역검증</a:t>
            </a:r>
          </a:p>
        </p:txBody>
      </p:sp>
      <p:sp>
        <p:nvSpPr>
          <p:cNvPr id="42" name="page-07-text-014-00">
            <a:extLst xmlns:a="http://schemas.openxmlformats.org/drawingml/2006/main">
              <a:ext uri="{FF2B5EF4-FFF2-40B4-BE49-F238E27FC236}">
                <a16:creationId xmlns:a16="http://schemas.microsoft.com/office/drawing/2014/main" id="{338936E9-14A5-4243-83FB-AD9FBD56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589" y="3715852"/>
            <a:ext cx="2002751" cy="158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4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defRPr>
            </a:pPr>
            <a:r>
              <a:rPr sz="434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rPr>
              <a:t>일부러 잘못 만든 패턴을 실제로 잡는지 확인</a:t>
            </a:r>
          </a:p>
        </p:txBody>
      </p:sp>
      <p:sp>
        <p:nvSpPr>
          <p:cNvPr id="43" name="page-07-text-015-00">
            <a:extLst xmlns:a="http://schemas.openxmlformats.org/drawingml/2006/main">
              <a:ext uri="{FF2B5EF4-FFF2-40B4-BE49-F238E27FC236}">
                <a16:creationId xmlns:a16="http://schemas.microsoft.com/office/drawing/2014/main" id="{35C1E395-9C53-4777-ADD9-AF8DD183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0750" y="3955212"/>
            <a:ext cx="228600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6" b="1" i="0">
                <a:solidFill>
                  <a:srgbClr val="7A5A00"/>
                </a:solidFill>
                <a:latin typeface="Aptos"/>
                <a:ea typeface="Aptos"/>
                <a:cs typeface="Aptos"/>
              </a:defRPr>
            </a:pPr>
            <a:r>
              <a:rPr sz="1056" b="1" i="0">
                <a:solidFill>
                  <a:srgbClr val="7A5A00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44" name="page-07-text-016-00">
            <a:extLst xmlns:a="http://schemas.openxmlformats.org/drawingml/2006/main">
              <a:ext uri="{FF2B5EF4-FFF2-40B4-BE49-F238E27FC236}">
                <a16:creationId xmlns:a16="http://schemas.microsoft.com/office/drawing/2014/main" id="{39F2F8DA-AEC0-48B8-BA28-E20F32EC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960" y="4206456"/>
            <a:ext cx="1211325" cy="177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5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565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6 PASS → 게임 등록</a:t>
            </a:r>
          </a:p>
        </p:txBody>
      </p:sp>
      <p:sp>
        <p:nvSpPr>
          <p:cNvPr id="45" name="page-07-text-017-00">
            <a:extLst xmlns:a="http://schemas.openxmlformats.org/drawingml/2006/main">
              <a:ext uri="{FF2B5EF4-FFF2-40B4-BE49-F238E27FC236}">
                <a16:creationId xmlns:a16="http://schemas.microsoft.com/office/drawing/2014/main" id="{61DF9FA1-5E47-48B8-BEA9-AA7CD83E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564" y="4370753"/>
            <a:ext cx="1974396" cy="158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4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defRPr>
            </a:pPr>
            <a:r>
              <a:rPr sz="434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rPr>
              <a:t>검증을 통과한 패턴만 생성 카탈로그에 반영</a:t>
            </a:r>
          </a:p>
        </p:txBody>
      </p:sp>
      <p:sp>
        <p:nvSpPr>
          <p:cNvPr id="46" name="page-07-text-018-00">
            <a:extLst xmlns:a="http://schemas.openxmlformats.org/drawingml/2006/main">
              <a:ext uri="{FF2B5EF4-FFF2-40B4-BE49-F238E27FC236}">
                <a16:creationId xmlns:a16="http://schemas.microsoft.com/office/drawing/2014/main" id="{B303259E-6262-4034-B014-FA9E6B66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9097" y="4666996"/>
            <a:ext cx="3262720" cy="165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" b="1" i="0">
                <a:solidFill>
                  <a:srgbClr val="C65240"/>
                </a:solidFill>
                <a:latin typeface="Nanum Gothic"/>
                <a:ea typeface="Nanum Gothic"/>
                <a:cs typeface="Nanum Gothic"/>
              </a:defRPr>
            </a:pPr>
            <a:r>
              <a:rPr sz="450" b="1" i="0">
                <a:solidFill>
                  <a:srgbClr val="C65240"/>
                </a:solidFill>
                <a:latin typeface="Nanum Gothic"/>
                <a:ea typeface="Nanum Gothic"/>
                <a:cs typeface="Nanum Gothic"/>
              </a:rPr>
              <a:t>검증기가 있다고 믿지 않고, 검증기가 오류를 잡는지도 다시 검증했다.</a:t>
            </a:r>
          </a:p>
        </p:txBody>
      </p:sp>
      <p:sp>
        <p:nvSpPr>
          <p:cNvPr id="47" name="page-07-text-019-00">
            <a:extLst xmlns:a="http://schemas.openxmlformats.org/drawingml/2006/main">
              <a:ext uri="{FF2B5EF4-FFF2-40B4-BE49-F238E27FC236}">
                <a16:creationId xmlns:a16="http://schemas.microsoft.com/office/drawing/2014/main" id="{A9FDE503-7847-42C2-8EF2-036C7ED9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4952833"/>
            <a:ext cx="5811796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정적 검사에서는 기물 겹침, 필드 이탈, ID·연결 상태, Hint/Key 참조를 확인한다. 물리 검사에서는</a:t>
            </a:r>
          </a:p>
        </p:txBody>
      </p:sp>
      <p:sp>
        <p:nvSpPr>
          <p:cNvPr id="48" name="page-07-text-020-00">
            <a:extLst xmlns:a="http://schemas.openxmlformats.org/drawingml/2006/main">
              <a:ext uri="{FF2B5EF4-FFF2-40B4-BE49-F238E27FC236}">
                <a16:creationId xmlns:a16="http://schemas.microsoft.com/office/drawing/2014/main" id="{14AE490F-06FD-408B-981E-4D9AAB2E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5185955"/>
            <a:ext cx="5467131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홀 접근, 의도하지 않은 직선 클리어, 대표 기믹 경로, 홀 관통, 슬라이더 터널링, 무한 반사와</a:t>
            </a:r>
          </a:p>
        </p:txBody>
      </p:sp>
      <p:sp>
        <p:nvSpPr>
          <p:cNvPr id="49" name="page-07-text-021-00">
            <a:extLst xmlns:a="http://schemas.openxmlformats.org/drawingml/2006/main">
              <a:ext uri="{FF2B5EF4-FFF2-40B4-BE49-F238E27FC236}">
                <a16:creationId xmlns:a16="http://schemas.microsoft.com/office/drawing/2014/main" id="{C4DFE20C-8499-4BF1-BCCD-156289D5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5419077"/>
            <a:ext cx="51868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소프트락을 살핀다. 같은 입력의 결과가 반복 실행에서도 같아야 다음 단계로 넘어간다.</a:t>
            </a:r>
          </a:p>
        </p:txBody>
      </p:sp>
      <p:sp>
        <p:nvSpPr>
          <p:cNvPr id="50" name="page-07-text-022-00">
            <a:extLst xmlns:a="http://schemas.openxmlformats.org/drawingml/2006/main">
              <a:ext uri="{FF2B5EF4-FFF2-40B4-BE49-F238E27FC236}">
                <a16:creationId xmlns:a16="http://schemas.microsoft.com/office/drawing/2014/main" id="{73CEB61F-9D83-4774-8045-89FF9C57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5727445"/>
            <a:ext cx="5781420" cy="197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가장 중요한 점은 검증기가 있다고 믿지 않았다는 것이다. 겹침, 잘못된 참조, 도달 불가능한 열쇠,</a:t>
            </a:r>
          </a:p>
        </p:txBody>
      </p:sp>
      <p:sp>
        <p:nvSpPr>
          <p:cNvPr id="51" name="page-07-text-023-00">
            <a:extLst xmlns:a="http://schemas.openxmlformats.org/drawingml/2006/main">
              <a:ext uri="{FF2B5EF4-FFF2-40B4-BE49-F238E27FC236}">
                <a16:creationId xmlns:a16="http://schemas.microsoft.com/office/drawing/2014/main" id="{450936FB-09B8-41AD-9F09-6BDBAEDF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5961545"/>
            <a:ext cx="5667679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홀 관통, 무한 반사 같은 오류를 일부러 넣은 invalid fixture를 만들고, Validator가 정해진 오류</a:t>
            </a:r>
          </a:p>
        </p:txBody>
      </p:sp>
      <p:sp>
        <p:nvSpPr>
          <p:cNvPr id="52" name="page-07-text-024-00">
            <a:extLst xmlns:a="http://schemas.openxmlformats.org/drawingml/2006/main">
              <a:ext uri="{FF2B5EF4-FFF2-40B4-BE49-F238E27FC236}">
                <a16:creationId xmlns:a16="http://schemas.microsoft.com/office/drawing/2014/main" id="{96C3723B-328D-4195-AFDA-0FC39690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6194667"/>
            <a:ext cx="583039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코드로 실제 탐지하는지 역검증했다. AI가 생성한 40개 패턴뿐 아니라 AI가 만든 검증 도구 자체도</a:t>
            </a:r>
          </a:p>
        </p:txBody>
      </p:sp>
      <p:sp>
        <p:nvSpPr>
          <p:cNvPr id="53" name="page-07-text-025-00">
            <a:extLst xmlns:a="http://schemas.openxmlformats.org/drawingml/2006/main">
              <a:ext uri="{FF2B5EF4-FFF2-40B4-BE49-F238E27FC236}">
                <a16:creationId xmlns:a16="http://schemas.microsoft.com/office/drawing/2014/main" id="{C42F3700-6A7E-4621-BF70-95D971F0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6427789"/>
            <a:ext cx="1285410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0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다시 시험한 셈이다.</a:t>
            </a:r>
          </a:p>
        </p:txBody>
      </p:sp>
      <p:sp>
        <p:nvSpPr>
          <p:cNvPr id="54" name="page-07-text-026-00">
            <a:extLst xmlns:a="http://schemas.openxmlformats.org/drawingml/2006/main">
              <a:ext uri="{FF2B5EF4-FFF2-40B4-BE49-F238E27FC236}">
                <a16:creationId xmlns:a16="http://schemas.microsoft.com/office/drawing/2014/main" id="{820CAC6D-F108-4D8A-B7FA-7CE4253C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6790786"/>
            <a:ext cx="67845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1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651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검증 결과</a:t>
            </a:r>
          </a:p>
        </p:txBody>
      </p:sp>
      <p:sp>
        <p:nvSpPr>
          <p:cNvPr id="55" name="page-07-text-026-01">
            <a:extLst xmlns:a="http://schemas.openxmlformats.org/drawingml/2006/main">
              <a:ext uri="{FF2B5EF4-FFF2-40B4-BE49-F238E27FC236}">
                <a16:creationId xmlns:a16="http://schemas.microsoft.com/office/drawing/2014/main" id="{865D518B-B5C4-4B2A-8E88-F27AD6A7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6790786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의미</a:t>
            </a:r>
          </a:p>
        </p:txBody>
      </p:sp>
      <p:sp>
        <p:nvSpPr>
          <p:cNvPr id="56" name="page-07-text-027-00">
            <a:extLst xmlns:a="http://schemas.openxmlformats.org/drawingml/2006/main">
              <a:ext uri="{FF2B5EF4-FFF2-40B4-BE49-F238E27FC236}">
                <a16:creationId xmlns:a16="http://schemas.microsoft.com/office/drawing/2014/main" id="{022941D1-B130-4E6F-BB61-36816D52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7101111"/>
            <a:ext cx="1280290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0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단발형 32패턴 각각</a:t>
            </a:r>
          </a:p>
        </p:txBody>
      </p:sp>
      <p:sp>
        <p:nvSpPr>
          <p:cNvPr id="57" name="page-07-text-028-00">
            <a:extLst xmlns:a="http://schemas.openxmlformats.org/drawingml/2006/main">
              <a:ext uri="{FF2B5EF4-FFF2-40B4-BE49-F238E27FC236}">
                <a16:creationId xmlns:a16="http://schemas.microsoft.com/office/drawing/2014/main" id="{AAD77391-53C7-40CA-B71A-321F955F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7223071"/>
            <a:ext cx="2148748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9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각 변형에서도 기믹 경로가 더 넓다</a:t>
            </a:r>
          </a:p>
        </p:txBody>
      </p:sp>
      <p:sp>
        <p:nvSpPr>
          <p:cNvPr id="58" name="page-07-text-029-00">
            <a:extLst xmlns:a="http://schemas.openxmlformats.org/drawingml/2006/main">
              <a:ext uri="{FF2B5EF4-FFF2-40B4-BE49-F238E27FC236}">
                <a16:creationId xmlns:a16="http://schemas.microsoft.com/office/drawing/2014/main" id="{B1D382CD-E25B-469B-BA62-715C02C8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7345031"/>
            <a:ext cx="63504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5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≥1.40배</a:t>
            </a:r>
          </a:p>
        </p:txBody>
      </p:sp>
      <p:sp>
        <p:nvSpPr>
          <p:cNvPr id="59" name="page-07-text-030-00">
            <a:extLst xmlns:a="http://schemas.openxmlformats.org/drawingml/2006/main">
              <a:ext uri="{FF2B5EF4-FFF2-40B4-BE49-F238E27FC236}">
                <a16:creationId xmlns:a16="http://schemas.microsoft.com/office/drawing/2014/main" id="{FDAF5E5F-4DA2-4C45-B531-54C7BCA8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7688679"/>
            <a:ext cx="5123940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9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잔류 공 단계 합계 1.92배 첫 샷으로 준비한 상태가 다음 성공을 유의미하게 넓힌다</a:t>
            </a:r>
          </a:p>
        </p:txBody>
      </p:sp>
      <p:sp>
        <p:nvSpPr>
          <p:cNvPr id="60" name="page-07-text-031-00">
            <a:extLst xmlns:a="http://schemas.openxmlformats.org/drawingml/2006/main">
              <a:ext uri="{FF2B5EF4-FFF2-40B4-BE49-F238E27FC236}">
                <a16:creationId xmlns:a16="http://schemas.microsoft.com/office/drawing/2014/main" id="{05DA0E52-8255-49BE-AD6F-6ABBC9C5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8032327"/>
            <a:ext cx="4691249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9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속성 통합 4패턴 모두 우위 스위치·문·점착·슬라이더의 준비가 핵심 해법이다</a:t>
            </a:r>
          </a:p>
        </p:txBody>
      </p:sp>
      <p:sp>
        <p:nvSpPr>
          <p:cNvPr id="61" name="page-07-text-032-00">
            <a:extLst xmlns:a="http://schemas.openxmlformats.org/drawingml/2006/main">
              <a:ext uri="{FF2B5EF4-FFF2-40B4-BE49-F238E27FC236}">
                <a16:creationId xmlns:a16="http://schemas.microsoft.com/office/drawing/2014/main" id="{73B8AA38-D507-4A99-A1BB-6E73DEAB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8375975"/>
            <a:ext cx="471415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0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invalid fixture 역검증 검증 규칙을 일부러 끄면 fixture 계약이 실패한다</a:t>
            </a:r>
          </a:p>
        </p:txBody>
      </p:sp>
      <p:sp>
        <p:nvSpPr>
          <p:cNvPr id="62" name="page-07-text-033-00">
            <a:extLst xmlns:a="http://schemas.openxmlformats.org/drawingml/2006/main">
              <a:ext uri="{FF2B5EF4-FFF2-40B4-BE49-F238E27FC236}">
                <a16:creationId xmlns:a16="http://schemas.microsoft.com/office/drawing/2014/main" id="{5A1E3355-88A9-4B14-8964-01BDE344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8228" y="10099425"/>
            <a:ext cx="2276565" cy="165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9" b="0" i="0">
                <a:solidFill>
                  <a:srgbClr val="586270"/>
                </a:solidFill>
                <a:latin typeface="Aptos"/>
                <a:ea typeface="Aptos"/>
                <a:cs typeface="Aptos"/>
              </a:defRPr>
            </a:pPr>
            <a:r>
              <a:rPr sz="439" b="0" i="0">
                <a:solidFill>
                  <a:srgbClr val="586270"/>
                </a:solidFill>
                <a:latin typeface="Aptos"/>
                <a:ea typeface="Aptos"/>
                <a:cs typeface="Aptos"/>
              </a:rPr>
              <a:t>Property Shot · AI Technical Report · Page 7</a:t>
            </a:r>
          </a:p>
        </p:txBody>
      </p:sp>
    </p:spTree>
    <p:extLst>
      <p:ext uri="{BB962C8B-B14F-4D97-AF65-F5344CB8AC3E}">
        <p14:creationId xmlns:p14="http://schemas.microsoft.com/office/powerpoint/2010/main" val="119440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8" name="page-08-rect-000">
            <a:extLst xmlns:a="http://schemas.openxmlformats.org/drawingml/2006/main">
              <a:ext uri="{FF2B5EF4-FFF2-40B4-BE49-F238E27FC236}">
                <a16:creationId xmlns:a16="http://schemas.microsoft.com/office/drawing/2014/main" id="{86850B9D-6357-46E2-8A68-3715BB81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1356073"/>
            <a:ext cx="1714429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ge-08-rect-001">
            <a:extLst xmlns:a="http://schemas.openxmlformats.org/drawingml/2006/main">
              <a:ext uri="{FF2B5EF4-FFF2-40B4-BE49-F238E27FC236}">
                <a16:creationId xmlns:a16="http://schemas.microsoft.com/office/drawing/2014/main" id="{A03C10BD-C68E-4438-9F9E-C9715B6F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766" y="1356073"/>
            <a:ext cx="4229858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08-rect-002">
            <a:extLst xmlns:a="http://schemas.openxmlformats.org/drawingml/2006/main">
              <a:ext uri="{FF2B5EF4-FFF2-40B4-BE49-F238E27FC236}">
                <a16:creationId xmlns:a16="http://schemas.microsoft.com/office/drawing/2014/main" id="{67B489EB-5F51-42AB-B7F9-77E12834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4375857"/>
            <a:ext cx="1714429" cy="3055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8-rect-003">
            <a:extLst xmlns:a="http://schemas.openxmlformats.org/drawingml/2006/main">
              <a:ext uri="{FF2B5EF4-FFF2-40B4-BE49-F238E27FC236}">
                <a16:creationId xmlns:a16="http://schemas.microsoft.com/office/drawing/2014/main" id="{193AE1D3-79FD-40B8-8124-EED719F2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766" y="4375857"/>
            <a:ext cx="4229858" cy="3055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08-rect-004">
            <a:extLst xmlns:a="http://schemas.openxmlformats.org/drawingml/2006/main">
              <a:ext uri="{FF2B5EF4-FFF2-40B4-BE49-F238E27FC236}">
                <a16:creationId xmlns:a16="http://schemas.microsoft.com/office/drawing/2014/main" id="{5283A8F5-4B15-44A0-8036-6CEDBA9D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7661159"/>
            <a:ext cx="1079220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08-rect-005">
            <a:extLst xmlns:a="http://schemas.openxmlformats.org/drawingml/2006/main">
              <a:ext uri="{FF2B5EF4-FFF2-40B4-BE49-F238E27FC236}">
                <a16:creationId xmlns:a16="http://schemas.microsoft.com/office/drawing/2014/main" id="{80FAA0E1-98AC-493C-ACA0-272D3DD8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557" y="7661159"/>
            <a:ext cx="2159076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ge-08-rect-006">
            <a:extLst xmlns:a="http://schemas.openxmlformats.org/drawingml/2006/main">
              <a:ext uri="{FF2B5EF4-FFF2-40B4-BE49-F238E27FC236}">
                <a16:creationId xmlns:a16="http://schemas.microsoft.com/office/drawing/2014/main" id="{A5322118-A5FB-443E-A26F-E84BC52F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268" y="7661159"/>
            <a:ext cx="2705356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ge-08-rect-007">
            <a:extLst xmlns:a="http://schemas.openxmlformats.org/drawingml/2006/main">
              <a:ext uri="{FF2B5EF4-FFF2-40B4-BE49-F238E27FC236}">
                <a16:creationId xmlns:a16="http://schemas.microsoft.com/office/drawing/2014/main" id="{37FA30D3-828B-4B8B-AC27-FF689B04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1356073"/>
            <a:ext cx="1714429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ge-08-rect-008">
            <a:extLst xmlns:a="http://schemas.openxmlformats.org/drawingml/2006/main">
              <a:ext uri="{FF2B5EF4-FFF2-40B4-BE49-F238E27FC236}">
                <a16:creationId xmlns:a16="http://schemas.microsoft.com/office/drawing/2014/main" id="{3D3D6B76-8A0F-49F9-B59A-CD942A62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766" y="1356073"/>
            <a:ext cx="4229858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ge-08-rect-009">
            <a:extLst xmlns:a="http://schemas.openxmlformats.org/drawingml/2006/main">
              <a:ext uri="{FF2B5EF4-FFF2-40B4-BE49-F238E27FC236}">
                <a16:creationId xmlns:a16="http://schemas.microsoft.com/office/drawing/2014/main" id="{9C3D225F-6AF2-4281-9A51-3345762F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4375857"/>
            <a:ext cx="1714429" cy="3055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ge-08-rect-010">
            <a:extLst xmlns:a="http://schemas.openxmlformats.org/drawingml/2006/main">
              <a:ext uri="{FF2B5EF4-FFF2-40B4-BE49-F238E27FC236}">
                <a16:creationId xmlns:a16="http://schemas.microsoft.com/office/drawing/2014/main" id="{3C5DBF88-AEEA-43E3-B082-5D81E8CB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766" y="4375857"/>
            <a:ext cx="4229858" cy="3055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ge-08-rect-011">
            <a:extLst xmlns:a="http://schemas.openxmlformats.org/drawingml/2006/main">
              <a:ext uri="{FF2B5EF4-FFF2-40B4-BE49-F238E27FC236}">
                <a16:creationId xmlns:a16="http://schemas.microsoft.com/office/drawing/2014/main" id="{C332B8B1-A4DA-449B-A4E5-48430F04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7661159"/>
            <a:ext cx="1079220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ge-08-rect-012">
            <a:extLst xmlns:a="http://schemas.openxmlformats.org/drawingml/2006/main">
              <a:ext uri="{FF2B5EF4-FFF2-40B4-BE49-F238E27FC236}">
                <a16:creationId xmlns:a16="http://schemas.microsoft.com/office/drawing/2014/main" id="{59464069-707F-4118-A94C-9B457043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557" y="7661159"/>
            <a:ext cx="2159076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ge-08-rect-013">
            <a:extLst xmlns:a="http://schemas.openxmlformats.org/drawingml/2006/main">
              <a:ext uri="{FF2B5EF4-FFF2-40B4-BE49-F238E27FC236}">
                <a16:creationId xmlns:a16="http://schemas.microsoft.com/office/drawing/2014/main" id="{2CAC59A7-7BEA-456B-8E31-F409B38E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268" y="7661159"/>
            <a:ext cx="2705356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ge-08-line-000">
            <a:extLst xmlns:a="http://schemas.openxmlformats.org/drawingml/2006/main">
              <a:ext uri="{FF2B5EF4-FFF2-40B4-BE49-F238E27FC236}">
                <a16:creationId xmlns:a16="http://schemas.microsoft.com/office/drawing/2014/main" id="{26E276F9-D109-4AB4-8F71-25D13137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5" y="1359249"/>
            <a:ext cx="595191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6" name="page-08-line-001">
            <a:extLst xmlns:a="http://schemas.openxmlformats.org/drawingml/2006/main">
              <a:ext uri="{FF2B5EF4-FFF2-40B4-BE49-F238E27FC236}">
                <a16:creationId xmlns:a16="http://schemas.microsoft.com/office/drawing/2014/main" id="{8829E464-EC37-40E1-BEE2-90A1C0D6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1666690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7" name="page-08-line-002">
            <a:extLst xmlns:a="http://schemas.openxmlformats.org/drawingml/2006/main">
              <a:ext uri="{FF2B5EF4-FFF2-40B4-BE49-F238E27FC236}">
                <a16:creationId xmlns:a16="http://schemas.microsoft.com/office/drawing/2014/main" id="{D83D280A-E1F8-4C58-AA96-AC8E6496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2009703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8" name="page-08-line-003">
            <a:extLst xmlns:a="http://schemas.openxmlformats.org/drawingml/2006/main">
              <a:ext uri="{FF2B5EF4-FFF2-40B4-BE49-F238E27FC236}">
                <a16:creationId xmlns:a16="http://schemas.microsoft.com/office/drawing/2014/main" id="{3DF9A27E-A122-4A80-A5F4-4B66466B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2353986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9" name="page-08-line-004">
            <a:extLst xmlns:a="http://schemas.openxmlformats.org/drawingml/2006/main">
              <a:ext uri="{FF2B5EF4-FFF2-40B4-BE49-F238E27FC236}">
                <a16:creationId xmlns:a16="http://schemas.microsoft.com/office/drawing/2014/main" id="{5B6BC169-BEC0-4A78-847F-6A5C9EA8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2696999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0" name="page-08-line-005">
            <a:extLst xmlns:a="http://schemas.openxmlformats.org/drawingml/2006/main">
              <a:ext uri="{FF2B5EF4-FFF2-40B4-BE49-F238E27FC236}">
                <a16:creationId xmlns:a16="http://schemas.microsoft.com/office/drawing/2014/main" id="{CAACFBD1-D7EA-4DC6-B8B0-BA08F924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3041283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1" name="page-08-line-006">
            <a:extLst xmlns:a="http://schemas.openxmlformats.org/drawingml/2006/main">
              <a:ext uri="{FF2B5EF4-FFF2-40B4-BE49-F238E27FC236}">
                <a16:creationId xmlns:a16="http://schemas.microsoft.com/office/drawing/2014/main" id="{06992859-F1A8-49A6-8495-1EADCA3C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3384296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2" name="page-08-line-007">
            <a:extLst xmlns:a="http://schemas.openxmlformats.org/drawingml/2006/main">
              <a:ext uri="{FF2B5EF4-FFF2-40B4-BE49-F238E27FC236}">
                <a16:creationId xmlns:a16="http://schemas.microsoft.com/office/drawing/2014/main" id="{40BD5DCE-890D-41EF-87BC-3F20C243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5" y="3728579"/>
            <a:ext cx="595191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3" name="page-08-line-008">
            <a:extLst xmlns:a="http://schemas.openxmlformats.org/drawingml/2006/main">
              <a:ext uri="{FF2B5EF4-FFF2-40B4-BE49-F238E27FC236}">
                <a16:creationId xmlns:a16="http://schemas.microsoft.com/office/drawing/2014/main" id="{2A0999ED-93A7-4A62-9260-92FF8FBC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1356073"/>
            <a:ext cx="9525" cy="23756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4" name="page-08-line-009">
            <a:extLst xmlns:a="http://schemas.openxmlformats.org/drawingml/2006/main">
              <a:ext uri="{FF2B5EF4-FFF2-40B4-BE49-F238E27FC236}">
                <a16:creationId xmlns:a16="http://schemas.microsoft.com/office/drawing/2014/main" id="{2BEA20F1-B58C-4085-8EC5-B0759A15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766" y="1362425"/>
            <a:ext cx="9525" cy="23629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5" name="page-08-line-010">
            <a:extLst xmlns:a="http://schemas.openxmlformats.org/drawingml/2006/main">
              <a:ext uri="{FF2B5EF4-FFF2-40B4-BE49-F238E27FC236}">
                <a16:creationId xmlns:a16="http://schemas.microsoft.com/office/drawing/2014/main" id="{FD18A32B-AEC8-4C82-A928-22DEEF8E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0259" y="1356073"/>
            <a:ext cx="9525" cy="23756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6" name="page-08-line-011">
            <a:extLst xmlns:a="http://schemas.openxmlformats.org/drawingml/2006/main">
              <a:ext uri="{FF2B5EF4-FFF2-40B4-BE49-F238E27FC236}">
                <a16:creationId xmlns:a16="http://schemas.microsoft.com/office/drawing/2014/main" id="{9C2F075A-E55F-4FB7-BB85-47E92B96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5" y="4379033"/>
            <a:ext cx="595191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7" name="page-08-line-012">
            <a:extLst xmlns:a="http://schemas.openxmlformats.org/drawingml/2006/main">
              <a:ext uri="{FF2B5EF4-FFF2-40B4-BE49-F238E27FC236}">
                <a16:creationId xmlns:a16="http://schemas.microsoft.com/office/drawing/2014/main" id="{2076B485-D414-4D19-8615-C33CFBAC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4685204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8" name="page-08-line-013">
            <a:extLst xmlns:a="http://schemas.openxmlformats.org/drawingml/2006/main">
              <a:ext uri="{FF2B5EF4-FFF2-40B4-BE49-F238E27FC236}">
                <a16:creationId xmlns:a16="http://schemas.microsoft.com/office/drawing/2014/main" id="{652D1843-84EB-46EA-B55D-DABA606C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5029487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9" name="page-08-line-014">
            <a:extLst xmlns:a="http://schemas.openxmlformats.org/drawingml/2006/main">
              <a:ext uri="{FF2B5EF4-FFF2-40B4-BE49-F238E27FC236}">
                <a16:creationId xmlns:a16="http://schemas.microsoft.com/office/drawing/2014/main" id="{9FB9E588-1475-400A-B4B3-AD4E6193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5616420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30" name="page-08-line-015">
            <a:extLst xmlns:a="http://schemas.openxmlformats.org/drawingml/2006/main">
              <a:ext uri="{FF2B5EF4-FFF2-40B4-BE49-F238E27FC236}">
                <a16:creationId xmlns:a16="http://schemas.microsoft.com/office/drawing/2014/main" id="{D963BF80-A0F5-4FF8-9BE5-CB282B0A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6204624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31" name="page-08-line-016">
            <a:extLst xmlns:a="http://schemas.openxmlformats.org/drawingml/2006/main">
              <a:ext uri="{FF2B5EF4-FFF2-40B4-BE49-F238E27FC236}">
                <a16:creationId xmlns:a16="http://schemas.microsoft.com/office/drawing/2014/main" id="{C1034869-C4E4-4666-8F23-8252492F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5" y="6547637"/>
            <a:ext cx="595191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32" name="page-08-line-017">
            <a:extLst xmlns:a="http://schemas.openxmlformats.org/drawingml/2006/main">
              <a:ext uri="{FF2B5EF4-FFF2-40B4-BE49-F238E27FC236}">
                <a16:creationId xmlns:a16="http://schemas.microsoft.com/office/drawing/2014/main" id="{6B920AC0-3E30-4F02-B927-124CB3D2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4375857"/>
            <a:ext cx="9525" cy="21749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33" name="page-08-line-018">
            <a:extLst xmlns:a="http://schemas.openxmlformats.org/drawingml/2006/main">
              <a:ext uri="{FF2B5EF4-FFF2-40B4-BE49-F238E27FC236}">
                <a16:creationId xmlns:a16="http://schemas.microsoft.com/office/drawing/2014/main" id="{3B9A3351-7082-4875-8E91-1257F2C4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766" y="4382209"/>
            <a:ext cx="9525" cy="21622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34" name="page-08-line-019">
            <a:extLst xmlns:a="http://schemas.openxmlformats.org/drawingml/2006/main">
              <a:ext uri="{FF2B5EF4-FFF2-40B4-BE49-F238E27FC236}">
                <a16:creationId xmlns:a16="http://schemas.microsoft.com/office/drawing/2014/main" id="{2AC0688E-2CB9-4A8B-A649-9987B8E2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0259" y="4375857"/>
            <a:ext cx="9525" cy="21749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35" name="page-08-line-020">
            <a:extLst xmlns:a="http://schemas.openxmlformats.org/drawingml/2006/main">
              <a:ext uri="{FF2B5EF4-FFF2-40B4-BE49-F238E27FC236}">
                <a16:creationId xmlns:a16="http://schemas.microsoft.com/office/drawing/2014/main" id="{D3E85A67-269D-4391-874A-45006A7B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1419" y="8216967"/>
            <a:ext cx="66824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3">
            <a:solidFill>
              <a:srgbClr val="2E74B5"/>
            </a:solidFill>
            <a:prstDash val="solid"/>
          </a:ln>
        </p:spPr>
      </p:sp>
      <p:sp>
        <p:nvSpPr>
          <p:cNvPr id="36" name="page-08-line-021">
            <a:extLst xmlns:a="http://schemas.openxmlformats.org/drawingml/2006/main">
              <a:ext uri="{FF2B5EF4-FFF2-40B4-BE49-F238E27FC236}">
                <a16:creationId xmlns:a16="http://schemas.microsoft.com/office/drawing/2014/main" id="{4E064F82-709E-4AAB-9D99-AB123AB8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4468" y="8560615"/>
            <a:ext cx="94011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3">
            <a:solidFill>
              <a:srgbClr val="2E74B5"/>
            </a:solidFill>
            <a:prstDash val="solid"/>
          </a:ln>
        </p:spPr>
      </p:sp>
      <p:sp>
        <p:nvSpPr>
          <p:cNvPr id="37" name="page-08-line-022">
            <a:extLst xmlns:a="http://schemas.openxmlformats.org/drawingml/2006/main">
              <a:ext uri="{FF2B5EF4-FFF2-40B4-BE49-F238E27FC236}">
                <a16:creationId xmlns:a16="http://schemas.microsoft.com/office/drawing/2014/main" id="{D6C298C5-F1C6-4977-94B5-C5D355F3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1419" y="9007167"/>
            <a:ext cx="524683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3">
            <a:solidFill>
              <a:srgbClr val="2E74B5"/>
            </a:solidFill>
            <a:prstDash val="solid"/>
          </a:ln>
        </p:spPr>
      </p:sp>
      <p:sp>
        <p:nvSpPr>
          <p:cNvPr id="38" name="page-08-line-023">
            <a:extLst xmlns:a="http://schemas.openxmlformats.org/drawingml/2006/main">
              <a:ext uri="{FF2B5EF4-FFF2-40B4-BE49-F238E27FC236}">
                <a16:creationId xmlns:a16="http://schemas.microsoft.com/office/drawing/2014/main" id="{42308642-111B-4A35-830F-8EC44CA2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1419" y="9454354"/>
            <a:ext cx="524683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3">
            <a:solidFill>
              <a:srgbClr val="2E74B5"/>
            </a:solidFill>
            <a:prstDash val="solid"/>
          </a:ln>
        </p:spPr>
      </p:sp>
      <p:sp>
        <p:nvSpPr>
          <p:cNvPr id="39" name="page-08-line-024">
            <a:extLst xmlns:a="http://schemas.openxmlformats.org/drawingml/2006/main">
              <a:ext uri="{FF2B5EF4-FFF2-40B4-BE49-F238E27FC236}">
                <a16:creationId xmlns:a16="http://schemas.microsoft.com/office/drawing/2014/main" id="{4FCB6D5A-630F-42E7-9324-485C29F8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5" y="7664335"/>
            <a:ext cx="595191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40" name="page-08-line-025">
            <a:extLst xmlns:a="http://schemas.openxmlformats.org/drawingml/2006/main">
              <a:ext uri="{FF2B5EF4-FFF2-40B4-BE49-F238E27FC236}">
                <a16:creationId xmlns:a16="http://schemas.microsoft.com/office/drawing/2014/main" id="{5258B7AA-A28A-4293-87F1-21CF4594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7971776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41" name="page-08-line-026">
            <a:extLst xmlns:a="http://schemas.openxmlformats.org/drawingml/2006/main">
              <a:ext uri="{FF2B5EF4-FFF2-40B4-BE49-F238E27FC236}">
                <a16:creationId xmlns:a16="http://schemas.microsoft.com/office/drawing/2014/main" id="{2FADED15-F6C2-47EF-902A-FA5419A3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8314789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42" name="page-08-line-027">
            <a:extLst xmlns:a="http://schemas.openxmlformats.org/drawingml/2006/main">
              <a:ext uri="{FF2B5EF4-FFF2-40B4-BE49-F238E27FC236}">
                <a16:creationId xmlns:a16="http://schemas.microsoft.com/office/drawing/2014/main" id="{C79BD2ED-1BBC-44BA-A2D0-D579C410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8659072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43" name="page-08-line-028">
            <a:extLst xmlns:a="http://schemas.openxmlformats.org/drawingml/2006/main">
              <a:ext uri="{FF2B5EF4-FFF2-40B4-BE49-F238E27FC236}">
                <a16:creationId xmlns:a16="http://schemas.microsoft.com/office/drawing/2014/main" id="{0C88E32C-A7B4-4FC1-99C6-30758334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9209163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44" name="page-08-line-029">
            <a:extLst xmlns:a="http://schemas.openxmlformats.org/drawingml/2006/main">
              <a:ext uri="{FF2B5EF4-FFF2-40B4-BE49-F238E27FC236}">
                <a16:creationId xmlns:a16="http://schemas.microsoft.com/office/drawing/2014/main" id="{0C20E2DA-23E9-4BD3-BD0B-0520C751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5" y="9552176"/>
            <a:ext cx="595191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45" name="page-08-line-030">
            <a:extLst xmlns:a="http://schemas.openxmlformats.org/drawingml/2006/main">
              <a:ext uri="{FF2B5EF4-FFF2-40B4-BE49-F238E27FC236}">
                <a16:creationId xmlns:a16="http://schemas.microsoft.com/office/drawing/2014/main" id="{B9A56F40-891F-4B2F-B3CF-3E38985D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7661159"/>
            <a:ext cx="9525" cy="189419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46" name="page-08-line-031">
            <a:extLst xmlns:a="http://schemas.openxmlformats.org/drawingml/2006/main">
              <a:ext uri="{FF2B5EF4-FFF2-40B4-BE49-F238E27FC236}">
                <a16:creationId xmlns:a16="http://schemas.microsoft.com/office/drawing/2014/main" id="{0C642086-86AC-489E-9B83-945A36F1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557" y="7667511"/>
            <a:ext cx="9525" cy="188148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47" name="page-08-line-032">
            <a:extLst xmlns:a="http://schemas.openxmlformats.org/drawingml/2006/main">
              <a:ext uri="{FF2B5EF4-FFF2-40B4-BE49-F238E27FC236}">
                <a16:creationId xmlns:a16="http://schemas.microsoft.com/office/drawing/2014/main" id="{EED2F8D5-4271-4467-9EF9-AB3F617A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268" y="7667511"/>
            <a:ext cx="9525" cy="188148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48" name="page-08-line-033">
            <a:extLst xmlns:a="http://schemas.openxmlformats.org/drawingml/2006/main">
              <a:ext uri="{FF2B5EF4-FFF2-40B4-BE49-F238E27FC236}">
                <a16:creationId xmlns:a16="http://schemas.microsoft.com/office/drawing/2014/main" id="{9E10BBA7-5B85-421D-87A3-CDDC06EB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0259" y="7661159"/>
            <a:ext cx="9525" cy="189419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49" name="page-08-line-034">
            <a:extLst xmlns:a="http://schemas.openxmlformats.org/drawingml/2006/main">
              <a:ext uri="{FF2B5EF4-FFF2-40B4-BE49-F238E27FC236}">
                <a16:creationId xmlns:a16="http://schemas.microsoft.com/office/drawing/2014/main" id="{C38A1B78-240F-4778-BF0A-C4B1B24D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78940"/>
            <a:ext cx="573276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8">
            <a:solidFill>
              <a:srgbClr val="D7DBE2"/>
            </a:solidFill>
            <a:prstDash val="solid"/>
          </a:ln>
        </p:spPr>
      </p:sp>
      <p:sp>
        <p:nvSpPr>
          <p:cNvPr id="50" name="page-08-line-035">
            <a:extLst xmlns:a="http://schemas.openxmlformats.org/drawingml/2006/main">
              <a:ext uri="{FF2B5EF4-FFF2-40B4-BE49-F238E27FC236}">
                <a16:creationId xmlns:a16="http://schemas.microsoft.com/office/drawing/2014/main" id="{24069A28-E892-4C07-980B-4851FBEF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78940"/>
            <a:ext cx="573276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8">
            <a:solidFill>
              <a:srgbClr val="D7DBE2"/>
            </a:solidFill>
            <a:prstDash val="solid"/>
          </a:ln>
        </p:spPr>
      </p:sp>
      <p:sp>
        <p:nvSpPr>
          <p:cNvPr id="51" name="page-08-text-000-00">
            <a:extLst xmlns:a="http://schemas.openxmlformats.org/drawingml/2006/main">
              <a:ext uri="{FF2B5EF4-FFF2-40B4-BE49-F238E27FC236}">
                <a16:creationId xmlns:a16="http://schemas.microsoft.com/office/drawing/2014/main" id="{0E628A85-EE31-46D0-8B2F-FCC7311F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6631" y="468104"/>
            <a:ext cx="1948377" cy="171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4" b="0" i="0">
                <a:solidFill>
                  <a:srgbClr val="586270"/>
                </a:solidFill>
                <a:latin typeface="Aptos"/>
                <a:ea typeface="Aptos"/>
                <a:cs typeface="Aptos"/>
              </a:defRPr>
            </a:pPr>
            <a:r>
              <a:rPr sz="464" b="0" i="0">
                <a:solidFill>
                  <a:srgbClr val="586270"/>
                </a:solidFill>
                <a:latin typeface="Aptos"/>
                <a:ea typeface="Aptos"/>
                <a:cs typeface="Aptos"/>
              </a:rPr>
              <a:t>Property Shot · AI Technical Report</a:t>
            </a:r>
          </a:p>
        </p:txBody>
      </p:sp>
      <p:sp>
        <p:nvSpPr>
          <p:cNvPr id="52" name="page-08-text-001-00">
            <a:extLst xmlns:a="http://schemas.openxmlformats.org/drawingml/2006/main">
              <a:ext uri="{FF2B5EF4-FFF2-40B4-BE49-F238E27FC236}">
                <a16:creationId xmlns:a16="http://schemas.microsoft.com/office/drawing/2014/main" id="{79A76F52-4630-4514-BA2B-B48C6B86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954573"/>
            <a:ext cx="2250458" cy="260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6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826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7. 게임과 AI 시스템 구조</a:t>
            </a:r>
          </a:p>
        </p:txBody>
      </p:sp>
      <p:sp>
        <p:nvSpPr>
          <p:cNvPr id="53" name="page-08-text-002-00">
            <a:extLst xmlns:a="http://schemas.openxmlformats.org/drawingml/2006/main">
              <a:ext uri="{FF2B5EF4-FFF2-40B4-BE49-F238E27FC236}">
                <a16:creationId xmlns:a16="http://schemas.microsoft.com/office/drawing/2014/main" id="{3B7ED7B1-F9AB-4F00-8259-903E73BE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1433432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계층</a:t>
            </a:r>
          </a:p>
        </p:txBody>
      </p:sp>
      <p:sp>
        <p:nvSpPr>
          <p:cNvPr id="54" name="page-08-text-002-01">
            <a:extLst xmlns:a="http://schemas.openxmlformats.org/drawingml/2006/main">
              <a:ext uri="{FF2B5EF4-FFF2-40B4-BE49-F238E27FC236}">
                <a16:creationId xmlns:a16="http://schemas.microsoft.com/office/drawing/2014/main" id="{87AB69FB-75F5-4619-A7CE-A7500962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1433432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역할</a:t>
            </a:r>
          </a:p>
        </p:txBody>
      </p:sp>
      <p:sp>
        <p:nvSpPr>
          <p:cNvPr id="55" name="page-08-text-003-00">
            <a:extLst xmlns:a="http://schemas.openxmlformats.org/drawingml/2006/main">
              <a:ext uri="{FF2B5EF4-FFF2-40B4-BE49-F238E27FC236}">
                <a16:creationId xmlns:a16="http://schemas.microsoft.com/office/drawing/2014/main" id="{6C5F78D7-5FB1-4577-9A57-971FD8AB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1743757"/>
            <a:ext cx="80398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2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652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Stage data</a:t>
            </a:r>
          </a:p>
        </p:txBody>
      </p:sp>
      <p:sp>
        <p:nvSpPr>
          <p:cNvPr id="56" name="page-08-text-003-01">
            <a:extLst xmlns:a="http://schemas.openxmlformats.org/drawingml/2006/main">
              <a:ext uri="{FF2B5EF4-FFF2-40B4-BE49-F238E27FC236}">
                <a16:creationId xmlns:a16="http://schemas.microsoft.com/office/drawing/2014/main" id="{EE7051E5-39A1-4C46-A324-8B03A436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1743757"/>
            <a:ext cx="292408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10단계·40패턴, 오브젝트·해법·힌트 메타데이터</a:t>
            </a:r>
          </a:p>
        </p:txBody>
      </p:sp>
      <p:sp>
        <p:nvSpPr>
          <p:cNvPr id="57" name="page-08-text-004-00">
            <a:extLst xmlns:a="http://schemas.openxmlformats.org/drawingml/2006/main">
              <a:ext uri="{FF2B5EF4-FFF2-40B4-BE49-F238E27FC236}">
                <a16:creationId xmlns:a16="http://schemas.microsoft.com/office/drawing/2014/main" id="{C527F3D3-7DB6-49D4-91BF-252A35F1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2087405"/>
            <a:ext cx="945230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5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605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ShotResolver</a:t>
            </a:r>
          </a:p>
        </p:txBody>
      </p:sp>
      <p:sp>
        <p:nvSpPr>
          <p:cNvPr id="58" name="page-08-text-004-01">
            <a:extLst xmlns:a="http://schemas.openxmlformats.org/drawingml/2006/main">
              <a:ext uri="{FF2B5EF4-FFF2-40B4-BE49-F238E27FC236}">
                <a16:creationId xmlns:a16="http://schemas.microsoft.com/office/drawing/2014/main" id="{9FFD7D41-AFC1-4446-AEE0-0DFD8036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2087405"/>
            <a:ext cx="2279436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방향·힘·속성으로 결정론적 결과 계산</a:t>
            </a:r>
          </a:p>
        </p:txBody>
      </p:sp>
      <p:sp>
        <p:nvSpPr>
          <p:cNvPr id="59" name="page-08-text-005-00">
            <a:extLst xmlns:a="http://schemas.openxmlformats.org/drawingml/2006/main">
              <a:ext uri="{FF2B5EF4-FFF2-40B4-BE49-F238E27FC236}">
                <a16:creationId xmlns:a16="http://schemas.microsoft.com/office/drawing/2014/main" id="{531B3C5D-EAD1-4607-AC86-108392B1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2431053"/>
            <a:ext cx="700293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7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647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RunState</a:t>
            </a:r>
          </a:p>
        </p:txBody>
      </p:sp>
      <p:sp>
        <p:nvSpPr>
          <p:cNvPr id="60" name="page-08-text-005-01">
            <a:extLst xmlns:a="http://schemas.openxmlformats.org/drawingml/2006/main">
              <a:ext uri="{FF2B5EF4-FFF2-40B4-BE49-F238E27FC236}">
                <a16:creationId xmlns:a16="http://schemas.microsoft.com/office/drawing/2014/main" id="{09D0D1ED-C76C-4189-9568-23E76A02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2431053"/>
            <a:ext cx="2957712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진행, 잔류 공, 보상, 힌트 권한, 열쇠 수집을 저장</a:t>
            </a:r>
          </a:p>
        </p:txBody>
      </p:sp>
      <p:sp>
        <p:nvSpPr>
          <p:cNvPr id="61" name="page-08-text-006-00">
            <a:extLst xmlns:a="http://schemas.openxmlformats.org/drawingml/2006/main">
              <a:ext uri="{FF2B5EF4-FFF2-40B4-BE49-F238E27FC236}">
                <a16:creationId xmlns:a16="http://schemas.microsoft.com/office/drawing/2014/main" id="{EEDA2AFC-C3CC-4505-9657-AD43795D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2774701"/>
            <a:ext cx="375882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5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GameScreen / Flame 입력·Canvas 렌더·접근성·피드백</a:t>
            </a:r>
          </a:p>
        </p:txBody>
      </p:sp>
      <p:sp>
        <p:nvSpPr>
          <p:cNvPr id="62" name="page-08-text-007-00">
            <a:extLst xmlns:a="http://schemas.openxmlformats.org/drawingml/2006/main">
              <a:ext uri="{FF2B5EF4-FFF2-40B4-BE49-F238E27FC236}">
                <a16:creationId xmlns:a16="http://schemas.microsoft.com/office/drawing/2014/main" id="{A0A4BFE6-E805-4F88-92D5-8A7D9E7D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3118349"/>
            <a:ext cx="434259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StagePatternValidator 정적 구조·물리·결정론·invalid fixture 검증</a:t>
            </a:r>
          </a:p>
        </p:txBody>
      </p:sp>
      <p:sp>
        <p:nvSpPr>
          <p:cNvPr id="63" name="page-08-text-008-00">
            <a:extLst xmlns:a="http://schemas.openxmlformats.org/drawingml/2006/main">
              <a:ext uri="{FF2B5EF4-FFF2-40B4-BE49-F238E27FC236}">
                <a16:creationId xmlns:a16="http://schemas.microsoft.com/office/drawing/2014/main" id="{82BD2350-E1B0-4ACA-B38D-6786CD5E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3461997"/>
            <a:ext cx="109417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7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597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Report pipeline</a:t>
            </a:r>
          </a:p>
        </p:txBody>
      </p:sp>
      <p:sp>
        <p:nvSpPr>
          <p:cNvPr id="64" name="page-08-text-008-01">
            <a:extLst xmlns:a="http://schemas.openxmlformats.org/drawingml/2006/main">
              <a:ext uri="{FF2B5EF4-FFF2-40B4-BE49-F238E27FC236}">
                <a16:creationId xmlns:a16="http://schemas.microsoft.com/office/drawing/2014/main" id="{788F0983-0EC4-4A52-B085-6FA78406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3461997"/>
            <a:ext cx="2469922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PDF·A4 세로 PPT의 재생성과 시각 검사</a:t>
            </a:r>
          </a:p>
        </p:txBody>
      </p:sp>
      <p:sp>
        <p:nvSpPr>
          <p:cNvPr id="65" name="page-08-text-009-00">
            <a:extLst xmlns:a="http://schemas.openxmlformats.org/drawingml/2006/main">
              <a:ext uri="{FF2B5EF4-FFF2-40B4-BE49-F238E27FC236}">
                <a16:creationId xmlns:a16="http://schemas.microsoft.com/office/drawing/2014/main" id="{73317D25-70A2-4390-A22B-F53E1341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3973722"/>
            <a:ext cx="2250458" cy="260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6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826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8. 사용한 AI 도구와 역할</a:t>
            </a:r>
          </a:p>
        </p:txBody>
      </p:sp>
      <p:sp>
        <p:nvSpPr>
          <p:cNvPr id="66" name="page-08-text-010-00">
            <a:extLst xmlns:a="http://schemas.openxmlformats.org/drawingml/2006/main">
              <a:ext uri="{FF2B5EF4-FFF2-40B4-BE49-F238E27FC236}">
                <a16:creationId xmlns:a16="http://schemas.microsoft.com/office/drawing/2014/main" id="{85C006BD-20E0-4B36-B753-D5DE36F1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4452581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도구</a:t>
            </a:r>
          </a:p>
        </p:txBody>
      </p:sp>
      <p:sp>
        <p:nvSpPr>
          <p:cNvPr id="67" name="page-08-text-010-01">
            <a:extLst xmlns:a="http://schemas.openxmlformats.org/drawingml/2006/main">
              <a:ext uri="{FF2B5EF4-FFF2-40B4-BE49-F238E27FC236}">
                <a16:creationId xmlns:a16="http://schemas.microsoft.com/office/drawing/2014/main" id="{BB575EE2-6EA4-4A21-9797-324DCA97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4452581"/>
            <a:ext cx="67845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1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651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사용 방식</a:t>
            </a:r>
          </a:p>
        </p:txBody>
      </p:sp>
      <p:sp>
        <p:nvSpPr>
          <p:cNvPr id="68" name="page-08-text-011-00">
            <a:extLst xmlns:a="http://schemas.openxmlformats.org/drawingml/2006/main">
              <a:ext uri="{FF2B5EF4-FFF2-40B4-BE49-F238E27FC236}">
                <a16:creationId xmlns:a16="http://schemas.microsoft.com/office/drawing/2014/main" id="{15A3E95F-7AEC-4F97-B9C0-B9BEE238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4762906"/>
            <a:ext cx="1390232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3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Codex 코드 에이전트</a:t>
            </a:r>
          </a:p>
        </p:txBody>
      </p:sp>
      <p:sp>
        <p:nvSpPr>
          <p:cNvPr id="69" name="page-08-text-011-01">
            <a:extLst xmlns:a="http://schemas.openxmlformats.org/drawingml/2006/main">
              <a:ext uri="{FF2B5EF4-FFF2-40B4-BE49-F238E27FC236}">
                <a16:creationId xmlns:a16="http://schemas.microsoft.com/office/drawing/2014/main" id="{2427CFE8-53EC-43DB-B320-B872A968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4762906"/>
            <a:ext cx="3715517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5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저장소 탐색, Flutter/Dart 구현, 테스트·문서 파이프라인 실행</a:t>
            </a:r>
          </a:p>
        </p:txBody>
      </p:sp>
      <p:sp>
        <p:nvSpPr>
          <p:cNvPr id="70" name="page-08-text-012-00">
            <a:extLst xmlns:a="http://schemas.openxmlformats.org/drawingml/2006/main">
              <a:ext uri="{FF2B5EF4-FFF2-40B4-BE49-F238E27FC236}">
                <a16:creationId xmlns:a16="http://schemas.microsoft.com/office/drawing/2014/main" id="{E0EEE94D-A4B7-4383-A6CF-C502F820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5106554"/>
            <a:ext cx="1252938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gpt-5.6-terra 실행</a:t>
            </a:r>
          </a:p>
        </p:txBody>
      </p:sp>
      <p:sp>
        <p:nvSpPr>
          <p:cNvPr id="71" name="page-08-text-013-00">
            <a:extLst xmlns:a="http://schemas.openxmlformats.org/drawingml/2006/main">
              <a:ext uri="{FF2B5EF4-FFF2-40B4-BE49-F238E27FC236}">
                <a16:creationId xmlns:a16="http://schemas.microsoft.com/office/drawing/2014/main" id="{C4F7304D-58D6-451D-A76E-15298643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5228514"/>
            <a:ext cx="1846820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9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기능별 분석·구현과 표적 회귀</a:t>
            </a:r>
          </a:p>
        </p:txBody>
      </p:sp>
      <p:sp>
        <p:nvSpPr>
          <p:cNvPr id="72" name="page-08-text-014-00">
            <a:extLst xmlns:a="http://schemas.openxmlformats.org/drawingml/2006/main">
              <a:ext uri="{FF2B5EF4-FFF2-40B4-BE49-F238E27FC236}">
                <a16:creationId xmlns:a16="http://schemas.microsoft.com/office/drawing/2014/main" id="{E73ED38A-E938-4EE0-B4F0-D49BAA7B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5350474"/>
            <a:ext cx="639186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5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에이전트</a:t>
            </a:r>
          </a:p>
        </p:txBody>
      </p:sp>
      <p:sp>
        <p:nvSpPr>
          <p:cNvPr id="73" name="page-08-text-015-00">
            <a:extLst xmlns:a="http://schemas.openxmlformats.org/drawingml/2006/main">
              <a:ext uri="{FF2B5EF4-FFF2-40B4-BE49-F238E27FC236}">
                <a16:creationId xmlns:a16="http://schemas.microsoft.com/office/drawing/2014/main" id="{A99E6819-0C86-444F-91A7-A948176E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5694122"/>
            <a:ext cx="1126531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gpt-5.6-sol 감사</a:t>
            </a:r>
          </a:p>
        </p:txBody>
      </p:sp>
      <p:sp>
        <p:nvSpPr>
          <p:cNvPr id="74" name="page-08-text-016-00">
            <a:extLst xmlns:a="http://schemas.openxmlformats.org/drawingml/2006/main">
              <a:ext uri="{FF2B5EF4-FFF2-40B4-BE49-F238E27FC236}">
                <a16:creationId xmlns:a16="http://schemas.microsoft.com/office/drawing/2014/main" id="{28E626EB-CCD3-4496-A6CF-CCDB30B1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5816083"/>
            <a:ext cx="3181522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코드를 수정하지 않는 독립 P0/P1/P2 감사와 재검증</a:t>
            </a:r>
          </a:p>
        </p:txBody>
      </p:sp>
      <p:sp>
        <p:nvSpPr>
          <p:cNvPr id="75" name="page-08-text-017-00">
            <a:extLst xmlns:a="http://schemas.openxmlformats.org/drawingml/2006/main">
              <a:ext uri="{FF2B5EF4-FFF2-40B4-BE49-F238E27FC236}">
                <a16:creationId xmlns:a16="http://schemas.microsoft.com/office/drawing/2014/main" id="{6052D490-EB33-43EB-8879-27BBEBAC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5938043"/>
            <a:ext cx="639186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5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에이전트</a:t>
            </a:r>
          </a:p>
        </p:txBody>
      </p:sp>
      <p:sp>
        <p:nvSpPr>
          <p:cNvPr id="76" name="page-08-text-018-00">
            <a:extLst xmlns:a="http://schemas.openxmlformats.org/drawingml/2006/main">
              <a:ext uri="{FF2B5EF4-FFF2-40B4-BE49-F238E27FC236}">
                <a16:creationId xmlns:a16="http://schemas.microsoft.com/office/drawing/2014/main" id="{85B58F16-6F80-46C2-9059-8231EB3E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6281691"/>
            <a:ext cx="1111248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1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이미지 생성 도구</a:t>
            </a:r>
          </a:p>
        </p:txBody>
      </p:sp>
      <p:sp>
        <p:nvSpPr>
          <p:cNvPr id="77" name="page-08-text-018-01">
            <a:extLst xmlns:a="http://schemas.openxmlformats.org/drawingml/2006/main">
              <a:ext uri="{FF2B5EF4-FFF2-40B4-BE49-F238E27FC236}">
                <a16:creationId xmlns:a16="http://schemas.microsoft.com/office/drawing/2014/main" id="{AFD2B6A0-A152-4158-A691-A306DBEA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6281691"/>
            <a:ext cx="4135682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돌·젤리·상자 원본 생성; 투명화·권리대장·실제 번들 여부를 별도 관리</a:t>
            </a:r>
          </a:p>
        </p:txBody>
      </p:sp>
      <p:sp>
        <p:nvSpPr>
          <p:cNvPr id="78" name="page-08-text-019-00">
            <a:extLst xmlns:a="http://schemas.openxmlformats.org/drawingml/2006/main">
              <a:ext uri="{FF2B5EF4-FFF2-40B4-BE49-F238E27FC236}">
                <a16:creationId xmlns:a16="http://schemas.microsoft.com/office/drawing/2014/main" id="{099962E4-79D8-4D84-89B4-E0DDE18C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6574522"/>
            <a:ext cx="5616316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모델 이름보다 중요한 운영 원칙은 구현과 감사를 분리하고, 실행 증거가 없는 주장은 채택하지</a:t>
            </a:r>
          </a:p>
        </p:txBody>
      </p:sp>
      <p:sp>
        <p:nvSpPr>
          <p:cNvPr id="79" name="page-08-text-020-00">
            <a:extLst xmlns:a="http://schemas.openxmlformats.org/drawingml/2006/main">
              <a:ext uri="{FF2B5EF4-FFF2-40B4-BE49-F238E27FC236}">
                <a16:creationId xmlns:a16="http://schemas.microsoft.com/office/drawing/2014/main" id="{58F1DDB6-861C-4349-B3EF-C1201F8F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6807644"/>
            <a:ext cx="98368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1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않는 것이었다.</a:t>
            </a:r>
          </a:p>
        </p:txBody>
      </p:sp>
      <p:sp>
        <p:nvSpPr>
          <p:cNvPr id="80" name="page-08-text-021-00">
            <a:extLst xmlns:a="http://schemas.openxmlformats.org/drawingml/2006/main">
              <a:ext uri="{FF2B5EF4-FFF2-40B4-BE49-F238E27FC236}">
                <a16:creationId xmlns:a16="http://schemas.microsoft.com/office/drawing/2014/main" id="{A721BB5E-2A73-4789-9D28-1CF9B546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7259659"/>
            <a:ext cx="2187673" cy="260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0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850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9. 외부 에셋과 오픈소스</a:t>
            </a:r>
          </a:p>
        </p:txBody>
      </p:sp>
      <p:sp>
        <p:nvSpPr>
          <p:cNvPr id="81" name="page-08-text-022-00">
            <a:extLst xmlns:a="http://schemas.openxmlformats.org/drawingml/2006/main">
              <a:ext uri="{FF2B5EF4-FFF2-40B4-BE49-F238E27FC236}">
                <a16:creationId xmlns:a16="http://schemas.microsoft.com/office/drawing/2014/main" id="{0CE7E7D1-798B-41FA-AD41-0AD7A983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7738518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구성</a:t>
            </a:r>
          </a:p>
        </p:txBody>
      </p:sp>
      <p:sp>
        <p:nvSpPr>
          <p:cNvPr id="82" name="page-08-text-022-01">
            <a:extLst xmlns:a="http://schemas.openxmlformats.org/drawingml/2006/main">
              <a:ext uri="{FF2B5EF4-FFF2-40B4-BE49-F238E27FC236}">
                <a16:creationId xmlns:a16="http://schemas.microsoft.com/office/drawing/2014/main" id="{C149A0E5-DBAB-4C98-AB89-070675EA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892" y="7738518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용도</a:t>
            </a:r>
          </a:p>
        </p:txBody>
      </p:sp>
      <p:sp>
        <p:nvSpPr>
          <p:cNvPr id="83" name="page-08-text-022-02">
            <a:extLst xmlns:a="http://schemas.openxmlformats.org/drawingml/2006/main">
              <a:ext uri="{FF2B5EF4-FFF2-40B4-BE49-F238E27FC236}">
                <a16:creationId xmlns:a16="http://schemas.microsoft.com/office/drawing/2014/main" id="{E4ACCADD-6295-4AF7-A5B1-BCF99289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238" y="7738518"/>
            <a:ext cx="941546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61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출처·라이선스</a:t>
            </a:r>
          </a:p>
        </p:txBody>
      </p:sp>
      <p:sp>
        <p:nvSpPr>
          <p:cNvPr id="84" name="page-08-text-023-00">
            <a:extLst xmlns:a="http://schemas.openxmlformats.org/drawingml/2006/main">
              <a:ext uri="{FF2B5EF4-FFF2-40B4-BE49-F238E27FC236}">
                <a16:creationId xmlns:a16="http://schemas.microsoft.com/office/drawing/2014/main" id="{2D9AEF0F-648D-430A-8781-3C2265FD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8048843"/>
            <a:ext cx="530743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7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567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Flutter</a:t>
            </a:r>
          </a:p>
        </p:txBody>
      </p:sp>
      <p:sp>
        <p:nvSpPr>
          <p:cNvPr id="85" name="page-08-text-023-01">
            <a:extLst xmlns:a="http://schemas.openxmlformats.org/drawingml/2006/main">
              <a:ext uri="{FF2B5EF4-FFF2-40B4-BE49-F238E27FC236}">
                <a16:creationId xmlns:a16="http://schemas.microsoft.com/office/drawing/2014/main" id="{B6801F9C-47A4-4FC0-A9C9-1D17A543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892" y="8048843"/>
            <a:ext cx="1116406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앱 UI·멀티플랫폼</a:t>
            </a:r>
          </a:p>
        </p:txBody>
      </p:sp>
      <p:sp>
        <p:nvSpPr>
          <p:cNvPr id="86" name="page-08-text-023-02">
            <a:extLst xmlns:a="http://schemas.openxmlformats.org/drawingml/2006/main">
              <a:ext uri="{FF2B5EF4-FFF2-40B4-BE49-F238E27FC236}">
                <a16:creationId xmlns:a16="http://schemas.microsoft.com/office/drawing/2014/main" id="{E10A0B28-5702-4CB7-9C0B-9FA83F92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238" y="8048843"/>
            <a:ext cx="177153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3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553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BSD-3-Clause · flutter.dev</a:t>
            </a:r>
          </a:p>
        </p:txBody>
      </p:sp>
      <p:sp>
        <p:nvSpPr>
          <p:cNvPr id="87" name="page-08-text-024-00">
            <a:extLst xmlns:a="http://schemas.openxmlformats.org/drawingml/2006/main">
              <a:ext uri="{FF2B5EF4-FFF2-40B4-BE49-F238E27FC236}">
                <a16:creationId xmlns:a16="http://schemas.microsoft.com/office/drawing/2014/main" id="{EF67AD53-9C76-4BD4-A899-565F7BD7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8392491"/>
            <a:ext cx="497268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8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728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Flame</a:t>
            </a:r>
          </a:p>
        </p:txBody>
      </p:sp>
      <p:sp>
        <p:nvSpPr>
          <p:cNvPr id="88" name="page-08-text-024-01">
            <a:extLst xmlns:a="http://schemas.openxmlformats.org/drawingml/2006/main">
              <a:ext uri="{FF2B5EF4-FFF2-40B4-BE49-F238E27FC236}">
                <a16:creationId xmlns:a16="http://schemas.microsoft.com/office/drawing/2014/main" id="{D4203002-DD03-4BC2-9C9E-455C1E78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892" y="8392491"/>
            <a:ext cx="1176293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1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게임 루프·Canvas</a:t>
            </a:r>
          </a:p>
        </p:txBody>
      </p:sp>
      <p:sp>
        <p:nvSpPr>
          <p:cNvPr id="89" name="page-08-text-024-02">
            <a:extLst xmlns:a="http://schemas.openxmlformats.org/drawingml/2006/main">
              <a:ext uri="{FF2B5EF4-FFF2-40B4-BE49-F238E27FC236}">
                <a16:creationId xmlns:a16="http://schemas.microsoft.com/office/drawing/2014/main" id="{8AC0F4C4-CEC6-4B8E-8B15-295F90C4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238" y="8392491"/>
            <a:ext cx="1417686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6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616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MIT · pub.dev/flame</a:t>
            </a:r>
          </a:p>
        </p:txBody>
      </p:sp>
      <p:sp>
        <p:nvSpPr>
          <p:cNvPr id="90" name="page-08-text-025-00">
            <a:extLst xmlns:a="http://schemas.openxmlformats.org/drawingml/2006/main">
              <a:ext uri="{FF2B5EF4-FFF2-40B4-BE49-F238E27FC236}">
                <a16:creationId xmlns:a16="http://schemas.microsoft.com/office/drawing/2014/main" id="{F60D2FAB-9942-4B0F-8E47-D09C11E6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8736139"/>
            <a:ext cx="1010821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3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633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shared_prefer</a:t>
            </a:r>
          </a:p>
        </p:txBody>
      </p:sp>
      <p:sp>
        <p:nvSpPr>
          <p:cNvPr id="91" name="page-08-text-026-00">
            <a:extLst xmlns:a="http://schemas.openxmlformats.org/drawingml/2006/main">
              <a:ext uri="{FF2B5EF4-FFF2-40B4-BE49-F238E27FC236}">
                <a16:creationId xmlns:a16="http://schemas.microsoft.com/office/drawing/2014/main" id="{4055B75A-067F-41F4-867B-5540D1DF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892" y="8839043"/>
            <a:ext cx="980547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0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로컬 설정·저장</a:t>
            </a:r>
          </a:p>
        </p:txBody>
      </p:sp>
      <p:sp>
        <p:nvSpPr>
          <p:cNvPr id="92" name="page-08-text-026-01">
            <a:extLst xmlns:a="http://schemas.openxmlformats.org/drawingml/2006/main">
              <a:ext uri="{FF2B5EF4-FFF2-40B4-BE49-F238E27FC236}">
                <a16:creationId xmlns:a16="http://schemas.microsoft.com/office/drawing/2014/main" id="{AF7FC138-2DAB-4565-9F5E-0A068B19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238" y="8839043"/>
            <a:ext cx="1628232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8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598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BSD-3-Clause · pub.dev</a:t>
            </a:r>
          </a:p>
        </p:txBody>
      </p:sp>
      <p:sp>
        <p:nvSpPr>
          <p:cNvPr id="93" name="page-08-text-027-00">
            <a:extLst xmlns:a="http://schemas.openxmlformats.org/drawingml/2006/main">
              <a:ext uri="{FF2B5EF4-FFF2-40B4-BE49-F238E27FC236}">
                <a16:creationId xmlns:a16="http://schemas.microsoft.com/office/drawing/2014/main" id="{1BA46C07-AEB2-4B13-B8C9-165EA98A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8942582"/>
            <a:ext cx="47775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74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ences</a:t>
            </a:r>
          </a:p>
        </p:txBody>
      </p:sp>
      <p:sp>
        <p:nvSpPr>
          <p:cNvPr id="94" name="page-08-text-028-00">
            <a:extLst xmlns:a="http://schemas.openxmlformats.org/drawingml/2006/main">
              <a:ext uri="{FF2B5EF4-FFF2-40B4-BE49-F238E27FC236}">
                <a16:creationId xmlns:a16="http://schemas.microsoft.com/office/drawing/2014/main" id="{A45BDD44-B76C-4AC4-95BC-A5E3F7BD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9286230"/>
            <a:ext cx="517137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2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672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crypto</a:t>
            </a:r>
          </a:p>
        </p:txBody>
      </p:sp>
      <p:sp>
        <p:nvSpPr>
          <p:cNvPr id="95" name="page-08-text-028-01">
            <a:extLst xmlns:a="http://schemas.openxmlformats.org/drawingml/2006/main">
              <a:ext uri="{FF2B5EF4-FFF2-40B4-BE49-F238E27FC236}">
                <a16:creationId xmlns:a16="http://schemas.microsoft.com/office/drawing/2014/main" id="{6E0591BF-0C2A-461F-BDCE-A48F8012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892" y="9286230"/>
            <a:ext cx="1807386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9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리플레이·산출물 무결성 해시</a:t>
            </a:r>
          </a:p>
        </p:txBody>
      </p:sp>
      <p:sp>
        <p:nvSpPr>
          <p:cNvPr id="96" name="page-08-text-028-02">
            <a:extLst xmlns:a="http://schemas.openxmlformats.org/drawingml/2006/main">
              <a:ext uri="{FF2B5EF4-FFF2-40B4-BE49-F238E27FC236}">
                <a16:creationId xmlns:a16="http://schemas.microsoft.com/office/drawing/2014/main" id="{1EC60008-0150-4B26-920B-DFA9CA57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238" y="9286230"/>
            <a:ext cx="1628232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8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598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BSD-3-Clause · pub.dev</a:t>
            </a:r>
          </a:p>
        </p:txBody>
      </p:sp>
      <p:sp>
        <p:nvSpPr>
          <p:cNvPr id="97" name="page-08-text-029-00">
            <a:extLst xmlns:a="http://schemas.openxmlformats.org/drawingml/2006/main">
              <a:ext uri="{FF2B5EF4-FFF2-40B4-BE49-F238E27FC236}">
                <a16:creationId xmlns:a16="http://schemas.microsoft.com/office/drawing/2014/main" id="{6652AF0A-13E8-43E7-8EA3-2F6FB490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8228" y="10099425"/>
            <a:ext cx="2276565" cy="165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9" b="0" i="0">
                <a:solidFill>
                  <a:srgbClr val="586270"/>
                </a:solidFill>
                <a:latin typeface="Aptos"/>
                <a:ea typeface="Aptos"/>
                <a:cs typeface="Aptos"/>
              </a:defRPr>
            </a:pPr>
            <a:r>
              <a:rPr sz="439" b="0" i="0">
                <a:solidFill>
                  <a:srgbClr val="586270"/>
                </a:solidFill>
                <a:latin typeface="Aptos"/>
                <a:ea typeface="Aptos"/>
                <a:cs typeface="Aptos"/>
              </a:rPr>
              <a:t>Property Shot · AI Technical Report · Page 8</a:t>
            </a:r>
          </a:p>
        </p:txBody>
      </p:sp>
    </p:spTree>
    <p:extLst>
      <p:ext uri="{BB962C8B-B14F-4D97-AF65-F5344CB8AC3E}">
        <p14:creationId xmlns:p14="http://schemas.microsoft.com/office/powerpoint/2010/main" val="4398428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page-09-rect-000">
            <a:extLst xmlns:a="http://schemas.openxmlformats.org/drawingml/2006/main">
              <a:ext uri="{FF2B5EF4-FFF2-40B4-BE49-F238E27FC236}">
                <a16:creationId xmlns:a16="http://schemas.microsoft.com/office/drawing/2014/main" id="{C00C5D90-784C-4BCF-9D55-A0D407A7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915238"/>
            <a:ext cx="1079220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ge-09-rect-001">
            <a:extLst xmlns:a="http://schemas.openxmlformats.org/drawingml/2006/main">
              <a:ext uri="{FF2B5EF4-FFF2-40B4-BE49-F238E27FC236}">
                <a16:creationId xmlns:a16="http://schemas.microsoft.com/office/drawing/2014/main" id="{746EC2D6-0AC0-4DFD-A300-D26E5A3C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557" y="915238"/>
            <a:ext cx="2159076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09-rect-002">
            <a:extLst xmlns:a="http://schemas.openxmlformats.org/drawingml/2006/main">
              <a:ext uri="{FF2B5EF4-FFF2-40B4-BE49-F238E27FC236}">
                <a16:creationId xmlns:a16="http://schemas.microsoft.com/office/drawing/2014/main" id="{166FA5C6-BD24-4BED-A5A2-40C3FF38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268" y="915238"/>
            <a:ext cx="2705356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9-rect-003">
            <a:extLst xmlns:a="http://schemas.openxmlformats.org/drawingml/2006/main">
              <a:ext uri="{FF2B5EF4-FFF2-40B4-BE49-F238E27FC236}">
                <a16:creationId xmlns:a16="http://schemas.microsoft.com/office/drawing/2014/main" id="{738C3F3A-0A17-4BB6-BD5B-1CCEBB73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915238"/>
            <a:ext cx="1079220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09-rect-004">
            <a:extLst xmlns:a="http://schemas.openxmlformats.org/drawingml/2006/main">
              <a:ext uri="{FF2B5EF4-FFF2-40B4-BE49-F238E27FC236}">
                <a16:creationId xmlns:a16="http://schemas.microsoft.com/office/drawing/2014/main" id="{D0823E55-2062-4F39-969C-5941F98E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557" y="915238"/>
            <a:ext cx="2159076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09-rect-005">
            <a:extLst xmlns:a="http://schemas.openxmlformats.org/drawingml/2006/main">
              <a:ext uri="{FF2B5EF4-FFF2-40B4-BE49-F238E27FC236}">
                <a16:creationId xmlns:a16="http://schemas.microsoft.com/office/drawing/2014/main" id="{41111B64-1765-4491-A347-3337E1F2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268" y="915238"/>
            <a:ext cx="2705356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ge-09-line-000">
            <a:extLst xmlns:a="http://schemas.openxmlformats.org/drawingml/2006/main">
              <a:ext uri="{FF2B5EF4-FFF2-40B4-BE49-F238E27FC236}">
                <a16:creationId xmlns:a16="http://schemas.microsoft.com/office/drawing/2014/main" id="{2D6CBD74-A05F-4F99-8F50-D9216276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4468" y="1471046"/>
            <a:ext cx="524683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3">
            <a:solidFill>
              <a:srgbClr val="2E74B5"/>
            </a:solidFill>
            <a:prstDash val="solid"/>
          </a:ln>
        </p:spPr>
      </p:sp>
      <p:sp>
        <p:nvSpPr>
          <p:cNvPr id="8" name="page-09-line-001">
            <a:extLst xmlns:a="http://schemas.openxmlformats.org/drawingml/2006/main">
              <a:ext uri="{FF2B5EF4-FFF2-40B4-BE49-F238E27FC236}">
                <a16:creationId xmlns:a16="http://schemas.microsoft.com/office/drawing/2014/main" id="{9E7A35CF-5A23-492E-AA91-CBD7250E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1982" y="1814694"/>
            <a:ext cx="46243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3">
            <a:solidFill>
              <a:srgbClr val="2E74B5"/>
            </a:solidFill>
            <a:prstDash val="solid"/>
          </a:ln>
        </p:spPr>
      </p:sp>
      <p:sp>
        <p:nvSpPr>
          <p:cNvPr id="9" name="page-09-line-002">
            <a:extLst xmlns:a="http://schemas.openxmlformats.org/drawingml/2006/main">
              <a:ext uri="{FF2B5EF4-FFF2-40B4-BE49-F238E27FC236}">
                <a16:creationId xmlns:a16="http://schemas.microsoft.com/office/drawing/2014/main" id="{83612C49-4DFF-4970-84DD-28293233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5049" y="1814694"/>
            <a:ext cx="38113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3">
            <a:solidFill>
              <a:srgbClr val="2E74B5"/>
            </a:solidFill>
            <a:prstDash val="solid"/>
          </a:ln>
        </p:spPr>
      </p:sp>
      <p:sp>
        <p:nvSpPr>
          <p:cNvPr id="10" name="page-09-line-003">
            <a:extLst xmlns:a="http://schemas.openxmlformats.org/drawingml/2006/main">
              <a:ext uri="{FF2B5EF4-FFF2-40B4-BE49-F238E27FC236}">
                <a16:creationId xmlns:a16="http://schemas.microsoft.com/office/drawing/2014/main" id="{46EFA222-70CE-4097-9B0D-022F0487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3797" y="1814694"/>
            <a:ext cx="473866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3">
            <a:solidFill>
              <a:srgbClr val="2E74B5"/>
            </a:solidFill>
            <a:prstDash val="solid"/>
          </a:ln>
        </p:spPr>
      </p:sp>
      <p:sp>
        <p:nvSpPr>
          <p:cNvPr id="11" name="page-09-line-004">
            <a:extLst xmlns:a="http://schemas.openxmlformats.org/drawingml/2006/main">
              <a:ext uri="{FF2B5EF4-FFF2-40B4-BE49-F238E27FC236}">
                <a16:creationId xmlns:a16="http://schemas.microsoft.com/office/drawing/2014/main" id="{7184543C-F62B-4751-8C04-B261571C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365" y="2158342"/>
            <a:ext cx="475136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3">
            <a:solidFill>
              <a:srgbClr val="2E74B5"/>
            </a:solidFill>
            <a:prstDash val="solid"/>
          </a:ln>
        </p:spPr>
      </p:sp>
      <p:sp>
        <p:nvSpPr>
          <p:cNvPr id="12" name="page-09-line-005">
            <a:extLst xmlns:a="http://schemas.openxmlformats.org/drawingml/2006/main">
              <a:ext uri="{FF2B5EF4-FFF2-40B4-BE49-F238E27FC236}">
                <a16:creationId xmlns:a16="http://schemas.microsoft.com/office/drawing/2014/main" id="{BCE8EB62-C692-4FF5-8462-20714CC1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6501" y="2158342"/>
            <a:ext cx="38113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3">
            <a:solidFill>
              <a:srgbClr val="2E74B5"/>
            </a:solidFill>
            <a:prstDash val="solid"/>
          </a:ln>
        </p:spPr>
      </p:sp>
      <p:sp>
        <p:nvSpPr>
          <p:cNvPr id="13" name="page-09-line-006">
            <a:extLst xmlns:a="http://schemas.openxmlformats.org/drawingml/2006/main">
              <a:ext uri="{FF2B5EF4-FFF2-40B4-BE49-F238E27FC236}">
                <a16:creationId xmlns:a16="http://schemas.microsoft.com/office/drawing/2014/main" id="{30A63B25-3636-4C47-8492-99F7FDBC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5249" y="2158342"/>
            <a:ext cx="5323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3">
            <a:solidFill>
              <a:srgbClr val="2E74B5"/>
            </a:solidFill>
            <a:prstDash val="solid"/>
          </a:ln>
        </p:spPr>
      </p:sp>
      <p:sp>
        <p:nvSpPr>
          <p:cNvPr id="14" name="page-09-line-007">
            <a:extLst xmlns:a="http://schemas.openxmlformats.org/drawingml/2006/main">
              <a:ext uri="{FF2B5EF4-FFF2-40B4-BE49-F238E27FC236}">
                <a16:creationId xmlns:a16="http://schemas.microsoft.com/office/drawing/2014/main" id="{101AB854-BF50-440D-9B4B-7A2F086A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8189" y="2158342"/>
            <a:ext cx="38113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3">
            <a:solidFill>
              <a:srgbClr val="2E74B5"/>
            </a:solidFill>
            <a:prstDash val="solid"/>
          </a:ln>
        </p:spPr>
      </p:sp>
      <p:sp>
        <p:nvSpPr>
          <p:cNvPr id="15" name="page-09-line-008">
            <a:extLst xmlns:a="http://schemas.openxmlformats.org/drawingml/2006/main">
              <a:ext uri="{FF2B5EF4-FFF2-40B4-BE49-F238E27FC236}">
                <a16:creationId xmlns:a16="http://schemas.microsoft.com/office/drawing/2014/main" id="{D0D91C7D-FFC9-4101-8B51-B6467734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6937" y="2158342"/>
            <a:ext cx="329038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3">
            <a:solidFill>
              <a:srgbClr val="2E74B5"/>
            </a:solidFill>
            <a:prstDash val="solid"/>
          </a:ln>
        </p:spPr>
      </p:sp>
      <p:sp>
        <p:nvSpPr>
          <p:cNvPr id="16" name="page-09-line-009">
            <a:extLst xmlns:a="http://schemas.openxmlformats.org/drawingml/2006/main">
              <a:ext uri="{FF2B5EF4-FFF2-40B4-BE49-F238E27FC236}">
                <a16:creationId xmlns:a16="http://schemas.microsoft.com/office/drawing/2014/main" id="{D0FAE808-BD30-4243-BDD5-A17D1B1D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5" y="918414"/>
            <a:ext cx="595191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7" name="page-09-line-010">
            <a:extLst xmlns:a="http://schemas.openxmlformats.org/drawingml/2006/main">
              <a:ext uri="{FF2B5EF4-FFF2-40B4-BE49-F238E27FC236}">
                <a16:creationId xmlns:a16="http://schemas.microsoft.com/office/drawing/2014/main" id="{BC55B926-5FC1-4BC6-861B-95C7D18B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1225855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8" name="page-09-line-011">
            <a:extLst xmlns:a="http://schemas.openxmlformats.org/drawingml/2006/main">
              <a:ext uri="{FF2B5EF4-FFF2-40B4-BE49-F238E27FC236}">
                <a16:creationId xmlns:a16="http://schemas.microsoft.com/office/drawing/2014/main" id="{C0755FE6-6AA5-464F-B33D-8CBD807C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1568868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9" name="page-09-line-012">
            <a:extLst xmlns:a="http://schemas.openxmlformats.org/drawingml/2006/main">
              <a:ext uri="{FF2B5EF4-FFF2-40B4-BE49-F238E27FC236}">
                <a16:creationId xmlns:a16="http://schemas.microsoft.com/office/drawing/2014/main" id="{6D7D0734-635E-4080-9513-29D21B54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1913151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0" name="page-09-line-013">
            <a:extLst xmlns:a="http://schemas.openxmlformats.org/drawingml/2006/main">
              <a:ext uri="{FF2B5EF4-FFF2-40B4-BE49-F238E27FC236}">
                <a16:creationId xmlns:a16="http://schemas.microsoft.com/office/drawing/2014/main" id="{2DBDE7CF-89FA-4215-8554-8368E4DD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5" y="2256164"/>
            <a:ext cx="595191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1" name="page-09-line-014">
            <a:extLst xmlns:a="http://schemas.openxmlformats.org/drawingml/2006/main">
              <a:ext uri="{FF2B5EF4-FFF2-40B4-BE49-F238E27FC236}">
                <a16:creationId xmlns:a16="http://schemas.microsoft.com/office/drawing/2014/main" id="{84C1B8D7-2456-40F8-9807-C3EF97D2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915238"/>
            <a:ext cx="9525" cy="13441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2" name="page-09-line-015">
            <a:extLst xmlns:a="http://schemas.openxmlformats.org/drawingml/2006/main">
              <a:ext uri="{FF2B5EF4-FFF2-40B4-BE49-F238E27FC236}">
                <a16:creationId xmlns:a16="http://schemas.microsoft.com/office/drawing/2014/main" id="{F495298F-7C1A-4541-99CC-B41BA62B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557" y="921590"/>
            <a:ext cx="9525" cy="133139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3" name="page-09-line-016">
            <a:extLst xmlns:a="http://schemas.openxmlformats.org/drawingml/2006/main">
              <a:ext uri="{FF2B5EF4-FFF2-40B4-BE49-F238E27FC236}">
                <a16:creationId xmlns:a16="http://schemas.microsoft.com/office/drawing/2014/main" id="{C27833B5-2D5F-40BB-A493-3A84EB95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268" y="921590"/>
            <a:ext cx="9525" cy="133139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4" name="page-09-line-017">
            <a:extLst xmlns:a="http://schemas.openxmlformats.org/drawingml/2006/main">
              <a:ext uri="{FF2B5EF4-FFF2-40B4-BE49-F238E27FC236}">
                <a16:creationId xmlns:a16="http://schemas.microsoft.com/office/drawing/2014/main" id="{7F6DAE0F-9F97-439E-A9D6-5EE261BD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0259" y="915238"/>
            <a:ext cx="9525" cy="134410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5" name="page-09-line-018">
            <a:extLst xmlns:a="http://schemas.openxmlformats.org/drawingml/2006/main">
              <a:ext uri="{FF2B5EF4-FFF2-40B4-BE49-F238E27FC236}">
                <a16:creationId xmlns:a16="http://schemas.microsoft.com/office/drawing/2014/main" id="{6999137F-BBD1-4270-8288-F70FA3CC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78940"/>
            <a:ext cx="573276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8">
            <a:solidFill>
              <a:srgbClr val="D7DBE2"/>
            </a:solidFill>
            <a:prstDash val="solid"/>
          </a:ln>
        </p:spPr>
      </p:sp>
      <p:sp>
        <p:nvSpPr>
          <p:cNvPr id="26" name="page-09-line-019">
            <a:extLst xmlns:a="http://schemas.openxmlformats.org/drawingml/2006/main">
              <a:ext uri="{FF2B5EF4-FFF2-40B4-BE49-F238E27FC236}">
                <a16:creationId xmlns:a16="http://schemas.microsoft.com/office/drawing/2014/main" id="{DF684DE3-1DCC-453A-A126-56294FCD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78940"/>
            <a:ext cx="573276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8">
            <a:solidFill>
              <a:srgbClr val="D7DBE2"/>
            </a:solidFill>
            <a:prstDash val="solid"/>
          </a:ln>
        </p:spPr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270b92eaab4d46"/>
          <a:srcRect xmlns:a="http://schemas.openxmlformats.org/drawingml/2006/main" l="116" t="0" r="1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06626" y="3059694"/>
            <a:ext cx="2149548" cy="4652272"/>
          </a:xfrm>
          <a:prstGeom xmlns:a="http://schemas.openxmlformats.org/drawingml/2006/main" prst="rect">
            <a:avLst/>
          </a:prstGeom>
        </p:spPr>
      </p:pic>
      <p:sp>
        <p:nvSpPr>
          <p:cNvPr id="28" name="page-09-text-000-00">
            <a:extLst xmlns:a="http://schemas.openxmlformats.org/drawingml/2006/main">
              <a:ext uri="{FF2B5EF4-FFF2-40B4-BE49-F238E27FC236}">
                <a16:creationId xmlns:a16="http://schemas.microsoft.com/office/drawing/2014/main" id="{FB2A69EA-FD24-40BF-A8EC-2C415D3B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6631" y="468104"/>
            <a:ext cx="1948377" cy="171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4" b="0" i="0">
                <a:solidFill>
                  <a:srgbClr val="586270"/>
                </a:solidFill>
                <a:latin typeface="Aptos"/>
                <a:ea typeface="Aptos"/>
                <a:cs typeface="Aptos"/>
              </a:defRPr>
            </a:pPr>
            <a:r>
              <a:rPr sz="464" b="0" i="0">
                <a:solidFill>
                  <a:srgbClr val="586270"/>
                </a:solidFill>
                <a:latin typeface="Aptos"/>
                <a:ea typeface="Aptos"/>
                <a:cs typeface="Aptos"/>
              </a:rPr>
              <a:t>Property Shot · AI Technical Report</a:t>
            </a:r>
          </a:p>
        </p:txBody>
      </p:sp>
      <p:sp>
        <p:nvSpPr>
          <p:cNvPr id="29" name="page-09-text-001-00">
            <a:extLst xmlns:a="http://schemas.openxmlformats.org/drawingml/2006/main">
              <a:ext uri="{FF2B5EF4-FFF2-40B4-BE49-F238E27FC236}">
                <a16:creationId xmlns:a16="http://schemas.microsoft.com/office/drawing/2014/main" id="{FA030604-3708-4F77-BD2A-ED948FBC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992597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구성</a:t>
            </a:r>
          </a:p>
        </p:txBody>
      </p:sp>
      <p:sp>
        <p:nvSpPr>
          <p:cNvPr id="30" name="page-09-text-001-01">
            <a:extLst xmlns:a="http://schemas.openxmlformats.org/drawingml/2006/main">
              <a:ext uri="{FF2B5EF4-FFF2-40B4-BE49-F238E27FC236}">
                <a16:creationId xmlns:a16="http://schemas.microsoft.com/office/drawing/2014/main" id="{2C06332C-849E-47DE-BF95-23E617E5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892" y="992597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용도</a:t>
            </a:r>
          </a:p>
        </p:txBody>
      </p:sp>
      <p:sp>
        <p:nvSpPr>
          <p:cNvPr id="31" name="page-09-text-001-02">
            <a:extLst xmlns:a="http://schemas.openxmlformats.org/drawingml/2006/main">
              <a:ext uri="{FF2B5EF4-FFF2-40B4-BE49-F238E27FC236}">
                <a16:creationId xmlns:a16="http://schemas.microsoft.com/office/drawing/2014/main" id="{E7CC45DD-C30C-4211-ADC6-EFEF02A2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238" y="992597"/>
            <a:ext cx="941546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61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출처·라이선스</a:t>
            </a:r>
          </a:p>
        </p:txBody>
      </p:sp>
      <p:sp>
        <p:nvSpPr>
          <p:cNvPr id="32" name="page-09-text-002-00">
            <a:extLst xmlns:a="http://schemas.openxmlformats.org/drawingml/2006/main">
              <a:ext uri="{FF2B5EF4-FFF2-40B4-BE49-F238E27FC236}">
                <a16:creationId xmlns:a16="http://schemas.microsoft.com/office/drawing/2014/main" id="{E9C284FF-B43E-49B4-896F-5195D059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1302922"/>
            <a:ext cx="2322376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5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audioplayers 배경음·효과음 재생</a:t>
            </a:r>
          </a:p>
        </p:txBody>
      </p:sp>
      <p:sp>
        <p:nvSpPr>
          <p:cNvPr id="33" name="page-09-text-002-01">
            <a:extLst xmlns:a="http://schemas.openxmlformats.org/drawingml/2006/main">
              <a:ext uri="{FF2B5EF4-FFF2-40B4-BE49-F238E27FC236}">
                <a16:creationId xmlns:a16="http://schemas.microsoft.com/office/drawing/2014/main" id="{06614946-FD88-48C6-ABEB-0A4D8AAE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238" y="1302922"/>
            <a:ext cx="1001281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7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627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MIT · pub.dev</a:t>
            </a:r>
          </a:p>
        </p:txBody>
      </p:sp>
      <p:sp>
        <p:nvSpPr>
          <p:cNvPr id="34" name="page-09-text-003-00">
            <a:extLst xmlns:a="http://schemas.openxmlformats.org/drawingml/2006/main">
              <a:ext uri="{FF2B5EF4-FFF2-40B4-BE49-F238E27FC236}">
                <a16:creationId xmlns:a16="http://schemas.microsoft.com/office/drawing/2014/main" id="{324A9C59-A7A5-43D2-85A7-94E7553D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1646570"/>
            <a:ext cx="1932726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6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NanumGothic 한글 UI·문서</a:t>
            </a:r>
          </a:p>
        </p:txBody>
      </p:sp>
      <p:sp>
        <p:nvSpPr>
          <p:cNvPr id="35" name="page-09-text-003-01">
            <a:extLst xmlns:a="http://schemas.openxmlformats.org/drawingml/2006/main">
              <a:ext uri="{FF2B5EF4-FFF2-40B4-BE49-F238E27FC236}">
                <a16:creationId xmlns:a16="http://schemas.microsoft.com/office/drawing/2014/main" id="{102DF751-0F37-40FF-835F-68BA65C1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238" y="1646570"/>
            <a:ext cx="1921381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6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586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SIL OFL 1.1 · NAVER Nanum</a:t>
            </a:r>
          </a:p>
        </p:txBody>
      </p:sp>
      <p:sp>
        <p:nvSpPr>
          <p:cNvPr id="36" name="page-09-text-004-00">
            <a:extLst xmlns:a="http://schemas.openxmlformats.org/drawingml/2006/main">
              <a:ext uri="{FF2B5EF4-FFF2-40B4-BE49-F238E27FC236}">
                <a16:creationId xmlns:a16="http://schemas.microsoft.com/office/drawing/2014/main" id="{52C85899-5B9D-4615-8379-1F0976E3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1990218"/>
            <a:ext cx="188132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2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Material Icons 런 보상 9종</a:t>
            </a:r>
          </a:p>
        </p:txBody>
      </p:sp>
      <p:sp>
        <p:nvSpPr>
          <p:cNvPr id="37" name="page-09-text-004-01">
            <a:extLst xmlns:a="http://schemas.openxmlformats.org/drawingml/2006/main">
              <a:ext uri="{FF2B5EF4-FFF2-40B4-BE49-F238E27FC236}">
                <a16:creationId xmlns:a16="http://schemas.microsoft.com/office/drawing/2014/main" id="{71DE84F8-B54D-48CB-BE04-97F9DE03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238" y="1990218"/>
            <a:ext cx="2400507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6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586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Apache-2.0 · Google Material Icons</a:t>
            </a:r>
          </a:p>
        </p:txBody>
      </p:sp>
      <p:sp>
        <p:nvSpPr>
          <p:cNvPr id="38" name="page-09-text-005-00">
            <a:extLst xmlns:a="http://schemas.openxmlformats.org/drawingml/2006/main">
              <a:ext uri="{FF2B5EF4-FFF2-40B4-BE49-F238E27FC236}">
                <a16:creationId xmlns:a16="http://schemas.microsoft.com/office/drawing/2014/main" id="{BF6595AF-3A89-4670-B0CB-845F656A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2283049"/>
            <a:ext cx="573958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무거움 돌·탄성 젤리·상자는 AI 생성 후 투명화한 프로젝트 애셋이다. 풍선·뾰족함·공 표현은 외부</a:t>
            </a:r>
          </a:p>
        </p:txBody>
      </p:sp>
      <p:sp>
        <p:nvSpPr>
          <p:cNvPr id="39" name="page-09-text-006-00">
            <a:extLst xmlns:a="http://schemas.openxmlformats.org/drawingml/2006/main">
              <a:ext uri="{FF2B5EF4-FFF2-40B4-BE49-F238E27FC236}">
                <a16:creationId xmlns:a16="http://schemas.microsoft.com/office/drawing/2014/main" id="{8AFE9812-743C-4A13-B86D-3B86DCBB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2516171"/>
            <a:ext cx="5229512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0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PNG가 아니라 Canvas 코드로 직접 그린다. OpenGameArt의 CC0 원본 3종은 레거시</a:t>
            </a:r>
          </a:p>
        </p:txBody>
      </p:sp>
      <p:sp>
        <p:nvSpPr>
          <p:cNvPr id="40" name="page-09-text-007-00">
            <a:extLst xmlns:a="http://schemas.openxmlformats.org/drawingml/2006/main">
              <a:ext uri="{FF2B5EF4-FFF2-40B4-BE49-F238E27FC236}">
                <a16:creationId xmlns:a16="http://schemas.microsoft.com/office/drawing/2014/main" id="{8E390CD6-4857-440E-A17F-F2B6EC2C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2749293"/>
            <a:ext cx="324185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증빙으로만 보관하고 제품 화면에는 사용하지 않는다.</a:t>
            </a:r>
          </a:p>
        </p:txBody>
      </p:sp>
      <p:sp>
        <p:nvSpPr>
          <p:cNvPr id="41" name="page-09-text-008-00">
            <a:extLst xmlns:a="http://schemas.openxmlformats.org/drawingml/2006/main">
              <a:ext uri="{FF2B5EF4-FFF2-40B4-BE49-F238E27FC236}">
                <a16:creationId xmlns:a16="http://schemas.microsoft.com/office/drawing/2014/main" id="{D30E0C64-509B-4808-899F-6717B262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7936" y="7775830"/>
            <a:ext cx="2085430" cy="165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45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defRPr>
            </a:pPr>
            <a:r>
              <a:rPr sz="445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rPr>
              <a:t>AI 생성 후 게임에 적용한 돌·젤리·상자 애셋</a:t>
            </a:r>
          </a:p>
        </p:txBody>
      </p:sp>
      <p:sp>
        <p:nvSpPr>
          <p:cNvPr id="42" name="page-09-text-009-00">
            <a:extLst xmlns:a="http://schemas.openxmlformats.org/drawingml/2006/main">
              <a:ext uri="{FF2B5EF4-FFF2-40B4-BE49-F238E27FC236}">
                <a16:creationId xmlns:a16="http://schemas.microsoft.com/office/drawing/2014/main" id="{59C5659A-F7FC-4175-8516-2F2AD7DF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8228" y="10099425"/>
            <a:ext cx="2276565" cy="165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9" b="0" i="0">
                <a:solidFill>
                  <a:srgbClr val="586270"/>
                </a:solidFill>
                <a:latin typeface="Aptos"/>
                <a:ea typeface="Aptos"/>
                <a:cs typeface="Aptos"/>
              </a:defRPr>
            </a:pPr>
            <a:r>
              <a:rPr sz="439" b="0" i="0">
                <a:solidFill>
                  <a:srgbClr val="586270"/>
                </a:solidFill>
                <a:latin typeface="Aptos"/>
                <a:ea typeface="Aptos"/>
                <a:cs typeface="Aptos"/>
              </a:rPr>
              <a:t>Property Shot · AI Technical Report · Page 9</a:t>
            </a:r>
          </a:p>
        </p:txBody>
      </p:sp>
    </p:spTree>
    <p:extLst>
      <p:ext uri="{BB962C8B-B14F-4D97-AF65-F5344CB8AC3E}">
        <p14:creationId xmlns:p14="http://schemas.microsoft.com/office/powerpoint/2010/main" val="1547827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2026-08-17T06:32:50.4530000Z</dcterms:created>
  <dcterms:modified xsi:type="dcterms:W3CDTF">2026-08-17T06:32:50.4530000Z</dcterms:modified>
</coreProperties>
</file>