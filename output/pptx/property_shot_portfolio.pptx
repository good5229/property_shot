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e0712851c24936" /><Relationship Type="http://schemas.openxmlformats.org/officeDocument/2006/relationships/extended-properties" Target="/docProps/app.xml" Id="Ra3a3a92f516745e6" /><Relationship Type="http://schemas.openxmlformats.org/officeDocument/2006/relationships/officeDocument" Target="/ppt/presentation.xml" Id="R7c90b59893844c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5eb8dbb0c64197"/>
  </p:sldMasterIdLst>
  <p:notesMasterIdLst>
    <p:notesMasterId xmlns:r="http://schemas.openxmlformats.org/officeDocument/2006/relationships" r:id="Rc78af352dcde4e32"/>
  </p:notesMasterIdLst>
  <p:sldIdLst>
    <p:sldId xmlns:r="http://schemas.openxmlformats.org/officeDocument/2006/relationships" id="256" r:id="Rfd6b3685a0f8486f"/>
    <p:sldId xmlns:r="http://schemas.openxmlformats.org/officeDocument/2006/relationships" id="257" r:id="Rf4835a4a6784439b"/>
    <p:sldId xmlns:r="http://schemas.openxmlformats.org/officeDocument/2006/relationships" id="258" r:id="Rb47e99bfa5174491"/>
    <p:sldId xmlns:r="http://schemas.openxmlformats.org/officeDocument/2006/relationships" id="259" r:id="Rb8a926e743284f6a"/>
    <p:sldId xmlns:r="http://schemas.openxmlformats.org/officeDocument/2006/relationships" id="260" r:id="Rda4feb276f934e5e"/>
    <p:sldId xmlns:r="http://schemas.openxmlformats.org/officeDocument/2006/relationships" id="261" r:id="R288f18011df848b0"/>
    <p:sldId xmlns:r="http://schemas.openxmlformats.org/officeDocument/2006/relationships" id="262" r:id="R54bf723304ba40f8"/>
    <p:sldId xmlns:r="http://schemas.openxmlformats.org/officeDocument/2006/relationships" id="263" r:id="R3d17a37d895d4401"/>
    <p:sldId xmlns:r="http://schemas.openxmlformats.org/officeDocument/2006/relationships" id="264" r:id="R726bfbe65341406d"/>
    <p:sldId xmlns:r="http://schemas.openxmlformats.org/officeDocument/2006/relationships" id="265" r:id="Re70243cbafaa41ef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f2378f9b034e70" /><Relationship Type="http://schemas.openxmlformats.org/officeDocument/2006/relationships/slideMaster" Target="/ppt/slideMasters/slideMaster1.xml" Id="R195eb8dbb0c64197" /><Relationship Type="http://schemas.openxmlformats.org/officeDocument/2006/relationships/notesMaster" Target="/ppt/notesMasters/notesMaster1.xml" Id="Rc78af352dcde4e32" /><Relationship Type="http://schemas.openxmlformats.org/officeDocument/2006/relationships/presProps" Target="/ppt/presProps.xml" Id="R2739b08ef14e4b30" /><Relationship Type="http://schemas.openxmlformats.org/officeDocument/2006/relationships/tableStyles" Target="/ppt/tableStyles.xml" Id="Rbc5c7bcef4cb46ae" /><Relationship Type="http://schemas.openxmlformats.org/officeDocument/2006/relationships/slide" Target="/ppt/slides/slide1.xml" Id="Rfd6b3685a0f8486f" /><Relationship Type="http://schemas.openxmlformats.org/officeDocument/2006/relationships/slide" Target="/ppt/slides/slide2.xml" Id="Rf4835a4a6784439b" /><Relationship Type="http://schemas.openxmlformats.org/officeDocument/2006/relationships/slide" Target="/ppt/slides/slide3.xml" Id="Rb47e99bfa5174491" /><Relationship Type="http://schemas.openxmlformats.org/officeDocument/2006/relationships/slide" Target="/ppt/slides/slide4.xml" Id="Rb8a926e743284f6a" /><Relationship Type="http://schemas.openxmlformats.org/officeDocument/2006/relationships/slide" Target="/ppt/slides/slide5.xml" Id="Rda4feb276f934e5e" /><Relationship Type="http://schemas.openxmlformats.org/officeDocument/2006/relationships/slide" Target="/ppt/slides/slide6.xml" Id="R288f18011df848b0" /><Relationship Type="http://schemas.openxmlformats.org/officeDocument/2006/relationships/slide" Target="/ppt/slides/slide7.xml" Id="R54bf723304ba40f8" /><Relationship Type="http://schemas.openxmlformats.org/officeDocument/2006/relationships/slide" Target="/ppt/slides/slide8.xml" Id="R3d17a37d895d4401" /><Relationship Type="http://schemas.openxmlformats.org/officeDocument/2006/relationships/slide" Target="/ppt/slides/slide9.xml" Id="R726bfbe65341406d" /><Relationship Type="http://schemas.openxmlformats.org/officeDocument/2006/relationships/slide" Target="/ppt/slides/slide10.xml" Id="Re70243cbafaa41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e2a41a111d42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5a233163eb4095" /><Relationship Type="http://schemas.openxmlformats.org/officeDocument/2006/relationships/notesMaster" Target="/ppt/notesMasters/notesMaster1.xml" Id="R89e6b2e211d349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1dcaa927e04b17" /><Relationship Type="http://schemas.openxmlformats.org/officeDocument/2006/relationships/notesMaster" Target="/ppt/notesMasters/notesMaster1.xml" Id="R9cfd08d3879842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3ba6b7bf154e32" /><Relationship Type="http://schemas.openxmlformats.org/officeDocument/2006/relationships/notesMaster" Target="/ppt/notesMasters/notesMaster1.xml" Id="Re48118a61eba45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22abd7d33441f9" /><Relationship Type="http://schemas.openxmlformats.org/officeDocument/2006/relationships/notesMaster" Target="/ppt/notesMasters/notesMaster1.xml" Id="R885ad166c49447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266825b51a4e07" /><Relationship Type="http://schemas.openxmlformats.org/officeDocument/2006/relationships/notesMaster" Target="/ppt/notesMasters/notesMaster1.xml" Id="R10f56d6c53a745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8ba53feec94f11" /><Relationship Type="http://schemas.openxmlformats.org/officeDocument/2006/relationships/notesMaster" Target="/ppt/notesMasters/notesMaster1.xml" Id="R95f0111d332740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629f23bd5e4f63" /><Relationship Type="http://schemas.openxmlformats.org/officeDocument/2006/relationships/notesMaster" Target="/ppt/notesMasters/notesMaster1.xml" Id="R108b7666d7674d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55026b0ffa44c5" /><Relationship Type="http://schemas.openxmlformats.org/officeDocument/2006/relationships/notesMaster" Target="/ppt/notesMasters/notesMaster1.xml" Id="R751a78e5a9ef48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d4a262a2594ec5" /><Relationship Type="http://schemas.openxmlformats.org/officeDocument/2006/relationships/notesMaster" Target="/ppt/notesMasters/notesMaster1.xml" Id="R47b75023584547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7c8546eca6438e" /><Relationship Type="http://schemas.openxmlformats.org/officeDocument/2006/relationships/notesMaster" Target="/ppt/notesMasters/notesMaster1.xml" Id="Rd6647d0704664e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/Users/bellhundred/git-repo/nhn_hackerton/report/dist/property_shot_portfolio.pdf (page 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/Users/bellhundred/git-repo/nhn_hackerton/report/dist/property_shot_portfolio.pdf (page 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/Users/bellhundred/git-repo/nhn_hackerton/report/dist/property_shot_portfolio.pdf (page 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/Users/bellhundred/git-repo/nhn_hackerton/report/dist/property_shot_portfolio.pdf (page 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/Users/bellhundred/git-repo/nhn_hackerton/report/dist/property_shot_portfolio.pdf (page 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/Users/bellhundred/git-repo/nhn_hackerton/report/dist/property_shot_portfolio.pdf (page 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/Users/bellhundred/git-repo/nhn_hackerton/report/dist/property_shot_portfolio.pdf (page 7)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/Users/bellhundred/git-repo/nhn_hackerton/report/dist/property_shot_portfolio.pdf (page 8)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/Users/bellhundred/git-repo/nhn_hackerton/report/dist/property_shot_portfolio.pdf (page 9)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/Users/bellhundred/git-repo/nhn_hackerton/report/dist/property_shot_portfolio.pdf (page 10)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cefc831c114e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ad9089cfc048ba" /><Relationship Type="http://schemas.openxmlformats.org/officeDocument/2006/relationships/slideLayout" Target="/ppt/slideLayouts/slideLayout1.xml" Id="Rf5cd1126ac2d41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cd1126ac2d41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c1e8c2e8a4fac" /><Relationship Type="http://schemas.openxmlformats.org/officeDocument/2006/relationships/image" Target="/ppt/media/image.png" Id="R2799a923db354177" /><Relationship Type="http://schemas.openxmlformats.org/officeDocument/2006/relationships/notesSlide" Target="/ppt/notesSlides/notesSlide1.xml" Id="Rf097cd941f774b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20ef0834d46ce" /><Relationship Type="http://schemas.openxmlformats.org/officeDocument/2006/relationships/image" Target="/ppt/media/image2.png" Id="R93fa5b4160334eeb" /><Relationship Type="http://schemas.openxmlformats.org/officeDocument/2006/relationships/notesSlide" Target="/ppt/notesSlides/notesSlide2.xml" Id="R88d3f642991245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9ccdd098148cb" /><Relationship Type="http://schemas.openxmlformats.org/officeDocument/2006/relationships/image" Target="/ppt/media/image3.png" Id="R65b33163d3a440e8" /><Relationship Type="http://schemas.openxmlformats.org/officeDocument/2006/relationships/notesSlide" Target="/ppt/notesSlides/notesSlide3.xml" Id="R933d826fbca344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8ff6242ca4e76" /><Relationship Type="http://schemas.openxmlformats.org/officeDocument/2006/relationships/notesSlide" Target="/ppt/notesSlides/notesSlide4.xml" Id="R515e3ae81d8b40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6f19fa59f4d41" /><Relationship Type="http://schemas.openxmlformats.org/officeDocument/2006/relationships/image" Target="/ppt/media/image4.png" Id="R2be62294343246fe" /><Relationship Type="http://schemas.openxmlformats.org/officeDocument/2006/relationships/notesSlide" Target="/ppt/notesSlides/notesSlide5.xml" Id="R3cc7eafda05d4a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ab48a2366414e" /><Relationship Type="http://schemas.openxmlformats.org/officeDocument/2006/relationships/image" Target="/ppt/media/image5.png" Id="Rdba86f35f5f44637" /><Relationship Type="http://schemas.openxmlformats.org/officeDocument/2006/relationships/notesSlide" Target="/ppt/notesSlides/notesSlide6.xml" Id="Rfa4a446519bd42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482e8fcdd4ef9" /><Relationship Type="http://schemas.openxmlformats.org/officeDocument/2006/relationships/image" Target="/ppt/media/image6.png" Id="R0195b2e6e1ed4547" /><Relationship Type="http://schemas.openxmlformats.org/officeDocument/2006/relationships/notesSlide" Target="/ppt/notesSlides/notesSlide7.xml" Id="R840eda480ce346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4b97438e94389" /><Relationship Type="http://schemas.openxmlformats.org/officeDocument/2006/relationships/notesSlide" Target="/ppt/notesSlides/notesSlide8.xml" Id="R84a307c84e1548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0b0a1b0144769" /><Relationship Type="http://schemas.openxmlformats.org/officeDocument/2006/relationships/notesSlide" Target="/ppt/notesSlides/notesSlide9.xml" Id="R55f69bb920b245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f23138a6a4a85" /><Relationship Type="http://schemas.openxmlformats.org/officeDocument/2006/relationships/image" Target="/ppt/media/image7.png" Id="R0a1532daee004f40" /><Relationship Type="http://schemas.openxmlformats.org/officeDocument/2006/relationships/notesSlide" Target="/ppt/notesSlides/notesSlide10.xml" Id="R0285cb6e91eb4f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9a923db354177"/>
          <a:srcRect xmlns:a="http://schemas.openxmlformats.org/drawingml/2006/main" l="22" t="0" r="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03904" y="3767952"/>
            <a:ext cx="1554992" cy="3365338"/>
          </a:xfrm>
          <a:prstGeom xmlns:a="http://schemas.openxmlformats.org/drawingml/2006/main" prst="rect">
            <a:avLst/>
          </a:prstGeom>
        </p:spPr>
      </p:pic>
      <p:sp>
        <p:nvSpPr>
          <p:cNvPr id="2" name="page-01-text-000-00">
            <a:extLst xmlns:a="http://schemas.openxmlformats.org/drawingml/2006/main">
              <a:ext uri="{FF2B5EF4-FFF2-40B4-BE49-F238E27FC236}">
                <a16:creationId xmlns:a16="http://schemas.microsoft.com/office/drawing/2014/main" id="{275F4923-BC0C-4C1E-886A-971E202B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442" y="2640964"/>
            <a:ext cx="244127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1" i="0">
                <a:solidFill>
                  <a:srgbClr val="7A5A00"/>
                </a:solidFill>
                <a:latin typeface="Aptos"/>
                <a:ea typeface="Aptos"/>
                <a:cs typeface="Aptos"/>
              </a:defRPr>
            </a:pPr>
            <a:r>
              <a:rPr sz="593" b="1" i="0">
                <a:solidFill>
                  <a:srgbClr val="7A5A00"/>
                </a:solidFill>
                <a:latin typeface="Aptos"/>
                <a:ea typeface="Aptos"/>
                <a:cs typeface="Aptos"/>
              </a:rPr>
              <a:t>GAME · AI · PRODUCT CASE STUDY</a:t>
            </a:r>
          </a:p>
        </p:txBody>
      </p:sp>
      <p:sp>
        <p:nvSpPr>
          <p:cNvPr id="3" name="page-01-text-001-00">
            <a:extLst xmlns:a="http://schemas.openxmlformats.org/drawingml/2006/main">
              <a:ext uri="{FF2B5EF4-FFF2-40B4-BE49-F238E27FC236}">
                <a16:creationId xmlns:a16="http://schemas.microsoft.com/office/drawing/2014/main" id="{199FDE22-D541-40BA-AF3F-F2253459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7427" y="3141903"/>
            <a:ext cx="4325864" cy="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48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1548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속성 한방(Property Shot)</a:t>
            </a:r>
          </a:p>
        </p:txBody>
      </p:sp>
      <p:sp>
        <p:nvSpPr>
          <p:cNvPr id="4" name="page-01-text-002-00">
            <a:extLst xmlns:a="http://schemas.openxmlformats.org/drawingml/2006/main">
              <a:ext uri="{FF2B5EF4-FFF2-40B4-BE49-F238E27FC236}">
                <a16:creationId xmlns:a16="http://schemas.microsoft.com/office/drawing/2014/main" id="{682E39F7-7997-4920-B54E-E18AC940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016" y="7435523"/>
            <a:ext cx="117315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8" b="1" i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568" b="1" i="0">
                <a:solidFill>
                  <a:srgbClr val="0B2545"/>
                </a:solidFill>
                <a:latin typeface="Aptos"/>
                <a:ea typeface="Aptos"/>
                <a:cs typeface="Aptos"/>
              </a:rPr>
              <a:t>2026-08-10 KST</a:t>
            </a:r>
          </a:p>
        </p:txBody>
      </p:sp>
      <p:sp>
        <p:nvSpPr>
          <p:cNvPr id="5" name="page-01-text-003-00">
            <a:extLst xmlns:a="http://schemas.openxmlformats.org/drawingml/2006/main">
              <a:ext uri="{FF2B5EF4-FFF2-40B4-BE49-F238E27FC236}">
                <a16:creationId xmlns:a16="http://schemas.microsoft.com/office/drawing/2014/main" id="{8EF1DC3D-E11F-40CB-B8C4-391BB2AA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165" y="7731797"/>
            <a:ext cx="2336262" cy="184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0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560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NAN 2026 Game × AI 해커톤 사전 과제</a:t>
            </a:r>
          </a:p>
        </p:txBody>
      </p:sp>
    </p:spTree>
    <p:extLst>
      <p:ext uri="{BB962C8B-B14F-4D97-AF65-F5344CB8AC3E}">
        <p14:creationId xmlns:p14="http://schemas.microsoft.com/office/powerpoint/2010/main" val="8940068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age-02-rect-000">
            <a:extLst xmlns:a="http://schemas.openxmlformats.org/drawingml/2006/main">
              <a:ext uri="{FF2B5EF4-FFF2-40B4-BE49-F238E27FC236}">
                <a16:creationId xmlns:a16="http://schemas.microsoft.com/office/drawing/2014/main" id="{193D7F26-A98E-4253-962A-39778D51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7361340"/>
            <a:ext cx="1714429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-02-rect-001">
            <a:extLst xmlns:a="http://schemas.openxmlformats.org/drawingml/2006/main">
              <a:ext uri="{FF2B5EF4-FFF2-40B4-BE49-F238E27FC236}">
                <a16:creationId xmlns:a16="http://schemas.microsoft.com/office/drawing/2014/main" id="{9EBCD236-B608-4BDE-B88A-B12728BD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7361340"/>
            <a:ext cx="4229858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02-rect-002">
            <a:extLst xmlns:a="http://schemas.openxmlformats.org/drawingml/2006/main">
              <a:ext uri="{FF2B5EF4-FFF2-40B4-BE49-F238E27FC236}">
                <a16:creationId xmlns:a16="http://schemas.microsoft.com/office/drawing/2014/main" id="{4826DFDB-6E64-41BD-9202-67B9FF96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7361340"/>
            <a:ext cx="1714429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2-rect-003">
            <a:extLst xmlns:a="http://schemas.openxmlformats.org/drawingml/2006/main">
              <a:ext uri="{FF2B5EF4-FFF2-40B4-BE49-F238E27FC236}">
                <a16:creationId xmlns:a16="http://schemas.microsoft.com/office/drawing/2014/main" id="{F5A12CFD-0294-429D-BB73-FA618BCA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7361340"/>
            <a:ext cx="4229858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02-line-000">
            <a:extLst xmlns:a="http://schemas.openxmlformats.org/drawingml/2006/main">
              <a:ext uri="{FF2B5EF4-FFF2-40B4-BE49-F238E27FC236}">
                <a16:creationId xmlns:a16="http://schemas.microsoft.com/office/drawing/2014/main" id="{FFBB3559-CF61-42AF-8271-88179C8B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7364516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6" name="page-02-line-001">
            <a:extLst xmlns:a="http://schemas.openxmlformats.org/drawingml/2006/main">
              <a:ext uri="{FF2B5EF4-FFF2-40B4-BE49-F238E27FC236}">
                <a16:creationId xmlns:a16="http://schemas.microsoft.com/office/drawing/2014/main" id="{664A5341-C027-4F21-818E-C5A34A23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7670687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7" name="page-02-line-002">
            <a:extLst xmlns:a="http://schemas.openxmlformats.org/drawingml/2006/main">
              <a:ext uri="{FF2B5EF4-FFF2-40B4-BE49-F238E27FC236}">
                <a16:creationId xmlns:a16="http://schemas.microsoft.com/office/drawing/2014/main" id="{23E371C8-AC6B-4419-8D1A-FD021AE5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8258890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8" name="page-02-line-003">
            <a:extLst xmlns:a="http://schemas.openxmlformats.org/drawingml/2006/main">
              <a:ext uri="{FF2B5EF4-FFF2-40B4-BE49-F238E27FC236}">
                <a16:creationId xmlns:a16="http://schemas.microsoft.com/office/drawing/2014/main" id="{2A2010FB-D83C-4BBD-ADF6-002406CA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8601903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9" name="page-02-line-004">
            <a:extLst xmlns:a="http://schemas.openxmlformats.org/drawingml/2006/main">
              <a:ext uri="{FF2B5EF4-FFF2-40B4-BE49-F238E27FC236}">
                <a16:creationId xmlns:a16="http://schemas.microsoft.com/office/drawing/2014/main" id="{2419B12D-3D15-47DE-BC47-1C194F42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8946187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0" name="page-02-line-005">
            <a:extLst xmlns:a="http://schemas.openxmlformats.org/drawingml/2006/main">
              <a:ext uri="{FF2B5EF4-FFF2-40B4-BE49-F238E27FC236}">
                <a16:creationId xmlns:a16="http://schemas.microsoft.com/office/drawing/2014/main" id="{FF9D2595-8560-42F4-A996-5ED90BC5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9533120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1" name="page-02-line-006">
            <a:extLst xmlns:a="http://schemas.openxmlformats.org/drawingml/2006/main">
              <a:ext uri="{FF2B5EF4-FFF2-40B4-BE49-F238E27FC236}">
                <a16:creationId xmlns:a16="http://schemas.microsoft.com/office/drawing/2014/main" id="{7C550A00-11E3-4616-886C-65D8868C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7361340"/>
            <a:ext cx="9525" cy="21749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2" name="page-02-line-007">
            <a:extLst xmlns:a="http://schemas.openxmlformats.org/drawingml/2006/main">
              <a:ext uri="{FF2B5EF4-FFF2-40B4-BE49-F238E27FC236}">
                <a16:creationId xmlns:a16="http://schemas.microsoft.com/office/drawing/2014/main" id="{EA3177CC-D341-420D-8B80-36BB7492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7367692"/>
            <a:ext cx="9525" cy="21622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3" name="page-02-line-008">
            <a:extLst xmlns:a="http://schemas.openxmlformats.org/drawingml/2006/main">
              <a:ext uri="{FF2B5EF4-FFF2-40B4-BE49-F238E27FC236}">
                <a16:creationId xmlns:a16="http://schemas.microsoft.com/office/drawing/2014/main" id="{C1D80F45-F568-4285-8969-B3A6437F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259" y="7361340"/>
            <a:ext cx="9525" cy="21749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4" name="page-02-line-009">
            <a:extLst xmlns:a="http://schemas.openxmlformats.org/drawingml/2006/main">
              <a:ext uri="{FF2B5EF4-FFF2-40B4-BE49-F238E27FC236}">
                <a16:creationId xmlns:a16="http://schemas.microsoft.com/office/drawing/2014/main" id="{46360C6F-24B3-409F-8709-097F614B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15" name="page-02-line-010">
            <a:extLst xmlns:a="http://schemas.openxmlformats.org/drawingml/2006/main">
              <a:ext uri="{FF2B5EF4-FFF2-40B4-BE49-F238E27FC236}">
                <a16:creationId xmlns:a16="http://schemas.microsoft.com/office/drawing/2014/main" id="{97F07F44-6ED8-42DE-B965-7058703F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a5b4160334eeb"/>
          <a:srcRect xmlns:a="http://schemas.openxmlformats.org/drawingml/2006/main" l="116" t="0" r="1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06626" y="2323487"/>
            <a:ext cx="2149548" cy="4652272"/>
          </a:xfrm>
          <a:prstGeom xmlns:a="http://schemas.openxmlformats.org/drawingml/2006/main" prst="rect">
            <a:avLst/>
          </a:prstGeom>
        </p:spPr>
      </p:pic>
      <p:sp>
        <p:nvSpPr>
          <p:cNvPr id="17" name="page-02-text-000-00">
            <a:extLst xmlns:a="http://schemas.openxmlformats.org/drawingml/2006/main">
              <a:ext uri="{FF2B5EF4-FFF2-40B4-BE49-F238E27FC236}">
                <a16:creationId xmlns:a16="http://schemas.microsoft.com/office/drawing/2014/main" id="{1A08E420-54AB-4991-8845-F3C8C509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602" y="468104"/>
            <a:ext cx="1381873" cy="1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Portfolio</a:t>
            </a:r>
          </a:p>
        </p:txBody>
      </p:sp>
      <p:sp>
        <p:nvSpPr>
          <p:cNvPr id="18" name="page-02-text-001-00">
            <a:extLst xmlns:a="http://schemas.openxmlformats.org/drawingml/2006/main">
              <a:ext uri="{FF2B5EF4-FFF2-40B4-BE49-F238E27FC236}">
                <a16:creationId xmlns:a16="http://schemas.microsoft.com/office/drawing/2014/main" id="{88D91A42-7195-4340-9335-1E8D5C62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954573"/>
            <a:ext cx="1557749" cy="26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5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1. 프로젝트 요약</a:t>
            </a:r>
          </a:p>
        </p:txBody>
      </p:sp>
      <p:sp>
        <p:nvSpPr>
          <p:cNvPr id="19" name="page-02-text-002-00">
            <a:extLst xmlns:a="http://schemas.openxmlformats.org/drawingml/2006/main">
              <a:ext uri="{FF2B5EF4-FFF2-40B4-BE49-F238E27FC236}">
                <a16:creationId xmlns:a16="http://schemas.microsoft.com/office/drawing/2014/main" id="{9D653C23-30A8-4526-B875-AF51A922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1450582"/>
            <a:ext cx="5521607" cy="197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0" b="1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0" b="1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속성 한방은 환경 오브젝트의 물리 속성을 공에 옮기고, 바뀐 장면과 잔류 공을 다음 해법으로</a:t>
            </a:r>
          </a:p>
        </p:txBody>
      </p:sp>
      <p:sp>
        <p:nvSpPr>
          <p:cNvPr id="20" name="page-02-text-003-00">
            <a:extLst xmlns:a="http://schemas.openxmlformats.org/drawingml/2006/main">
              <a:ext uri="{FF2B5EF4-FFF2-40B4-BE49-F238E27FC236}">
                <a16:creationId xmlns:a16="http://schemas.microsoft.com/office/drawing/2014/main" id="{FB2A4E82-D4D5-4F22-9D57-77BB35CA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1716443"/>
            <a:ext cx="565282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사용하는 세로형 물리 퍼즐이다. AI를 활용해 핵심 규칙, 학습 곡선, 난이도, 힌트와 보상 구조를</a:t>
            </a:r>
          </a:p>
        </p:txBody>
      </p:sp>
      <p:sp>
        <p:nvSpPr>
          <p:cNvPr id="21" name="page-02-text-004-00">
            <a:extLst xmlns:a="http://schemas.openxmlformats.org/drawingml/2006/main">
              <a:ext uri="{FF2B5EF4-FFF2-40B4-BE49-F238E27FC236}">
                <a16:creationId xmlns:a16="http://schemas.microsoft.com/office/drawing/2014/main" id="{73AFBFC9-3E02-4D24-963E-B0661D77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1981325"/>
            <a:ext cx="474539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구체화하고 10단계 × 4패턴의 플레이 가능한 수직 프로토타입으로 발전시켰다.</a:t>
            </a:r>
          </a:p>
        </p:txBody>
      </p:sp>
      <p:sp>
        <p:nvSpPr>
          <p:cNvPr id="22" name="page-02-text-005-00">
            <a:extLst xmlns:a="http://schemas.openxmlformats.org/drawingml/2006/main">
              <a:ext uri="{FF2B5EF4-FFF2-40B4-BE49-F238E27FC236}">
                <a16:creationId xmlns:a16="http://schemas.microsoft.com/office/drawing/2014/main" id="{D8C25A26-4750-4487-AC80-134EFB83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575" y="7071383"/>
            <a:ext cx="1785916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3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63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속성 한방의 실제 모바일 플레이 화면</a:t>
            </a:r>
          </a:p>
        </p:txBody>
      </p:sp>
      <p:sp>
        <p:nvSpPr>
          <p:cNvPr id="23" name="page-02-text-006-00">
            <a:extLst xmlns:a="http://schemas.openxmlformats.org/drawingml/2006/main">
              <a:ext uri="{FF2B5EF4-FFF2-40B4-BE49-F238E27FC236}">
                <a16:creationId xmlns:a16="http://schemas.microsoft.com/office/drawing/2014/main" id="{779B9FCA-B10C-4E16-A68F-2378E829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7438064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항목</a:t>
            </a:r>
          </a:p>
        </p:txBody>
      </p:sp>
      <p:sp>
        <p:nvSpPr>
          <p:cNvPr id="24" name="page-02-text-006-01">
            <a:extLst xmlns:a="http://schemas.openxmlformats.org/drawingml/2006/main">
              <a:ext uri="{FF2B5EF4-FFF2-40B4-BE49-F238E27FC236}">
                <a16:creationId xmlns:a16="http://schemas.microsoft.com/office/drawing/2014/main" id="{E2C33D9E-DA04-41C2-AACB-548DF925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7438064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내용</a:t>
            </a:r>
          </a:p>
        </p:txBody>
      </p:sp>
      <p:sp>
        <p:nvSpPr>
          <p:cNvPr id="25" name="page-02-text-007-00">
            <a:extLst xmlns:a="http://schemas.openxmlformats.org/drawingml/2006/main">
              <a:ext uri="{FF2B5EF4-FFF2-40B4-BE49-F238E27FC236}">
                <a16:creationId xmlns:a16="http://schemas.microsoft.com/office/drawing/2014/main" id="{FAAF1E94-3AEA-476C-9DE6-22579C56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7748389"/>
            <a:ext cx="395800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AI 활용 게임 기획, 게임 디렉팅, 시스템·레벨 정책 설계, 품질 기준</a:t>
            </a:r>
          </a:p>
        </p:txBody>
      </p:sp>
      <p:sp>
        <p:nvSpPr>
          <p:cNvPr id="26" name="page-02-text-008-00">
            <a:extLst xmlns:a="http://schemas.openxmlformats.org/drawingml/2006/main">
              <a:ext uri="{FF2B5EF4-FFF2-40B4-BE49-F238E27FC236}">
                <a16:creationId xmlns:a16="http://schemas.microsoft.com/office/drawing/2014/main" id="{A0D4C6BA-EFDB-4F79-8634-9E5D9ED7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7870349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역할</a:t>
            </a:r>
          </a:p>
        </p:txBody>
      </p:sp>
      <p:sp>
        <p:nvSpPr>
          <p:cNvPr id="27" name="page-02-text-009-00">
            <a:extLst xmlns:a="http://schemas.openxmlformats.org/drawingml/2006/main">
              <a:ext uri="{FF2B5EF4-FFF2-40B4-BE49-F238E27FC236}">
                <a16:creationId xmlns:a16="http://schemas.microsoft.com/office/drawing/2014/main" id="{93D9455E-A86C-40E5-A238-250AA606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7992309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결정</a:t>
            </a:r>
          </a:p>
        </p:txBody>
      </p:sp>
      <p:sp>
        <p:nvSpPr>
          <p:cNvPr id="28" name="page-02-text-010-00">
            <a:extLst xmlns:a="http://schemas.openxmlformats.org/drawingml/2006/main">
              <a:ext uri="{FF2B5EF4-FFF2-40B4-BE49-F238E27FC236}">
                <a16:creationId xmlns:a16="http://schemas.microsoft.com/office/drawing/2014/main" id="{E305873C-5621-4B30-8BF3-B7ED359B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8335957"/>
            <a:ext cx="50782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플랫폼</a:t>
            </a:r>
          </a:p>
        </p:txBody>
      </p:sp>
      <p:sp>
        <p:nvSpPr>
          <p:cNvPr id="29" name="page-02-text-010-01">
            <a:extLst xmlns:a="http://schemas.openxmlformats.org/drawingml/2006/main">
              <a:ext uri="{FF2B5EF4-FFF2-40B4-BE49-F238E27FC236}">
                <a16:creationId xmlns:a16="http://schemas.microsoft.com/office/drawing/2014/main" id="{0906B556-B01F-4EB0-AEAE-369FDF5F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8335957"/>
            <a:ext cx="211957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4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594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Flutter / Flame · Web / Android</a:t>
            </a:r>
          </a:p>
        </p:txBody>
      </p:sp>
      <p:sp>
        <p:nvSpPr>
          <p:cNvPr id="30" name="page-02-text-011-00">
            <a:extLst xmlns:a="http://schemas.openxmlformats.org/drawingml/2006/main">
              <a:ext uri="{FF2B5EF4-FFF2-40B4-BE49-F238E27FC236}">
                <a16:creationId xmlns:a16="http://schemas.microsoft.com/office/drawing/2014/main" id="{234B302F-B4C5-483D-A0BA-738E18B6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8679605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범위</a:t>
            </a:r>
          </a:p>
        </p:txBody>
      </p:sp>
      <p:sp>
        <p:nvSpPr>
          <p:cNvPr id="31" name="page-02-text-011-01">
            <a:extLst xmlns:a="http://schemas.openxmlformats.org/drawingml/2006/main">
              <a:ext uri="{FF2B5EF4-FFF2-40B4-BE49-F238E27FC236}">
                <a16:creationId xmlns:a16="http://schemas.microsoft.com/office/drawing/2014/main" id="{B23938BA-B84F-4246-AC13-5B4CCF61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8679605"/>
            <a:ext cx="356213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10단계·40패턴, 난이도, 힌트, 보상, 리플레이, 오늘의 도전</a:t>
            </a:r>
          </a:p>
        </p:txBody>
      </p:sp>
      <p:sp>
        <p:nvSpPr>
          <p:cNvPr id="32" name="page-02-text-012-00">
            <a:extLst xmlns:a="http://schemas.openxmlformats.org/drawingml/2006/main">
              <a:ext uri="{FF2B5EF4-FFF2-40B4-BE49-F238E27FC236}">
                <a16:creationId xmlns:a16="http://schemas.microsoft.com/office/drawing/2014/main" id="{78C8129F-5D49-4E3F-B2E9-BCF58DAF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9023253"/>
            <a:ext cx="410913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AI와 대화하며 아이디어를 플레이 규칙·레벨·검증 기준으로 구체화한</a:t>
            </a:r>
          </a:p>
        </p:txBody>
      </p:sp>
      <p:sp>
        <p:nvSpPr>
          <p:cNvPr id="33" name="page-02-text-013-00">
            <a:extLst xmlns:a="http://schemas.openxmlformats.org/drawingml/2006/main">
              <a:ext uri="{FF2B5EF4-FFF2-40B4-BE49-F238E27FC236}">
                <a16:creationId xmlns:a16="http://schemas.microsoft.com/office/drawing/2014/main" id="{B704F32F-CB7E-425A-8CD5-1841A5C2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9145214"/>
            <a:ext cx="67845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5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핵심 성과</a:t>
            </a:r>
          </a:p>
        </p:txBody>
      </p:sp>
      <p:sp>
        <p:nvSpPr>
          <p:cNvPr id="34" name="page-02-text-014-00">
            <a:extLst xmlns:a="http://schemas.openxmlformats.org/drawingml/2006/main">
              <a:ext uri="{FF2B5EF4-FFF2-40B4-BE49-F238E27FC236}">
                <a16:creationId xmlns:a16="http://schemas.microsoft.com/office/drawing/2014/main" id="{B9885BBE-AADF-4155-B21B-3673AC49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9267174"/>
            <a:ext cx="124205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1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게임 기획 프로세스</a:t>
            </a:r>
          </a:p>
        </p:txBody>
      </p:sp>
      <p:sp>
        <p:nvSpPr>
          <p:cNvPr id="35" name="page-02-text-015-00">
            <a:extLst xmlns:a="http://schemas.openxmlformats.org/drawingml/2006/main">
              <a:ext uri="{FF2B5EF4-FFF2-40B4-BE49-F238E27FC236}">
                <a16:creationId xmlns:a16="http://schemas.microsoft.com/office/drawing/2014/main" id="{55988285-49BD-4CA0-AE40-841E1AE7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382" y="10058009"/>
            <a:ext cx="176160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1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41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· Portfolio · Page 2</a:t>
            </a:r>
          </a:p>
        </p:txBody>
      </p:sp>
    </p:spTree>
    <p:extLst>
      <p:ext uri="{BB962C8B-B14F-4D97-AF65-F5344CB8AC3E}">
        <p14:creationId xmlns:p14="http://schemas.microsoft.com/office/powerpoint/2010/main" val="15241174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age-03-line-000">
            <a:extLst xmlns:a="http://schemas.openxmlformats.org/drawingml/2006/main">
              <a:ext uri="{FF2B5EF4-FFF2-40B4-BE49-F238E27FC236}">
                <a16:creationId xmlns:a16="http://schemas.microsoft.com/office/drawing/2014/main" id="{5DA3321B-28BB-4625-8A03-C643495B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2" name="page-03-line-001">
            <a:extLst xmlns:a="http://schemas.openxmlformats.org/drawingml/2006/main">
              <a:ext uri="{FF2B5EF4-FFF2-40B4-BE49-F238E27FC236}">
                <a16:creationId xmlns:a16="http://schemas.microsoft.com/office/drawing/2014/main" id="{6C8CABA5-4D8E-4B29-99BA-74D86349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33163d3a440e8"/>
          <a:srcRect xmlns:a="http://schemas.openxmlformats.org/drawingml/2006/main" l="116" t="0" r="1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06626" y="4490185"/>
            <a:ext cx="2149548" cy="4652272"/>
          </a:xfrm>
          <a:prstGeom xmlns:a="http://schemas.openxmlformats.org/drawingml/2006/main" prst="rect">
            <a:avLst/>
          </a:prstGeom>
        </p:spPr>
      </p:pic>
      <p:sp>
        <p:nvSpPr>
          <p:cNvPr id="4" name="page-03-text-000-00">
            <a:extLst xmlns:a="http://schemas.openxmlformats.org/drawingml/2006/main">
              <a:ext uri="{FF2B5EF4-FFF2-40B4-BE49-F238E27FC236}">
                <a16:creationId xmlns:a16="http://schemas.microsoft.com/office/drawing/2014/main" id="{CF2F0A94-C11C-4D41-B374-4A54CFE7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602" y="468104"/>
            <a:ext cx="1381873" cy="1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Portfolio</a:t>
            </a:r>
          </a:p>
        </p:txBody>
      </p:sp>
      <p:sp>
        <p:nvSpPr>
          <p:cNvPr id="5" name="page-03-text-001-00">
            <a:extLst xmlns:a="http://schemas.openxmlformats.org/drawingml/2006/main">
              <a:ext uri="{FF2B5EF4-FFF2-40B4-BE49-F238E27FC236}">
                <a16:creationId xmlns:a16="http://schemas.microsoft.com/office/drawing/2014/main" id="{9680F8F8-4BB1-489B-8649-7E4527E4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954573"/>
            <a:ext cx="1805328" cy="26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3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53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2. 해결하려 한 문제</a:t>
            </a:r>
          </a:p>
        </p:txBody>
      </p:sp>
      <p:sp>
        <p:nvSpPr>
          <p:cNvPr id="6" name="page-03-text-002-00">
            <a:extLst xmlns:a="http://schemas.openxmlformats.org/drawingml/2006/main">
              <a:ext uri="{FF2B5EF4-FFF2-40B4-BE49-F238E27FC236}">
                <a16:creationId xmlns:a16="http://schemas.microsoft.com/office/drawing/2014/main" id="{1B506D61-C9CD-451F-8837-B41746A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1451561"/>
            <a:ext cx="557587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조준 퍼즐은 방향과 힘만 맞추면 반복적으로 느껴지기 쉽다. 반대로 기믹이 많아지면 초보자는</a:t>
            </a:r>
          </a:p>
        </p:txBody>
      </p:sp>
      <p:sp>
        <p:nvSpPr>
          <p:cNvPr id="7" name="page-03-text-003-00">
            <a:extLst xmlns:a="http://schemas.openxmlformats.org/drawingml/2006/main">
              <a:ext uri="{FF2B5EF4-FFF2-40B4-BE49-F238E27FC236}">
                <a16:creationId xmlns:a16="http://schemas.microsoft.com/office/drawing/2014/main" id="{82C3C48A-61F7-4229-ACDB-0C01AA08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1716443"/>
            <a:ext cx="396535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무엇을 해야 하는지 모른다. 이 프로젝트는 두 문제를 함께 풀었다.</a:t>
            </a:r>
          </a:p>
        </p:txBody>
      </p:sp>
      <p:sp>
        <p:nvSpPr>
          <p:cNvPr id="8" name="page-03-text-004-00">
            <a:extLst xmlns:a="http://schemas.openxmlformats.org/drawingml/2006/main">
              <a:ext uri="{FF2B5EF4-FFF2-40B4-BE49-F238E27FC236}">
                <a16:creationId xmlns:a16="http://schemas.microsoft.com/office/drawing/2014/main" id="{32404BFB-6997-4A6A-BC4D-91C697CD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18" y="2057550"/>
            <a:ext cx="366299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• 속성을 옮겨 장면 자체를 바꾸므로 매 샷의 의미를 늘린다.</a:t>
            </a:r>
          </a:p>
        </p:txBody>
      </p:sp>
      <p:sp>
        <p:nvSpPr>
          <p:cNvPr id="9" name="page-03-text-005-00">
            <a:extLst xmlns:a="http://schemas.openxmlformats.org/drawingml/2006/main">
              <a:ext uri="{FF2B5EF4-FFF2-40B4-BE49-F238E27FC236}">
                <a16:creationId xmlns:a16="http://schemas.microsoft.com/office/drawing/2014/main" id="{57ADEF6E-7D21-433F-AC0D-23A4C735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18" y="2373249"/>
            <a:ext cx="392533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• 실패한 공과 기물 상태가 남아 시행착오가 정보와 자원이 된다.</a:t>
            </a:r>
          </a:p>
        </p:txBody>
      </p:sp>
      <p:sp>
        <p:nvSpPr>
          <p:cNvPr id="10" name="page-03-text-006-00">
            <a:extLst xmlns:a="http://schemas.openxmlformats.org/drawingml/2006/main">
              <a:ext uri="{FF2B5EF4-FFF2-40B4-BE49-F238E27FC236}">
                <a16:creationId xmlns:a16="http://schemas.microsoft.com/office/drawing/2014/main" id="{08B85A7C-2ACD-4AD0-9984-BEA82F71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18" y="2688948"/>
            <a:ext cx="496517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• 쉬움 모드·구체적 L1/L2 힌트·선택형 열쇠로 정답 공개 없이 진입 장벽을 낮춘다.</a:t>
            </a:r>
          </a:p>
        </p:txBody>
      </p:sp>
      <p:sp>
        <p:nvSpPr>
          <p:cNvPr id="11" name="page-03-text-007-00">
            <a:extLst xmlns:a="http://schemas.openxmlformats.org/drawingml/2006/main">
              <a:ext uri="{FF2B5EF4-FFF2-40B4-BE49-F238E27FC236}">
                <a16:creationId xmlns:a16="http://schemas.microsoft.com/office/drawing/2014/main" id="{3ACED018-3315-4A06-B6B2-8962F54F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3198132"/>
            <a:ext cx="1614257" cy="26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55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3. 핵심 경험 설계</a:t>
            </a:r>
          </a:p>
        </p:txBody>
      </p:sp>
      <p:sp>
        <p:nvSpPr>
          <p:cNvPr id="12" name="page-03-text-008-00">
            <a:extLst xmlns:a="http://schemas.openxmlformats.org/drawingml/2006/main">
              <a:ext uri="{FF2B5EF4-FFF2-40B4-BE49-F238E27FC236}">
                <a16:creationId xmlns:a16="http://schemas.microsoft.com/office/drawing/2014/main" id="{DFBAC3A3-01B7-4359-8521-749E6715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3753076"/>
            <a:ext cx="1231823" cy="222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2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702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3.1 플레이 루프</a:t>
            </a:r>
          </a:p>
        </p:txBody>
      </p:sp>
      <p:sp>
        <p:nvSpPr>
          <p:cNvPr id="13" name="page-03-text-009-00">
            <a:extLst xmlns:a="http://schemas.openxmlformats.org/drawingml/2006/main">
              <a:ext uri="{FF2B5EF4-FFF2-40B4-BE49-F238E27FC236}">
                <a16:creationId xmlns:a16="http://schemas.microsoft.com/office/drawing/2014/main" id="{5693C020-D9B8-422B-B5C1-0FA5226B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4148023"/>
            <a:ext cx="524911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1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관찰 → 속성 선택 → 방향·힘 결정 → 물리 연쇄 → 바뀐 상태 재사용의 순환을 만들었다.</a:t>
            </a:r>
          </a:p>
        </p:txBody>
      </p:sp>
      <p:sp>
        <p:nvSpPr>
          <p:cNvPr id="14" name="page-03-text-010-00">
            <a:extLst xmlns:a="http://schemas.openxmlformats.org/drawingml/2006/main">
              <a:ext uri="{FF2B5EF4-FFF2-40B4-BE49-F238E27FC236}">
                <a16:creationId xmlns:a16="http://schemas.microsoft.com/office/drawing/2014/main" id="{6C6AD993-358E-4639-86C2-9708E36B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698" y="9238081"/>
            <a:ext cx="2221206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9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59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속성 원본에서 공으로 능력을 옮기는 선택 화면</a:t>
            </a:r>
          </a:p>
        </p:txBody>
      </p:sp>
      <p:sp>
        <p:nvSpPr>
          <p:cNvPr id="15" name="page-03-text-011-00">
            <a:extLst xmlns:a="http://schemas.openxmlformats.org/drawingml/2006/main">
              <a:ext uri="{FF2B5EF4-FFF2-40B4-BE49-F238E27FC236}">
                <a16:creationId xmlns:a16="http://schemas.microsoft.com/office/drawing/2014/main" id="{64358002-953E-49E4-869F-E5B5AB16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382" y="10058009"/>
            <a:ext cx="176160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1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41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· Portfolio · Page 3</a:t>
            </a:r>
          </a:p>
        </p:txBody>
      </p:sp>
    </p:spTree>
    <p:extLst>
      <p:ext uri="{BB962C8B-B14F-4D97-AF65-F5344CB8AC3E}">
        <p14:creationId xmlns:p14="http://schemas.microsoft.com/office/powerpoint/2010/main" val="20506532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age-04-rect-000">
            <a:extLst xmlns:a="http://schemas.openxmlformats.org/drawingml/2006/main">
              <a:ext uri="{FF2B5EF4-FFF2-40B4-BE49-F238E27FC236}">
                <a16:creationId xmlns:a16="http://schemas.microsoft.com/office/drawing/2014/main" id="{887CE65B-95BC-410E-AA9F-DCE9D785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4150993"/>
            <a:ext cx="1714429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-04-rect-001">
            <a:extLst xmlns:a="http://schemas.openxmlformats.org/drawingml/2006/main">
              <a:ext uri="{FF2B5EF4-FFF2-40B4-BE49-F238E27FC236}">
                <a16:creationId xmlns:a16="http://schemas.microsoft.com/office/drawing/2014/main" id="{9D5D6A47-B5D0-4B81-8C3B-AEB44A3C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4150993"/>
            <a:ext cx="4229858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04-rect-002">
            <a:extLst xmlns:a="http://schemas.openxmlformats.org/drawingml/2006/main">
              <a:ext uri="{FF2B5EF4-FFF2-40B4-BE49-F238E27FC236}">
                <a16:creationId xmlns:a16="http://schemas.microsoft.com/office/drawing/2014/main" id="{C63D0A48-A0F5-4957-8AE9-7C03F726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4150993"/>
            <a:ext cx="1714429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4-rect-003">
            <a:extLst xmlns:a="http://schemas.openxmlformats.org/drawingml/2006/main">
              <a:ext uri="{FF2B5EF4-FFF2-40B4-BE49-F238E27FC236}">
                <a16:creationId xmlns:a16="http://schemas.microsoft.com/office/drawing/2014/main" id="{D80F82A7-25F1-40BF-9B17-ECA3D91B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4150993"/>
            <a:ext cx="4229858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04-line-000">
            <a:extLst xmlns:a="http://schemas.openxmlformats.org/drawingml/2006/main">
              <a:ext uri="{FF2B5EF4-FFF2-40B4-BE49-F238E27FC236}">
                <a16:creationId xmlns:a16="http://schemas.microsoft.com/office/drawing/2014/main" id="{3035A785-F8DF-47A0-A1B2-66239B00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4154169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6" name="page-04-line-001">
            <a:extLst xmlns:a="http://schemas.openxmlformats.org/drawingml/2006/main">
              <a:ext uri="{FF2B5EF4-FFF2-40B4-BE49-F238E27FC236}">
                <a16:creationId xmlns:a16="http://schemas.microsoft.com/office/drawing/2014/main" id="{3AEB23E4-0B9A-4FDF-97DD-506D4107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4461610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7" name="page-04-line-002">
            <a:extLst xmlns:a="http://schemas.openxmlformats.org/drawingml/2006/main">
              <a:ext uri="{FF2B5EF4-FFF2-40B4-BE49-F238E27FC236}">
                <a16:creationId xmlns:a16="http://schemas.microsoft.com/office/drawing/2014/main" id="{4AF2E51B-D27F-4A3B-9583-4EF3B84B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4804623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8" name="page-04-line-003">
            <a:extLst xmlns:a="http://schemas.openxmlformats.org/drawingml/2006/main">
              <a:ext uri="{FF2B5EF4-FFF2-40B4-BE49-F238E27FC236}">
                <a16:creationId xmlns:a16="http://schemas.microsoft.com/office/drawing/2014/main" id="{B607D62C-5404-481F-B312-BFD2195B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5148907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9" name="page-04-line-004">
            <a:extLst xmlns:a="http://schemas.openxmlformats.org/drawingml/2006/main">
              <a:ext uri="{FF2B5EF4-FFF2-40B4-BE49-F238E27FC236}">
                <a16:creationId xmlns:a16="http://schemas.microsoft.com/office/drawing/2014/main" id="{06E01A5F-D4F9-4EC3-8EBE-51820170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5735840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0" name="page-04-line-005">
            <a:extLst xmlns:a="http://schemas.openxmlformats.org/drawingml/2006/main">
              <a:ext uri="{FF2B5EF4-FFF2-40B4-BE49-F238E27FC236}">
                <a16:creationId xmlns:a16="http://schemas.microsoft.com/office/drawing/2014/main" id="{348F02FB-42A4-4E8C-92FF-498EEA30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4150993"/>
            <a:ext cx="9525" cy="15880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1" name="page-04-line-006">
            <a:extLst xmlns:a="http://schemas.openxmlformats.org/drawingml/2006/main">
              <a:ext uri="{FF2B5EF4-FFF2-40B4-BE49-F238E27FC236}">
                <a16:creationId xmlns:a16="http://schemas.microsoft.com/office/drawing/2014/main" id="{00259A8A-C90C-40CA-9CC7-7D0B039D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4157345"/>
            <a:ext cx="9525" cy="15753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2" name="page-04-line-007">
            <a:extLst xmlns:a="http://schemas.openxmlformats.org/drawingml/2006/main">
              <a:ext uri="{FF2B5EF4-FFF2-40B4-BE49-F238E27FC236}">
                <a16:creationId xmlns:a16="http://schemas.microsoft.com/office/drawing/2014/main" id="{0BC211CC-341C-414D-9267-93B3E663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259" y="4150993"/>
            <a:ext cx="9525" cy="15880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3" name="page-04-line-008">
            <a:extLst xmlns:a="http://schemas.openxmlformats.org/drawingml/2006/main">
              <a:ext uri="{FF2B5EF4-FFF2-40B4-BE49-F238E27FC236}">
                <a16:creationId xmlns:a16="http://schemas.microsoft.com/office/drawing/2014/main" id="{9C9A3197-5526-4578-8211-FED9F5A7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14" name="page-04-line-009">
            <a:extLst xmlns:a="http://schemas.openxmlformats.org/drawingml/2006/main">
              <a:ext uri="{FF2B5EF4-FFF2-40B4-BE49-F238E27FC236}">
                <a16:creationId xmlns:a16="http://schemas.microsoft.com/office/drawing/2014/main" id="{FB455258-FA9D-4927-99B5-AB0B4ED7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15" name="page-04-text-000-00">
            <a:extLst xmlns:a="http://schemas.openxmlformats.org/drawingml/2006/main">
              <a:ext uri="{FF2B5EF4-FFF2-40B4-BE49-F238E27FC236}">
                <a16:creationId xmlns:a16="http://schemas.microsoft.com/office/drawing/2014/main" id="{4EB524E5-A9D7-4C09-827B-8D303A2A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602" y="468104"/>
            <a:ext cx="1381873" cy="1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Portfolio</a:t>
            </a:r>
          </a:p>
        </p:txBody>
      </p:sp>
      <p:sp>
        <p:nvSpPr>
          <p:cNvPr id="16" name="page-04-text-001-00">
            <a:extLst xmlns:a="http://schemas.openxmlformats.org/drawingml/2006/main">
              <a:ext uri="{FF2B5EF4-FFF2-40B4-BE49-F238E27FC236}">
                <a16:creationId xmlns:a16="http://schemas.microsoft.com/office/drawing/2014/main" id="{F8489C25-9802-4F29-962F-288D4533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946087"/>
            <a:ext cx="2053136" cy="222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2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92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3.2 실패를 자원으로 바꾸기</a:t>
            </a:r>
          </a:p>
        </p:txBody>
      </p:sp>
      <p:sp>
        <p:nvSpPr>
          <p:cNvPr id="17" name="page-04-text-002-00">
            <a:extLst xmlns:a="http://schemas.openxmlformats.org/drawingml/2006/main">
              <a:ext uri="{FF2B5EF4-FFF2-40B4-BE49-F238E27FC236}">
                <a16:creationId xmlns:a16="http://schemas.microsoft.com/office/drawing/2014/main" id="{86039662-55A8-4D73-8999-F6E72AEE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1341034"/>
            <a:ext cx="565611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첫 샷이 홀에 들어가지 않아도 공이 남고 문·스위치·반사판 상태가 유지된다. 플레이어는 실패를</a:t>
            </a:r>
          </a:p>
        </p:txBody>
      </p:sp>
      <p:sp>
        <p:nvSpPr>
          <p:cNvPr id="18" name="page-04-text-003-00">
            <a:extLst xmlns:a="http://schemas.openxmlformats.org/drawingml/2006/main">
              <a:ext uri="{FF2B5EF4-FFF2-40B4-BE49-F238E27FC236}">
                <a16:creationId xmlns:a16="http://schemas.microsoft.com/office/drawing/2014/main" id="{73B3D11B-9732-4219-A555-CCBE56C4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1605916"/>
            <a:ext cx="522624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초기화하지 않고 다음 샷의 발판으로 바꾼다. 이는 속성 한방의 가장 중요한 차별점이다.</a:t>
            </a:r>
          </a:p>
        </p:txBody>
      </p:sp>
      <p:sp>
        <p:nvSpPr>
          <p:cNvPr id="19" name="page-04-text-004-00">
            <a:extLst xmlns:a="http://schemas.openxmlformats.org/drawingml/2006/main">
              <a:ext uri="{FF2B5EF4-FFF2-40B4-BE49-F238E27FC236}">
                <a16:creationId xmlns:a16="http://schemas.microsoft.com/office/drawing/2014/main" id="{952CDFF4-8F3A-47BB-BC39-30031A1A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2055797"/>
            <a:ext cx="1632564" cy="222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1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91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3.3 10단계 학습 설계</a:t>
            </a:r>
          </a:p>
        </p:txBody>
      </p:sp>
      <p:sp>
        <p:nvSpPr>
          <p:cNvPr id="20" name="page-04-text-005-00">
            <a:extLst xmlns:a="http://schemas.openxmlformats.org/drawingml/2006/main">
              <a:ext uri="{FF2B5EF4-FFF2-40B4-BE49-F238E27FC236}">
                <a16:creationId xmlns:a16="http://schemas.microsoft.com/office/drawing/2014/main" id="{107329E1-6F75-4007-A9FA-F153F5B9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2450745"/>
            <a:ext cx="57872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무거움과 탄성에서 시작해 스위치·풍선·비워진 원본·파워 발판·잔류 공·회전 반사판·속성 통합으로</a:t>
            </a:r>
          </a:p>
        </p:txBody>
      </p:sp>
      <p:sp>
        <p:nvSpPr>
          <p:cNvPr id="21" name="page-04-text-006-00">
            <a:extLst xmlns:a="http://schemas.openxmlformats.org/drawingml/2006/main">
              <a:ext uri="{FF2B5EF4-FFF2-40B4-BE49-F238E27FC236}">
                <a16:creationId xmlns:a16="http://schemas.microsoft.com/office/drawing/2014/main" id="{B4B6B7FC-5B5B-411D-A648-EDE73F65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2715627"/>
            <a:ext cx="461454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확장했다. 단계별 4개 변형은 같은 규칙을 다른 공간에서 다시 적용하게 한다.</a:t>
            </a:r>
          </a:p>
        </p:txBody>
      </p:sp>
      <p:sp>
        <p:nvSpPr>
          <p:cNvPr id="22" name="page-04-text-007-00">
            <a:extLst xmlns:a="http://schemas.openxmlformats.org/drawingml/2006/main">
              <a:ext uri="{FF2B5EF4-FFF2-40B4-BE49-F238E27FC236}">
                <a16:creationId xmlns:a16="http://schemas.microsoft.com/office/drawing/2014/main" id="{8D821BA8-FC8C-4D51-B033-588F7648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3224810"/>
            <a:ext cx="1953942" cy="26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2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62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4. 대표 UX 개선 사례</a:t>
            </a:r>
          </a:p>
        </p:txBody>
      </p:sp>
      <p:sp>
        <p:nvSpPr>
          <p:cNvPr id="23" name="page-04-text-008-00">
            <a:extLst xmlns:a="http://schemas.openxmlformats.org/drawingml/2006/main">
              <a:ext uri="{FF2B5EF4-FFF2-40B4-BE49-F238E27FC236}">
                <a16:creationId xmlns:a16="http://schemas.microsoft.com/office/drawing/2014/main" id="{B3A68819-3505-4959-B922-B4B9305E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3779755"/>
            <a:ext cx="2053136" cy="222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2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92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4.1 손가락에 가리는 게이지</a:t>
            </a:r>
          </a:p>
        </p:txBody>
      </p:sp>
      <p:sp>
        <p:nvSpPr>
          <p:cNvPr id="24" name="page-04-text-009-00">
            <a:extLst xmlns:a="http://schemas.openxmlformats.org/drawingml/2006/main">
              <a:ext uri="{FF2B5EF4-FFF2-40B4-BE49-F238E27FC236}">
                <a16:creationId xmlns:a16="http://schemas.microsoft.com/office/drawing/2014/main" id="{71316651-3FED-4B4C-8AD5-5C194AD7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4228352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구분</a:t>
            </a:r>
          </a:p>
        </p:txBody>
      </p:sp>
      <p:sp>
        <p:nvSpPr>
          <p:cNvPr id="25" name="page-04-text-009-01">
            <a:extLst xmlns:a="http://schemas.openxmlformats.org/drawingml/2006/main">
              <a:ext uri="{FF2B5EF4-FFF2-40B4-BE49-F238E27FC236}">
                <a16:creationId xmlns:a16="http://schemas.microsoft.com/office/drawing/2014/main" id="{FD3B0ABD-A974-41EF-B4E2-567664EC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4228352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내용</a:t>
            </a:r>
          </a:p>
        </p:txBody>
      </p:sp>
      <p:sp>
        <p:nvSpPr>
          <p:cNvPr id="26" name="page-04-text-010-00">
            <a:extLst xmlns:a="http://schemas.openxmlformats.org/drawingml/2006/main">
              <a:ext uri="{FF2B5EF4-FFF2-40B4-BE49-F238E27FC236}">
                <a16:creationId xmlns:a16="http://schemas.microsoft.com/office/drawing/2014/main" id="{534065C4-E2E5-4053-81E5-7B448AC3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4538677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문제</a:t>
            </a:r>
          </a:p>
        </p:txBody>
      </p:sp>
      <p:sp>
        <p:nvSpPr>
          <p:cNvPr id="27" name="page-04-text-010-01">
            <a:extLst xmlns:a="http://schemas.openxmlformats.org/drawingml/2006/main">
              <a:ext uri="{FF2B5EF4-FFF2-40B4-BE49-F238E27FC236}">
                <a16:creationId xmlns:a16="http://schemas.microsoft.com/office/drawing/2014/main" id="{60A69332-DE3D-4586-B8F7-143C7946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4538677"/>
            <a:ext cx="314974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공 주변 원형 게이지가 모바일에서 손가락에 가렸다.</a:t>
            </a:r>
          </a:p>
        </p:txBody>
      </p:sp>
      <p:sp>
        <p:nvSpPr>
          <p:cNvPr id="28" name="page-04-text-011-00">
            <a:extLst xmlns:a="http://schemas.openxmlformats.org/drawingml/2006/main">
              <a:ext uri="{FF2B5EF4-FFF2-40B4-BE49-F238E27FC236}">
                <a16:creationId xmlns:a16="http://schemas.microsoft.com/office/drawing/2014/main" id="{08DA23C4-EA2C-4F5D-9779-5F42982E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4882325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판단</a:t>
            </a:r>
          </a:p>
        </p:txBody>
      </p:sp>
      <p:sp>
        <p:nvSpPr>
          <p:cNvPr id="29" name="page-04-text-011-01">
            <a:extLst xmlns:a="http://schemas.openxmlformats.org/drawingml/2006/main">
              <a:ext uri="{FF2B5EF4-FFF2-40B4-BE49-F238E27FC236}">
                <a16:creationId xmlns:a16="http://schemas.microsoft.com/office/drawing/2014/main" id="{80C46BE2-F799-4CA7-85C1-8ED45DAA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4882325"/>
            <a:ext cx="375319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발사 감각과 입력 임계값은 바꾸지 않고 표시 위치만 분리했다.</a:t>
            </a:r>
          </a:p>
        </p:txBody>
      </p:sp>
      <p:sp>
        <p:nvSpPr>
          <p:cNvPr id="30" name="page-04-text-012-00">
            <a:extLst xmlns:a="http://schemas.openxmlformats.org/drawingml/2006/main">
              <a:ext uri="{FF2B5EF4-FFF2-40B4-BE49-F238E27FC236}">
                <a16:creationId xmlns:a16="http://schemas.microsoft.com/office/drawing/2014/main" id="{F08132BA-81ED-4E96-A8F2-4084E37C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5225973"/>
            <a:ext cx="393288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공 가까이의 부유 직선 rail이 핵심 기물과 열쇠를 피하며, 좌·우 손</a:t>
            </a:r>
          </a:p>
        </p:txBody>
      </p:sp>
      <p:sp>
        <p:nvSpPr>
          <p:cNvPr id="31" name="page-04-text-013-00">
            <a:extLst xmlns:a="http://schemas.openxmlformats.org/drawingml/2006/main">
              <a:ext uri="{FF2B5EF4-FFF2-40B4-BE49-F238E27FC236}">
                <a16:creationId xmlns:a16="http://schemas.microsoft.com/office/drawing/2014/main" id="{C0A83248-EA33-48EA-BF46-1583A092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5347933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결과</a:t>
            </a:r>
          </a:p>
        </p:txBody>
      </p:sp>
      <p:sp>
        <p:nvSpPr>
          <p:cNvPr id="32" name="page-04-text-014-00">
            <a:extLst xmlns:a="http://schemas.openxmlformats.org/drawingml/2006/main">
              <a:ext uri="{FF2B5EF4-FFF2-40B4-BE49-F238E27FC236}">
                <a16:creationId xmlns:a16="http://schemas.microsoft.com/office/drawing/2014/main" id="{EB5FCEA7-A0D6-403E-A760-4A1C7FBD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5469894"/>
            <a:ext cx="167923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선호와 저모션을 지원한다.</a:t>
            </a:r>
          </a:p>
        </p:txBody>
      </p:sp>
      <p:sp>
        <p:nvSpPr>
          <p:cNvPr id="33" name="page-04-text-015-00">
            <a:extLst xmlns:a="http://schemas.openxmlformats.org/drawingml/2006/main">
              <a:ext uri="{FF2B5EF4-FFF2-40B4-BE49-F238E27FC236}">
                <a16:creationId xmlns:a16="http://schemas.microsoft.com/office/drawing/2014/main" id="{DF30B762-5DE7-480A-91E4-872C7C64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382" y="10058009"/>
            <a:ext cx="176160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1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41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· Portfolio · Page 4</a:t>
            </a:r>
          </a:p>
        </p:txBody>
      </p:sp>
    </p:spTree>
    <p:extLst>
      <p:ext uri="{BB962C8B-B14F-4D97-AF65-F5344CB8AC3E}">
        <p14:creationId xmlns:p14="http://schemas.microsoft.com/office/powerpoint/2010/main" val="16125356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age-05-rect-000">
            <a:extLst xmlns:a="http://schemas.openxmlformats.org/drawingml/2006/main">
              <a:ext uri="{FF2B5EF4-FFF2-40B4-BE49-F238E27FC236}">
                <a16:creationId xmlns:a16="http://schemas.microsoft.com/office/drawing/2014/main" id="{4E033E7C-A009-4AB2-9D67-59D0E1BE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430123"/>
            <a:ext cx="1714429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-05-rect-001">
            <a:extLst xmlns:a="http://schemas.openxmlformats.org/drawingml/2006/main">
              <a:ext uri="{FF2B5EF4-FFF2-40B4-BE49-F238E27FC236}">
                <a16:creationId xmlns:a16="http://schemas.microsoft.com/office/drawing/2014/main" id="{E9FDB217-0BC7-43F4-BEBB-8C6F58AE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6430123"/>
            <a:ext cx="4229858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05-rect-002">
            <a:extLst xmlns:a="http://schemas.openxmlformats.org/drawingml/2006/main">
              <a:ext uri="{FF2B5EF4-FFF2-40B4-BE49-F238E27FC236}">
                <a16:creationId xmlns:a16="http://schemas.microsoft.com/office/drawing/2014/main" id="{732BB0DF-0991-4AEE-908A-64728CD4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430123"/>
            <a:ext cx="1714429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5-rect-003">
            <a:extLst xmlns:a="http://schemas.openxmlformats.org/drawingml/2006/main">
              <a:ext uri="{FF2B5EF4-FFF2-40B4-BE49-F238E27FC236}">
                <a16:creationId xmlns:a16="http://schemas.microsoft.com/office/drawing/2014/main" id="{7F7652B9-1065-475F-B2A0-402A0A95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6430123"/>
            <a:ext cx="4229858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05-line-000">
            <a:extLst xmlns:a="http://schemas.openxmlformats.org/drawingml/2006/main">
              <a:ext uri="{FF2B5EF4-FFF2-40B4-BE49-F238E27FC236}">
                <a16:creationId xmlns:a16="http://schemas.microsoft.com/office/drawing/2014/main" id="{64AD0FF7-92D1-4629-85C9-79D6B177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6433299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6" name="page-05-line-001">
            <a:extLst xmlns:a="http://schemas.openxmlformats.org/drawingml/2006/main">
              <a:ext uri="{FF2B5EF4-FFF2-40B4-BE49-F238E27FC236}">
                <a16:creationId xmlns:a16="http://schemas.microsoft.com/office/drawing/2014/main" id="{FC048DA8-1352-4ED2-9FCE-6348747B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6740741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7" name="page-05-line-002">
            <a:extLst xmlns:a="http://schemas.openxmlformats.org/drawingml/2006/main">
              <a:ext uri="{FF2B5EF4-FFF2-40B4-BE49-F238E27FC236}">
                <a16:creationId xmlns:a16="http://schemas.microsoft.com/office/drawing/2014/main" id="{7AE2CD3F-07F6-432A-B1E1-3FB1068F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7083754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8" name="page-05-line-003">
            <a:extLst xmlns:a="http://schemas.openxmlformats.org/drawingml/2006/main">
              <a:ext uri="{FF2B5EF4-FFF2-40B4-BE49-F238E27FC236}">
                <a16:creationId xmlns:a16="http://schemas.microsoft.com/office/drawing/2014/main" id="{E726218A-3EAF-4677-8464-11ECD51E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7428037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9" name="page-05-line-004">
            <a:extLst xmlns:a="http://schemas.openxmlformats.org/drawingml/2006/main">
              <a:ext uri="{FF2B5EF4-FFF2-40B4-BE49-F238E27FC236}">
                <a16:creationId xmlns:a16="http://schemas.microsoft.com/office/drawing/2014/main" id="{226E75B5-B999-4CAD-B197-DE310873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8014970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0" name="page-05-line-005">
            <a:extLst xmlns:a="http://schemas.openxmlformats.org/drawingml/2006/main">
              <a:ext uri="{FF2B5EF4-FFF2-40B4-BE49-F238E27FC236}">
                <a16:creationId xmlns:a16="http://schemas.microsoft.com/office/drawing/2014/main" id="{DFBD4AF5-4703-417E-940A-1004C40E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430123"/>
            <a:ext cx="9525" cy="15880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1" name="page-05-line-006">
            <a:extLst xmlns:a="http://schemas.openxmlformats.org/drawingml/2006/main">
              <a:ext uri="{FF2B5EF4-FFF2-40B4-BE49-F238E27FC236}">
                <a16:creationId xmlns:a16="http://schemas.microsoft.com/office/drawing/2014/main" id="{20E56255-1080-450B-B3B3-72C545D1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6436475"/>
            <a:ext cx="9525" cy="15753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2" name="page-05-line-007">
            <a:extLst xmlns:a="http://schemas.openxmlformats.org/drawingml/2006/main">
              <a:ext uri="{FF2B5EF4-FFF2-40B4-BE49-F238E27FC236}">
                <a16:creationId xmlns:a16="http://schemas.microsoft.com/office/drawing/2014/main" id="{70FA399B-0E6F-4A88-B61A-BEB04754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259" y="6430123"/>
            <a:ext cx="9525" cy="15880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3" name="page-05-line-008">
            <a:extLst xmlns:a="http://schemas.openxmlformats.org/drawingml/2006/main">
              <a:ext uri="{FF2B5EF4-FFF2-40B4-BE49-F238E27FC236}">
                <a16:creationId xmlns:a16="http://schemas.microsoft.com/office/drawing/2014/main" id="{3A49F8EC-C8B6-4445-B7E0-00731F80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14" name="page-05-line-009">
            <a:extLst xmlns:a="http://schemas.openxmlformats.org/drawingml/2006/main">
              <a:ext uri="{FF2B5EF4-FFF2-40B4-BE49-F238E27FC236}">
                <a16:creationId xmlns:a16="http://schemas.microsoft.com/office/drawing/2014/main" id="{52D51A26-2336-45EF-8E0F-49934782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62294343246fe"/>
          <a:srcRect xmlns:a="http://schemas.openxmlformats.org/drawingml/2006/main" l="116" t="0" r="1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06626" y="914593"/>
            <a:ext cx="2149548" cy="4652272"/>
          </a:xfrm>
          <a:prstGeom xmlns:a="http://schemas.openxmlformats.org/drawingml/2006/main" prst="rect">
            <a:avLst/>
          </a:prstGeom>
        </p:spPr>
      </p:pic>
      <p:sp>
        <p:nvSpPr>
          <p:cNvPr id="16" name="page-05-text-000-00">
            <a:extLst xmlns:a="http://schemas.openxmlformats.org/drawingml/2006/main">
              <a:ext uri="{FF2B5EF4-FFF2-40B4-BE49-F238E27FC236}">
                <a16:creationId xmlns:a16="http://schemas.microsoft.com/office/drawing/2014/main" id="{6DEE4774-7438-44D6-AD87-D1382DEB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602" y="468104"/>
            <a:ext cx="1381873" cy="1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Portfolio</a:t>
            </a:r>
          </a:p>
        </p:txBody>
      </p:sp>
      <p:sp>
        <p:nvSpPr>
          <p:cNvPr id="17" name="page-05-text-001-00">
            <a:extLst xmlns:a="http://schemas.openxmlformats.org/drawingml/2006/main">
              <a:ext uri="{FF2B5EF4-FFF2-40B4-BE49-F238E27FC236}">
                <a16:creationId xmlns:a16="http://schemas.microsoft.com/office/drawing/2014/main" id="{3AC44BAD-5577-4CE8-A979-7AF741B0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882" y="5662489"/>
            <a:ext cx="2322713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8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58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모바일 화면에서 기물을 피하는 부유 충전 게이지</a:t>
            </a:r>
          </a:p>
        </p:txBody>
      </p:sp>
      <p:sp>
        <p:nvSpPr>
          <p:cNvPr id="18" name="page-05-text-002-00">
            <a:extLst xmlns:a="http://schemas.openxmlformats.org/drawingml/2006/main">
              <a:ext uri="{FF2B5EF4-FFF2-40B4-BE49-F238E27FC236}">
                <a16:creationId xmlns:a16="http://schemas.microsoft.com/office/drawing/2014/main" id="{C5B50B73-4B6F-4791-AACF-6AA97D43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058885"/>
            <a:ext cx="1789054" cy="222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4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94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4.2 너무 어려운 첫 경험</a:t>
            </a:r>
          </a:p>
        </p:txBody>
      </p:sp>
      <p:sp>
        <p:nvSpPr>
          <p:cNvPr id="19" name="page-05-text-003-00">
            <a:extLst xmlns:a="http://schemas.openxmlformats.org/drawingml/2006/main">
              <a:ext uri="{FF2B5EF4-FFF2-40B4-BE49-F238E27FC236}">
                <a16:creationId xmlns:a16="http://schemas.microsoft.com/office/drawing/2014/main" id="{18CE5F7A-B6B4-471C-AD58-23EBA655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6507482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구분</a:t>
            </a:r>
          </a:p>
        </p:txBody>
      </p:sp>
      <p:sp>
        <p:nvSpPr>
          <p:cNvPr id="20" name="page-05-text-003-01">
            <a:extLst xmlns:a="http://schemas.openxmlformats.org/drawingml/2006/main">
              <a:ext uri="{FF2B5EF4-FFF2-40B4-BE49-F238E27FC236}">
                <a16:creationId xmlns:a16="http://schemas.microsoft.com/office/drawing/2014/main" id="{0C147A53-57EE-415A-B1DE-11211628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6507482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내용</a:t>
            </a:r>
          </a:p>
        </p:txBody>
      </p:sp>
      <p:sp>
        <p:nvSpPr>
          <p:cNvPr id="21" name="page-05-text-004-00">
            <a:extLst xmlns:a="http://schemas.openxmlformats.org/drawingml/2006/main">
              <a:ext uri="{FF2B5EF4-FFF2-40B4-BE49-F238E27FC236}">
                <a16:creationId xmlns:a16="http://schemas.microsoft.com/office/drawing/2014/main" id="{22C2765B-BABE-47E1-86F2-83EBE5E6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6817807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문제</a:t>
            </a:r>
          </a:p>
        </p:txBody>
      </p:sp>
      <p:sp>
        <p:nvSpPr>
          <p:cNvPr id="22" name="page-05-text-004-01">
            <a:extLst xmlns:a="http://schemas.openxmlformats.org/drawingml/2006/main">
              <a:ext uri="{FF2B5EF4-FFF2-40B4-BE49-F238E27FC236}">
                <a16:creationId xmlns:a16="http://schemas.microsoft.com/office/drawing/2014/main" id="{48820776-8A3F-4DD6-92FE-2E618196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6817807"/>
            <a:ext cx="331998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첫 플레이에서 복잡한 변형이 무작위로 나올 수 있었다.</a:t>
            </a:r>
          </a:p>
        </p:txBody>
      </p:sp>
      <p:sp>
        <p:nvSpPr>
          <p:cNvPr id="23" name="page-05-text-005-00">
            <a:extLst xmlns:a="http://schemas.openxmlformats.org/drawingml/2006/main">
              <a:ext uri="{FF2B5EF4-FFF2-40B4-BE49-F238E27FC236}">
                <a16:creationId xmlns:a16="http://schemas.microsoft.com/office/drawing/2014/main" id="{24F0F436-53AC-4BAA-A215-935DF413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7161456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판단</a:t>
            </a:r>
          </a:p>
        </p:txBody>
      </p:sp>
      <p:sp>
        <p:nvSpPr>
          <p:cNvPr id="24" name="page-05-text-005-01">
            <a:extLst xmlns:a="http://schemas.openxmlformats.org/drawingml/2006/main">
              <a:ext uri="{FF2B5EF4-FFF2-40B4-BE49-F238E27FC236}">
                <a16:creationId xmlns:a16="http://schemas.microsoft.com/office/drawing/2014/main" id="{1DA3027A-02CC-4412-8776-B34D8F63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7161456"/>
            <a:ext cx="371444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학습 구간만 완화하되 물리와 보통 기록의 공정성은 유지했다.</a:t>
            </a:r>
          </a:p>
        </p:txBody>
      </p:sp>
      <p:sp>
        <p:nvSpPr>
          <p:cNvPr id="25" name="page-05-text-006-00">
            <a:extLst xmlns:a="http://schemas.openxmlformats.org/drawingml/2006/main">
              <a:ext uri="{FF2B5EF4-FFF2-40B4-BE49-F238E27FC236}">
                <a16:creationId xmlns:a16="http://schemas.microsoft.com/office/drawing/2014/main" id="{E81F6505-CBAA-45D8-B065-29C845B3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7505104"/>
            <a:ext cx="418657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첫 1–4단계는 기준 패턴을 우선하고, 쉬움 모드는 실제 판정 결과의 첫</a:t>
            </a:r>
          </a:p>
        </p:txBody>
      </p:sp>
      <p:sp>
        <p:nvSpPr>
          <p:cNvPr id="26" name="page-05-text-007-00">
            <a:extLst xmlns:a="http://schemas.openxmlformats.org/drawingml/2006/main">
              <a:ext uri="{FF2B5EF4-FFF2-40B4-BE49-F238E27FC236}">
                <a16:creationId xmlns:a16="http://schemas.microsoft.com/office/drawing/2014/main" id="{4531DF38-7028-4BFE-848D-941A6C31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7627064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결과</a:t>
            </a:r>
          </a:p>
        </p:txBody>
      </p:sp>
      <p:sp>
        <p:nvSpPr>
          <p:cNvPr id="27" name="page-05-text-008-00">
            <a:extLst xmlns:a="http://schemas.openxmlformats.org/drawingml/2006/main">
              <a:ext uri="{FF2B5EF4-FFF2-40B4-BE49-F238E27FC236}">
                <a16:creationId xmlns:a16="http://schemas.microsoft.com/office/drawing/2014/main" id="{A7037327-64A5-4995-8A06-90E29AFD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7749024"/>
            <a:ext cx="124666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0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도착점만 표시한다.</a:t>
            </a:r>
          </a:p>
        </p:txBody>
      </p:sp>
      <p:sp>
        <p:nvSpPr>
          <p:cNvPr id="28" name="page-05-text-009-00">
            <a:extLst xmlns:a="http://schemas.openxmlformats.org/drawingml/2006/main">
              <a:ext uri="{FF2B5EF4-FFF2-40B4-BE49-F238E27FC236}">
                <a16:creationId xmlns:a16="http://schemas.microsoft.com/office/drawing/2014/main" id="{D0E4A6C8-366E-4074-B443-AD86B7CE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382" y="10058009"/>
            <a:ext cx="176160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1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41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· Portfolio · Page 5</a:t>
            </a:r>
          </a:p>
        </p:txBody>
      </p:sp>
    </p:spTree>
    <p:extLst>
      <p:ext uri="{BB962C8B-B14F-4D97-AF65-F5344CB8AC3E}">
        <p14:creationId xmlns:p14="http://schemas.microsoft.com/office/powerpoint/2010/main" val="7261394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age-06-rect-000">
            <a:extLst xmlns:a="http://schemas.openxmlformats.org/drawingml/2006/main">
              <a:ext uri="{FF2B5EF4-FFF2-40B4-BE49-F238E27FC236}">
                <a16:creationId xmlns:a16="http://schemas.microsoft.com/office/drawing/2014/main" id="{99534558-14AF-477E-808A-745771A2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430123"/>
            <a:ext cx="1714429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-06-rect-001">
            <a:extLst xmlns:a="http://schemas.openxmlformats.org/drawingml/2006/main">
              <a:ext uri="{FF2B5EF4-FFF2-40B4-BE49-F238E27FC236}">
                <a16:creationId xmlns:a16="http://schemas.microsoft.com/office/drawing/2014/main" id="{B5A3109A-7A9C-4AB1-83CE-87AF087B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6430123"/>
            <a:ext cx="4229858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06-rect-002">
            <a:extLst xmlns:a="http://schemas.openxmlformats.org/drawingml/2006/main">
              <a:ext uri="{FF2B5EF4-FFF2-40B4-BE49-F238E27FC236}">
                <a16:creationId xmlns:a16="http://schemas.microsoft.com/office/drawing/2014/main" id="{F896689A-EC40-42DA-B6F7-260BB9AF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430123"/>
            <a:ext cx="1714429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6-rect-003">
            <a:extLst xmlns:a="http://schemas.openxmlformats.org/drawingml/2006/main">
              <a:ext uri="{FF2B5EF4-FFF2-40B4-BE49-F238E27FC236}">
                <a16:creationId xmlns:a16="http://schemas.microsoft.com/office/drawing/2014/main" id="{7EF65057-41F8-42B7-8EF0-DE29FEA4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6430123"/>
            <a:ext cx="4229858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06-line-000">
            <a:extLst xmlns:a="http://schemas.openxmlformats.org/drawingml/2006/main">
              <a:ext uri="{FF2B5EF4-FFF2-40B4-BE49-F238E27FC236}">
                <a16:creationId xmlns:a16="http://schemas.microsoft.com/office/drawing/2014/main" id="{B41B676B-E8F4-4019-8117-5CADEEEA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6433299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6" name="page-06-line-001">
            <a:extLst xmlns:a="http://schemas.openxmlformats.org/drawingml/2006/main">
              <a:ext uri="{FF2B5EF4-FFF2-40B4-BE49-F238E27FC236}">
                <a16:creationId xmlns:a16="http://schemas.microsoft.com/office/drawing/2014/main" id="{50EB2B2C-703E-46EC-A244-C00C1B56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6740741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7" name="page-06-line-002">
            <a:extLst xmlns:a="http://schemas.openxmlformats.org/drawingml/2006/main">
              <a:ext uri="{FF2B5EF4-FFF2-40B4-BE49-F238E27FC236}">
                <a16:creationId xmlns:a16="http://schemas.microsoft.com/office/drawing/2014/main" id="{CD627B9D-49CA-4645-8554-B076733F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7083754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8" name="page-06-line-003">
            <a:extLst xmlns:a="http://schemas.openxmlformats.org/drawingml/2006/main">
              <a:ext uri="{FF2B5EF4-FFF2-40B4-BE49-F238E27FC236}">
                <a16:creationId xmlns:a16="http://schemas.microsoft.com/office/drawing/2014/main" id="{81C54227-DF95-4D74-8F60-D346D315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7428037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9" name="page-06-line-004">
            <a:extLst xmlns:a="http://schemas.openxmlformats.org/drawingml/2006/main">
              <a:ext uri="{FF2B5EF4-FFF2-40B4-BE49-F238E27FC236}">
                <a16:creationId xmlns:a16="http://schemas.microsoft.com/office/drawing/2014/main" id="{788CF21B-9A42-4012-BD88-121DC3CA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8014970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0" name="page-06-line-005">
            <a:extLst xmlns:a="http://schemas.openxmlformats.org/drawingml/2006/main">
              <a:ext uri="{FF2B5EF4-FFF2-40B4-BE49-F238E27FC236}">
                <a16:creationId xmlns:a16="http://schemas.microsoft.com/office/drawing/2014/main" id="{7299B219-451E-40EB-9DFE-7D02E081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430123"/>
            <a:ext cx="9525" cy="15880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1" name="page-06-line-006">
            <a:extLst xmlns:a="http://schemas.openxmlformats.org/drawingml/2006/main">
              <a:ext uri="{FF2B5EF4-FFF2-40B4-BE49-F238E27FC236}">
                <a16:creationId xmlns:a16="http://schemas.microsoft.com/office/drawing/2014/main" id="{2ECFA7D8-DA28-46D2-A516-7E471714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6436475"/>
            <a:ext cx="9525" cy="15753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2" name="page-06-line-007">
            <a:extLst xmlns:a="http://schemas.openxmlformats.org/drawingml/2006/main">
              <a:ext uri="{FF2B5EF4-FFF2-40B4-BE49-F238E27FC236}">
                <a16:creationId xmlns:a16="http://schemas.microsoft.com/office/drawing/2014/main" id="{2332A9BE-C3E9-47D7-B98B-67BF7AF9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259" y="6430123"/>
            <a:ext cx="9525" cy="15880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3" name="page-06-line-008">
            <a:extLst xmlns:a="http://schemas.openxmlformats.org/drawingml/2006/main">
              <a:ext uri="{FF2B5EF4-FFF2-40B4-BE49-F238E27FC236}">
                <a16:creationId xmlns:a16="http://schemas.microsoft.com/office/drawing/2014/main" id="{5D15CAD9-8F0C-42DA-95B0-8D4F6E7B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14" name="page-06-line-009">
            <a:extLst xmlns:a="http://schemas.openxmlformats.org/drawingml/2006/main">
              <a:ext uri="{FF2B5EF4-FFF2-40B4-BE49-F238E27FC236}">
                <a16:creationId xmlns:a16="http://schemas.microsoft.com/office/drawing/2014/main" id="{A154B125-360E-4005-99C7-9987AAEB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86f35f5f44637"/>
          <a:srcRect xmlns:a="http://schemas.openxmlformats.org/drawingml/2006/main" l="116" t="0" r="1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06626" y="914593"/>
            <a:ext cx="2149548" cy="4652272"/>
          </a:xfrm>
          <a:prstGeom xmlns:a="http://schemas.openxmlformats.org/drawingml/2006/main" prst="rect">
            <a:avLst/>
          </a:prstGeom>
        </p:spPr>
      </p:pic>
      <p:sp>
        <p:nvSpPr>
          <p:cNvPr id="16" name="page-06-text-000-00">
            <a:extLst xmlns:a="http://schemas.openxmlformats.org/drawingml/2006/main">
              <a:ext uri="{FF2B5EF4-FFF2-40B4-BE49-F238E27FC236}">
                <a16:creationId xmlns:a16="http://schemas.microsoft.com/office/drawing/2014/main" id="{3B543F79-B14A-4CF4-9C81-CD9073D1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602" y="468104"/>
            <a:ext cx="1381873" cy="1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Portfolio</a:t>
            </a:r>
          </a:p>
        </p:txBody>
      </p:sp>
      <p:sp>
        <p:nvSpPr>
          <p:cNvPr id="17" name="page-06-text-001-00">
            <a:extLst xmlns:a="http://schemas.openxmlformats.org/drawingml/2006/main">
              <a:ext uri="{FF2B5EF4-FFF2-40B4-BE49-F238E27FC236}">
                <a16:creationId xmlns:a16="http://schemas.microsoft.com/office/drawing/2014/main" id="{D2FE54E9-B8A2-4BEF-B4FA-E8EECE9E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268" y="5662489"/>
            <a:ext cx="1248580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73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73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쉬움 모드 예상 도착 표시</a:t>
            </a:r>
          </a:p>
        </p:txBody>
      </p:sp>
      <p:sp>
        <p:nvSpPr>
          <p:cNvPr id="18" name="page-06-text-002-00">
            <a:extLst xmlns:a="http://schemas.openxmlformats.org/drawingml/2006/main">
              <a:ext uri="{FF2B5EF4-FFF2-40B4-BE49-F238E27FC236}">
                <a16:creationId xmlns:a16="http://schemas.microsoft.com/office/drawing/2014/main" id="{3A4287E5-8544-4DBB-B8CD-305947F9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058885"/>
            <a:ext cx="1542149" cy="222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9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97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4.3 추상적인 도움말</a:t>
            </a:r>
          </a:p>
        </p:txBody>
      </p:sp>
      <p:sp>
        <p:nvSpPr>
          <p:cNvPr id="19" name="page-06-text-003-00">
            <a:extLst xmlns:a="http://schemas.openxmlformats.org/drawingml/2006/main">
              <a:ext uri="{FF2B5EF4-FFF2-40B4-BE49-F238E27FC236}">
                <a16:creationId xmlns:a16="http://schemas.microsoft.com/office/drawing/2014/main" id="{40A9FEDB-5519-4E69-B020-5C5E3115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6507482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구분</a:t>
            </a:r>
          </a:p>
        </p:txBody>
      </p:sp>
      <p:sp>
        <p:nvSpPr>
          <p:cNvPr id="20" name="page-06-text-003-01">
            <a:extLst xmlns:a="http://schemas.openxmlformats.org/drawingml/2006/main">
              <a:ext uri="{FF2B5EF4-FFF2-40B4-BE49-F238E27FC236}">
                <a16:creationId xmlns:a16="http://schemas.microsoft.com/office/drawing/2014/main" id="{DC5758A5-EBBD-415A-AC11-64E6126F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6507482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내용</a:t>
            </a:r>
          </a:p>
        </p:txBody>
      </p:sp>
      <p:sp>
        <p:nvSpPr>
          <p:cNvPr id="21" name="page-06-text-004-00">
            <a:extLst xmlns:a="http://schemas.openxmlformats.org/drawingml/2006/main">
              <a:ext uri="{FF2B5EF4-FFF2-40B4-BE49-F238E27FC236}">
                <a16:creationId xmlns:a16="http://schemas.microsoft.com/office/drawing/2014/main" id="{8CEB8038-9AEE-4862-8BC9-8760A724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6817807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문제</a:t>
            </a:r>
          </a:p>
        </p:txBody>
      </p:sp>
      <p:sp>
        <p:nvSpPr>
          <p:cNvPr id="22" name="page-06-text-004-01">
            <a:extLst xmlns:a="http://schemas.openxmlformats.org/drawingml/2006/main">
              <a:ext uri="{FF2B5EF4-FFF2-40B4-BE49-F238E27FC236}">
                <a16:creationId xmlns:a16="http://schemas.microsoft.com/office/drawing/2014/main" id="{D258979E-6577-48DD-950B-E99A7E0A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6817807"/>
            <a:ext cx="3162453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‘기믹을 활용하세요’는 실제 행동을 안내하지 못했다.</a:t>
            </a:r>
          </a:p>
        </p:txBody>
      </p:sp>
      <p:sp>
        <p:nvSpPr>
          <p:cNvPr id="23" name="page-06-text-005-00">
            <a:extLst xmlns:a="http://schemas.openxmlformats.org/drawingml/2006/main">
              <a:ext uri="{FF2B5EF4-FFF2-40B4-BE49-F238E27FC236}">
                <a16:creationId xmlns:a16="http://schemas.microsoft.com/office/drawing/2014/main" id="{1F979B0C-073D-43C1-B02E-02E85E38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7161456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판단</a:t>
            </a:r>
          </a:p>
        </p:txBody>
      </p:sp>
      <p:sp>
        <p:nvSpPr>
          <p:cNvPr id="24" name="page-06-text-005-01">
            <a:extLst xmlns:a="http://schemas.openxmlformats.org/drawingml/2006/main">
              <a:ext uri="{FF2B5EF4-FFF2-40B4-BE49-F238E27FC236}">
                <a16:creationId xmlns:a16="http://schemas.microsoft.com/office/drawing/2014/main" id="{214BE4DA-F431-4B32-9FBD-27E68D81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7161456"/>
            <a:ext cx="401617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정답 숫자를 바로 공개하지 않고 행동의 구체성을 단계별로 높였다.</a:t>
            </a:r>
          </a:p>
        </p:txBody>
      </p:sp>
      <p:sp>
        <p:nvSpPr>
          <p:cNvPr id="25" name="page-06-text-006-00">
            <a:extLst xmlns:a="http://schemas.openxmlformats.org/drawingml/2006/main">
              <a:ext uri="{FF2B5EF4-FFF2-40B4-BE49-F238E27FC236}">
                <a16:creationId xmlns:a16="http://schemas.microsoft.com/office/drawing/2014/main" id="{29124492-3749-44F3-B667-0FF9C840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7505104"/>
            <a:ext cx="391390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40패턴의 L1은 첫 행동을, L2는 위치·세기·순서·결과를 안내하며,</a:t>
            </a:r>
          </a:p>
        </p:txBody>
      </p:sp>
      <p:sp>
        <p:nvSpPr>
          <p:cNvPr id="26" name="page-06-text-007-00">
            <a:extLst xmlns:a="http://schemas.openxmlformats.org/drawingml/2006/main">
              <a:ext uri="{FF2B5EF4-FFF2-40B4-BE49-F238E27FC236}">
                <a16:creationId xmlns:a16="http://schemas.microsoft.com/office/drawing/2014/main" id="{AC948984-3C63-4F11-BA44-3288FC2B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7627064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결과</a:t>
            </a:r>
          </a:p>
        </p:txBody>
      </p:sp>
      <p:sp>
        <p:nvSpPr>
          <p:cNvPr id="27" name="page-06-text-008-00">
            <a:extLst xmlns:a="http://schemas.openxmlformats.org/drawingml/2006/main">
              <a:ext uri="{FF2B5EF4-FFF2-40B4-BE49-F238E27FC236}">
                <a16:creationId xmlns:a16="http://schemas.microsoft.com/office/drawing/2014/main" id="{AEA69C80-A21B-4C43-9CB0-38E28A53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7749024"/>
            <a:ext cx="271653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보상 또는 열쇠를 선택한 사람에게만 열린다.</a:t>
            </a:r>
          </a:p>
        </p:txBody>
      </p:sp>
      <p:sp>
        <p:nvSpPr>
          <p:cNvPr id="28" name="page-06-text-009-00">
            <a:extLst xmlns:a="http://schemas.openxmlformats.org/drawingml/2006/main">
              <a:ext uri="{FF2B5EF4-FFF2-40B4-BE49-F238E27FC236}">
                <a16:creationId xmlns:a16="http://schemas.microsoft.com/office/drawing/2014/main" id="{BB0E2DD3-BBF5-4EFA-A24C-2602CFD1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382" y="10058009"/>
            <a:ext cx="176160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1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41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· Portfolio · Page 6</a:t>
            </a:r>
          </a:p>
        </p:txBody>
      </p:sp>
    </p:spTree>
    <p:extLst>
      <p:ext uri="{BB962C8B-B14F-4D97-AF65-F5344CB8AC3E}">
        <p14:creationId xmlns:p14="http://schemas.microsoft.com/office/powerpoint/2010/main" val="10789642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ge-07-rect-000">
            <a:extLst xmlns:a="http://schemas.openxmlformats.org/drawingml/2006/main">
              <a:ext uri="{FF2B5EF4-FFF2-40B4-BE49-F238E27FC236}">
                <a16:creationId xmlns:a16="http://schemas.microsoft.com/office/drawing/2014/main" id="{2BFC5339-24E5-4F97-A192-711F3AA6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8352266"/>
            <a:ext cx="635844" cy="5824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-07-rect-001">
            <a:extLst xmlns:a="http://schemas.openxmlformats.org/drawingml/2006/main">
              <a:ext uri="{FF2B5EF4-FFF2-40B4-BE49-F238E27FC236}">
                <a16:creationId xmlns:a16="http://schemas.microsoft.com/office/drawing/2014/main" id="{EB44E3F2-F595-4569-8A5B-676A94C9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660" y="8352266"/>
            <a:ext cx="637115" cy="5824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07-rect-002">
            <a:extLst xmlns:a="http://schemas.openxmlformats.org/drawingml/2006/main">
              <a:ext uri="{FF2B5EF4-FFF2-40B4-BE49-F238E27FC236}">
                <a16:creationId xmlns:a16="http://schemas.microsoft.com/office/drawing/2014/main" id="{A572654A-061B-4E76-B951-5365C037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890" y="8352266"/>
            <a:ext cx="637115" cy="5824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7-rect-003">
            <a:extLst xmlns:a="http://schemas.openxmlformats.org/drawingml/2006/main">
              <a:ext uri="{FF2B5EF4-FFF2-40B4-BE49-F238E27FC236}">
                <a16:creationId xmlns:a16="http://schemas.microsoft.com/office/drawing/2014/main" id="{33163EB2-2A0E-4006-9902-10E7899D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390" y="8352266"/>
            <a:ext cx="635844" cy="5824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07-rect-004">
            <a:extLst xmlns:a="http://schemas.openxmlformats.org/drawingml/2006/main">
              <a:ext uri="{FF2B5EF4-FFF2-40B4-BE49-F238E27FC236}">
                <a16:creationId xmlns:a16="http://schemas.microsoft.com/office/drawing/2014/main" id="{49AE47FE-E507-4D6A-889D-60E0285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1619" y="8352266"/>
            <a:ext cx="635844" cy="5824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07-rect-005">
            <a:extLst xmlns:a="http://schemas.openxmlformats.org/drawingml/2006/main">
              <a:ext uri="{FF2B5EF4-FFF2-40B4-BE49-F238E27FC236}">
                <a16:creationId xmlns:a16="http://schemas.microsoft.com/office/drawing/2014/main" id="{47D897DF-EF11-4F72-A2F5-0B67CC11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8352266"/>
            <a:ext cx="635844" cy="5824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ge-07-rect-006">
            <a:extLst xmlns:a="http://schemas.openxmlformats.org/drawingml/2006/main">
              <a:ext uri="{FF2B5EF4-FFF2-40B4-BE49-F238E27FC236}">
                <a16:creationId xmlns:a16="http://schemas.microsoft.com/office/drawing/2014/main" id="{12001FCE-5AE0-40A8-8B19-B9E6C7F6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660" y="8352266"/>
            <a:ext cx="637115" cy="5824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ge-07-rect-007">
            <a:extLst xmlns:a="http://schemas.openxmlformats.org/drawingml/2006/main">
              <a:ext uri="{FF2B5EF4-FFF2-40B4-BE49-F238E27FC236}">
                <a16:creationId xmlns:a16="http://schemas.microsoft.com/office/drawing/2014/main" id="{15025B36-51E0-483C-A79F-7594EBEF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890" y="8352266"/>
            <a:ext cx="637115" cy="5824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ge-07-rect-008">
            <a:extLst xmlns:a="http://schemas.openxmlformats.org/drawingml/2006/main">
              <a:ext uri="{FF2B5EF4-FFF2-40B4-BE49-F238E27FC236}">
                <a16:creationId xmlns:a16="http://schemas.microsoft.com/office/drawing/2014/main" id="{12689388-3590-456C-A082-CEF8E938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7390" y="8352266"/>
            <a:ext cx="635844" cy="5824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ge-07-rect-009">
            <a:extLst xmlns:a="http://schemas.openxmlformats.org/drawingml/2006/main">
              <a:ext uri="{FF2B5EF4-FFF2-40B4-BE49-F238E27FC236}">
                <a16:creationId xmlns:a16="http://schemas.microsoft.com/office/drawing/2014/main" id="{26B7A77B-0A14-4C4B-93AA-D39F5E54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1619" y="8352266"/>
            <a:ext cx="635844" cy="5824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07-line-000">
            <a:extLst xmlns:a="http://schemas.openxmlformats.org/drawingml/2006/main">
              <a:ext uri="{FF2B5EF4-FFF2-40B4-BE49-F238E27FC236}">
                <a16:creationId xmlns:a16="http://schemas.microsoft.com/office/drawing/2014/main" id="{E1F5BBBA-4FBE-4D1A-9ABB-970A27FF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12" name="page-07-line-001">
            <a:extLst xmlns:a="http://schemas.openxmlformats.org/drawingml/2006/main">
              <a:ext uri="{FF2B5EF4-FFF2-40B4-BE49-F238E27FC236}">
                <a16:creationId xmlns:a16="http://schemas.microsoft.com/office/drawing/2014/main" id="{7838BCDA-AA02-49B4-8EAA-760DB0D7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5b2e6e1ed4547"/>
          <a:srcRect xmlns:a="http://schemas.openxmlformats.org/drawingml/2006/main" l="65" t="0" r="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23322" y="914593"/>
            <a:ext cx="4116155" cy="5277318"/>
          </a:xfrm>
          <a:prstGeom xmlns:a="http://schemas.openxmlformats.org/drawingml/2006/main" prst="rect">
            <a:avLst/>
          </a:prstGeom>
        </p:spPr>
      </p:pic>
      <p:sp>
        <p:nvSpPr>
          <p:cNvPr id="14" name="page-07-text-000-00">
            <a:extLst xmlns:a="http://schemas.openxmlformats.org/drawingml/2006/main">
              <a:ext uri="{FF2B5EF4-FFF2-40B4-BE49-F238E27FC236}">
                <a16:creationId xmlns:a16="http://schemas.microsoft.com/office/drawing/2014/main" id="{6EC8BA02-D596-4EA2-AF4A-6D69707D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602" y="468104"/>
            <a:ext cx="1381873" cy="1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Portfolio</a:t>
            </a:r>
          </a:p>
        </p:txBody>
      </p:sp>
      <p:sp>
        <p:nvSpPr>
          <p:cNvPr id="15" name="page-07-text-001-00">
            <a:extLst xmlns:a="http://schemas.openxmlformats.org/drawingml/2006/main">
              <a:ext uri="{FF2B5EF4-FFF2-40B4-BE49-F238E27FC236}">
                <a16:creationId xmlns:a16="http://schemas.microsoft.com/office/drawing/2014/main" id="{CB180A95-C04E-4AE6-86E7-EBF71B02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586" y="6287535"/>
            <a:ext cx="2299750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5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55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선택한 패턴에 맞춰 첫 행동을 알려 주는 L1 힌트</a:t>
            </a:r>
          </a:p>
        </p:txBody>
      </p:sp>
      <p:sp>
        <p:nvSpPr>
          <p:cNvPr id="16" name="page-07-text-002-00">
            <a:extLst xmlns:a="http://schemas.openxmlformats.org/drawingml/2006/main">
              <a:ext uri="{FF2B5EF4-FFF2-40B4-BE49-F238E27FC236}">
                <a16:creationId xmlns:a16="http://schemas.microsoft.com/office/drawing/2014/main" id="{6842FCFD-0725-458A-A388-38AF5C94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743234"/>
            <a:ext cx="2440512" cy="26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6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26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5. AI로 게임을 기획한 방식</a:t>
            </a:r>
          </a:p>
        </p:txBody>
      </p:sp>
      <p:sp>
        <p:nvSpPr>
          <p:cNvPr id="17" name="page-07-text-003-00">
            <a:extLst xmlns:a="http://schemas.openxmlformats.org/drawingml/2006/main">
              <a:ext uri="{FF2B5EF4-FFF2-40B4-BE49-F238E27FC236}">
                <a16:creationId xmlns:a16="http://schemas.microsoft.com/office/drawing/2014/main" id="{87E04550-31FB-477C-A94D-C154DFA3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7240221"/>
            <a:ext cx="5489313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AI를 개발 대행 도구로만 사용하지 않았다. 플레이어가 겪는 문제와 만들고 싶은 경험을 먼저</a:t>
            </a:r>
          </a:p>
        </p:txBody>
      </p:sp>
      <p:sp>
        <p:nvSpPr>
          <p:cNvPr id="18" name="page-07-text-004-00">
            <a:extLst xmlns:a="http://schemas.openxmlformats.org/drawingml/2006/main">
              <a:ext uri="{FF2B5EF4-FFF2-40B4-BE49-F238E27FC236}">
                <a16:creationId xmlns:a16="http://schemas.microsoft.com/office/drawing/2014/main" id="{DB9E67AD-8BC7-479F-81CA-4FBDB165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7505104"/>
            <a:ext cx="583195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정의하고, AI가 원인과 대안을 탐색하게 한 뒤 사람이 게임의 방향을 선택했다. 선택한 기획은 기능</a:t>
            </a:r>
          </a:p>
        </p:txBody>
      </p:sp>
      <p:sp>
        <p:nvSpPr>
          <p:cNvPr id="19" name="page-07-text-005-00">
            <a:extLst xmlns:a="http://schemas.openxmlformats.org/drawingml/2006/main">
              <a:ext uri="{FF2B5EF4-FFF2-40B4-BE49-F238E27FC236}">
                <a16:creationId xmlns:a16="http://schemas.microsoft.com/office/drawing/2014/main" id="{5DF89EBF-199B-41D3-B764-2EA99E1F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7769986"/>
            <a:ext cx="5740093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담당·레벨 담당·독립 검사 역할로 나눠 실행했으며, 프롬프트에는 목적, 보호해야 할 규칙, 테스트</a:t>
            </a:r>
          </a:p>
        </p:txBody>
      </p:sp>
      <p:sp>
        <p:nvSpPr>
          <p:cNvPr id="20" name="page-07-text-006-00">
            <a:extLst xmlns:a="http://schemas.openxmlformats.org/drawingml/2006/main">
              <a:ext uri="{FF2B5EF4-FFF2-40B4-BE49-F238E27FC236}">
                <a16:creationId xmlns:a16="http://schemas.microsoft.com/office/drawing/2014/main" id="{77312163-7A58-4F63-90FC-4A566DEC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8034868"/>
            <a:ext cx="193078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기준, 종료 조건을 함께 적었다.</a:t>
            </a:r>
          </a:p>
        </p:txBody>
      </p:sp>
      <p:sp>
        <p:nvSpPr>
          <p:cNvPr id="21" name="page-07-text-007-00">
            <a:extLst xmlns:a="http://schemas.openxmlformats.org/drawingml/2006/main">
              <a:ext uri="{FF2B5EF4-FFF2-40B4-BE49-F238E27FC236}">
                <a16:creationId xmlns:a16="http://schemas.microsoft.com/office/drawing/2014/main" id="{AE9D6E0F-B6F6-4AA1-B7A5-C62CF56B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50" y="8470615"/>
            <a:ext cx="454404" cy="17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07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사용자</a:t>
            </a:r>
          </a:p>
        </p:txBody>
      </p:sp>
      <p:sp>
        <p:nvSpPr>
          <p:cNvPr id="22" name="page-07-text-008-00">
            <a:extLst xmlns:a="http://schemas.openxmlformats.org/drawingml/2006/main">
              <a:ext uri="{FF2B5EF4-FFF2-40B4-BE49-F238E27FC236}">
                <a16:creationId xmlns:a16="http://schemas.microsoft.com/office/drawing/2014/main" id="{1DFC9503-7447-480A-BC27-041FF295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01" y="8535654"/>
            <a:ext cx="4907988" cy="247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5" b="1" i="0">
                <a:solidFill>
                  <a:srgbClr val="7A5A00"/>
                </a:solidFill>
                <a:latin typeface="Nanum Gothic"/>
                <a:ea typeface="Nanum Gothic"/>
                <a:cs typeface="Nanum Gothic"/>
              </a:defRPr>
            </a:pPr>
            <a:r>
              <a:rPr sz="995" b="1" i="0">
                <a:solidFill>
                  <a:srgbClr val="7A5A00"/>
                </a:solidFill>
                <a:latin typeface="Nanum Gothic"/>
                <a:ea typeface="Nanum Gothic"/>
                <a:cs typeface="Nanum Gothic"/>
              </a:rPr>
              <a:t>→ 기능 계약 → 전문 실행 → 독립 감사 → 증거·통합</a:t>
            </a:r>
          </a:p>
        </p:txBody>
      </p:sp>
      <p:sp>
        <p:nvSpPr>
          <p:cNvPr id="23" name="page-07-text-009-00">
            <a:extLst xmlns:a="http://schemas.openxmlformats.org/drawingml/2006/main">
              <a:ext uri="{FF2B5EF4-FFF2-40B4-BE49-F238E27FC236}">
                <a16:creationId xmlns:a16="http://schemas.microsoft.com/office/drawing/2014/main" id="{684C1F1A-B41B-4331-81E8-9C9BC2F3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50" y="8659272"/>
            <a:ext cx="454404" cy="17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7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07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피드백</a:t>
            </a:r>
          </a:p>
        </p:txBody>
      </p:sp>
      <p:sp>
        <p:nvSpPr>
          <p:cNvPr id="24" name="page-07-text-010-00">
            <a:extLst xmlns:a="http://schemas.openxmlformats.org/drawingml/2006/main">
              <a:ext uri="{FF2B5EF4-FFF2-40B4-BE49-F238E27FC236}">
                <a16:creationId xmlns:a16="http://schemas.microsoft.com/office/drawing/2014/main" id="{A64C5AC5-595F-40FC-854C-0FCC18A9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733" y="9003054"/>
            <a:ext cx="2561450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5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55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감사에서 문제가 발견되면 기능 계약 단계로 돌아간다.</a:t>
            </a:r>
          </a:p>
        </p:txBody>
      </p:sp>
      <p:sp>
        <p:nvSpPr>
          <p:cNvPr id="25" name="page-07-text-011-00">
            <a:extLst xmlns:a="http://schemas.openxmlformats.org/drawingml/2006/main">
              <a:ext uri="{FF2B5EF4-FFF2-40B4-BE49-F238E27FC236}">
                <a16:creationId xmlns:a16="http://schemas.microsoft.com/office/drawing/2014/main" id="{075D78A1-2AB2-4DA9-985E-701A789F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382" y="10058009"/>
            <a:ext cx="176160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1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41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· Portfolio · Page 7</a:t>
            </a:r>
          </a:p>
        </p:txBody>
      </p:sp>
    </p:spTree>
    <p:extLst>
      <p:ext uri="{BB962C8B-B14F-4D97-AF65-F5344CB8AC3E}">
        <p14:creationId xmlns:p14="http://schemas.microsoft.com/office/powerpoint/2010/main" val="9026387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page-08-rect-000">
            <a:extLst xmlns:a="http://schemas.openxmlformats.org/drawingml/2006/main">
              <a:ext uri="{FF2B5EF4-FFF2-40B4-BE49-F238E27FC236}">
                <a16:creationId xmlns:a16="http://schemas.microsoft.com/office/drawing/2014/main" id="{B8ED6263-B5A2-424F-B1E7-25CF2ABE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915238"/>
            <a:ext cx="1079220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-08-rect-001">
            <a:extLst xmlns:a="http://schemas.openxmlformats.org/drawingml/2006/main">
              <a:ext uri="{FF2B5EF4-FFF2-40B4-BE49-F238E27FC236}">
                <a16:creationId xmlns:a16="http://schemas.microsoft.com/office/drawing/2014/main" id="{5310D6C8-4434-409A-928E-3464142C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915238"/>
            <a:ext cx="215907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08-rect-002">
            <a:extLst xmlns:a="http://schemas.openxmlformats.org/drawingml/2006/main">
              <a:ext uri="{FF2B5EF4-FFF2-40B4-BE49-F238E27FC236}">
                <a16:creationId xmlns:a16="http://schemas.microsoft.com/office/drawing/2014/main" id="{DE341149-B1ED-4390-BDB1-739B9FC8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915238"/>
            <a:ext cx="270535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8-rect-003">
            <a:extLst xmlns:a="http://schemas.openxmlformats.org/drawingml/2006/main">
              <a:ext uri="{FF2B5EF4-FFF2-40B4-BE49-F238E27FC236}">
                <a16:creationId xmlns:a16="http://schemas.microsoft.com/office/drawing/2014/main" id="{6B66F795-740F-4886-81BC-0DB60188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4871320"/>
            <a:ext cx="1714429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08-rect-004">
            <a:extLst xmlns:a="http://schemas.openxmlformats.org/drawingml/2006/main">
              <a:ext uri="{FF2B5EF4-FFF2-40B4-BE49-F238E27FC236}">
                <a16:creationId xmlns:a16="http://schemas.microsoft.com/office/drawing/2014/main" id="{7C648F65-AE3D-46D8-9ECD-3286F0F1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4871320"/>
            <a:ext cx="4229858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08-rect-005">
            <a:extLst xmlns:a="http://schemas.openxmlformats.org/drawingml/2006/main">
              <a:ext uri="{FF2B5EF4-FFF2-40B4-BE49-F238E27FC236}">
                <a16:creationId xmlns:a16="http://schemas.microsoft.com/office/drawing/2014/main" id="{39D9D26B-D533-433B-B2FC-029FB3A7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915238"/>
            <a:ext cx="1079220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ge-08-rect-006">
            <a:extLst xmlns:a="http://schemas.openxmlformats.org/drawingml/2006/main">
              <a:ext uri="{FF2B5EF4-FFF2-40B4-BE49-F238E27FC236}">
                <a16:creationId xmlns:a16="http://schemas.microsoft.com/office/drawing/2014/main" id="{EA864790-E8B6-4D31-81A6-21D47ED8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915238"/>
            <a:ext cx="215907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ge-08-rect-007">
            <a:extLst xmlns:a="http://schemas.openxmlformats.org/drawingml/2006/main">
              <a:ext uri="{FF2B5EF4-FFF2-40B4-BE49-F238E27FC236}">
                <a16:creationId xmlns:a16="http://schemas.microsoft.com/office/drawing/2014/main" id="{9FF6A72C-7F32-4681-98B0-49E8CCAC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915238"/>
            <a:ext cx="2705356" cy="306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ge-08-rect-008">
            <a:extLst xmlns:a="http://schemas.openxmlformats.org/drawingml/2006/main">
              <a:ext uri="{FF2B5EF4-FFF2-40B4-BE49-F238E27FC236}">
                <a16:creationId xmlns:a16="http://schemas.microsoft.com/office/drawing/2014/main" id="{5D98EF36-0569-4D6D-A2FB-C835C8EE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4871320"/>
            <a:ext cx="1714429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ge-08-rect-009">
            <a:extLst xmlns:a="http://schemas.openxmlformats.org/drawingml/2006/main">
              <a:ext uri="{FF2B5EF4-FFF2-40B4-BE49-F238E27FC236}">
                <a16:creationId xmlns:a16="http://schemas.microsoft.com/office/drawing/2014/main" id="{4831C636-783F-43BE-B4EF-4A6CA8FC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4871320"/>
            <a:ext cx="4229858" cy="3055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08-line-000">
            <a:extLst xmlns:a="http://schemas.openxmlformats.org/drawingml/2006/main">
              <a:ext uri="{FF2B5EF4-FFF2-40B4-BE49-F238E27FC236}">
                <a16:creationId xmlns:a16="http://schemas.microsoft.com/office/drawing/2014/main" id="{E867039A-08BD-4D69-B24D-868B684E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918414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2" name="page-08-line-001">
            <a:extLst xmlns:a="http://schemas.openxmlformats.org/drawingml/2006/main">
              <a:ext uri="{FF2B5EF4-FFF2-40B4-BE49-F238E27FC236}">
                <a16:creationId xmlns:a16="http://schemas.microsoft.com/office/drawing/2014/main" id="{706BA220-F552-4480-A5CE-65733301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1225855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3" name="page-08-line-002">
            <a:extLst xmlns:a="http://schemas.openxmlformats.org/drawingml/2006/main">
              <a:ext uri="{FF2B5EF4-FFF2-40B4-BE49-F238E27FC236}">
                <a16:creationId xmlns:a16="http://schemas.microsoft.com/office/drawing/2014/main" id="{33ECF1DA-77EE-474B-9A6B-C5BB522B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1812788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4" name="page-08-line-003">
            <a:extLst xmlns:a="http://schemas.openxmlformats.org/drawingml/2006/main">
              <a:ext uri="{FF2B5EF4-FFF2-40B4-BE49-F238E27FC236}">
                <a16:creationId xmlns:a16="http://schemas.microsoft.com/office/drawing/2014/main" id="{6E7688EA-6169-4284-BB6B-6F78B426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2157072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5" name="page-08-line-004">
            <a:extLst xmlns:a="http://schemas.openxmlformats.org/drawingml/2006/main">
              <a:ext uri="{FF2B5EF4-FFF2-40B4-BE49-F238E27FC236}">
                <a16:creationId xmlns:a16="http://schemas.microsoft.com/office/drawing/2014/main" id="{5ADB4282-5F2B-4F74-90B0-0E2BE6A6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2744005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6" name="page-08-line-005">
            <a:extLst xmlns:a="http://schemas.openxmlformats.org/drawingml/2006/main">
              <a:ext uri="{FF2B5EF4-FFF2-40B4-BE49-F238E27FC236}">
                <a16:creationId xmlns:a16="http://schemas.microsoft.com/office/drawing/2014/main" id="{55C5ACAE-FD97-4F2A-99FF-35EB5F34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3332208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7" name="page-08-line-006">
            <a:extLst xmlns:a="http://schemas.openxmlformats.org/drawingml/2006/main">
              <a:ext uri="{FF2B5EF4-FFF2-40B4-BE49-F238E27FC236}">
                <a16:creationId xmlns:a16="http://schemas.microsoft.com/office/drawing/2014/main" id="{50FD0A5B-B8CA-4223-A3C5-C50CE7D6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915238"/>
            <a:ext cx="9525" cy="24201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8" name="page-08-line-007">
            <a:extLst xmlns:a="http://schemas.openxmlformats.org/drawingml/2006/main">
              <a:ext uri="{FF2B5EF4-FFF2-40B4-BE49-F238E27FC236}">
                <a16:creationId xmlns:a16="http://schemas.microsoft.com/office/drawing/2014/main" id="{A72EB0D3-556D-4A42-AD93-1A277FAF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57" y="921590"/>
            <a:ext cx="9525" cy="24074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19" name="page-08-line-008">
            <a:extLst xmlns:a="http://schemas.openxmlformats.org/drawingml/2006/main">
              <a:ext uri="{FF2B5EF4-FFF2-40B4-BE49-F238E27FC236}">
                <a16:creationId xmlns:a16="http://schemas.microsoft.com/office/drawing/2014/main" id="{CBBED1C6-8C00-4785-A676-008D77F7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268" y="921590"/>
            <a:ext cx="9525" cy="24074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0" name="page-08-line-009">
            <a:extLst xmlns:a="http://schemas.openxmlformats.org/drawingml/2006/main">
              <a:ext uri="{FF2B5EF4-FFF2-40B4-BE49-F238E27FC236}">
                <a16:creationId xmlns:a16="http://schemas.microsoft.com/office/drawing/2014/main" id="{9C592FD2-DDA3-425C-80A3-51FEC76F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259" y="915238"/>
            <a:ext cx="9525" cy="24201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1" name="page-08-line-010">
            <a:extLst xmlns:a="http://schemas.openxmlformats.org/drawingml/2006/main">
              <a:ext uri="{FF2B5EF4-FFF2-40B4-BE49-F238E27FC236}">
                <a16:creationId xmlns:a16="http://schemas.microsoft.com/office/drawing/2014/main" id="{CBCAAE54-0552-478A-8364-69650B3F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4874496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2" name="page-08-line-011">
            <a:extLst xmlns:a="http://schemas.openxmlformats.org/drawingml/2006/main">
              <a:ext uri="{FF2B5EF4-FFF2-40B4-BE49-F238E27FC236}">
                <a16:creationId xmlns:a16="http://schemas.microsoft.com/office/drawing/2014/main" id="{1478C06E-852C-45AC-AAB3-B3FFFCA3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5180667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3" name="page-08-line-012">
            <a:extLst xmlns:a="http://schemas.openxmlformats.org/drawingml/2006/main">
              <a:ext uri="{FF2B5EF4-FFF2-40B4-BE49-F238E27FC236}">
                <a16:creationId xmlns:a16="http://schemas.microsoft.com/office/drawing/2014/main" id="{15403FEA-FB3A-44F8-8D4F-90B0B1ED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5768871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4" name="page-08-line-013">
            <a:extLst xmlns:a="http://schemas.openxmlformats.org/drawingml/2006/main">
              <a:ext uri="{FF2B5EF4-FFF2-40B4-BE49-F238E27FC236}">
                <a16:creationId xmlns:a16="http://schemas.microsoft.com/office/drawing/2014/main" id="{AB3544E5-CE26-4BC5-8C96-2074E5B9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6111884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5" name="page-08-line-014">
            <a:extLst xmlns:a="http://schemas.openxmlformats.org/drawingml/2006/main">
              <a:ext uri="{FF2B5EF4-FFF2-40B4-BE49-F238E27FC236}">
                <a16:creationId xmlns:a16="http://schemas.microsoft.com/office/drawing/2014/main" id="{80A8FEC0-7029-46F7-925D-D68AC7AD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6456167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6" name="page-08-line-015">
            <a:extLst xmlns:a="http://schemas.openxmlformats.org/drawingml/2006/main">
              <a:ext uri="{FF2B5EF4-FFF2-40B4-BE49-F238E27FC236}">
                <a16:creationId xmlns:a16="http://schemas.microsoft.com/office/drawing/2014/main" id="{F02DECE4-F646-44DB-9C69-060A6C33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7" y="6799180"/>
            <a:ext cx="593920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7" name="page-08-line-016">
            <a:extLst xmlns:a="http://schemas.openxmlformats.org/drawingml/2006/main">
              <a:ext uri="{FF2B5EF4-FFF2-40B4-BE49-F238E27FC236}">
                <a16:creationId xmlns:a16="http://schemas.microsoft.com/office/drawing/2014/main" id="{19360970-66FD-443E-BE34-E97EB9B2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25" y="7143463"/>
            <a:ext cx="59519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8" name="page-08-line-017">
            <a:extLst xmlns:a="http://schemas.openxmlformats.org/drawingml/2006/main">
              <a:ext uri="{FF2B5EF4-FFF2-40B4-BE49-F238E27FC236}">
                <a16:creationId xmlns:a16="http://schemas.microsoft.com/office/drawing/2014/main" id="{7CF5B314-AF56-4A9C-ABE8-E7B31F3A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4871320"/>
            <a:ext cx="9525" cy="22753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29" name="page-08-line-018">
            <a:extLst xmlns:a="http://schemas.openxmlformats.org/drawingml/2006/main">
              <a:ext uri="{FF2B5EF4-FFF2-40B4-BE49-F238E27FC236}">
                <a16:creationId xmlns:a16="http://schemas.microsoft.com/office/drawing/2014/main" id="{F34D1FCB-DCBF-4D4A-A49E-23C9AE3A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766" y="4877672"/>
            <a:ext cx="9525" cy="226261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30" name="page-08-line-019">
            <a:extLst xmlns:a="http://schemas.openxmlformats.org/drawingml/2006/main">
              <a:ext uri="{FF2B5EF4-FFF2-40B4-BE49-F238E27FC236}">
                <a16:creationId xmlns:a16="http://schemas.microsoft.com/office/drawing/2014/main" id="{5A35232E-161B-4AF7-950E-A1052703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0259" y="4871320"/>
            <a:ext cx="9525" cy="22753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2">
            <a:solidFill>
              <a:srgbClr val="000000"/>
            </a:solidFill>
            <a:prstDash val="solid"/>
          </a:ln>
        </p:spPr>
      </p:sp>
      <p:sp>
        <p:nvSpPr>
          <p:cNvPr id="31" name="page-08-line-020">
            <a:extLst xmlns:a="http://schemas.openxmlformats.org/drawingml/2006/main">
              <a:ext uri="{FF2B5EF4-FFF2-40B4-BE49-F238E27FC236}">
                <a16:creationId xmlns:a16="http://schemas.microsoft.com/office/drawing/2014/main" id="{5F9D889C-B081-4E14-8FA0-FB7F5B0A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32" name="page-08-line-021">
            <a:extLst xmlns:a="http://schemas.openxmlformats.org/drawingml/2006/main">
              <a:ext uri="{FF2B5EF4-FFF2-40B4-BE49-F238E27FC236}">
                <a16:creationId xmlns:a16="http://schemas.microsoft.com/office/drawing/2014/main" id="{D9FDC250-5658-4A3A-BEDE-6E543404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33" name="page-08-text-000-00">
            <a:extLst xmlns:a="http://schemas.openxmlformats.org/drawingml/2006/main">
              <a:ext uri="{FF2B5EF4-FFF2-40B4-BE49-F238E27FC236}">
                <a16:creationId xmlns:a16="http://schemas.microsoft.com/office/drawing/2014/main" id="{137C1D4E-BE56-449B-8968-7367ED5D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602" y="468104"/>
            <a:ext cx="1381873" cy="1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Portfolio</a:t>
            </a:r>
          </a:p>
        </p:txBody>
      </p:sp>
      <p:sp>
        <p:nvSpPr>
          <p:cNvPr id="34" name="page-08-text-001-00">
            <a:extLst xmlns:a="http://schemas.openxmlformats.org/drawingml/2006/main">
              <a:ext uri="{FF2B5EF4-FFF2-40B4-BE49-F238E27FC236}">
                <a16:creationId xmlns:a16="http://schemas.microsoft.com/office/drawing/2014/main" id="{7D277BB3-B710-451F-B2FF-CE52D6F9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992597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단계</a:t>
            </a:r>
          </a:p>
        </p:txBody>
      </p:sp>
      <p:sp>
        <p:nvSpPr>
          <p:cNvPr id="35" name="page-08-text-001-01">
            <a:extLst xmlns:a="http://schemas.openxmlformats.org/drawingml/2006/main">
              <a:ext uri="{FF2B5EF4-FFF2-40B4-BE49-F238E27FC236}">
                <a16:creationId xmlns:a16="http://schemas.microsoft.com/office/drawing/2014/main" id="{5DDEEF50-08DE-4023-AB31-7FD3E532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992597"/>
            <a:ext cx="547093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75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내 결정</a:t>
            </a:r>
          </a:p>
        </p:txBody>
      </p:sp>
      <p:sp>
        <p:nvSpPr>
          <p:cNvPr id="36" name="page-08-text-001-02">
            <a:extLst xmlns:a="http://schemas.openxmlformats.org/drawingml/2006/main">
              <a:ext uri="{FF2B5EF4-FFF2-40B4-BE49-F238E27FC236}">
                <a16:creationId xmlns:a16="http://schemas.microsoft.com/office/drawing/2014/main" id="{48EE6CEA-2277-4188-83D9-1C37B67E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992597"/>
            <a:ext cx="682393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5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05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AI의 기여</a:t>
            </a:r>
          </a:p>
        </p:txBody>
      </p:sp>
      <p:sp>
        <p:nvSpPr>
          <p:cNvPr id="37" name="page-08-text-002-00">
            <a:extLst xmlns:a="http://schemas.openxmlformats.org/drawingml/2006/main">
              <a:ext uri="{FF2B5EF4-FFF2-40B4-BE49-F238E27FC236}">
                <a16:creationId xmlns:a16="http://schemas.microsoft.com/office/drawing/2014/main" id="{14295988-214A-492D-9A2A-FD13E8D6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1302922"/>
            <a:ext cx="207019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플레이어가 어디서 막히고 무엇을</a:t>
            </a:r>
          </a:p>
        </p:txBody>
      </p:sp>
      <p:sp>
        <p:nvSpPr>
          <p:cNvPr id="38" name="page-08-text-003-00">
            <a:extLst xmlns:a="http://schemas.openxmlformats.org/drawingml/2006/main">
              <a:ext uri="{FF2B5EF4-FFF2-40B4-BE49-F238E27FC236}">
                <a16:creationId xmlns:a16="http://schemas.microsoft.com/office/drawing/2014/main" id="{28D63589-63A8-4056-99FB-37226482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1424882"/>
            <a:ext cx="67845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5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문제 정의</a:t>
            </a:r>
          </a:p>
        </p:txBody>
      </p:sp>
      <p:sp>
        <p:nvSpPr>
          <p:cNvPr id="39" name="page-08-text-003-01">
            <a:extLst xmlns:a="http://schemas.openxmlformats.org/drawingml/2006/main">
              <a:ext uri="{FF2B5EF4-FFF2-40B4-BE49-F238E27FC236}">
                <a16:creationId xmlns:a16="http://schemas.microsoft.com/office/drawing/2014/main" id="{B10BA164-ECBE-4871-9354-98BF19FE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1424882"/>
            <a:ext cx="197902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화면·규칙·데이터에서 원인 탐색</a:t>
            </a:r>
          </a:p>
        </p:txBody>
      </p:sp>
      <p:sp>
        <p:nvSpPr>
          <p:cNvPr id="40" name="page-08-text-004-00">
            <a:extLst xmlns:a="http://schemas.openxmlformats.org/drawingml/2006/main">
              <a:ext uri="{FF2B5EF4-FFF2-40B4-BE49-F238E27FC236}">
                <a16:creationId xmlns:a16="http://schemas.microsoft.com/office/drawing/2014/main" id="{5668BB8F-2E72-4DC5-BD4A-B1B7F06E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1546842"/>
            <a:ext cx="124205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1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느껴야 하는지 결정</a:t>
            </a:r>
          </a:p>
        </p:txBody>
      </p:sp>
      <p:sp>
        <p:nvSpPr>
          <p:cNvPr id="41" name="page-08-text-005-00">
            <a:extLst xmlns:a="http://schemas.openxmlformats.org/drawingml/2006/main">
              <a:ext uri="{FF2B5EF4-FFF2-40B4-BE49-F238E27FC236}">
                <a16:creationId xmlns:a16="http://schemas.microsoft.com/office/drawing/2014/main" id="{5DBB81A1-A424-4C53-84AC-402700FB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1890490"/>
            <a:ext cx="67874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5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기획 탐색</a:t>
            </a:r>
          </a:p>
        </p:txBody>
      </p:sp>
      <p:sp>
        <p:nvSpPr>
          <p:cNvPr id="42" name="page-08-text-005-01">
            <a:extLst xmlns:a="http://schemas.openxmlformats.org/drawingml/2006/main">
              <a:ext uri="{FF2B5EF4-FFF2-40B4-BE49-F238E27FC236}">
                <a16:creationId xmlns:a16="http://schemas.microsoft.com/office/drawing/2014/main" id="{6693E03C-43B4-4BFD-A609-75F8CBF2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1890490"/>
            <a:ext cx="383649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핵심 재미와 보호할 규칙을 확정 여러 해법과 부작용을 비교</a:t>
            </a:r>
          </a:p>
        </p:txBody>
      </p:sp>
      <p:sp>
        <p:nvSpPr>
          <p:cNvPr id="43" name="page-08-text-006-00">
            <a:extLst xmlns:a="http://schemas.openxmlformats.org/drawingml/2006/main">
              <a:ext uri="{FF2B5EF4-FFF2-40B4-BE49-F238E27FC236}">
                <a16:creationId xmlns:a16="http://schemas.microsoft.com/office/drawing/2014/main" id="{B15FA5A6-98D2-4DD4-B199-1F7FF384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2234138"/>
            <a:ext cx="453256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0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학습 순서·난이도·힌트·보상 정책 선택안을 레벨 데이터와 기능 계약으로</a:t>
            </a:r>
          </a:p>
        </p:txBody>
      </p:sp>
      <p:sp>
        <p:nvSpPr>
          <p:cNvPr id="44" name="page-08-text-007-00">
            <a:extLst xmlns:a="http://schemas.openxmlformats.org/drawingml/2006/main">
              <a:ext uri="{FF2B5EF4-FFF2-40B4-BE49-F238E27FC236}">
                <a16:creationId xmlns:a16="http://schemas.microsoft.com/office/drawing/2014/main" id="{F16FF3A0-D2B0-43AE-9F25-14CD6FC3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2356098"/>
            <a:ext cx="50782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구체화</a:t>
            </a:r>
          </a:p>
        </p:txBody>
      </p:sp>
      <p:sp>
        <p:nvSpPr>
          <p:cNvPr id="45" name="page-08-text-008-00">
            <a:extLst xmlns:a="http://schemas.openxmlformats.org/drawingml/2006/main">
              <a:ext uri="{FF2B5EF4-FFF2-40B4-BE49-F238E27FC236}">
                <a16:creationId xmlns:a16="http://schemas.microsoft.com/office/drawing/2014/main" id="{3F0FDBAE-897E-4620-A4AC-1EE05A46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2478059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선택</a:t>
            </a:r>
          </a:p>
        </p:txBody>
      </p:sp>
      <p:sp>
        <p:nvSpPr>
          <p:cNvPr id="46" name="page-08-text-008-01">
            <a:extLst xmlns:a="http://schemas.openxmlformats.org/drawingml/2006/main">
              <a:ext uri="{FF2B5EF4-FFF2-40B4-BE49-F238E27FC236}">
                <a16:creationId xmlns:a16="http://schemas.microsoft.com/office/drawing/2014/main" id="{E5644BD0-E996-4865-BCBB-87D19359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2478059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전환</a:t>
            </a:r>
          </a:p>
        </p:txBody>
      </p:sp>
      <p:sp>
        <p:nvSpPr>
          <p:cNvPr id="47" name="page-08-text-009-00">
            <a:extLst xmlns:a="http://schemas.openxmlformats.org/drawingml/2006/main">
              <a:ext uri="{FF2B5EF4-FFF2-40B4-BE49-F238E27FC236}">
                <a16:creationId xmlns:a16="http://schemas.microsoft.com/office/drawing/2014/main" id="{7895CBF4-1CF6-419D-9C84-7C1DA026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2821707"/>
            <a:ext cx="211063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재미·공정성·접근성 기준으로 채택</a:t>
            </a:r>
          </a:p>
        </p:txBody>
      </p:sp>
      <p:sp>
        <p:nvSpPr>
          <p:cNvPr id="48" name="page-08-text-010-00">
            <a:extLst xmlns:a="http://schemas.openxmlformats.org/drawingml/2006/main">
              <a:ext uri="{FF2B5EF4-FFF2-40B4-BE49-F238E27FC236}">
                <a16:creationId xmlns:a16="http://schemas.microsoft.com/office/drawing/2014/main" id="{2BF71EEB-49B5-42A4-BA2F-C60AC3AD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2943667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검증</a:t>
            </a:r>
          </a:p>
        </p:txBody>
      </p:sp>
      <p:sp>
        <p:nvSpPr>
          <p:cNvPr id="49" name="page-08-text-010-01">
            <a:extLst xmlns:a="http://schemas.openxmlformats.org/drawingml/2006/main">
              <a:ext uri="{FF2B5EF4-FFF2-40B4-BE49-F238E27FC236}">
                <a16:creationId xmlns:a16="http://schemas.microsoft.com/office/drawing/2014/main" id="{8B77E484-85CD-465C-885A-F31BDA6C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238" y="2943667"/>
            <a:ext cx="205981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독립 감사, 회귀·시각·결정론 확인</a:t>
            </a:r>
          </a:p>
        </p:txBody>
      </p:sp>
      <p:sp>
        <p:nvSpPr>
          <p:cNvPr id="50" name="page-08-text-011-00">
            <a:extLst xmlns:a="http://schemas.openxmlformats.org/drawingml/2006/main">
              <a:ext uri="{FF2B5EF4-FFF2-40B4-BE49-F238E27FC236}">
                <a16:creationId xmlns:a16="http://schemas.microsoft.com/office/drawing/2014/main" id="{9133D567-C5EB-4637-B69B-899A0E1D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892" y="3065627"/>
            <a:ext cx="67850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5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여부 결정</a:t>
            </a:r>
          </a:p>
        </p:txBody>
      </p:sp>
      <p:sp>
        <p:nvSpPr>
          <p:cNvPr id="51" name="page-08-text-012-00">
            <a:extLst xmlns:a="http://schemas.openxmlformats.org/drawingml/2006/main">
              <a:ext uri="{FF2B5EF4-FFF2-40B4-BE49-F238E27FC236}">
                <a16:creationId xmlns:a16="http://schemas.microsoft.com/office/drawing/2014/main" id="{BE74581A-4D84-4941-8B08-E8D88A62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3358458"/>
            <a:ext cx="556702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가장 중요한 학습은 AI가 만든 검증 지표도 틀릴 수 있다는 점이었다. 레벨 우위 계산에서 서로</a:t>
            </a:r>
          </a:p>
        </p:txBody>
      </p:sp>
      <p:sp>
        <p:nvSpPr>
          <p:cNvPr id="52" name="page-08-text-013-00">
            <a:extLst xmlns:a="http://schemas.openxmlformats.org/drawingml/2006/main">
              <a:ext uri="{FF2B5EF4-FFF2-40B4-BE49-F238E27FC236}">
                <a16:creationId xmlns:a16="http://schemas.microsoft.com/office/drawing/2014/main" id="{1C528E60-357A-44A4-B576-3E9F73E6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3623341"/>
            <a:ext cx="539246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다른 표본 수를 나눈 오류를 감사 에이전트가 찾아냈고, 동일 입력 격자 비교로 계약을 다시</a:t>
            </a:r>
          </a:p>
        </p:txBody>
      </p:sp>
      <p:sp>
        <p:nvSpPr>
          <p:cNvPr id="53" name="page-08-text-014-00">
            <a:extLst xmlns:a="http://schemas.openxmlformats.org/drawingml/2006/main">
              <a:ext uri="{FF2B5EF4-FFF2-40B4-BE49-F238E27FC236}">
                <a16:creationId xmlns:a16="http://schemas.microsoft.com/office/drawing/2014/main" id="{9928BDE8-F821-47CD-B077-C75D3D03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3888223"/>
            <a:ext cx="68196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만들었다.</a:t>
            </a:r>
          </a:p>
        </p:txBody>
      </p:sp>
      <p:sp>
        <p:nvSpPr>
          <p:cNvPr id="54" name="page-08-text-015-00">
            <a:extLst xmlns:a="http://schemas.openxmlformats.org/drawingml/2006/main">
              <a:ext uri="{FF2B5EF4-FFF2-40B4-BE49-F238E27FC236}">
                <a16:creationId xmlns:a16="http://schemas.microsoft.com/office/drawing/2014/main" id="{D6A168F4-6DF7-4BF8-9F02-B8C86BC1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4397406"/>
            <a:ext cx="2244182" cy="26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0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50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6. 기술 구조와 검증 체계</a:t>
            </a:r>
          </a:p>
        </p:txBody>
      </p:sp>
      <p:sp>
        <p:nvSpPr>
          <p:cNvPr id="55" name="page-08-text-016-00">
            <a:extLst xmlns:a="http://schemas.openxmlformats.org/drawingml/2006/main">
              <a:ext uri="{FF2B5EF4-FFF2-40B4-BE49-F238E27FC236}">
                <a16:creationId xmlns:a16="http://schemas.microsoft.com/office/drawing/2014/main" id="{D3C98ABC-6AA3-4603-ACFB-A5B3FF18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4948044"/>
            <a:ext cx="37646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계층</a:t>
            </a:r>
          </a:p>
        </p:txBody>
      </p:sp>
      <p:sp>
        <p:nvSpPr>
          <p:cNvPr id="56" name="page-08-text-016-01">
            <a:extLst xmlns:a="http://schemas.openxmlformats.org/drawingml/2006/main">
              <a:ext uri="{FF2B5EF4-FFF2-40B4-BE49-F238E27FC236}">
                <a16:creationId xmlns:a16="http://schemas.microsoft.com/office/drawing/2014/main" id="{6E3A5DCB-59AB-4295-A9CE-A91E9F03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4948044"/>
            <a:ext cx="678455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1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51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설계 의도</a:t>
            </a:r>
          </a:p>
        </p:txBody>
      </p:sp>
      <p:sp>
        <p:nvSpPr>
          <p:cNvPr id="57" name="page-08-text-017-00">
            <a:extLst xmlns:a="http://schemas.openxmlformats.org/drawingml/2006/main">
              <a:ext uri="{FF2B5EF4-FFF2-40B4-BE49-F238E27FC236}">
                <a16:creationId xmlns:a16="http://schemas.microsoft.com/office/drawing/2014/main" id="{17FD2C1A-3CE6-40C2-A0F0-DE2200FE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5258369"/>
            <a:ext cx="80956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3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데이터 기반</a:t>
            </a:r>
          </a:p>
        </p:txBody>
      </p:sp>
      <p:sp>
        <p:nvSpPr>
          <p:cNvPr id="58" name="page-08-text-018-00">
            <a:extLst xmlns:a="http://schemas.openxmlformats.org/drawingml/2006/main">
              <a:ext uri="{FF2B5EF4-FFF2-40B4-BE49-F238E27FC236}">
                <a16:creationId xmlns:a16="http://schemas.microsoft.com/office/drawing/2014/main" id="{2BA6F58E-5CBA-4D56-BFA8-151B2B91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5380329"/>
            <a:ext cx="218686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40패턴을 코드 수정 없이 검증·생성</a:t>
            </a:r>
          </a:p>
        </p:txBody>
      </p:sp>
      <p:sp>
        <p:nvSpPr>
          <p:cNvPr id="59" name="page-08-text-019-00">
            <a:extLst xmlns:a="http://schemas.openxmlformats.org/drawingml/2006/main">
              <a:ext uri="{FF2B5EF4-FFF2-40B4-BE49-F238E27FC236}">
                <a16:creationId xmlns:a16="http://schemas.microsoft.com/office/drawing/2014/main" id="{88EC7D29-A791-43F3-82F8-15264D61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5502289"/>
            <a:ext cx="97775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7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627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StageCatalog</a:t>
            </a:r>
          </a:p>
        </p:txBody>
      </p:sp>
      <p:sp>
        <p:nvSpPr>
          <p:cNvPr id="60" name="page-08-text-020-00">
            <a:extLst xmlns:a="http://schemas.openxmlformats.org/drawingml/2006/main">
              <a:ext uri="{FF2B5EF4-FFF2-40B4-BE49-F238E27FC236}">
                <a16:creationId xmlns:a16="http://schemas.microsoft.com/office/drawing/2014/main" id="{83A223AE-5FDE-4D48-BAA9-3EB96387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5845937"/>
            <a:ext cx="1378214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결정론 ShotResolver</a:t>
            </a:r>
          </a:p>
        </p:txBody>
      </p:sp>
      <p:sp>
        <p:nvSpPr>
          <p:cNvPr id="61" name="page-08-text-020-01">
            <a:extLst xmlns:a="http://schemas.openxmlformats.org/drawingml/2006/main">
              <a:ext uri="{FF2B5EF4-FFF2-40B4-BE49-F238E27FC236}">
                <a16:creationId xmlns:a16="http://schemas.microsoft.com/office/drawing/2014/main" id="{3FF9A472-253A-49BE-B667-CCD614D1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5845937"/>
            <a:ext cx="284571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리플레이와 미리보기, 테스트가 같은 판정 사용</a:t>
            </a:r>
          </a:p>
        </p:txBody>
      </p:sp>
      <p:sp>
        <p:nvSpPr>
          <p:cNvPr id="62" name="page-08-text-021-00">
            <a:extLst xmlns:a="http://schemas.openxmlformats.org/drawingml/2006/main">
              <a:ext uri="{FF2B5EF4-FFF2-40B4-BE49-F238E27FC236}">
                <a16:creationId xmlns:a16="http://schemas.microsoft.com/office/drawing/2014/main" id="{2CFF44C1-C8D3-4818-93E7-F1FF4CE3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6189586"/>
            <a:ext cx="89072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4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624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RunState v3</a:t>
            </a:r>
          </a:p>
        </p:txBody>
      </p:sp>
      <p:sp>
        <p:nvSpPr>
          <p:cNvPr id="63" name="page-08-text-021-01">
            <a:extLst xmlns:a="http://schemas.openxmlformats.org/drawingml/2006/main">
              <a:ext uri="{FF2B5EF4-FFF2-40B4-BE49-F238E27FC236}">
                <a16:creationId xmlns:a16="http://schemas.microsoft.com/office/drawing/2014/main" id="{9546F959-509E-4E87-A970-64BCAE22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6189586"/>
            <a:ext cx="245183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잔류 공·보상·힌트·열쇠를 안전하게 복구</a:t>
            </a:r>
          </a:p>
        </p:txBody>
      </p:sp>
      <p:sp>
        <p:nvSpPr>
          <p:cNvPr id="64" name="page-08-text-022-00">
            <a:extLst xmlns:a="http://schemas.openxmlformats.org/drawingml/2006/main">
              <a:ext uri="{FF2B5EF4-FFF2-40B4-BE49-F238E27FC236}">
                <a16:creationId xmlns:a16="http://schemas.microsoft.com/office/drawing/2014/main" id="{FD1891EC-6A0F-4FD8-88FA-A0CABE5D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6533234"/>
            <a:ext cx="108209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8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598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Flutter + Flame</a:t>
            </a:r>
          </a:p>
        </p:txBody>
      </p:sp>
      <p:sp>
        <p:nvSpPr>
          <p:cNvPr id="65" name="page-08-text-022-01">
            <a:extLst xmlns:a="http://schemas.openxmlformats.org/drawingml/2006/main">
              <a:ext uri="{FF2B5EF4-FFF2-40B4-BE49-F238E27FC236}">
                <a16:creationId xmlns:a16="http://schemas.microsoft.com/office/drawing/2014/main" id="{7F826C56-8DEE-47AA-A97A-B533A252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6533234"/>
            <a:ext cx="204398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9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적응형 UI와 Canvas 게임판 분리</a:t>
            </a:r>
          </a:p>
        </p:txBody>
      </p:sp>
      <p:sp>
        <p:nvSpPr>
          <p:cNvPr id="66" name="page-08-text-023-00">
            <a:extLst xmlns:a="http://schemas.openxmlformats.org/drawingml/2006/main">
              <a:ext uri="{FF2B5EF4-FFF2-40B4-BE49-F238E27FC236}">
                <a16:creationId xmlns:a16="http://schemas.microsoft.com/office/drawing/2014/main" id="{9B33D8D1-D042-4B6F-A63C-0DA6FF65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72" y="6876882"/>
            <a:ext cx="134158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0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62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Validator + Golden</a:t>
            </a:r>
          </a:p>
        </p:txBody>
      </p:sp>
      <p:sp>
        <p:nvSpPr>
          <p:cNvPr id="67" name="page-08-text-023-01">
            <a:extLst xmlns:a="http://schemas.openxmlformats.org/drawingml/2006/main">
              <a:ext uri="{FF2B5EF4-FFF2-40B4-BE49-F238E27FC236}">
                <a16:creationId xmlns:a16="http://schemas.microsoft.com/office/drawing/2014/main" id="{E454D3DE-F087-4902-BC3B-B7E93527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736" y="6876882"/>
            <a:ext cx="215041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6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구조·물리·접근성·화면을 자동 검사</a:t>
            </a:r>
          </a:p>
        </p:txBody>
      </p:sp>
      <p:sp>
        <p:nvSpPr>
          <p:cNvPr id="68" name="page-08-text-024-00">
            <a:extLst xmlns:a="http://schemas.openxmlformats.org/drawingml/2006/main">
              <a:ext uri="{FF2B5EF4-FFF2-40B4-BE49-F238E27FC236}">
                <a16:creationId xmlns:a16="http://schemas.microsoft.com/office/drawing/2014/main" id="{928DB3C6-7AFC-440B-8522-69A25A38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7354712"/>
            <a:ext cx="3126360" cy="222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675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6.1 AI가 만든 레벨을 바로 등록하지 않았다</a:t>
            </a:r>
          </a:p>
        </p:txBody>
      </p:sp>
      <p:sp>
        <p:nvSpPr>
          <p:cNvPr id="69" name="page-08-text-025-00">
            <a:extLst xmlns:a="http://schemas.openxmlformats.org/drawingml/2006/main">
              <a:ext uri="{FF2B5EF4-FFF2-40B4-BE49-F238E27FC236}">
                <a16:creationId xmlns:a16="http://schemas.microsoft.com/office/drawing/2014/main" id="{8DDBB4F3-79C5-4199-9A0C-A30842BA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7749659"/>
            <a:ext cx="539974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3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AI가 만든 패턴은 문법상 정상이어도 홀로 가는 직선이 열려 있거나, 기물이 겹치거나, 특정</a:t>
            </a:r>
          </a:p>
        </p:txBody>
      </p:sp>
      <p:sp>
        <p:nvSpPr>
          <p:cNvPr id="70" name="page-08-text-026-00">
            <a:extLst xmlns:a="http://schemas.openxmlformats.org/drawingml/2006/main">
              <a:ext uri="{FF2B5EF4-FFF2-40B4-BE49-F238E27FC236}">
                <a16:creationId xmlns:a16="http://schemas.microsoft.com/office/drawing/2014/main" id="{B7E9AAB7-A84A-483A-AD54-B4444C8E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8014541"/>
            <a:ext cx="552987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5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입력에서 무한 반사가 날 수 있다. 그래서 생성과 등록 사이에 StagePatternValidator를 두었다.</a:t>
            </a:r>
          </a:p>
        </p:txBody>
      </p:sp>
      <p:sp>
        <p:nvSpPr>
          <p:cNvPr id="71" name="page-08-text-027-00">
            <a:extLst xmlns:a="http://schemas.openxmlformats.org/drawingml/2006/main">
              <a:ext uri="{FF2B5EF4-FFF2-40B4-BE49-F238E27FC236}">
                <a16:creationId xmlns:a16="http://schemas.microsoft.com/office/drawing/2014/main" id="{0F458575-C09B-4171-B8A2-E98DA886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382" y="10058009"/>
            <a:ext cx="176160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1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41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· Portfolio · Page 8</a:t>
            </a:r>
          </a:p>
        </p:txBody>
      </p:sp>
    </p:spTree>
    <p:extLst>
      <p:ext uri="{BB962C8B-B14F-4D97-AF65-F5344CB8AC3E}">
        <p14:creationId xmlns:p14="http://schemas.microsoft.com/office/powerpoint/2010/main" val="20535585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page-09-rect-000">
            <a:extLst xmlns:a="http://schemas.openxmlformats.org/drawingml/2006/main">
              <a:ext uri="{FF2B5EF4-FFF2-40B4-BE49-F238E27FC236}">
                <a16:creationId xmlns:a16="http://schemas.microsoft.com/office/drawing/2014/main" id="{C985EF74-4744-44E1-AB54-3BC3A431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915238"/>
            <a:ext cx="5734033" cy="446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-09-rect-001">
            <a:extLst xmlns:a="http://schemas.openxmlformats.org/drawingml/2006/main">
              <a:ext uri="{FF2B5EF4-FFF2-40B4-BE49-F238E27FC236}">
                <a16:creationId xmlns:a16="http://schemas.microsoft.com/office/drawing/2014/main" id="{A330B1E2-1638-4571-9AB4-E08A7656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1578396"/>
            <a:ext cx="5734033" cy="5100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09-rect-002">
            <a:extLst xmlns:a="http://schemas.openxmlformats.org/drawingml/2006/main">
              <a:ext uri="{FF2B5EF4-FFF2-40B4-BE49-F238E27FC236}">
                <a16:creationId xmlns:a16="http://schemas.microsoft.com/office/drawing/2014/main" id="{5637FEDB-8F56-42DB-A811-3F21279D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2303805"/>
            <a:ext cx="5734033" cy="5100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9-rect-003">
            <a:extLst xmlns:a="http://schemas.openxmlformats.org/drawingml/2006/main">
              <a:ext uri="{FF2B5EF4-FFF2-40B4-BE49-F238E27FC236}">
                <a16:creationId xmlns:a16="http://schemas.microsoft.com/office/drawing/2014/main" id="{9D2AB61B-963E-401E-BDCB-4D7DD0A3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3030484"/>
            <a:ext cx="5734033" cy="5100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09-rect-004">
            <a:extLst xmlns:a="http://schemas.openxmlformats.org/drawingml/2006/main">
              <a:ext uri="{FF2B5EF4-FFF2-40B4-BE49-F238E27FC236}">
                <a16:creationId xmlns:a16="http://schemas.microsoft.com/office/drawing/2014/main" id="{46442C9A-2C3F-4962-82F6-D94D04C2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3755893"/>
            <a:ext cx="5734033" cy="5100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09-rect-005">
            <a:extLst xmlns:a="http://schemas.openxmlformats.org/drawingml/2006/main">
              <a:ext uri="{FF2B5EF4-FFF2-40B4-BE49-F238E27FC236}">
                <a16:creationId xmlns:a16="http://schemas.microsoft.com/office/drawing/2014/main" id="{8A9B84D9-E7DE-4F11-9E78-B09DEAEE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4482572"/>
            <a:ext cx="5734033" cy="5100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ge-09-rect-006">
            <a:extLst xmlns:a="http://schemas.openxmlformats.org/drawingml/2006/main">
              <a:ext uri="{FF2B5EF4-FFF2-40B4-BE49-F238E27FC236}">
                <a16:creationId xmlns:a16="http://schemas.microsoft.com/office/drawing/2014/main" id="{00793A73-81A9-414D-BADD-DB0AB7C2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915238"/>
            <a:ext cx="5734033" cy="446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ge-09-rect-007">
            <a:extLst xmlns:a="http://schemas.openxmlformats.org/drawingml/2006/main">
              <a:ext uri="{FF2B5EF4-FFF2-40B4-BE49-F238E27FC236}">
                <a16:creationId xmlns:a16="http://schemas.microsoft.com/office/drawing/2014/main" id="{F4695D4C-D779-4DCF-AAD4-D3C43D18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1578396"/>
            <a:ext cx="5734033" cy="5100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ge-09-rect-008">
            <a:extLst xmlns:a="http://schemas.openxmlformats.org/drawingml/2006/main">
              <a:ext uri="{FF2B5EF4-FFF2-40B4-BE49-F238E27FC236}">
                <a16:creationId xmlns:a16="http://schemas.microsoft.com/office/drawing/2014/main" id="{E3BE5DF4-7BFD-4322-B8B5-CB90A0B3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2303805"/>
            <a:ext cx="5734033" cy="5100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ge-09-rect-009">
            <a:extLst xmlns:a="http://schemas.openxmlformats.org/drawingml/2006/main">
              <a:ext uri="{FF2B5EF4-FFF2-40B4-BE49-F238E27FC236}">
                <a16:creationId xmlns:a16="http://schemas.microsoft.com/office/drawing/2014/main" id="{BD3DD514-AB20-4EBD-A80B-A937E30B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3030484"/>
            <a:ext cx="5734033" cy="5100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09-rect-010">
            <a:extLst xmlns:a="http://schemas.openxmlformats.org/drawingml/2006/main">
              <a:ext uri="{FF2B5EF4-FFF2-40B4-BE49-F238E27FC236}">
                <a16:creationId xmlns:a16="http://schemas.microsoft.com/office/drawing/2014/main" id="{45D9AC91-54BC-4305-8548-88607BBA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3755893"/>
            <a:ext cx="5734033" cy="5100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09-rect-011">
            <a:extLst xmlns:a="http://schemas.openxmlformats.org/drawingml/2006/main">
              <a:ext uri="{FF2B5EF4-FFF2-40B4-BE49-F238E27FC236}">
                <a16:creationId xmlns:a16="http://schemas.microsoft.com/office/drawing/2014/main" id="{F7B6205A-258C-465E-A516-5A38FBAC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4482572"/>
            <a:ext cx="5734033" cy="5100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ge-09-line-000">
            <a:extLst xmlns:a="http://schemas.openxmlformats.org/drawingml/2006/main">
              <a:ext uri="{FF2B5EF4-FFF2-40B4-BE49-F238E27FC236}">
                <a16:creationId xmlns:a16="http://schemas.microsoft.com/office/drawing/2014/main" id="{D40C89D2-BFF7-4D31-91DA-982B4D65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14" name="page-09-line-001">
            <a:extLst xmlns:a="http://schemas.openxmlformats.org/drawingml/2006/main">
              <a:ext uri="{FF2B5EF4-FFF2-40B4-BE49-F238E27FC236}">
                <a16:creationId xmlns:a16="http://schemas.microsoft.com/office/drawing/2014/main" id="{8D0F6F79-AF90-4C0A-83B2-66372C4D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15" name="page-09-text-000-00">
            <a:extLst xmlns:a="http://schemas.openxmlformats.org/drawingml/2006/main">
              <a:ext uri="{FF2B5EF4-FFF2-40B4-BE49-F238E27FC236}">
                <a16:creationId xmlns:a16="http://schemas.microsoft.com/office/drawing/2014/main" id="{DA169F34-6B75-4EF5-A919-70BE3C95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602" y="468104"/>
            <a:ext cx="1381873" cy="1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Portfolio</a:t>
            </a:r>
          </a:p>
        </p:txBody>
      </p:sp>
      <p:sp>
        <p:nvSpPr>
          <p:cNvPr id="16" name="page-09-text-001-00">
            <a:extLst xmlns:a="http://schemas.openxmlformats.org/drawingml/2006/main">
              <a:ext uri="{FF2B5EF4-FFF2-40B4-BE49-F238E27FC236}">
                <a16:creationId xmlns:a16="http://schemas.microsoft.com/office/drawing/2014/main" id="{41824471-2E4A-4867-A72E-3E31BFDD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886" y="931953"/>
            <a:ext cx="628470" cy="17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3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603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1 새 패턴</a:t>
            </a:r>
          </a:p>
        </p:txBody>
      </p:sp>
      <p:sp>
        <p:nvSpPr>
          <p:cNvPr id="17" name="page-09-text-002-00">
            <a:extLst xmlns:a="http://schemas.openxmlformats.org/drawingml/2006/main">
              <a:ext uri="{FF2B5EF4-FFF2-40B4-BE49-F238E27FC236}">
                <a16:creationId xmlns:a16="http://schemas.microsoft.com/office/drawing/2014/main" id="{1751BF9D-451F-488A-9BF2-E5A521A5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450" y="1119118"/>
            <a:ext cx="1149818" cy="15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2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32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Stage data · Hint · Key</a:t>
            </a:r>
          </a:p>
        </p:txBody>
      </p:sp>
      <p:sp>
        <p:nvSpPr>
          <p:cNvPr id="18" name="page-09-text-003-00">
            <a:extLst xmlns:a="http://schemas.openxmlformats.org/drawingml/2006/main">
              <a:ext uri="{FF2B5EF4-FFF2-40B4-BE49-F238E27FC236}">
                <a16:creationId xmlns:a16="http://schemas.microsoft.com/office/drawing/2014/main" id="{9EA335C2-9253-433F-B3DD-2F2B644F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750" y="1382615"/>
            <a:ext cx="22860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6" b="1" i="0">
                <a:solidFill>
                  <a:srgbClr val="7A5A00"/>
                </a:solidFill>
                <a:latin typeface="Aptos"/>
                <a:ea typeface="Aptos"/>
                <a:cs typeface="Aptos"/>
              </a:defRPr>
            </a:pPr>
            <a:r>
              <a:rPr sz="1056" b="1" i="0">
                <a:solidFill>
                  <a:srgbClr val="7A5A00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9" name="page-09-text-004-00">
            <a:extLst xmlns:a="http://schemas.openxmlformats.org/drawingml/2006/main">
              <a:ext uri="{FF2B5EF4-FFF2-40B4-BE49-F238E27FC236}">
                <a16:creationId xmlns:a16="http://schemas.microsoft.com/office/drawing/2014/main" id="{87F419A8-8B7D-4AFC-8FF6-F4C53563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352" y="1657997"/>
            <a:ext cx="742039" cy="17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3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583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2 정적 검사</a:t>
            </a:r>
          </a:p>
        </p:txBody>
      </p:sp>
      <p:sp>
        <p:nvSpPr>
          <p:cNvPr id="20" name="page-09-text-005-00">
            <a:extLst xmlns:a="http://schemas.openxmlformats.org/drawingml/2006/main">
              <a:ext uri="{FF2B5EF4-FFF2-40B4-BE49-F238E27FC236}">
                <a16:creationId xmlns:a16="http://schemas.microsoft.com/office/drawing/2014/main" id="{464B4028-35E5-430C-8C24-9CE5DEFB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9243" y="1845162"/>
            <a:ext cx="1922283" cy="15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3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13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겹침 · 필드 이탈 · ID/연결 · Hint/Key 참조</a:t>
            </a:r>
          </a:p>
        </p:txBody>
      </p:sp>
      <p:sp>
        <p:nvSpPr>
          <p:cNvPr id="21" name="page-09-text-006-00">
            <a:extLst xmlns:a="http://schemas.openxmlformats.org/drawingml/2006/main">
              <a:ext uri="{FF2B5EF4-FFF2-40B4-BE49-F238E27FC236}">
                <a16:creationId xmlns:a16="http://schemas.microsoft.com/office/drawing/2014/main" id="{372C2BE1-84D2-4563-A8DF-A5656AF0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750" y="2108659"/>
            <a:ext cx="22860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6" b="1" i="0">
                <a:solidFill>
                  <a:srgbClr val="7A5A00"/>
                </a:solidFill>
                <a:latin typeface="Aptos"/>
                <a:ea typeface="Aptos"/>
                <a:cs typeface="Aptos"/>
              </a:defRPr>
            </a:pPr>
            <a:r>
              <a:rPr sz="1056" b="1" i="0">
                <a:solidFill>
                  <a:srgbClr val="7A5A00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2" name="page-09-text-007-00">
            <a:extLst xmlns:a="http://schemas.openxmlformats.org/drawingml/2006/main">
              <a:ext uri="{FF2B5EF4-FFF2-40B4-BE49-F238E27FC236}">
                <a16:creationId xmlns:a16="http://schemas.microsoft.com/office/drawing/2014/main" id="{D5EE1CF7-C6B8-4714-86BE-94803960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352" y="2384041"/>
            <a:ext cx="742039" cy="17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3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583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3 물리 탐색</a:t>
            </a:r>
          </a:p>
        </p:txBody>
      </p:sp>
      <p:sp>
        <p:nvSpPr>
          <p:cNvPr id="23" name="page-09-text-008-00">
            <a:extLst xmlns:a="http://schemas.openxmlformats.org/drawingml/2006/main">
              <a:ext uri="{FF2B5EF4-FFF2-40B4-BE49-F238E27FC236}">
                <a16:creationId xmlns:a16="http://schemas.microsoft.com/office/drawing/2014/main" id="{8B78A6EC-D90C-4F3C-B759-0BA2DD4C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557" y="2571206"/>
            <a:ext cx="2567427" cy="15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9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19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홀 접근 · 직선 클리어 · 기믹 경로 · 관통/터널링/무한 반사</a:t>
            </a:r>
          </a:p>
        </p:txBody>
      </p:sp>
      <p:sp>
        <p:nvSpPr>
          <p:cNvPr id="24" name="page-09-text-009-00">
            <a:extLst xmlns:a="http://schemas.openxmlformats.org/drawingml/2006/main">
              <a:ext uri="{FF2B5EF4-FFF2-40B4-BE49-F238E27FC236}">
                <a16:creationId xmlns:a16="http://schemas.microsoft.com/office/drawing/2014/main" id="{D699C85D-E14C-498C-8751-30CE7433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750" y="2834703"/>
            <a:ext cx="22860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6" b="1" i="0">
                <a:solidFill>
                  <a:srgbClr val="7A5A00"/>
                </a:solidFill>
                <a:latin typeface="Aptos"/>
                <a:ea typeface="Aptos"/>
                <a:cs typeface="Aptos"/>
              </a:defRPr>
            </a:pPr>
            <a:r>
              <a:rPr sz="1056" b="1" i="0">
                <a:solidFill>
                  <a:srgbClr val="7A5A00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5" name="page-09-text-010-00">
            <a:extLst xmlns:a="http://schemas.openxmlformats.org/drawingml/2006/main">
              <a:ext uri="{FF2B5EF4-FFF2-40B4-BE49-F238E27FC236}">
                <a16:creationId xmlns:a16="http://schemas.microsoft.com/office/drawing/2014/main" id="{6F1A2158-CBA1-4EFA-B272-DFCAED68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818" y="3110085"/>
            <a:ext cx="855608" cy="17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9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569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4 결정론 반복</a:t>
            </a:r>
          </a:p>
        </p:txBody>
      </p:sp>
      <p:sp>
        <p:nvSpPr>
          <p:cNvPr id="26" name="page-09-text-011-00">
            <a:extLst xmlns:a="http://schemas.openxmlformats.org/drawingml/2006/main">
              <a:ext uri="{FF2B5EF4-FFF2-40B4-BE49-F238E27FC236}">
                <a16:creationId xmlns:a16="http://schemas.microsoft.com/office/drawing/2014/main" id="{96470107-5860-49A0-A720-75DE967A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782" y="3297250"/>
            <a:ext cx="2413147" cy="15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1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31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같은 입력의 결과와 오류 코드가 반복 실행에서도 동일</a:t>
            </a:r>
          </a:p>
        </p:txBody>
      </p:sp>
      <p:sp>
        <p:nvSpPr>
          <p:cNvPr id="27" name="page-09-text-012-00">
            <a:extLst xmlns:a="http://schemas.openxmlformats.org/drawingml/2006/main">
              <a:ext uri="{FF2B5EF4-FFF2-40B4-BE49-F238E27FC236}">
                <a16:creationId xmlns:a16="http://schemas.microsoft.com/office/drawing/2014/main" id="{EBF58E11-1191-4E4B-A713-426F912A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750" y="3560747"/>
            <a:ext cx="22860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6" b="1" i="0">
                <a:solidFill>
                  <a:srgbClr val="7A5A00"/>
                </a:solidFill>
                <a:latin typeface="Aptos"/>
                <a:ea typeface="Aptos"/>
                <a:cs typeface="Aptos"/>
              </a:defRPr>
            </a:pPr>
            <a:r>
              <a:rPr sz="1056" b="1" i="0">
                <a:solidFill>
                  <a:srgbClr val="7A5A00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8" name="page-09-text-013-00">
            <a:extLst xmlns:a="http://schemas.openxmlformats.org/drawingml/2006/main">
              <a:ext uri="{FF2B5EF4-FFF2-40B4-BE49-F238E27FC236}">
                <a16:creationId xmlns:a16="http://schemas.microsoft.com/office/drawing/2014/main" id="{2506EE93-E390-4319-B7A5-F65C67A4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477" y="3836129"/>
            <a:ext cx="1380545" cy="17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9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489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5 Invalid fixture 역검증</a:t>
            </a:r>
          </a:p>
        </p:txBody>
      </p:sp>
      <p:sp>
        <p:nvSpPr>
          <p:cNvPr id="29" name="page-09-text-014-00">
            <a:extLst xmlns:a="http://schemas.openxmlformats.org/drawingml/2006/main">
              <a:ext uri="{FF2B5EF4-FFF2-40B4-BE49-F238E27FC236}">
                <a16:creationId xmlns:a16="http://schemas.microsoft.com/office/drawing/2014/main" id="{24876851-BAAE-4C83-A4DC-53691D32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589" y="4023294"/>
            <a:ext cx="2002751" cy="15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4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34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일부러 잘못 만든 패턴을 실제로 잡는지 확인</a:t>
            </a:r>
          </a:p>
        </p:txBody>
      </p:sp>
      <p:sp>
        <p:nvSpPr>
          <p:cNvPr id="30" name="page-09-text-015-00">
            <a:extLst xmlns:a="http://schemas.openxmlformats.org/drawingml/2006/main">
              <a:ext uri="{FF2B5EF4-FFF2-40B4-BE49-F238E27FC236}">
                <a16:creationId xmlns:a16="http://schemas.microsoft.com/office/drawing/2014/main" id="{2F458B3B-1E0A-4CAC-9CC7-826E869D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0750" y="4286791"/>
            <a:ext cx="22860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6" b="1" i="0">
                <a:solidFill>
                  <a:srgbClr val="7A5A00"/>
                </a:solidFill>
                <a:latin typeface="Aptos"/>
                <a:ea typeface="Aptos"/>
                <a:cs typeface="Aptos"/>
              </a:defRPr>
            </a:pPr>
            <a:r>
              <a:rPr sz="1056" b="1" i="0">
                <a:solidFill>
                  <a:srgbClr val="7A5A00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31" name="page-09-text-016-00">
            <a:extLst xmlns:a="http://schemas.openxmlformats.org/drawingml/2006/main">
              <a:ext uri="{FF2B5EF4-FFF2-40B4-BE49-F238E27FC236}">
                <a16:creationId xmlns:a16="http://schemas.microsoft.com/office/drawing/2014/main" id="{902B3344-E19B-4255-8C15-A97E12B0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960" y="4562173"/>
            <a:ext cx="1211325" cy="17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5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defRPr>
            </a:pPr>
            <a:r>
              <a:rPr sz="565" b="1" i="0">
                <a:solidFill>
                  <a:srgbClr val="0B2545"/>
                </a:solidFill>
                <a:latin typeface="Nanum Gothic"/>
                <a:ea typeface="Nanum Gothic"/>
                <a:cs typeface="Nanum Gothic"/>
              </a:rPr>
              <a:t>6 PASS → 게임 등록</a:t>
            </a:r>
          </a:p>
        </p:txBody>
      </p:sp>
      <p:sp>
        <p:nvSpPr>
          <p:cNvPr id="32" name="page-09-text-017-00">
            <a:extLst xmlns:a="http://schemas.openxmlformats.org/drawingml/2006/main">
              <a:ext uri="{FF2B5EF4-FFF2-40B4-BE49-F238E27FC236}">
                <a16:creationId xmlns:a16="http://schemas.microsoft.com/office/drawing/2014/main" id="{65003E25-1905-45C2-9F0A-5E6FFB3E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2564" y="4749338"/>
            <a:ext cx="1974396" cy="15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4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34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검증을 통과한 패턴만 생성 카탈로그에 반영</a:t>
            </a:r>
          </a:p>
        </p:txBody>
      </p:sp>
      <p:sp>
        <p:nvSpPr>
          <p:cNvPr id="33" name="page-09-text-018-00">
            <a:extLst xmlns:a="http://schemas.openxmlformats.org/drawingml/2006/main">
              <a:ext uri="{FF2B5EF4-FFF2-40B4-BE49-F238E27FC236}">
                <a16:creationId xmlns:a16="http://schemas.microsoft.com/office/drawing/2014/main" id="{801C03F9-725B-4A8C-8719-CC62984C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097" y="5069718"/>
            <a:ext cx="3262720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" b="1" i="0">
                <a:solidFill>
                  <a:srgbClr val="C65240"/>
                </a:solidFill>
                <a:latin typeface="Nanum Gothic"/>
                <a:ea typeface="Nanum Gothic"/>
                <a:cs typeface="Nanum Gothic"/>
              </a:defRPr>
            </a:pPr>
            <a:r>
              <a:rPr sz="450" b="1" i="0">
                <a:solidFill>
                  <a:srgbClr val="C65240"/>
                </a:solidFill>
                <a:latin typeface="Nanum Gothic"/>
                <a:ea typeface="Nanum Gothic"/>
                <a:cs typeface="Nanum Gothic"/>
              </a:rPr>
              <a:t>검증기가 있다고 믿지 않고, 검증기가 오류를 잡는지도 다시 검증했다.</a:t>
            </a:r>
          </a:p>
        </p:txBody>
      </p:sp>
      <p:sp>
        <p:nvSpPr>
          <p:cNvPr id="34" name="page-09-text-019-00">
            <a:extLst xmlns:a="http://schemas.openxmlformats.org/drawingml/2006/main">
              <a:ext uri="{FF2B5EF4-FFF2-40B4-BE49-F238E27FC236}">
                <a16:creationId xmlns:a16="http://schemas.microsoft.com/office/drawing/2014/main" id="{8AAF1912-3DC6-4B47-BE70-8B10F386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5375883"/>
            <a:ext cx="522370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정적 구조와 실제 물리를 통과한 뒤에도 같은 입력의 결과가 반복 실행에서 같아야 한다.</a:t>
            </a:r>
          </a:p>
        </p:txBody>
      </p:sp>
      <p:sp>
        <p:nvSpPr>
          <p:cNvPr id="35" name="page-09-text-020-00">
            <a:extLst xmlns:a="http://schemas.openxmlformats.org/drawingml/2006/main">
              <a:ext uri="{FF2B5EF4-FFF2-40B4-BE49-F238E27FC236}">
                <a16:creationId xmlns:a16="http://schemas.microsoft.com/office/drawing/2014/main" id="{99C7723E-0C5B-4430-875B-6566C708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5640765"/>
            <a:ext cx="5569819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마지막으로 겹침·잘못된 참조·홀 관통·무한 반사를 일부러 넣은 invalid fixture를 사용해, 검증</a:t>
            </a:r>
          </a:p>
        </p:txBody>
      </p:sp>
      <p:sp>
        <p:nvSpPr>
          <p:cNvPr id="36" name="page-09-text-021-00">
            <a:extLst xmlns:a="http://schemas.openxmlformats.org/drawingml/2006/main">
              <a:ext uri="{FF2B5EF4-FFF2-40B4-BE49-F238E27FC236}">
                <a16:creationId xmlns:a16="http://schemas.microsoft.com/office/drawing/2014/main" id="{14603789-7558-4995-B42E-7E22674E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5904669"/>
            <a:ext cx="5658863" cy="197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도구가 오류를 실제로 잡는지도 확인했다. 이 구조는 AI가 만든 결과를 자동 채택하지 않고 검증</a:t>
            </a:r>
          </a:p>
        </p:txBody>
      </p:sp>
      <p:sp>
        <p:nvSpPr>
          <p:cNvPr id="37" name="page-09-text-022-00">
            <a:extLst xmlns:a="http://schemas.openxmlformats.org/drawingml/2006/main">
              <a:ext uri="{FF2B5EF4-FFF2-40B4-BE49-F238E27FC236}">
                <a16:creationId xmlns:a16="http://schemas.microsoft.com/office/drawing/2014/main" id="{FA58DBCE-CAB5-45E4-BA81-CE5FF4B5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169551"/>
            <a:ext cx="3450838" cy="197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4" b="1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4" b="1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가능한 후보로 다룬다는 제작 원칙을 코드로 만든 사례다.</a:t>
            </a:r>
          </a:p>
        </p:txBody>
      </p:sp>
      <p:sp>
        <p:nvSpPr>
          <p:cNvPr id="38" name="page-09-text-023-00">
            <a:extLst xmlns:a="http://schemas.openxmlformats.org/drawingml/2006/main">
              <a:ext uri="{FF2B5EF4-FFF2-40B4-BE49-F238E27FC236}">
                <a16:creationId xmlns:a16="http://schemas.microsoft.com/office/drawing/2014/main" id="{DE54CA99-9AC9-443F-AEFA-B438BCDC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679713"/>
            <a:ext cx="1805532" cy="26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3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53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7. 결과와 품질 증거</a:t>
            </a:r>
          </a:p>
        </p:txBody>
      </p:sp>
      <p:sp>
        <p:nvSpPr>
          <p:cNvPr id="39" name="page-09-text-024-00">
            <a:extLst xmlns:a="http://schemas.openxmlformats.org/drawingml/2006/main">
              <a:ext uri="{FF2B5EF4-FFF2-40B4-BE49-F238E27FC236}">
                <a16:creationId xmlns:a16="http://schemas.microsoft.com/office/drawing/2014/main" id="{CEEC213B-16F6-407A-AB9F-B4F291917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18" y="7176701"/>
            <a:ext cx="513096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4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• 10단계·40패턴 모두 플레이 가능하며 각 단계에서 기믹 사용이 우회보다 유리하다.</a:t>
            </a:r>
          </a:p>
        </p:txBody>
      </p:sp>
      <p:sp>
        <p:nvSpPr>
          <p:cNvPr id="40" name="page-09-text-025-00">
            <a:extLst xmlns:a="http://schemas.openxmlformats.org/drawingml/2006/main">
              <a:ext uri="{FF2B5EF4-FFF2-40B4-BE49-F238E27FC236}">
                <a16:creationId xmlns:a16="http://schemas.microsoft.com/office/drawing/2014/main" id="{5DADA70E-FF98-424D-8DCA-8E4A4E72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18" y="7492399"/>
            <a:ext cx="497025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• 320×568 모바일부터 태블릿까지 보드·보상·게이지·SafeArea 화면을 검증했다.</a:t>
            </a:r>
          </a:p>
        </p:txBody>
      </p:sp>
      <p:sp>
        <p:nvSpPr>
          <p:cNvPr id="41" name="page-09-text-026-00">
            <a:extLst xmlns:a="http://schemas.openxmlformats.org/drawingml/2006/main">
              <a:ext uri="{FF2B5EF4-FFF2-40B4-BE49-F238E27FC236}">
                <a16:creationId xmlns:a16="http://schemas.microsoft.com/office/drawing/2014/main" id="{278150CB-EB72-40EF-8E76-46C7C3F7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18" y="7808098"/>
            <a:ext cx="435982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• 난이도 변경·앱 재개·크래시 복구에서도 보통 기록이 오염되지 않는다.</a:t>
            </a:r>
          </a:p>
        </p:txBody>
      </p:sp>
      <p:sp>
        <p:nvSpPr>
          <p:cNvPr id="42" name="page-09-text-027-00">
            <a:extLst xmlns:a="http://schemas.openxmlformats.org/drawingml/2006/main">
              <a:ext uri="{FF2B5EF4-FFF2-40B4-BE49-F238E27FC236}">
                <a16:creationId xmlns:a16="http://schemas.microsoft.com/office/drawing/2014/main" id="{9D381572-902C-4F7B-BB05-3D9BFD38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18" y="8123797"/>
            <a:ext cx="341526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1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• Web 공개 빌드와 Android release 빌드를 생성했다.</a:t>
            </a:r>
          </a:p>
        </p:txBody>
      </p:sp>
      <p:sp>
        <p:nvSpPr>
          <p:cNvPr id="43" name="page-09-text-028-00">
            <a:extLst xmlns:a="http://schemas.openxmlformats.org/drawingml/2006/main">
              <a:ext uri="{FF2B5EF4-FFF2-40B4-BE49-F238E27FC236}">
                <a16:creationId xmlns:a16="http://schemas.microsoft.com/office/drawing/2014/main" id="{B0605129-2873-4FBC-8BB9-0EFA4376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382" y="10058009"/>
            <a:ext cx="176160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1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41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· Portfolio · Page 9</a:t>
            </a:r>
          </a:p>
        </p:txBody>
      </p:sp>
    </p:spTree>
    <p:extLst>
      <p:ext uri="{BB962C8B-B14F-4D97-AF65-F5344CB8AC3E}">
        <p14:creationId xmlns:p14="http://schemas.microsoft.com/office/powerpoint/2010/main" val="15869967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age-10-line-000">
            <a:extLst xmlns:a="http://schemas.openxmlformats.org/drawingml/2006/main">
              <a:ext uri="{FF2B5EF4-FFF2-40B4-BE49-F238E27FC236}">
                <a16:creationId xmlns:a16="http://schemas.microsoft.com/office/drawing/2014/main" id="{DABC2B7A-A1D2-4C01-9C01-A52BE655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sp>
        <p:nvSpPr>
          <p:cNvPr id="2" name="page-10-line-001">
            <a:extLst xmlns:a="http://schemas.openxmlformats.org/drawingml/2006/main">
              <a:ext uri="{FF2B5EF4-FFF2-40B4-BE49-F238E27FC236}">
                <a16:creationId xmlns:a16="http://schemas.microsoft.com/office/drawing/2014/main" id="{729FF5BE-795D-4CDF-B1D9-B3EE21F3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01" y="678940"/>
            <a:ext cx="5732762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8">
            <a:solidFill>
              <a:srgbClr val="D7DBE2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532daee004f40"/>
          <a:srcRect xmlns:a="http://schemas.openxmlformats.org/drawingml/2006/main" l="64" t="0" r="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06626" y="914593"/>
            <a:ext cx="2149548" cy="3815701"/>
          </a:xfrm>
          <a:prstGeom xmlns:a="http://schemas.openxmlformats.org/drawingml/2006/main" prst="rect">
            <a:avLst/>
          </a:prstGeom>
        </p:spPr>
      </p:pic>
      <p:sp>
        <p:nvSpPr>
          <p:cNvPr id="4" name="page-10-text-000-00">
            <a:extLst xmlns:a="http://schemas.openxmlformats.org/drawingml/2006/main">
              <a:ext uri="{FF2B5EF4-FFF2-40B4-BE49-F238E27FC236}">
                <a16:creationId xmlns:a16="http://schemas.microsoft.com/office/drawing/2014/main" id="{A560E7B6-5A82-41D7-A6C1-A312231F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602" y="468104"/>
            <a:ext cx="1381873" cy="1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0" b="0" i="0">
                <a:solidFill>
                  <a:srgbClr val="586270"/>
                </a:solidFill>
                <a:latin typeface="Aptos"/>
                <a:ea typeface="Aptos"/>
                <a:cs typeface="Aptos"/>
              </a:defRPr>
            </a:pPr>
            <a:r>
              <a:rPr sz="460" b="0" i="0">
                <a:solidFill>
                  <a:srgbClr val="586270"/>
                </a:solidFill>
                <a:latin typeface="Aptos"/>
                <a:ea typeface="Aptos"/>
                <a:cs typeface="Aptos"/>
              </a:rPr>
              <a:t>Property Shot · Portfolio</a:t>
            </a:r>
          </a:p>
        </p:txBody>
      </p:sp>
      <p:sp>
        <p:nvSpPr>
          <p:cNvPr id="5" name="page-10-text-001-00">
            <a:extLst xmlns:a="http://schemas.openxmlformats.org/drawingml/2006/main">
              <a:ext uri="{FF2B5EF4-FFF2-40B4-BE49-F238E27FC236}">
                <a16:creationId xmlns:a16="http://schemas.microsoft.com/office/drawing/2014/main" id="{C6B5ABDF-2FE2-4256-8E62-E3D6FE9D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0513" y="4825919"/>
            <a:ext cx="1218776" cy="1651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74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defRPr>
            </a:pPr>
            <a:r>
              <a:rPr sz="474" b="0" i="0">
                <a:solidFill>
                  <a:srgbClr val="586270"/>
                </a:solidFill>
                <a:latin typeface="Nanum Gothic"/>
                <a:ea typeface="Nanum Gothic"/>
                <a:cs typeface="Nanum Gothic"/>
              </a:rPr>
              <a:t>모바일 클리어 보상 화면</a:t>
            </a:r>
          </a:p>
        </p:txBody>
      </p:sp>
      <p:sp>
        <p:nvSpPr>
          <p:cNvPr id="6" name="page-10-text-002-00">
            <a:extLst xmlns:a="http://schemas.openxmlformats.org/drawingml/2006/main">
              <a:ext uri="{FF2B5EF4-FFF2-40B4-BE49-F238E27FC236}">
                <a16:creationId xmlns:a16="http://schemas.microsoft.com/office/drawing/2014/main" id="{892AA4D5-CF6A-46C8-8215-529E3942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5281618"/>
            <a:ext cx="1614257" cy="2604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defRPr>
            </a:pPr>
            <a:r>
              <a:rPr sz="855" b="0" i="0">
                <a:solidFill>
                  <a:srgbClr val="2E74B5"/>
                </a:solidFill>
                <a:latin typeface="Nanum Gothic"/>
                <a:ea typeface="Nanum Gothic"/>
                <a:cs typeface="Nanum Gothic"/>
              </a:rPr>
              <a:t>8. 내가 만든 가치</a:t>
            </a:r>
          </a:p>
        </p:txBody>
      </p:sp>
      <p:sp>
        <p:nvSpPr>
          <p:cNvPr id="7" name="page-10-text-003-00">
            <a:extLst xmlns:a="http://schemas.openxmlformats.org/drawingml/2006/main">
              <a:ext uri="{FF2B5EF4-FFF2-40B4-BE49-F238E27FC236}">
                <a16:creationId xmlns:a16="http://schemas.microsoft.com/office/drawing/2014/main" id="{B2AD5D93-1A90-47F1-816E-F2F67ED1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5777627"/>
            <a:ext cx="5662598" cy="197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1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내가 만든 가장 큰 가치는 AI를 활용해 게임을 기획하는 방법이다. 아이디어 생성을 AI에 맡기는</a:t>
            </a:r>
          </a:p>
        </p:txBody>
      </p:sp>
      <p:sp>
        <p:nvSpPr>
          <p:cNvPr id="8" name="page-10-text-004-00">
            <a:extLst xmlns:a="http://schemas.openxmlformats.org/drawingml/2006/main">
              <a:ext uri="{FF2B5EF4-FFF2-40B4-BE49-F238E27FC236}">
                <a16:creationId xmlns:a16="http://schemas.microsoft.com/office/drawing/2014/main" id="{4774599A-BBDF-4D2C-8FF6-FD2A844D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043487"/>
            <a:ext cx="5483583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0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데서 멈추지 않고, 플레이어 문제를 발견하고 대안을 비교하며 기획 결정을 실제 규칙과 검증</a:t>
            </a:r>
          </a:p>
        </p:txBody>
      </p:sp>
      <p:sp>
        <p:nvSpPr>
          <p:cNvPr id="9" name="page-10-text-005-00">
            <a:extLst xmlns:a="http://schemas.openxmlformats.org/drawingml/2006/main">
              <a:ext uri="{FF2B5EF4-FFF2-40B4-BE49-F238E27FC236}">
                <a16:creationId xmlns:a16="http://schemas.microsoft.com/office/drawing/2014/main" id="{04577828-BE93-4312-AB03-EDB309DF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447" y="6308370"/>
            <a:ext cx="1246662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0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기준으로 연결했다.</a:t>
            </a:r>
          </a:p>
        </p:txBody>
      </p:sp>
      <p:sp>
        <p:nvSpPr>
          <p:cNvPr id="10" name="page-10-text-006-00">
            <a:extLst xmlns:a="http://schemas.openxmlformats.org/drawingml/2006/main">
              <a:ext uri="{FF2B5EF4-FFF2-40B4-BE49-F238E27FC236}">
                <a16:creationId xmlns:a16="http://schemas.microsoft.com/office/drawing/2014/main" id="{4B8E089E-66DF-4C9B-AB5C-F1C0E8FA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18" y="6649477"/>
            <a:ext cx="523446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1. ‘속성을 옮기고 실패한 공을 다시 쓴다’는 아이디어를 반복 가능한 핵심 플레이 루프로</a:t>
            </a:r>
          </a:p>
        </p:txBody>
      </p:sp>
      <p:sp>
        <p:nvSpPr>
          <p:cNvPr id="11" name="page-10-text-007-00">
            <a:extLst xmlns:a="http://schemas.openxmlformats.org/drawingml/2006/main">
              <a:ext uri="{FF2B5EF4-FFF2-40B4-BE49-F238E27FC236}">
                <a16:creationId xmlns:a16="http://schemas.microsoft.com/office/drawing/2014/main" id="{C0F86618-A264-4321-A1CC-0FFF52CE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460" y="6914359"/>
            <a:ext cx="681961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629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만들었다.</a:t>
            </a:r>
          </a:p>
        </p:txBody>
      </p:sp>
      <p:sp>
        <p:nvSpPr>
          <p:cNvPr id="12" name="page-10-text-008-00">
            <a:extLst xmlns:a="http://schemas.openxmlformats.org/drawingml/2006/main">
              <a:ext uri="{FF2B5EF4-FFF2-40B4-BE49-F238E27FC236}">
                <a16:creationId xmlns:a16="http://schemas.microsoft.com/office/drawing/2014/main" id="{231B2F8D-A658-430B-A733-C24AFD17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18" y="7230058"/>
            <a:ext cx="5704560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2. 플레이어 피드백을 학습 순서, 쉬움·보통 난이도, L1/L2 힌트와 런 보상 정책으로 구체화했다.</a:t>
            </a:r>
          </a:p>
        </p:txBody>
      </p:sp>
      <p:sp>
        <p:nvSpPr>
          <p:cNvPr id="13" name="page-10-text-009-00">
            <a:extLst xmlns:a="http://schemas.openxmlformats.org/drawingml/2006/main">
              <a:ext uri="{FF2B5EF4-FFF2-40B4-BE49-F238E27FC236}">
                <a16:creationId xmlns:a16="http://schemas.microsoft.com/office/drawing/2014/main" id="{ED7A858A-7CF5-40EE-B974-AA2EE870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18" y="7545757"/>
            <a:ext cx="5657643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78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3. 자연어로 전달한 기획 의도를 레벨 데이터, 상태 규칙과 측정 가능한 합격 기준으로 바꾸도록</a:t>
            </a:r>
          </a:p>
        </p:txBody>
      </p:sp>
      <p:sp>
        <p:nvSpPr>
          <p:cNvPr id="14" name="page-10-text-010-00">
            <a:extLst xmlns:a="http://schemas.openxmlformats.org/drawingml/2006/main">
              <a:ext uri="{FF2B5EF4-FFF2-40B4-BE49-F238E27FC236}">
                <a16:creationId xmlns:a16="http://schemas.microsoft.com/office/drawing/2014/main" id="{F64E9658-D185-457A-951A-33289037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460" y="7810639"/>
            <a:ext cx="98749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2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AI를 지휘했다.</a:t>
            </a:r>
          </a:p>
        </p:txBody>
      </p:sp>
      <p:sp>
        <p:nvSpPr>
          <p:cNvPr id="15" name="page-10-text-011-00">
            <a:extLst xmlns:a="http://schemas.openxmlformats.org/drawingml/2006/main">
              <a:ext uri="{FF2B5EF4-FFF2-40B4-BE49-F238E27FC236}">
                <a16:creationId xmlns:a16="http://schemas.microsoft.com/office/drawing/2014/main" id="{50B04358-BF8F-4FF5-8F94-F0F111A3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18" y="8126338"/>
            <a:ext cx="5613178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67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4. AI의 수치와 해법을 독립 AI가 다시 검사하게 해 오류는 반려하고, 한 명의 기획자가 시스템·</a:t>
            </a:r>
          </a:p>
        </p:txBody>
      </p:sp>
      <p:sp>
        <p:nvSpPr>
          <p:cNvPr id="16" name="page-10-text-012-00">
            <a:extLst xmlns:a="http://schemas.openxmlformats.org/drawingml/2006/main">
              <a:ext uri="{FF2B5EF4-FFF2-40B4-BE49-F238E27FC236}">
                <a16:creationId xmlns:a16="http://schemas.microsoft.com/office/drawing/2014/main" id="{EE89EDA9-D557-4DE9-8132-AEF06A0E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460" y="8391220"/>
            <a:ext cx="3203106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defRPr>
            </a:pPr>
            <a:r>
              <a:rPr sz="585" b="0" i="0">
                <a:solidFill>
                  <a:srgbClr val="000000"/>
                </a:solidFill>
                <a:latin typeface="Nanum Gothic"/>
                <a:ea typeface="Nanum Gothic"/>
                <a:cs typeface="Nanum Gothic"/>
              </a:rPr>
              <a:t>레벨·UX·QA 관점을 함께 검토하는 방식을 만들었다.</a:t>
            </a:r>
          </a:p>
        </p:txBody>
      </p:sp>
      <p:sp>
        <p:nvSpPr>
          <p:cNvPr id="17" name="page-10-text-013-00">
            <a:extLst xmlns:a="http://schemas.openxmlformats.org/drawingml/2006/main">
              <a:ext uri="{FF2B5EF4-FFF2-40B4-BE49-F238E27FC236}">
                <a16:creationId xmlns:a16="http://schemas.microsoft.com/office/drawing/2014/main" id="{EAFC969E-743F-46B8-A218-473A835E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8899" y="10058009"/>
            <a:ext cx="1846147" cy="196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5" b="0" i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445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Property Shot · Portfolio · Page 10</a:t>
            </a:r>
          </a:p>
        </p:txBody>
      </p:sp>
    </p:spTree>
    <p:extLst>
      <p:ext uri="{BB962C8B-B14F-4D97-AF65-F5344CB8AC3E}">
        <p14:creationId xmlns:p14="http://schemas.microsoft.com/office/powerpoint/2010/main" val="5853219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2026-08-17T06:32:55.2790000Z</dcterms:created>
  <dcterms:modified xsi:type="dcterms:W3CDTF">2026-08-17T06:32:55.2790000Z</dcterms:modified>
</coreProperties>
</file>